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0083800" cy="5670550"/>
  <p:notesSz cx="10083800" cy="56705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308" autoAdjust="0"/>
  </p:normalViewPr>
  <p:slideViewPr>
    <p:cSldViewPr>
      <p:cViewPr varScale="1">
        <p:scale>
          <a:sx n="95" d="100"/>
          <a:sy n="95" d="100"/>
        </p:scale>
        <p:origin x="1782"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284163"/>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5711825" y="0"/>
            <a:ext cx="4370388" cy="284163"/>
          </a:xfrm>
          <a:prstGeom prst="rect">
            <a:avLst/>
          </a:prstGeom>
        </p:spPr>
        <p:txBody>
          <a:bodyPr vert="horz" lIns="91440" tIns="45720" rIns="91440" bIns="45720" rtlCol="0"/>
          <a:lstStyle>
            <a:lvl1pPr algn="r">
              <a:defRPr sz="1200"/>
            </a:lvl1pPr>
          </a:lstStyle>
          <a:p>
            <a:fld id="{34933478-CFAA-48F8-B802-D132A010C2B9}" type="datetimeFigureOut">
              <a:rPr lang="vi-VN" smtClean="0"/>
              <a:t>29/07/2026</a:t>
            </a:fld>
            <a:endParaRPr lang="vi-VN"/>
          </a:p>
        </p:txBody>
      </p:sp>
      <p:sp>
        <p:nvSpPr>
          <p:cNvPr id="4" name="Slide Image Placeholder 3"/>
          <p:cNvSpPr>
            <a:spLocks noGrp="1" noRot="1" noChangeAspect="1"/>
          </p:cNvSpPr>
          <p:nvPr>
            <p:ph type="sldImg" idx="2"/>
          </p:nvPr>
        </p:nvSpPr>
        <p:spPr>
          <a:xfrm>
            <a:off x="3341688" y="709613"/>
            <a:ext cx="3400425" cy="1912937"/>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1008063" y="2728913"/>
            <a:ext cx="8067675" cy="22336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5386388"/>
            <a:ext cx="4370388" cy="284162"/>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5711825" y="5386388"/>
            <a:ext cx="4370388" cy="284162"/>
          </a:xfrm>
          <a:prstGeom prst="rect">
            <a:avLst/>
          </a:prstGeom>
        </p:spPr>
        <p:txBody>
          <a:bodyPr vert="horz" lIns="91440" tIns="45720" rIns="91440" bIns="45720" rtlCol="0" anchor="b"/>
          <a:lstStyle>
            <a:lvl1pPr algn="r">
              <a:defRPr sz="1200"/>
            </a:lvl1pPr>
          </a:lstStyle>
          <a:p>
            <a:fld id="{89EA925D-92BC-4CA6-A857-3A57A8FB94F0}" type="slidenum">
              <a:rPr lang="vi-VN" smtClean="0"/>
              <a:t>‹#›</a:t>
            </a:fld>
            <a:endParaRPr lang="vi-VN"/>
          </a:p>
        </p:txBody>
      </p:sp>
    </p:spTree>
    <p:extLst>
      <p:ext uri="{BB962C8B-B14F-4D97-AF65-F5344CB8AC3E}">
        <p14:creationId xmlns:p14="http://schemas.microsoft.com/office/powerpoint/2010/main" val="211261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1. Tầng Khách / Giao diện lưu trữ (Trên cùng)</a:t>
            </a:r>
          </a:p>
          <a:p>
            <a:r>
              <a:rPr lang="vi-VN" dirty="0"/>
              <a:t>Đây là nơi các tài nguyên tính toán (Compute) của Proxmox kết nối vào hệ thống lưu trữ:</a:t>
            </a:r>
          </a:p>
          <a:p>
            <a:pPr lvl="0"/>
            <a:r>
              <a:rPr lang="vi-VN" b="1" dirty="0"/>
              <a:t>RBD (Block Storage):</a:t>
            </a:r>
            <a:r>
              <a:rPr lang="vi-VN" dirty="0"/>
              <a:t> Cung cấp lưu trữ dạng khối (hoạt động như ổ cứng).</a:t>
            </a:r>
          </a:p>
          <a:p>
            <a:pPr lvl="1"/>
            <a:r>
              <a:rPr lang="vi-VN" dirty="0"/>
              <a:t>Máy ảo (</a:t>
            </a:r>
            <a:r>
              <a:rPr lang="vi-VN" b="1" dirty="0"/>
              <a:t>VM</a:t>
            </a:r>
            <a:r>
              <a:rPr lang="vi-VN" dirty="0"/>
              <a:t>) kết nối vào RBD thông qua thư viện không gian người dùng </a:t>
            </a:r>
            <a:r>
              <a:rPr lang="vi-VN" sz="1200" kern="1200" dirty="0">
                <a:solidFill>
                  <a:schemeClr val="tx1"/>
                </a:solidFill>
                <a:latin typeface="+mn-lt"/>
                <a:ea typeface="+mn-ea"/>
                <a:cs typeface="+mn-cs"/>
              </a:rPr>
              <a:t>LIBRBD</a:t>
            </a:r>
            <a:r>
              <a:rPr lang="vi-VN" dirty="0"/>
              <a:t>.</a:t>
            </a:r>
          </a:p>
          <a:p>
            <a:pPr lvl="1"/>
            <a:r>
              <a:rPr lang="vi-VN" dirty="0"/>
              <a:t>Container (</a:t>
            </a:r>
            <a:r>
              <a:rPr lang="vi-VN" b="1" dirty="0"/>
              <a:t>CT</a:t>
            </a:r>
            <a:r>
              <a:rPr lang="vi-VN" dirty="0"/>
              <a:t>) kết nối thông qua module nhân Linux </a:t>
            </a:r>
            <a:r>
              <a:rPr lang="vi-VN" sz="1200" kern="1200" dirty="0">
                <a:solidFill>
                  <a:schemeClr val="tx1"/>
                </a:solidFill>
                <a:latin typeface="+mn-lt"/>
                <a:ea typeface="+mn-ea"/>
                <a:cs typeface="+mn-cs"/>
              </a:rPr>
              <a:t>KRBD</a:t>
            </a:r>
            <a:r>
              <a:rPr lang="vi-VN" dirty="0"/>
              <a:t>.</a:t>
            </a:r>
          </a:p>
          <a:p>
            <a:pPr lvl="0"/>
            <a:r>
              <a:rPr lang="vi-VN" b="1" dirty="0"/>
              <a:t>CephFS (File Storage):</a:t>
            </a:r>
            <a:r>
              <a:rPr lang="vi-VN" dirty="0"/>
              <a:t> Cung cấp hệ thống tập tin chia sẻ, được mount vào hệ điều hành thông qua </a:t>
            </a:r>
            <a:r>
              <a:rPr lang="vi-VN" sz="1200" kern="1200" dirty="0">
                <a:solidFill>
                  <a:schemeClr val="tx1"/>
                </a:solidFill>
                <a:latin typeface="+mn-lt"/>
                <a:ea typeface="+mn-ea"/>
                <a:cs typeface="+mn-cs"/>
              </a:rPr>
              <a:t>FUSE</a:t>
            </a:r>
            <a:r>
              <a:rPr lang="vi-VN" dirty="0"/>
              <a:t> hoặc trực tiếp qua </a:t>
            </a:r>
            <a:r>
              <a:rPr lang="vi-VN" sz="1200" kern="1200" dirty="0">
                <a:solidFill>
                  <a:schemeClr val="tx1"/>
                </a:solidFill>
                <a:latin typeface="+mn-lt"/>
                <a:ea typeface="+mn-ea"/>
                <a:cs typeface="+mn-cs"/>
              </a:rPr>
              <a:t>Kernel client</a:t>
            </a:r>
            <a:r>
              <a:rPr lang="vi-VN" dirty="0"/>
              <a:t>.</a:t>
            </a:r>
          </a:p>
          <a:p>
            <a:r>
              <a:rPr lang="vi-VN" b="1" dirty="0"/>
              <a:t>2. Tầng Xử lý Logic RADOS (Khối màu xám lớn)</a:t>
            </a:r>
          </a:p>
          <a:p>
            <a:r>
              <a:rPr lang="vi-VN" dirty="0"/>
              <a:t>Dữ liệu từ giao diện bên trên (RBD/CephFS) khi đi vào hệ thống Ceph sẽ trải qua một chuỗi phân nhỏ và ánh xạ:</a:t>
            </a:r>
          </a:p>
          <a:p>
            <a:pPr lvl="0"/>
            <a:r>
              <a:rPr lang="vi-VN" b="1" dirty="0"/>
              <a:t>Pool:</a:t>
            </a:r>
            <a:r>
              <a:rPr lang="vi-VN" dirty="0"/>
              <a:t> Dữ liệu trước tiên được đẩy vào các </a:t>
            </a:r>
            <a:r>
              <a:rPr lang="vi-VN" i="1" dirty="0"/>
              <a:t>Pool</a:t>
            </a:r>
            <a:r>
              <a:rPr lang="vi-VN" dirty="0"/>
              <a:t> (Bể lưu trữ). Pool là các phân vùng logic quản lý các chính sách lưu trữ (như dữ liệu này cần nhân mấy bản sao, dùng loại ổ cứng gì).</a:t>
            </a:r>
          </a:p>
          <a:p>
            <a:pPr lvl="0"/>
            <a:r>
              <a:rPr lang="vi-VN" b="1" dirty="0"/>
              <a:t>CRUSH map:</a:t>
            </a:r>
            <a:r>
              <a:rPr lang="vi-VN" dirty="0"/>
              <a:t> Đây là "bộ não" phân bổ của Ceph. Nó là một thuật toán toán học giúp định tuyến và quyết định xem dữ liệu sẽ được cất vào đâu một cách tự động mà không cần máy chủ chỉ mục trung tâm.</a:t>
            </a:r>
          </a:p>
          <a:p>
            <a:pPr lvl="0"/>
            <a:r>
              <a:rPr lang="vi-VN" b="1" dirty="0"/>
              <a:t>PG (Placement Group - Nhóm phân bổ):</a:t>
            </a:r>
            <a:r>
              <a:rPr lang="vi-VN" dirty="0"/>
              <a:t> Để tránh việc phải quản lý hàng tỷ tập tin nhỏ lẻ (</a:t>
            </a:r>
            <a:r>
              <a:rPr lang="vi-VN" b="1" dirty="0"/>
              <a:t>Obj</a:t>
            </a:r>
            <a:r>
              <a:rPr lang="vi-VN" dirty="0"/>
              <a:t> - Objects), Ceph gom các Object này lại thành từng nhóm gọi là PG (PG 1, PG 2... PG n). CRUSH map sẽ tính toán vị trí cho các PG này thay vì tính toán cho từng Object lẻ tẻ, giúp tiết kiệm cực kỳ nhiều tài nguyên RAM/CPU.</a:t>
            </a:r>
          </a:p>
          <a:p>
            <a:r>
              <a:rPr lang="vi-VN" b="1" dirty="0"/>
              <a:t>3. Tầng Vật lý (Dưới cùng)</a:t>
            </a:r>
          </a:p>
          <a:p>
            <a:r>
              <a:rPr lang="vi-VN" dirty="0"/>
              <a:t>Đây là nơi dữ liệu thực sự được ghi vào các ổ cứng trên các máy chủ Proxmox (</a:t>
            </a:r>
            <a:r>
              <a:rPr lang="vi-VN" b="1" dirty="0"/>
              <a:t>Node</a:t>
            </a:r>
            <a:r>
              <a:rPr lang="vi-VN" dirty="0"/>
              <a:t>).</a:t>
            </a:r>
          </a:p>
          <a:p>
            <a:pPr lvl="0"/>
            <a:r>
              <a:rPr lang="vi-VN" b="1" dirty="0"/>
              <a:t>Cơ chế dự phòng (Replication):</a:t>
            </a:r>
            <a:r>
              <a:rPr lang="vi-VN" dirty="0"/>
              <a:t> Nếu bạn nhìn kỹ các đường mũi tên, bạn sẽ thấy dữ liệu từ </a:t>
            </a:r>
            <a:r>
              <a:rPr lang="vi-VN" b="1" dirty="0"/>
              <a:t>một nhóm PG duy nhất</a:t>
            </a:r>
            <a:r>
              <a:rPr lang="vi-VN" dirty="0"/>
              <a:t> (ví dụ mũi tên màu cam của PG 1) được phân tán và ghi thành nhiều bản sao lên </a:t>
            </a:r>
            <a:r>
              <a:rPr lang="vi-VN" b="1" dirty="0"/>
              <a:t>nhiều Node khác nhau</a:t>
            </a:r>
            <a:r>
              <a:rPr lang="vi-VN" dirty="0"/>
              <a:t> (trong hình là 3 Node).</a:t>
            </a:r>
          </a:p>
          <a:p>
            <a:pPr lvl="0"/>
            <a:r>
              <a:rPr lang="vi-VN" b="1" dirty="0"/>
              <a:t>Ý nghĩa thực tiễn:</a:t>
            </a:r>
            <a:r>
              <a:rPr lang="vi-VN" dirty="0"/>
              <a:t> Thiết kế này chính là nền tảng của tính linh hoạt và an toàn dữ liệu. Nếu một máy chủ (Node) bị mất điện hoặc cháy ổ cứng, dữ liệu của bạn không hề bị mất vì các bản sao của PG 1 vẫn đang nằm an toàn ở 2 Node còn lại.</a:t>
            </a:r>
          </a:p>
          <a:p>
            <a:endParaRPr lang="vi-VN" dirty="0"/>
          </a:p>
        </p:txBody>
      </p:sp>
      <p:sp>
        <p:nvSpPr>
          <p:cNvPr id="4" name="Slide Number Placeholder 3"/>
          <p:cNvSpPr>
            <a:spLocks noGrp="1"/>
          </p:cNvSpPr>
          <p:nvPr>
            <p:ph type="sldNum" sz="quarter" idx="5"/>
          </p:nvPr>
        </p:nvSpPr>
        <p:spPr/>
        <p:txBody>
          <a:bodyPr/>
          <a:lstStyle/>
          <a:p>
            <a:fld id="{89EA925D-92BC-4CA6-A857-3A57A8FB94F0}" type="slidenum">
              <a:rPr lang="vi-VN" smtClean="0"/>
              <a:t>39</a:t>
            </a:fld>
            <a:endParaRPr lang="vi-VN"/>
          </a:p>
        </p:txBody>
      </p:sp>
    </p:spTree>
    <p:extLst>
      <p:ext uri="{BB962C8B-B14F-4D97-AF65-F5344CB8AC3E}">
        <p14:creationId xmlns:p14="http://schemas.microsoft.com/office/powerpoint/2010/main" val="1582946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798178" y="2252429"/>
            <a:ext cx="4487443" cy="574039"/>
          </a:xfrm>
          <a:prstGeom prst="rect">
            <a:avLst/>
          </a:prstGeom>
        </p:spPr>
        <p:txBody>
          <a:bodyPr wrap="square" lIns="0" tIns="0" rIns="0" bIns="0">
            <a:spAutoFit/>
          </a:bodyPr>
          <a:lstStyle>
            <a:lvl1pPr>
              <a:defRPr sz="3200" b="0" i="0">
                <a:solidFill>
                  <a:srgbClr val="FF9000"/>
                </a:solidFill>
                <a:latin typeface="Tahoma"/>
                <a:cs typeface="Tahoma"/>
              </a:defRPr>
            </a:lvl1pPr>
          </a:lstStyle>
          <a:p>
            <a:endParaRPr/>
          </a:p>
        </p:txBody>
      </p:sp>
      <p:sp>
        <p:nvSpPr>
          <p:cNvPr id="3" name="Holder 3"/>
          <p:cNvSpPr>
            <a:spLocks noGrp="1"/>
          </p:cNvSpPr>
          <p:nvPr>
            <p:ph type="subTitle" idx="4"/>
          </p:nvPr>
        </p:nvSpPr>
        <p:spPr>
          <a:xfrm>
            <a:off x="1512570" y="3175508"/>
            <a:ext cx="7058660" cy="1417637"/>
          </a:xfrm>
          <a:prstGeom prst="rect">
            <a:avLst/>
          </a:prstGeom>
        </p:spPr>
        <p:txBody>
          <a:bodyPr wrap="square" lIns="0" tIns="0" rIns="0" bIns="0">
            <a:spAutoFit/>
          </a:bodyPr>
          <a:lstStyle>
            <a:lvl1pPr>
              <a:defRPr sz="2400" b="0" i="0">
                <a:solidFill>
                  <a:srgbClr val="454C4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A5A5A5"/>
                </a:solidFill>
                <a:latin typeface="Arial MT"/>
                <a:cs typeface="Arial MT"/>
              </a:defRPr>
            </a:lvl1p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6" name="Holder 6"/>
          <p:cNvSpPr>
            <a:spLocks noGrp="1"/>
          </p:cNvSpPr>
          <p:nvPr>
            <p:ph type="sldNum" sz="quarter" idx="7"/>
          </p:nvPr>
        </p:nvSpPr>
        <p:spPr/>
        <p:txBody>
          <a:bodyPr lIns="0" tIns="0" rIns="0" bIns="0"/>
          <a:lstStyle>
            <a:lvl1pPr>
              <a:defRPr sz="1200" b="0" i="0">
                <a:solidFill>
                  <a:srgbClr val="A5A5A5"/>
                </a:solidFill>
                <a:latin typeface="Arial MT"/>
                <a:cs typeface="Arial MT"/>
              </a:defRPr>
            </a:lvl1pPr>
          </a:lstStyle>
          <a:p>
            <a:pPr marL="962025">
              <a:lnSpc>
                <a:spcPct val="100000"/>
              </a:lnSpc>
              <a:spcBef>
                <a:spcPts val="180"/>
              </a:spcBef>
            </a:pPr>
            <a:fld id="{81D60167-4931-47E6-BA6A-407CBD079E47}" type="slidenum">
              <a:rPr spc="-10" dirty="0"/>
              <a:t>‹#›</a:t>
            </a:fld>
            <a:r>
              <a:rPr spc="-10" dirty="0"/>
              <a:t>/60</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F9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rgbClr val="454C4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A5A5A5"/>
                </a:solidFill>
                <a:latin typeface="Arial MT"/>
                <a:cs typeface="Arial MT"/>
              </a:defRPr>
            </a:lvl1p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6" name="Holder 6"/>
          <p:cNvSpPr>
            <a:spLocks noGrp="1"/>
          </p:cNvSpPr>
          <p:nvPr>
            <p:ph type="sldNum" sz="quarter" idx="7"/>
          </p:nvPr>
        </p:nvSpPr>
        <p:spPr/>
        <p:txBody>
          <a:bodyPr lIns="0" tIns="0" rIns="0" bIns="0"/>
          <a:lstStyle>
            <a:lvl1pPr>
              <a:defRPr sz="1200" b="0" i="0">
                <a:solidFill>
                  <a:srgbClr val="A5A5A5"/>
                </a:solidFill>
                <a:latin typeface="Arial MT"/>
                <a:cs typeface="Arial MT"/>
              </a:defRPr>
            </a:lvl1pPr>
          </a:lstStyle>
          <a:p>
            <a:pPr marL="962025">
              <a:lnSpc>
                <a:spcPct val="100000"/>
              </a:lnSpc>
              <a:spcBef>
                <a:spcPts val="180"/>
              </a:spcBef>
            </a:pPr>
            <a:fld id="{81D60167-4931-47E6-BA6A-407CBD079E47}" type="slidenum">
              <a:rPr spc="-10" dirty="0"/>
              <a:t>‹#›</a:t>
            </a:fld>
            <a:r>
              <a:rPr spc="-10" dirty="0"/>
              <a:t>/60</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F9000"/>
                </a:solidFill>
                <a:latin typeface="Tahoma"/>
                <a:cs typeface="Tahoma"/>
              </a:defRPr>
            </a:lvl1pPr>
          </a:lstStyle>
          <a:p>
            <a:endParaRPr/>
          </a:p>
        </p:txBody>
      </p:sp>
      <p:sp>
        <p:nvSpPr>
          <p:cNvPr id="3" name="Holder 3"/>
          <p:cNvSpPr>
            <a:spLocks noGrp="1"/>
          </p:cNvSpPr>
          <p:nvPr>
            <p:ph sz="half" idx="2"/>
          </p:nvPr>
        </p:nvSpPr>
        <p:spPr>
          <a:xfrm>
            <a:off x="922934" y="1332988"/>
            <a:ext cx="3960495" cy="3134893"/>
          </a:xfrm>
          <a:prstGeom prst="rect">
            <a:avLst/>
          </a:prstGeom>
        </p:spPr>
        <p:txBody>
          <a:bodyPr wrap="square" lIns="0" tIns="0" rIns="0" bIns="0">
            <a:spAutoFit/>
          </a:bodyPr>
          <a:lstStyle>
            <a:lvl1pPr>
              <a:defRPr sz="2200" b="0" i="0">
                <a:solidFill>
                  <a:srgbClr val="454C4C"/>
                </a:solidFill>
                <a:latin typeface="Arial MT"/>
                <a:cs typeface="Arial MT"/>
              </a:defRPr>
            </a:lvl1pPr>
          </a:lstStyle>
          <a:p>
            <a:endParaRPr/>
          </a:p>
        </p:txBody>
      </p:sp>
      <p:sp>
        <p:nvSpPr>
          <p:cNvPr id="4" name="Holder 4"/>
          <p:cNvSpPr>
            <a:spLocks noGrp="1"/>
          </p:cNvSpPr>
          <p:nvPr>
            <p:ph sz="half" idx="3"/>
          </p:nvPr>
        </p:nvSpPr>
        <p:spPr>
          <a:xfrm>
            <a:off x="5571616" y="1334791"/>
            <a:ext cx="3956050" cy="3254375"/>
          </a:xfrm>
          <a:prstGeom prst="rect">
            <a:avLst/>
          </a:prstGeom>
        </p:spPr>
        <p:txBody>
          <a:bodyPr wrap="square" lIns="0" tIns="0" rIns="0" bIns="0">
            <a:spAutoFit/>
          </a:bodyPr>
          <a:lstStyle>
            <a:lvl1pPr>
              <a:defRPr sz="2400" b="0" i="0">
                <a:solidFill>
                  <a:srgbClr val="454C4C"/>
                </a:solidFill>
                <a:latin typeface="Arial MT"/>
                <a:cs typeface="Arial MT"/>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A5A5A5"/>
                </a:solidFill>
                <a:latin typeface="Arial MT"/>
                <a:cs typeface="Arial MT"/>
              </a:defRPr>
            </a:lvl1p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7" name="Holder 7"/>
          <p:cNvSpPr>
            <a:spLocks noGrp="1"/>
          </p:cNvSpPr>
          <p:nvPr>
            <p:ph type="sldNum" sz="quarter" idx="7"/>
          </p:nvPr>
        </p:nvSpPr>
        <p:spPr/>
        <p:txBody>
          <a:bodyPr lIns="0" tIns="0" rIns="0" bIns="0"/>
          <a:lstStyle>
            <a:lvl1pPr>
              <a:defRPr sz="1200" b="0" i="0">
                <a:solidFill>
                  <a:srgbClr val="A5A5A5"/>
                </a:solidFill>
                <a:latin typeface="Arial MT"/>
                <a:cs typeface="Arial MT"/>
              </a:defRPr>
            </a:lvl1pPr>
          </a:lstStyle>
          <a:p>
            <a:pPr marL="962025">
              <a:lnSpc>
                <a:spcPct val="100000"/>
              </a:lnSpc>
              <a:spcBef>
                <a:spcPts val="180"/>
              </a:spcBef>
            </a:pPr>
            <a:fld id="{81D60167-4931-47E6-BA6A-407CBD079E47}" type="slidenum">
              <a:rPr spc="-10" dirty="0"/>
              <a:t>‹#›</a:t>
            </a:fld>
            <a:r>
              <a:rPr spc="-10" dirty="0"/>
              <a:t>/60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F9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A5A5A5"/>
                </a:solidFill>
                <a:latin typeface="Arial MT"/>
                <a:cs typeface="Arial MT"/>
              </a:defRPr>
            </a:lvl1p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5" name="Holder 5"/>
          <p:cNvSpPr>
            <a:spLocks noGrp="1"/>
          </p:cNvSpPr>
          <p:nvPr>
            <p:ph type="sldNum" sz="quarter" idx="7"/>
          </p:nvPr>
        </p:nvSpPr>
        <p:spPr/>
        <p:txBody>
          <a:bodyPr lIns="0" tIns="0" rIns="0" bIns="0"/>
          <a:lstStyle>
            <a:lvl1pPr>
              <a:defRPr sz="1200" b="0" i="0">
                <a:solidFill>
                  <a:srgbClr val="A5A5A5"/>
                </a:solidFill>
                <a:latin typeface="Arial MT"/>
                <a:cs typeface="Arial MT"/>
              </a:defRPr>
            </a:lvl1pPr>
          </a:lstStyle>
          <a:p>
            <a:pPr marL="962025">
              <a:lnSpc>
                <a:spcPct val="100000"/>
              </a:lnSpc>
              <a:spcBef>
                <a:spcPts val="180"/>
              </a:spcBef>
            </a:pPr>
            <a:fld id="{81D60167-4931-47E6-BA6A-407CBD079E47}" type="slidenum">
              <a:rPr spc="-10" dirty="0"/>
              <a:t>‹#›</a:t>
            </a:fld>
            <a:r>
              <a:rPr spc="-10" dirty="0"/>
              <a:t>/60</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A5A5A5"/>
                </a:solidFill>
                <a:latin typeface="Arial MT"/>
                <a:cs typeface="Arial MT"/>
              </a:defRPr>
            </a:lvl1p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4" name="Holder 4"/>
          <p:cNvSpPr>
            <a:spLocks noGrp="1"/>
          </p:cNvSpPr>
          <p:nvPr>
            <p:ph type="sldNum" sz="quarter" idx="7"/>
          </p:nvPr>
        </p:nvSpPr>
        <p:spPr/>
        <p:txBody>
          <a:bodyPr lIns="0" tIns="0" rIns="0" bIns="0"/>
          <a:lstStyle>
            <a:lvl1pPr>
              <a:defRPr sz="1200" b="0" i="0">
                <a:solidFill>
                  <a:srgbClr val="A5A5A5"/>
                </a:solidFill>
                <a:latin typeface="Arial MT"/>
                <a:cs typeface="Arial MT"/>
              </a:defRPr>
            </a:lvl1pPr>
          </a:lstStyle>
          <a:p>
            <a:pPr marL="962025">
              <a:lnSpc>
                <a:spcPct val="100000"/>
              </a:lnSpc>
              <a:spcBef>
                <a:spcPts val="180"/>
              </a:spcBef>
            </a:pPr>
            <a:fld id="{81D60167-4931-47E6-BA6A-407CBD079E47}" type="slidenum">
              <a:rPr spc="-10" dirty="0"/>
              <a:t>‹#›</a:t>
            </a:fld>
            <a:r>
              <a:rPr spc="-10" dirty="0"/>
              <a:t>/60</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100599" y="0"/>
            <a:ext cx="1979400" cy="1079641"/>
          </a:xfrm>
          <a:prstGeom prst="rect">
            <a:avLst/>
          </a:prstGeom>
        </p:spPr>
      </p:pic>
      <p:sp>
        <p:nvSpPr>
          <p:cNvPr id="2" name="Holder 2"/>
          <p:cNvSpPr>
            <a:spLocks noGrp="1"/>
          </p:cNvSpPr>
          <p:nvPr>
            <p:ph type="title"/>
          </p:nvPr>
        </p:nvSpPr>
        <p:spPr>
          <a:xfrm>
            <a:off x="508215" y="437676"/>
            <a:ext cx="7272655" cy="513715"/>
          </a:xfrm>
          <a:prstGeom prst="rect">
            <a:avLst/>
          </a:prstGeom>
        </p:spPr>
        <p:txBody>
          <a:bodyPr wrap="square" lIns="0" tIns="0" rIns="0" bIns="0">
            <a:spAutoFit/>
          </a:bodyPr>
          <a:lstStyle>
            <a:lvl1pPr>
              <a:defRPr sz="3200" b="0" i="0">
                <a:solidFill>
                  <a:srgbClr val="FF9000"/>
                </a:solidFill>
                <a:latin typeface="Tahoma"/>
                <a:cs typeface="Tahoma"/>
              </a:defRPr>
            </a:lvl1pPr>
          </a:lstStyle>
          <a:p>
            <a:endParaRPr/>
          </a:p>
        </p:txBody>
      </p:sp>
      <p:sp>
        <p:nvSpPr>
          <p:cNvPr id="3" name="Holder 3"/>
          <p:cNvSpPr>
            <a:spLocks noGrp="1"/>
          </p:cNvSpPr>
          <p:nvPr>
            <p:ph type="body" idx="1"/>
          </p:nvPr>
        </p:nvSpPr>
        <p:spPr>
          <a:xfrm>
            <a:off x="886942" y="1330829"/>
            <a:ext cx="8649335" cy="3081654"/>
          </a:xfrm>
          <a:prstGeom prst="rect">
            <a:avLst/>
          </a:prstGeom>
        </p:spPr>
        <p:txBody>
          <a:bodyPr wrap="square" lIns="0" tIns="0" rIns="0" bIns="0">
            <a:spAutoFit/>
          </a:bodyPr>
          <a:lstStyle>
            <a:lvl1pPr>
              <a:defRPr sz="2400" b="0" i="0">
                <a:solidFill>
                  <a:srgbClr val="454C4C"/>
                </a:solidFill>
                <a:latin typeface="Arial MT"/>
                <a:cs typeface="Arial MT"/>
              </a:defRPr>
            </a:lvl1pPr>
          </a:lstStyle>
          <a:p>
            <a:endParaRPr/>
          </a:p>
        </p:txBody>
      </p:sp>
      <p:sp>
        <p:nvSpPr>
          <p:cNvPr id="4" name="Holder 4"/>
          <p:cNvSpPr>
            <a:spLocks noGrp="1"/>
          </p:cNvSpPr>
          <p:nvPr>
            <p:ph type="ftr" sz="quarter" idx="5"/>
          </p:nvPr>
        </p:nvSpPr>
        <p:spPr>
          <a:xfrm>
            <a:off x="627380" y="5153623"/>
            <a:ext cx="1435455" cy="233400"/>
          </a:xfrm>
          <a:prstGeom prst="rect">
            <a:avLst/>
          </a:prstGeom>
        </p:spPr>
        <p:txBody>
          <a:bodyPr wrap="square" lIns="0" tIns="0" rIns="0" bIns="0">
            <a:spAutoFit/>
          </a:bodyPr>
          <a:lstStyle>
            <a:lvl1pPr>
              <a:defRPr sz="1200" b="0" i="0">
                <a:solidFill>
                  <a:srgbClr val="A5A5A5"/>
                </a:solidFill>
                <a:latin typeface="Arial MT"/>
                <a:cs typeface="Arial MT"/>
              </a:defRPr>
            </a:lvl1p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Holder 5"/>
          <p:cNvSpPr>
            <a:spLocks noGrp="1"/>
          </p:cNvSpPr>
          <p:nvPr>
            <p:ph type="dt" sz="half" idx="6"/>
          </p:nvPr>
        </p:nvSpPr>
        <p:spPr>
          <a:xfrm>
            <a:off x="504190" y="5273611"/>
            <a:ext cx="2319274" cy="28352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7/29/2026</a:t>
            </a:fld>
            <a:endParaRPr lang="en-US"/>
          </a:p>
        </p:txBody>
      </p:sp>
      <p:sp>
        <p:nvSpPr>
          <p:cNvPr id="6" name="Holder 6"/>
          <p:cNvSpPr>
            <a:spLocks noGrp="1"/>
          </p:cNvSpPr>
          <p:nvPr>
            <p:ph type="sldNum" sz="quarter" idx="7"/>
          </p:nvPr>
        </p:nvSpPr>
        <p:spPr>
          <a:xfrm>
            <a:off x="8214741" y="4866337"/>
            <a:ext cx="1605915" cy="520966"/>
          </a:xfrm>
          <a:prstGeom prst="rect">
            <a:avLst/>
          </a:prstGeom>
        </p:spPr>
        <p:txBody>
          <a:bodyPr wrap="square" lIns="0" tIns="0" rIns="0" bIns="0">
            <a:spAutoFit/>
          </a:bodyPr>
          <a:lstStyle>
            <a:lvl1pPr>
              <a:defRPr sz="1200" b="0" i="0">
                <a:solidFill>
                  <a:srgbClr val="A5A5A5"/>
                </a:solidFill>
                <a:latin typeface="Arial MT"/>
                <a:cs typeface="Arial MT"/>
              </a:defRPr>
            </a:lvl1pPr>
          </a:lstStyle>
          <a:p>
            <a:pPr marL="962025">
              <a:lnSpc>
                <a:spcPct val="100000"/>
              </a:lnSpc>
              <a:spcBef>
                <a:spcPts val="180"/>
              </a:spcBef>
            </a:pPr>
            <a:fld id="{81D60167-4931-47E6-BA6A-407CBD079E47}" type="slidenum">
              <a:rPr spc="-10" dirty="0"/>
              <a:t>‹#›</a:t>
            </a:fld>
            <a:r>
              <a:rPr spc="-10" dirty="0"/>
              <a:t>/60</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hyperlink" Target="https://pve.proxmox.com/pve-doc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ve.proxmox.com/pve-docs/pve-admin-guide.html#chapter_storage" TargetMode="External"/><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pve.proxmox.com/pve-docs/pve-admin-guide.html#chapter_storag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hyperlink" Target="https://pve.proxmox.com/wiki/Performance_Tweaks#Disk_Cache" TargetMode="External"/><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hyperlink" Target="https://pve.proxmox.com/wiki/Performance_Tweaks#Disk_Cache" TargetMode="External"/><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hyperlink" Target="https://pve.proxmox.com/wiki/Performance_Tweaks#Disk_Cache"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hyperlink" Target="https://pve.proxmox.com/wiki/Performance_Tweaks#Disk_Cache" TargetMode="External"/><Relationship Id="rId4" Type="http://schemas.openxmlformats.org/officeDocument/2006/relationships/image" Target="../media/image50.png"/><Relationship Id="rId9" Type="http://schemas.openxmlformats.org/officeDocument/2006/relationships/image" Target="../media/image55.png"/></Relationships>
</file>

<file path=ppt/slides/_rels/slide24.xml.rels><?xml version="1.0" encoding="UTF-8" standalone="yes"?>
<Relationships xmlns="http://schemas.openxmlformats.org/package/2006/relationships"><Relationship Id="rId2" Type="http://schemas.openxmlformats.org/officeDocument/2006/relationships/hyperlink" Target="https://pve.proxmox.com/pve-docs/pve-admin-guide.html#chapter_pve_firewal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hyperlink" Target="https://pve.proxmox.com/wiki/Full_Mesh_Network_for_Ceph_Server" TargetMode="External"/><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18" Type="http://schemas.openxmlformats.org/officeDocument/2006/relationships/image" Target="../media/image78.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 Type="http://schemas.openxmlformats.org/officeDocument/2006/relationships/image" Target="../media/image62.png"/><Relationship Id="rId16" Type="http://schemas.openxmlformats.org/officeDocument/2006/relationships/image" Target="../media/image76.png"/><Relationship Id="rId20" Type="http://schemas.openxmlformats.org/officeDocument/2006/relationships/image" Target="../media/image80.png"/><Relationship Id="rId1" Type="http://schemas.openxmlformats.org/officeDocument/2006/relationships/slideLayout" Target="../slideLayouts/slideLayout5.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19" Type="http://schemas.openxmlformats.org/officeDocument/2006/relationships/image" Target="../media/image79.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34.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105.png"/><Relationship Id="rId3" Type="http://schemas.openxmlformats.org/officeDocument/2006/relationships/image" Target="../media/image82.png"/><Relationship Id="rId21" Type="http://schemas.openxmlformats.org/officeDocument/2006/relationships/image" Target="../media/image100.png"/><Relationship Id="rId7" Type="http://schemas.openxmlformats.org/officeDocument/2006/relationships/image" Target="../media/image86.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104.png"/><Relationship Id="rId2" Type="http://schemas.openxmlformats.org/officeDocument/2006/relationships/image" Target="../media/image81.png"/><Relationship Id="rId16" Type="http://schemas.openxmlformats.org/officeDocument/2006/relationships/image" Target="../media/image95.png"/><Relationship Id="rId20" Type="http://schemas.openxmlformats.org/officeDocument/2006/relationships/image" Target="../media/image99.png"/><Relationship Id="rId1" Type="http://schemas.openxmlformats.org/officeDocument/2006/relationships/slideLayout" Target="../slideLayouts/slideLayout5.xml"/><Relationship Id="rId6" Type="http://schemas.openxmlformats.org/officeDocument/2006/relationships/image" Target="../media/image85.png"/><Relationship Id="rId11" Type="http://schemas.openxmlformats.org/officeDocument/2006/relationships/image" Target="../media/image90.png"/><Relationship Id="rId24" Type="http://schemas.openxmlformats.org/officeDocument/2006/relationships/image" Target="../media/image103.png"/><Relationship Id="rId5" Type="http://schemas.openxmlformats.org/officeDocument/2006/relationships/image" Target="../media/image84.png"/><Relationship Id="rId15" Type="http://schemas.openxmlformats.org/officeDocument/2006/relationships/image" Target="../media/image94.png"/><Relationship Id="rId23" Type="http://schemas.openxmlformats.org/officeDocument/2006/relationships/image" Target="../media/image102.png"/><Relationship Id="rId10" Type="http://schemas.openxmlformats.org/officeDocument/2006/relationships/image" Target="../media/image89.png"/><Relationship Id="rId19" Type="http://schemas.openxmlformats.org/officeDocument/2006/relationships/image" Target="../media/image98.png"/><Relationship Id="rId4" Type="http://schemas.openxmlformats.org/officeDocument/2006/relationships/image" Target="../media/image83.png"/><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1.png"/><Relationship Id="rId27" Type="http://schemas.openxmlformats.org/officeDocument/2006/relationships/image" Target="../media/image106.png"/></Relationships>
</file>

<file path=ppt/slides/_rels/slide35.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image" Target="../media/image107.png"/><Relationship Id="rId1" Type="http://schemas.openxmlformats.org/officeDocument/2006/relationships/slideLayout" Target="../slideLayouts/slideLayout4.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hyperlink" Target="https://pve.proxmox.com/wiki/Multipath"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4.png"/><Relationship Id="rId7" Type="http://schemas.openxmlformats.org/officeDocument/2006/relationships/image" Target="../media/image138.png"/><Relationship Id="rId2" Type="http://schemas.openxmlformats.org/officeDocument/2006/relationships/image" Target="../media/image133.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4.xml"/><Relationship Id="rId5" Type="http://schemas.openxmlformats.org/officeDocument/2006/relationships/image" Target="../media/image144.png"/><Relationship Id="rId4" Type="http://schemas.openxmlformats.org/officeDocument/2006/relationships/image" Target="../media/image143.png"/></Relationships>
</file>

<file path=ppt/slides/_rels/slide4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4.xml"/><Relationship Id="rId4" Type="http://schemas.openxmlformats.org/officeDocument/2006/relationships/image" Target="../media/image147.png"/></Relationships>
</file>

<file path=ppt/slides/_rels/slide50.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51.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18" Type="http://schemas.openxmlformats.org/officeDocument/2006/relationships/image" Target="../media/image171.png"/><Relationship Id="rId26" Type="http://schemas.openxmlformats.org/officeDocument/2006/relationships/image" Target="../media/image179.png"/><Relationship Id="rId3" Type="http://schemas.openxmlformats.org/officeDocument/2006/relationships/image" Target="../media/image156.png"/><Relationship Id="rId21" Type="http://schemas.openxmlformats.org/officeDocument/2006/relationships/image" Target="../media/image174.png"/><Relationship Id="rId7" Type="http://schemas.openxmlformats.org/officeDocument/2006/relationships/image" Target="../media/image160.png"/><Relationship Id="rId12" Type="http://schemas.openxmlformats.org/officeDocument/2006/relationships/image" Target="../media/image165.png"/><Relationship Id="rId17" Type="http://schemas.openxmlformats.org/officeDocument/2006/relationships/image" Target="../media/image170.png"/><Relationship Id="rId25" Type="http://schemas.openxmlformats.org/officeDocument/2006/relationships/image" Target="../media/image178.png"/><Relationship Id="rId2" Type="http://schemas.openxmlformats.org/officeDocument/2006/relationships/image" Target="../media/image155.png"/><Relationship Id="rId16" Type="http://schemas.openxmlformats.org/officeDocument/2006/relationships/image" Target="../media/image169.png"/><Relationship Id="rId20" Type="http://schemas.openxmlformats.org/officeDocument/2006/relationships/image" Target="../media/image173.png"/><Relationship Id="rId29" Type="http://schemas.openxmlformats.org/officeDocument/2006/relationships/image" Target="../media/image182.png"/><Relationship Id="rId1" Type="http://schemas.openxmlformats.org/officeDocument/2006/relationships/slideLayout" Target="../slideLayouts/slideLayout4.xml"/><Relationship Id="rId6" Type="http://schemas.openxmlformats.org/officeDocument/2006/relationships/image" Target="../media/image159.png"/><Relationship Id="rId11" Type="http://schemas.openxmlformats.org/officeDocument/2006/relationships/image" Target="../media/image164.png"/><Relationship Id="rId24" Type="http://schemas.openxmlformats.org/officeDocument/2006/relationships/image" Target="../media/image177.png"/><Relationship Id="rId32" Type="http://schemas.openxmlformats.org/officeDocument/2006/relationships/image" Target="../media/image185.png"/><Relationship Id="rId5" Type="http://schemas.openxmlformats.org/officeDocument/2006/relationships/image" Target="../media/image158.png"/><Relationship Id="rId15" Type="http://schemas.openxmlformats.org/officeDocument/2006/relationships/image" Target="../media/image168.png"/><Relationship Id="rId23" Type="http://schemas.openxmlformats.org/officeDocument/2006/relationships/image" Target="../media/image176.png"/><Relationship Id="rId28" Type="http://schemas.openxmlformats.org/officeDocument/2006/relationships/image" Target="../media/image181.png"/><Relationship Id="rId10" Type="http://schemas.openxmlformats.org/officeDocument/2006/relationships/image" Target="../media/image163.png"/><Relationship Id="rId19" Type="http://schemas.openxmlformats.org/officeDocument/2006/relationships/image" Target="../media/image172.png"/><Relationship Id="rId31" Type="http://schemas.openxmlformats.org/officeDocument/2006/relationships/image" Target="../media/image184.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image" Target="../media/image167.png"/><Relationship Id="rId22" Type="http://schemas.openxmlformats.org/officeDocument/2006/relationships/image" Target="../media/image175.png"/><Relationship Id="rId27" Type="http://schemas.openxmlformats.org/officeDocument/2006/relationships/image" Target="../media/image180.png"/><Relationship Id="rId30" Type="http://schemas.openxmlformats.org/officeDocument/2006/relationships/image" Target="../media/image18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lists.proxmox.com/" TargetMode="External"/><Relationship Id="rId2" Type="http://schemas.openxmlformats.org/officeDocument/2006/relationships/hyperlink" Target="https://pve.proxmox.com/wiki/Roadmap"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hyperlink" Target="https://my.proxmox.com/"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shop.proxmox.com/" TargetMode="External"/><Relationship Id="rId2" Type="http://schemas.openxmlformats.org/officeDocument/2006/relationships/hyperlink" Target="https://www.proxmox.com/en/services/training-courses/training#faq-training"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proxmox.com/en/about/open-source/developers" TargetMode="External"/><Relationship Id="rId2" Type="http://schemas.openxmlformats.org/officeDocument/2006/relationships/hyperlink" Target="https://www.proxmox.com/en/about/open-source/community"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proxmox.com/en/about/contact"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mailto:OFFICE@PROXMOX.COM" TargetMode="External"/><Relationship Id="rId2" Type="http://schemas.openxmlformats.org/officeDocument/2006/relationships/image" Target="../media/image186.jpg"/><Relationship Id="rId1" Type="http://schemas.openxmlformats.org/officeDocument/2006/relationships/slideLayout" Target="../slideLayouts/slideLayout5.xml"/><Relationship Id="rId4" Type="http://schemas.openxmlformats.org/officeDocument/2006/relationships/hyperlink" Target="https://www.proxmox.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0080000" cy="5669644"/>
          </a:xfrm>
          <a:prstGeom prst="rect">
            <a:avLst/>
          </a:prstGeom>
        </p:spPr>
      </p:pic>
      <p:sp>
        <p:nvSpPr>
          <p:cNvPr id="3" name="object 3"/>
          <p:cNvSpPr txBox="1">
            <a:spLocks noGrp="1"/>
          </p:cNvSpPr>
          <p:nvPr>
            <p:ph type="title"/>
          </p:nvPr>
        </p:nvSpPr>
        <p:spPr>
          <a:xfrm>
            <a:off x="491299" y="1980924"/>
            <a:ext cx="4304030" cy="1712595"/>
          </a:xfrm>
          <a:prstGeom prst="rect">
            <a:avLst/>
          </a:prstGeom>
        </p:spPr>
        <p:txBody>
          <a:bodyPr vert="horz" wrap="square" lIns="0" tIns="86995" rIns="0" bIns="0" rtlCol="0">
            <a:spAutoFit/>
          </a:bodyPr>
          <a:lstStyle/>
          <a:p>
            <a:pPr marL="12700">
              <a:lnSpc>
                <a:spcPct val="100000"/>
              </a:lnSpc>
              <a:spcBef>
                <a:spcPts val="685"/>
              </a:spcBef>
            </a:pPr>
            <a:r>
              <a:rPr spc="310" dirty="0">
                <a:solidFill>
                  <a:srgbClr val="FFFFFF"/>
                </a:solidFill>
              </a:rPr>
              <a:t>TRAINING</a:t>
            </a:r>
          </a:p>
          <a:p>
            <a:pPr marL="12700" marR="5080">
              <a:lnSpc>
                <a:spcPct val="115300"/>
              </a:lnSpc>
            </a:pPr>
            <a:r>
              <a:rPr spc="445" dirty="0">
                <a:solidFill>
                  <a:srgbClr val="FFFFFF"/>
                </a:solidFill>
              </a:rPr>
              <a:t>PROXMOX</a:t>
            </a:r>
            <a:r>
              <a:rPr spc="195" dirty="0">
                <a:solidFill>
                  <a:srgbClr val="FFFFFF"/>
                </a:solidFill>
              </a:rPr>
              <a:t> </a:t>
            </a:r>
            <a:r>
              <a:rPr spc="290" dirty="0">
                <a:solidFill>
                  <a:srgbClr val="FFFFFF"/>
                </a:solidFill>
              </a:rPr>
              <a:t>VIRTUAL </a:t>
            </a:r>
            <a:r>
              <a:rPr spc="395" dirty="0">
                <a:solidFill>
                  <a:srgbClr val="FFFFFF"/>
                </a:solidFill>
              </a:rPr>
              <a:t>ENVIRONMENT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7735" y="5164463"/>
            <a:ext cx="14351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A5A5A5"/>
                </a:solidFill>
                <a:latin typeface="Arial MT"/>
                <a:cs typeface="Arial MT"/>
              </a:rPr>
              <a:t>Proxmox</a:t>
            </a:r>
            <a:r>
              <a:rPr sz="1200" spc="15" dirty="0">
                <a:solidFill>
                  <a:srgbClr val="A5A5A5"/>
                </a:solidFill>
                <a:latin typeface="Arial MT"/>
                <a:cs typeface="Arial MT"/>
              </a:rPr>
              <a:t> </a:t>
            </a:r>
            <a:r>
              <a:rPr sz="1200" spc="-140" dirty="0">
                <a:solidFill>
                  <a:srgbClr val="A5A5A5"/>
                </a:solidFill>
                <a:latin typeface="Arial MT"/>
                <a:cs typeface="Arial MT"/>
              </a:rPr>
              <a:t>VE</a:t>
            </a:r>
            <a:r>
              <a:rPr sz="1200" spc="15" dirty="0">
                <a:solidFill>
                  <a:srgbClr val="A5A5A5"/>
                </a:solidFill>
                <a:latin typeface="Arial MT"/>
                <a:cs typeface="Arial MT"/>
              </a:rPr>
              <a:t> </a:t>
            </a:r>
            <a:r>
              <a:rPr sz="1200" spc="-10" dirty="0">
                <a:solidFill>
                  <a:srgbClr val="A5A5A5"/>
                </a:solidFill>
                <a:latin typeface="Arial MT"/>
                <a:cs typeface="Arial MT"/>
              </a:rPr>
              <a:t>Training</a:t>
            </a:r>
            <a:endParaRPr sz="1200">
              <a:latin typeface="Arial MT"/>
              <a:cs typeface="Arial MT"/>
            </a:endParaRPr>
          </a:p>
        </p:txBody>
      </p:sp>
      <p:sp>
        <p:nvSpPr>
          <p:cNvPr id="3" name="object 3"/>
          <p:cNvSpPr txBox="1"/>
          <p:nvPr/>
        </p:nvSpPr>
        <p:spPr>
          <a:xfrm>
            <a:off x="9251543" y="5164463"/>
            <a:ext cx="33845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A5A5A5"/>
                </a:solidFill>
                <a:latin typeface="Arial MT"/>
                <a:cs typeface="Arial MT"/>
              </a:rPr>
              <a:t>2/60</a:t>
            </a:r>
            <a:endParaRPr sz="1200">
              <a:latin typeface="Arial MT"/>
              <a:cs typeface="Arial MT"/>
            </a:endParaRPr>
          </a:p>
        </p:txBody>
      </p:sp>
      <p:sp>
        <p:nvSpPr>
          <p:cNvPr id="4" name="object 4"/>
          <p:cNvSpPr txBox="1">
            <a:spLocks noGrp="1"/>
          </p:cNvSpPr>
          <p:nvPr>
            <p:ph type="title"/>
          </p:nvPr>
        </p:nvSpPr>
        <p:spPr>
          <a:xfrm>
            <a:off x="3791064" y="2252429"/>
            <a:ext cx="2494280" cy="574040"/>
          </a:xfrm>
          <a:prstGeom prst="rect">
            <a:avLst/>
          </a:prstGeom>
        </p:spPr>
        <p:txBody>
          <a:bodyPr vert="horz" wrap="square" lIns="0" tIns="12700" rIns="0" bIns="0" rtlCol="0">
            <a:spAutoFit/>
          </a:bodyPr>
          <a:lstStyle/>
          <a:p>
            <a:pPr marL="12700">
              <a:lnSpc>
                <a:spcPct val="100000"/>
              </a:lnSpc>
              <a:spcBef>
                <a:spcPts val="100"/>
              </a:spcBef>
            </a:pPr>
            <a:r>
              <a:rPr sz="3600" spc="385" dirty="0"/>
              <a:t>WELCOME</a:t>
            </a:r>
            <a:endParaRPr sz="3600"/>
          </a:p>
        </p:txBody>
      </p:sp>
      <p:sp>
        <p:nvSpPr>
          <p:cNvPr id="5" name="object 5"/>
          <p:cNvSpPr txBox="1"/>
          <p:nvPr/>
        </p:nvSpPr>
        <p:spPr>
          <a:xfrm>
            <a:off x="1040663" y="3737060"/>
            <a:ext cx="8191500" cy="1267460"/>
          </a:xfrm>
          <a:prstGeom prst="rect">
            <a:avLst/>
          </a:prstGeom>
        </p:spPr>
        <p:txBody>
          <a:bodyPr vert="horz" wrap="square" lIns="0" tIns="8255" rIns="0" bIns="0" rtlCol="0">
            <a:spAutoFit/>
          </a:bodyPr>
          <a:lstStyle/>
          <a:p>
            <a:pPr marL="12700" marR="386080">
              <a:lnSpc>
                <a:spcPct val="103600"/>
              </a:lnSpc>
              <a:spcBef>
                <a:spcPts val="65"/>
              </a:spcBef>
            </a:pPr>
            <a:r>
              <a:rPr sz="800" dirty="0">
                <a:solidFill>
                  <a:srgbClr val="454C4C"/>
                </a:solidFill>
                <a:latin typeface="Arial MT"/>
                <a:cs typeface="Arial MT"/>
              </a:rPr>
              <a:t>Proxmox</a:t>
            </a:r>
            <a:r>
              <a:rPr sz="800" spc="15" dirty="0">
                <a:solidFill>
                  <a:srgbClr val="454C4C"/>
                </a:solidFill>
                <a:latin typeface="Arial MT"/>
                <a:cs typeface="Arial MT"/>
              </a:rPr>
              <a:t> </a:t>
            </a:r>
            <a:r>
              <a:rPr sz="800" spc="-10" dirty="0">
                <a:solidFill>
                  <a:srgbClr val="454C4C"/>
                </a:solidFill>
                <a:latin typeface="Arial MT"/>
                <a:cs typeface="Arial MT"/>
              </a:rPr>
              <a:t>Server</a:t>
            </a:r>
            <a:r>
              <a:rPr sz="800" spc="20" dirty="0">
                <a:solidFill>
                  <a:srgbClr val="454C4C"/>
                </a:solidFill>
                <a:latin typeface="Arial MT"/>
                <a:cs typeface="Arial MT"/>
              </a:rPr>
              <a:t> </a:t>
            </a:r>
            <a:r>
              <a:rPr sz="800" dirty="0">
                <a:solidFill>
                  <a:srgbClr val="454C4C"/>
                </a:solidFill>
                <a:latin typeface="Arial MT"/>
                <a:cs typeface="Arial MT"/>
              </a:rPr>
              <a:t>Solutions</a:t>
            </a:r>
            <a:r>
              <a:rPr sz="800" spc="20" dirty="0">
                <a:solidFill>
                  <a:srgbClr val="454C4C"/>
                </a:solidFill>
                <a:latin typeface="Arial MT"/>
                <a:cs typeface="Arial MT"/>
              </a:rPr>
              <a:t> </a:t>
            </a:r>
            <a:r>
              <a:rPr sz="800" dirty="0">
                <a:solidFill>
                  <a:srgbClr val="454C4C"/>
                </a:solidFill>
                <a:latin typeface="Arial MT"/>
                <a:cs typeface="Arial MT"/>
              </a:rPr>
              <a:t>GmbH</a:t>
            </a:r>
            <a:r>
              <a:rPr sz="800" spc="20" dirty="0">
                <a:solidFill>
                  <a:srgbClr val="454C4C"/>
                </a:solidFill>
                <a:latin typeface="Arial MT"/>
                <a:cs typeface="Arial MT"/>
              </a:rPr>
              <a:t> </a:t>
            </a:r>
            <a:r>
              <a:rPr sz="800" spc="-10" dirty="0">
                <a:solidFill>
                  <a:srgbClr val="454C4C"/>
                </a:solidFill>
                <a:latin typeface="Arial MT"/>
                <a:cs typeface="Arial MT"/>
              </a:rPr>
              <a:t>reserves</a:t>
            </a:r>
            <a:r>
              <a:rPr sz="800" spc="15" dirty="0">
                <a:solidFill>
                  <a:srgbClr val="454C4C"/>
                </a:solidFill>
                <a:latin typeface="Arial MT"/>
                <a:cs typeface="Arial MT"/>
              </a:rPr>
              <a:t> </a:t>
            </a:r>
            <a:r>
              <a:rPr sz="800" dirty="0">
                <a:solidFill>
                  <a:srgbClr val="454C4C"/>
                </a:solidFill>
                <a:latin typeface="Arial MT"/>
                <a:cs typeface="Arial MT"/>
              </a:rPr>
              <a:t>the</a:t>
            </a:r>
            <a:r>
              <a:rPr sz="800" spc="20" dirty="0">
                <a:solidFill>
                  <a:srgbClr val="454C4C"/>
                </a:solidFill>
                <a:latin typeface="Arial MT"/>
                <a:cs typeface="Arial MT"/>
              </a:rPr>
              <a:t> </a:t>
            </a:r>
            <a:r>
              <a:rPr sz="800" dirty="0">
                <a:solidFill>
                  <a:srgbClr val="454C4C"/>
                </a:solidFill>
                <a:latin typeface="Arial MT"/>
                <a:cs typeface="Arial MT"/>
              </a:rPr>
              <a:t>right</a:t>
            </a:r>
            <a:r>
              <a:rPr sz="800" spc="20" dirty="0">
                <a:solidFill>
                  <a:srgbClr val="454C4C"/>
                </a:solidFill>
                <a:latin typeface="Arial MT"/>
                <a:cs typeface="Arial MT"/>
              </a:rPr>
              <a:t> </a:t>
            </a:r>
            <a:r>
              <a:rPr sz="800" dirty="0">
                <a:solidFill>
                  <a:srgbClr val="454C4C"/>
                </a:solidFill>
                <a:latin typeface="Arial MT"/>
                <a:cs typeface="Arial MT"/>
              </a:rPr>
              <a:t>to</a:t>
            </a:r>
            <a:r>
              <a:rPr sz="800" spc="20" dirty="0">
                <a:solidFill>
                  <a:srgbClr val="454C4C"/>
                </a:solidFill>
                <a:latin typeface="Arial MT"/>
                <a:cs typeface="Arial MT"/>
              </a:rPr>
              <a:t> </a:t>
            </a:r>
            <a:r>
              <a:rPr sz="800" dirty="0">
                <a:solidFill>
                  <a:srgbClr val="454C4C"/>
                </a:solidFill>
                <a:latin typeface="Arial MT"/>
                <a:cs typeface="Arial MT"/>
              </a:rPr>
              <a:t>make</a:t>
            </a:r>
            <a:r>
              <a:rPr sz="800" spc="20" dirty="0">
                <a:solidFill>
                  <a:srgbClr val="454C4C"/>
                </a:solidFill>
                <a:latin typeface="Arial MT"/>
                <a:cs typeface="Arial MT"/>
              </a:rPr>
              <a:t> </a:t>
            </a:r>
            <a:r>
              <a:rPr sz="800" spc="-10" dirty="0">
                <a:solidFill>
                  <a:srgbClr val="454C4C"/>
                </a:solidFill>
                <a:latin typeface="Arial MT"/>
                <a:cs typeface="Arial MT"/>
              </a:rPr>
              <a:t>changes</a:t>
            </a:r>
            <a:r>
              <a:rPr sz="800" spc="15" dirty="0">
                <a:solidFill>
                  <a:srgbClr val="454C4C"/>
                </a:solidFill>
                <a:latin typeface="Arial MT"/>
                <a:cs typeface="Arial MT"/>
              </a:rPr>
              <a:t> </a:t>
            </a:r>
            <a:r>
              <a:rPr sz="800" dirty="0">
                <a:solidFill>
                  <a:srgbClr val="454C4C"/>
                </a:solidFill>
                <a:latin typeface="Arial MT"/>
                <a:cs typeface="Arial MT"/>
              </a:rPr>
              <a:t>to</a:t>
            </a:r>
            <a:r>
              <a:rPr sz="800" spc="20" dirty="0">
                <a:solidFill>
                  <a:srgbClr val="454C4C"/>
                </a:solidFill>
                <a:latin typeface="Arial MT"/>
                <a:cs typeface="Arial MT"/>
              </a:rPr>
              <a:t> </a:t>
            </a:r>
            <a:r>
              <a:rPr sz="800" dirty="0">
                <a:solidFill>
                  <a:srgbClr val="454C4C"/>
                </a:solidFill>
                <a:latin typeface="Arial MT"/>
                <a:cs typeface="Arial MT"/>
              </a:rPr>
              <a:t>this</a:t>
            </a:r>
            <a:r>
              <a:rPr sz="800" spc="20" dirty="0">
                <a:solidFill>
                  <a:srgbClr val="454C4C"/>
                </a:solidFill>
                <a:latin typeface="Arial MT"/>
                <a:cs typeface="Arial MT"/>
              </a:rPr>
              <a:t> </a:t>
            </a:r>
            <a:r>
              <a:rPr sz="800" dirty="0">
                <a:solidFill>
                  <a:srgbClr val="454C4C"/>
                </a:solidFill>
                <a:latin typeface="Arial MT"/>
                <a:cs typeface="Arial MT"/>
              </a:rPr>
              <a:t>document</a:t>
            </a:r>
            <a:r>
              <a:rPr sz="800" spc="20" dirty="0">
                <a:solidFill>
                  <a:srgbClr val="454C4C"/>
                </a:solidFill>
                <a:latin typeface="Arial MT"/>
                <a:cs typeface="Arial MT"/>
              </a:rPr>
              <a:t> </a:t>
            </a:r>
            <a:r>
              <a:rPr sz="800" dirty="0">
                <a:solidFill>
                  <a:srgbClr val="454C4C"/>
                </a:solidFill>
                <a:latin typeface="Arial MT"/>
                <a:cs typeface="Arial MT"/>
              </a:rPr>
              <a:t>and</a:t>
            </a:r>
            <a:r>
              <a:rPr sz="800" spc="20" dirty="0">
                <a:solidFill>
                  <a:srgbClr val="454C4C"/>
                </a:solidFill>
                <a:latin typeface="Arial MT"/>
                <a:cs typeface="Arial MT"/>
              </a:rPr>
              <a:t> </a:t>
            </a:r>
            <a:r>
              <a:rPr sz="800" dirty="0">
                <a:solidFill>
                  <a:srgbClr val="454C4C"/>
                </a:solidFill>
                <a:latin typeface="Arial MT"/>
                <a:cs typeface="Arial MT"/>
              </a:rPr>
              <a:t>to</a:t>
            </a:r>
            <a:r>
              <a:rPr sz="800" spc="15" dirty="0">
                <a:solidFill>
                  <a:srgbClr val="454C4C"/>
                </a:solidFill>
                <a:latin typeface="Arial MT"/>
                <a:cs typeface="Arial MT"/>
              </a:rPr>
              <a:t> </a:t>
            </a:r>
            <a:r>
              <a:rPr sz="800" dirty="0">
                <a:solidFill>
                  <a:srgbClr val="454C4C"/>
                </a:solidFill>
                <a:latin typeface="Arial MT"/>
                <a:cs typeface="Arial MT"/>
              </a:rPr>
              <a:t>the</a:t>
            </a:r>
            <a:r>
              <a:rPr sz="800" spc="20" dirty="0">
                <a:solidFill>
                  <a:srgbClr val="454C4C"/>
                </a:solidFill>
                <a:latin typeface="Arial MT"/>
                <a:cs typeface="Arial MT"/>
              </a:rPr>
              <a:t> </a:t>
            </a:r>
            <a:r>
              <a:rPr sz="800" dirty="0">
                <a:solidFill>
                  <a:srgbClr val="454C4C"/>
                </a:solidFill>
                <a:latin typeface="Arial MT"/>
                <a:cs typeface="Arial MT"/>
              </a:rPr>
              <a:t>products</a:t>
            </a:r>
            <a:r>
              <a:rPr sz="800" spc="20" dirty="0">
                <a:solidFill>
                  <a:srgbClr val="454C4C"/>
                </a:solidFill>
                <a:latin typeface="Arial MT"/>
                <a:cs typeface="Arial MT"/>
              </a:rPr>
              <a:t> </a:t>
            </a:r>
            <a:r>
              <a:rPr sz="800" dirty="0">
                <a:solidFill>
                  <a:srgbClr val="454C4C"/>
                </a:solidFill>
                <a:latin typeface="Arial MT"/>
                <a:cs typeface="Arial MT"/>
              </a:rPr>
              <a:t>described</a:t>
            </a:r>
            <a:r>
              <a:rPr sz="800" spc="20" dirty="0">
                <a:solidFill>
                  <a:srgbClr val="454C4C"/>
                </a:solidFill>
                <a:latin typeface="Arial MT"/>
                <a:cs typeface="Arial MT"/>
              </a:rPr>
              <a:t> </a:t>
            </a:r>
            <a:r>
              <a:rPr sz="800" dirty="0">
                <a:solidFill>
                  <a:srgbClr val="454C4C"/>
                </a:solidFill>
                <a:latin typeface="Arial MT"/>
                <a:cs typeface="Arial MT"/>
              </a:rPr>
              <a:t>herein</a:t>
            </a:r>
            <a:r>
              <a:rPr sz="800" spc="20" dirty="0">
                <a:solidFill>
                  <a:srgbClr val="454C4C"/>
                </a:solidFill>
                <a:latin typeface="Arial MT"/>
                <a:cs typeface="Arial MT"/>
              </a:rPr>
              <a:t> </a:t>
            </a:r>
            <a:r>
              <a:rPr sz="800" dirty="0">
                <a:solidFill>
                  <a:srgbClr val="454C4C"/>
                </a:solidFill>
                <a:latin typeface="Arial MT"/>
                <a:cs typeface="Arial MT"/>
              </a:rPr>
              <a:t>without</a:t>
            </a:r>
            <a:r>
              <a:rPr sz="800" spc="15" dirty="0">
                <a:solidFill>
                  <a:srgbClr val="454C4C"/>
                </a:solidFill>
                <a:latin typeface="Arial MT"/>
                <a:cs typeface="Arial MT"/>
              </a:rPr>
              <a:t> </a:t>
            </a:r>
            <a:r>
              <a:rPr sz="800" dirty="0">
                <a:solidFill>
                  <a:srgbClr val="454C4C"/>
                </a:solidFill>
                <a:latin typeface="Arial MT"/>
                <a:cs typeface="Arial MT"/>
              </a:rPr>
              <a:t>notice.</a:t>
            </a:r>
            <a:r>
              <a:rPr sz="800" spc="20" dirty="0">
                <a:solidFill>
                  <a:srgbClr val="454C4C"/>
                </a:solidFill>
                <a:latin typeface="Arial MT"/>
                <a:cs typeface="Arial MT"/>
              </a:rPr>
              <a:t> </a:t>
            </a:r>
            <a:r>
              <a:rPr sz="800" dirty="0">
                <a:solidFill>
                  <a:srgbClr val="454C4C"/>
                </a:solidFill>
                <a:latin typeface="Arial MT"/>
                <a:cs typeface="Arial MT"/>
              </a:rPr>
              <a:t>Before</a:t>
            </a:r>
            <a:r>
              <a:rPr sz="800" spc="20" dirty="0">
                <a:solidFill>
                  <a:srgbClr val="454C4C"/>
                </a:solidFill>
                <a:latin typeface="Arial MT"/>
                <a:cs typeface="Arial MT"/>
              </a:rPr>
              <a:t> </a:t>
            </a:r>
            <a:r>
              <a:rPr sz="800" dirty="0">
                <a:solidFill>
                  <a:srgbClr val="454C4C"/>
                </a:solidFill>
                <a:latin typeface="Arial MT"/>
                <a:cs typeface="Arial MT"/>
              </a:rPr>
              <a:t>installing</a:t>
            </a:r>
            <a:r>
              <a:rPr sz="800" spc="20" dirty="0">
                <a:solidFill>
                  <a:srgbClr val="454C4C"/>
                </a:solidFill>
                <a:latin typeface="Arial MT"/>
                <a:cs typeface="Arial MT"/>
              </a:rPr>
              <a:t> </a:t>
            </a:r>
            <a:r>
              <a:rPr sz="800" dirty="0">
                <a:solidFill>
                  <a:srgbClr val="454C4C"/>
                </a:solidFill>
                <a:latin typeface="Arial MT"/>
                <a:cs typeface="Arial MT"/>
              </a:rPr>
              <a:t>and</a:t>
            </a:r>
            <a:r>
              <a:rPr sz="800" spc="15" dirty="0">
                <a:solidFill>
                  <a:srgbClr val="454C4C"/>
                </a:solidFill>
                <a:latin typeface="Arial MT"/>
                <a:cs typeface="Arial MT"/>
              </a:rPr>
              <a:t> </a:t>
            </a:r>
            <a:r>
              <a:rPr sz="800" dirty="0">
                <a:solidFill>
                  <a:srgbClr val="454C4C"/>
                </a:solidFill>
                <a:latin typeface="Arial MT"/>
                <a:cs typeface="Arial MT"/>
              </a:rPr>
              <a:t>using</a:t>
            </a:r>
            <a:r>
              <a:rPr sz="800" spc="20" dirty="0">
                <a:solidFill>
                  <a:srgbClr val="454C4C"/>
                </a:solidFill>
                <a:latin typeface="Arial MT"/>
                <a:cs typeface="Arial MT"/>
              </a:rPr>
              <a:t> </a:t>
            </a:r>
            <a:r>
              <a:rPr sz="800" spc="-25" dirty="0">
                <a:solidFill>
                  <a:srgbClr val="454C4C"/>
                </a:solidFill>
                <a:latin typeface="Arial MT"/>
                <a:cs typeface="Arial MT"/>
              </a:rPr>
              <a:t>the</a:t>
            </a:r>
            <a:r>
              <a:rPr sz="800" dirty="0">
                <a:solidFill>
                  <a:srgbClr val="454C4C"/>
                </a:solidFill>
                <a:latin typeface="Arial MT"/>
                <a:cs typeface="Arial MT"/>
              </a:rPr>
              <a:t> software,</a:t>
            </a:r>
            <a:r>
              <a:rPr sz="800" spc="15" dirty="0">
                <a:solidFill>
                  <a:srgbClr val="454C4C"/>
                </a:solidFill>
                <a:latin typeface="Arial MT"/>
                <a:cs typeface="Arial MT"/>
              </a:rPr>
              <a:t> </a:t>
            </a:r>
            <a:r>
              <a:rPr sz="800" spc="-10" dirty="0">
                <a:solidFill>
                  <a:srgbClr val="454C4C"/>
                </a:solidFill>
                <a:latin typeface="Arial MT"/>
                <a:cs typeface="Arial MT"/>
              </a:rPr>
              <a:t>please</a:t>
            </a:r>
            <a:r>
              <a:rPr sz="800" spc="15" dirty="0">
                <a:solidFill>
                  <a:srgbClr val="454C4C"/>
                </a:solidFill>
                <a:latin typeface="Arial MT"/>
                <a:cs typeface="Arial MT"/>
              </a:rPr>
              <a:t> </a:t>
            </a:r>
            <a:r>
              <a:rPr sz="800" dirty="0">
                <a:solidFill>
                  <a:srgbClr val="454C4C"/>
                </a:solidFill>
                <a:latin typeface="Arial MT"/>
                <a:cs typeface="Arial MT"/>
              </a:rPr>
              <a:t>review</a:t>
            </a:r>
            <a:r>
              <a:rPr sz="800" spc="20" dirty="0">
                <a:solidFill>
                  <a:srgbClr val="454C4C"/>
                </a:solidFill>
                <a:latin typeface="Arial MT"/>
                <a:cs typeface="Arial MT"/>
              </a:rPr>
              <a:t> </a:t>
            </a:r>
            <a:r>
              <a:rPr sz="800" dirty="0">
                <a:solidFill>
                  <a:srgbClr val="454C4C"/>
                </a:solidFill>
                <a:latin typeface="Arial MT"/>
                <a:cs typeface="Arial MT"/>
              </a:rPr>
              <a:t>the</a:t>
            </a:r>
            <a:r>
              <a:rPr sz="800" spc="15" dirty="0">
                <a:solidFill>
                  <a:srgbClr val="454C4C"/>
                </a:solidFill>
                <a:latin typeface="Arial MT"/>
                <a:cs typeface="Arial MT"/>
              </a:rPr>
              <a:t> </a:t>
            </a:r>
            <a:r>
              <a:rPr sz="800" dirty="0">
                <a:solidFill>
                  <a:srgbClr val="454C4C"/>
                </a:solidFill>
                <a:latin typeface="Arial MT"/>
                <a:cs typeface="Arial MT"/>
              </a:rPr>
              <a:t>latest</a:t>
            </a:r>
            <a:r>
              <a:rPr sz="800" spc="15" dirty="0">
                <a:solidFill>
                  <a:srgbClr val="454C4C"/>
                </a:solidFill>
                <a:latin typeface="Arial MT"/>
                <a:cs typeface="Arial MT"/>
              </a:rPr>
              <a:t> </a:t>
            </a:r>
            <a:r>
              <a:rPr sz="800" dirty="0">
                <a:solidFill>
                  <a:srgbClr val="454C4C"/>
                </a:solidFill>
                <a:latin typeface="Arial MT"/>
                <a:cs typeface="Arial MT"/>
              </a:rPr>
              <a:t>version</a:t>
            </a:r>
            <a:r>
              <a:rPr sz="800" spc="20" dirty="0">
                <a:solidFill>
                  <a:srgbClr val="454C4C"/>
                </a:solidFill>
                <a:latin typeface="Arial MT"/>
                <a:cs typeface="Arial MT"/>
              </a:rPr>
              <a:t> </a:t>
            </a:r>
            <a:r>
              <a:rPr sz="800" dirty="0">
                <a:solidFill>
                  <a:srgbClr val="454C4C"/>
                </a:solidFill>
                <a:latin typeface="Arial MT"/>
                <a:cs typeface="Arial MT"/>
              </a:rPr>
              <a:t>of</a:t>
            </a:r>
            <a:r>
              <a:rPr sz="800" spc="15" dirty="0">
                <a:solidFill>
                  <a:srgbClr val="454C4C"/>
                </a:solidFill>
                <a:latin typeface="Arial MT"/>
                <a:cs typeface="Arial MT"/>
              </a:rPr>
              <a:t> </a:t>
            </a:r>
            <a:r>
              <a:rPr sz="800" dirty="0">
                <a:solidFill>
                  <a:srgbClr val="454C4C"/>
                </a:solidFill>
                <a:latin typeface="Arial MT"/>
                <a:cs typeface="Arial MT"/>
              </a:rPr>
              <a:t>the</a:t>
            </a:r>
            <a:r>
              <a:rPr sz="800" spc="15" dirty="0">
                <a:solidFill>
                  <a:srgbClr val="454C4C"/>
                </a:solidFill>
                <a:latin typeface="Arial MT"/>
                <a:cs typeface="Arial MT"/>
              </a:rPr>
              <a:t> </a:t>
            </a:r>
            <a:r>
              <a:rPr sz="800" dirty="0">
                <a:solidFill>
                  <a:srgbClr val="454C4C"/>
                </a:solidFill>
                <a:latin typeface="Arial MT"/>
                <a:cs typeface="Arial MT"/>
              </a:rPr>
              <a:t>Proxmox</a:t>
            </a:r>
            <a:r>
              <a:rPr sz="800" spc="20" dirty="0">
                <a:solidFill>
                  <a:srgbClr val="454C4C"/>
                </a:solidFill>
                <a:latin typeface="Arial MT"/>
                <a:cs typeface="Arial MT"/>
              </a:rPr>
              <a:t> </a:t>
            </a:r>
            <a:r>
              <a:rPr sz="800" spc="-95" dirty="0">
                <a:solidFill>
                  <a:srgbClr val="454C4C"/>
                </a:solidFill>
                <a:latin typeface="Arial MT"/>
                <a:cs typeface="Arial MT"/>
              </a:rPr>
              <a:t>VE</a:t>
            </a:r>
            <a:r>
              <a:rPr sz="800" spc="15" dirty="0">
                <a:solidFill>
                  <a:srgbClr val="454C4C"/>
                </a:solidFill>
                <a:latin typeface="Arial MT"/>
                <a:cs typeface="Arial MT"/>
              </a:rPr>
              <a:t> </a:t>
            </a:r>
            <a:r>
              <a:rPr sz="800" dirty="0">
                <a:solidFill>
                  <a:srgbClr val="454C4C"/>
                </a:solidFill>
                <a:latin typeface="Arial MT"/>
                <a:cs typeface="Arial MT"/>
              </a:rPr>
              <a:t>reference</a:t>
            </a:r>
            <a:r>
              <a:rPr sz="800" spc="15" dirty="0">
                <a:solidFill>
                  <a:srgbClr val="454C4C"/>
                </a:solidFill>
                <a:latin typeface="Arial MT"/>
                <a:cs typeface="Arial MT"/>
              </a:rPr>
              <a:t> </a:t>
            </a:r>
            <a:r>
              <a:rPr sz="800" dirty="0">
                <a:solidFill>
                  <a:srgbClr val="454C4C"/>
                </a:solidFill>
                <a:latin typeface="Arial MT"/>
                <a:cs typeface="Arial MT"/>
              </a:rPr>
              <a:t>documentation,</a:t>
            </a:r>
            <a:r>
              <a:rPr sz="800" spc="15" dirty="0">
                <a:solidFill>
                  <a:srgbClr val="454C4C"/>
                </a:solidFill>
                <a:latin typeface="Arial MT"/>
                <a:cs typeface="Arial MT"/>
              </a:rPr>
              <a:t> </a:t>
            </a:r>
            <a:r>
              <a:rPr sz="800" dirty="0">
                <a:solidFill>
                  <a:srgbClr val="454C4C"/>
                </a:solidFill>
                <a:latin typeface="Arial MT"/>
                <a:cs typeface="Arial MT"/>
              </a:rPr>
              <a:t>which</a:t>
            </a:r>
            <a:r>
              <a:rPr sz="800" spc="15" dirty="0">
                <a:solidFill>
                  <a:srgbClr val="454C4C"/>
                </a:solidFill>
                <a:latin typeface="Arial MT"/>
                <a:cs typeface="Arial MT"/>
              </a:rPr>
              <a:t> </a:t>
            </a:r>
            <a:r>
              <a:rPr sz="800" dirty="0">
                <a:solidFill>
                  <a:srgbClr val="454C4C"/>
                </a:solidFill>
                <a:latin typeface="Arial MT"/>
                <a:cs typeface="Arial MT"/>
              </a:rPr>
              <a:t>is</a:t>
            </a:r>
            <a:r>
              <a:rPr sz="800" spc="15" dirty="0">
                <a:solidFill>
                  <a:srgbClr val="454C4C"/>
                </a:solidFill>
                <a:latin typeface="Arial MT"/>
                <a:cs typeface="Arial MT"/>
              </a:rPr>
              <a:t> </a:t>
            </a:r>
            <a:r>
              <a:rPr sz="800" spc="-10" dirty="0">
                <a:solidFill>
                  <a:srgbClr val="454C4C"/>
                </a:solidFill>
                <a:latin typeface="Arial MT"/>
                <a:cs typeface="Arial MT"/>
              </a:rPr>
              <a:t>available</a:t>
            </a:r>
            <a:r>
              <a:rPr sz="800" spc="20" dirty="0">
                <a:solidFill>
                  <a:srgbClr val="454C4C"/>
                </a:solidFill>
                <a:latin typeface="Arial MT"/>
                <a:cs typeface="Arial MT"/>
              </a:rPr>
              <a:t> </a:t>
            </a:r>
            <a:r>
              <a:rPr sz="800" dirty="0">
                <a:solidFill>
                  <a:srgbClr val="454C4C"/>
                </a:solidFill>
                <a:latin typeface="Arial MT"/>
                <a:cs typeface="Arial MT"/>
              </a:rPr>
              <a:t>at</a:t>
            </a:r>
            <a:r>
              <a:rPr sz="800" spc="140" dirty="0">
                <a:solidFill>
                  <a:srgbClr val="454C4C"/>
                </a:solidFill>
                <a:latin typeface="Arial MT"/>
                <a:cs typeface="Arial MT"/>
              </a:rPr>
              <a:t> </a:t>
            </a:r>
            <a:r>
              <a:rPr sz="800" dirty="0">
                <a:solidFill>
                  <a:srgbClr val="287FB8"/>
                </a:solidFill>
                <a:latin typeface="Arial MT"/>
                <a:cs typeface="Arial MT"/>
                <a:hlinkClick r:id="rId2"/>
              </a:rPr>
              <a:t>https://pve.proxmox.com/pve-</a:t>
            </a:r>
            <a:r>
              <a:rPr sz="800" spc="-10" dirty="0">
                <a:solidFill>
                  <a:srgbClr val="287FB8"/>
                </a:solidFill>
                <a:latin typeface="Arial MT"/>
                <a:cs typeface="Arial MT"/>
                <a:hlinkClick r:id="rId2"/>
              </a:rPr>
              <a:t>docs</a:t>
            </a:r>
            <a:r>
              <a:rPr sz="800" spc="-10" dirty="0">
                <a:solidFill>
                  <a:srgbClr val="454C4C"/>
                </a:solidFill>
                <a:latin typeface="Arial MT"/>
                <a:cs typeface="Arial MT"/>
              </a:rPr>
              <a:t>.</a:t>
            </a:r>
            <a:endParaRPr sz="800">
              <a:latin typeface="Arial MT"/>
              <a:cs typeface="Arial MT"/>
            </a:endParaRPr>
          </a:p>
          <a:p>
            <a:pPr>
              <a:lnSpc>
                <a:spcPct val="100000"/>
              </a:lnSpc>
              <a:spcBef>
                <a:spcPts val="30"/>
              </a:spcBef>
            </a:pPr>
            <a:endParaRPr sz="800">
              <a:latin typeface="Arial MT"/>
              <a:cs typeface="Arial MT"/>
            </a:endParaRPr>
          </a:p>
          <a:p>
            <a:pPr marL="12700" marR="5080">
              <a:lnSpc>
                <a:spcPct val="103600"/>
              </a:lnSpc>
            </a:pPr>
            <a:r>
              <a:rPr sz="800" dirty="0">
                <a:solidFill>
                  <a:srgbClr val="454C4C"/>
                </a:solidFill>
                <a:latin typeface="Arial MT"/>
                <a:cs typeface="Arial MT"/>
              </a:rPr>
              <a:t>Proxmox®</a:t>
            </a:r>
            <a:r>
              <a:rPr sz="800" spc="20" dirty="0">
                <a:solidFill>
                  <a:srgbClr val="454C4C"/>
                </a:solidFill>
                <a:latin typeface="Arial MT"/>
                <a:cs typeface="Arial MT"/>
              </a:rPr>
              <a:t> </a:t>
            </a:r>
            <a:r>
              <a:rPr sz="800" dirty="0">
                <a:solidFill>
                  <a:srgbClr val="454C4C"/>
                </a:solidFill>
                <a:latin typeface="Arial MT"/>
                <a:cs typeface="Arial MT"/>
              </a:rPr>
              <a:t>is</a:t>
            </a:r>
            <a:r>
              <a:rPr sz="800" spc="20" dirty="0">
                <a:solidFill>
                  <a:srgbClr val="454C4C"/>
                </a:solidFill>
                <a:latin typeface="Arial MT"/>
                <a:cs typeface="Arial MT"/>
              </a:rPr>
              <a:t> </a:t>
            </a:r>
            <a:r>
              <a:rPr sz="800" dirty="0">
                <a:solidFill>
                  <a:srgbClr val="454C4C"/>
                </a:solidFill>
                <a:latin typeface="Arial MT"/>
                <a:cs typeface="Arial MT"/>
              </a:rPr>
              <a:t>a</a:t>
            </a:r>
            <a:r>
              <a:rPr sz="800" spc="25" dirty="0">
                <a:solidFill>
                  <a:srgbClr val="454C4C"/>
                </a:solidFill>
                <a:latin typeface="Arial MT"/>
                <a:cs typeface="Arial MT"/>
              </a:rPr>
              <a:t> </a:t>
            </a:r>
            <a:r>
              <a:rPr sz="800" dirty="0">
                <a:solidFill>
                  <a:srgbClr val="454C4C"/>
                </a:solidFill>
                <a:latin typeface="Arial MT"/>
                <a:cs typeface="Arial MT"/>
              </a:rPr>
              <a:t>registered</a:t>
            </a:r>
            <a:r>
              <a:rPr sz="800" spc="20" dirty="0">
                <a:solidFill>
                  <a:srgbClr val="454C4C"/>
                </a:solidFill>
                <a:latin typeface="Arial MT"/>
                <a:cs typeface="Arial MT"/>
              </a:rPr>
              <a:t> </a:t>
            </a:r>
            <a:r>
              <a:rPr sz="800" dirty="0">
                <a:solidFill>
                  <a:srgbClr val="454C4C"/>
                </a:solidFill>
                <a:latin typeface="Arial MT"/>
                <a:cs typeface="Arial MT"/>
              </a:rPr>
              <a:t>trademark</a:t>
            </a:r>
            <a:r>
              <a:rPr sz="800" spc="25" dirty="0">
                <a:solidFill>
                  <a:srgbClr val="454C4C"/>
                </a:solidFill>
                <a:latin typeface="Arial MT"/>
                <a:cs typeface="Arial MT"/>
              </a:rPr>
              <a:t> </a:t>
            </a:r>
            <a:r>
              <a:rPr sz="800" dirty="0">
                <a:solidFill>
                  <a:srgbClr val="454C4C"/>
                </a:solidFill>
                <a:latin typeface="Arial MT"/>
                <a:cs typeface="Arial MT"/>
              </a:rPr>
              <a:t>of</a:t>
            </a:r>
            <a:r>
              <a:rPr sz="800" spc="20" dirty="0">
                <a:solidFill>
                  <a:srgbClr val="454C4C"/>
                </a:solidFill>
                <a:latin typeface="Arial MT"/>
                <a:cs typeface="Arial MT"/>
              </a:rPr>
              <a:t> </a:t>
            </a:r>
            <a:r>
              <a:rPr sz="800" dirty="0">
                <a:solidFill>
                  <a:srgbClr val="454C4C"/>
                </a:solidFill>
                <a:latin typeface="Arial MT"/>
                <a:cs typeface="Arial MT"/>
              </a:rPr>
              <a:t>Proxmox</a:t>
            </a:r>
            <a:r>
              <a:rPr sz="800" spc="25" dirty="0">
                <a:solidFill>
                  <a:srgbClr val="454C4C"/>
                </a:solidFill>
                <a:latin typeface="Arial MT"/>
                <a:cs typeface="Arial MT"/>
              </a:rPr>
              <a:t> </a:t>
            </a:r>
            <a:r>
              <a:rPr sz="800" spc="-10" dirty="0">
                <a:solidFill>
                  <a:srgbClr val="454C4C"/>
                </a:solidFill>
                <a:latin typeface="Arial MT"/>
                <a:cs typeface="Arial MT"/>
              </a:rPr>
              <a:t>Server</a:t>
            </a:r>
            <a:r>
              <a:rPr sz="800" spc="20" dirty="0">
                <a:solidFill>
                  <a:srgbClr val="454C4C"/>
                </a:solidFill>
                <a:latin typeface="Arial MT"/>
                <a:cs typeface="Arial MT"/>
              </a:rPr>
              <a:t> </a:t>
            </a:r>
            <a:r>
              <a:rPr sz="800" dirty="0">
                <a:solidFill>
                  <a:srgbClr val="454C4C"/>
                </a:solidFill>
                <a:latin typeface="Arial MT"/>
                <a:cs typeface="Arial MT"/>
              </a:rPr>
              <a:t>Solutions</a:t>
            </a:r>
            <a:r>
              <a:rPr sz="800" spc="25" dirty="0">
                <a:solidFill>
                  <a:srgbClr val="454C4C"/>
                </a:solidFill>
                <a:latin typeface="Arial MT"/>
                <a:cs typeface="Arial MT"/>
              </a:rPr>
              <a:t> </a:t>
            </a:r>
            <a:r>
              <a:rPr sz="800" dirty="0">
                <a:solidFill>
                  <a:srgbClr val="454C4C"/>
                </a:solidFill>
                <a:latin typeface="Arial MT"/>
                <a:cs typeface="Arial MT"/>
              </a:rPr>
              <a:t>GmbH.</a:t>
            </a:r>
            <a:r>
              <a:rPr sz="800" spc="20" dirty="0">
                <a:solidFill>
                  <a:srgbClr val="454C4C"/>
                </a:solidFill>
                <a:latin typeface="Arial MT"/>
                <a:cs typeface="Arial MT"/>
              </a:rPr>
              <a:t> </a:t>
            </a:r>
            <a:r>
              <a:rPr sz="800" dirty="0">
                <a:solidFill>
                  <a:srgbClr val="454C4C"/>
                </a:solidFill>
                <a:latin typeface="Arial MT"/>
                <a:cs typeface="Arial MT"/>
              </a:rPr>
              <a:t>Product</a:t>
            </a:r>
            <a:r>
              <a:rPr sz="800" spc="25" dirty="0">
                <a:solidFill>
                  <a:srgbClr val="454C4C"/>
                </a:solidFill>
                <a:latin typeface="Arial MT"/>
                <a:cs typeface="Arial MT"/>
              </a:rPr>
              <a:t> </a:t>
            </a:r>
            <a:r>
              <a:rPr sz="800" dirty="0">
                <a:solidFill>
                  <a:srgbClr val="454C4C"/>
                </a:solidFill>
                <a:latin typeface="Arial MT"/>
                <a:cs typeface="Arial MT"/>
              </a:rPr>
              <a:t>or</a:t>
            </a:r>
            <a:r>
              <a:rPr sz="800" spc="20" dirty="0">
                <a:solidFill>
                  <a:srgbClr val="454C4C"/>
                </a:solidFill>
                <a:latin typeface="Arial MT"/>
                <a:cs typeface="Arial MT"/>
              </a:rPr>
              <a:t> </a:t>
            </a:r>
            <a:r>
              <a:rPr sz="800" dirty="0">
                <a:solidFill>
                  <a:srgbClr val="454C4C"/>
                </a:solidFill>
                <a:latin typeface="Arial MT"/>
                <a:cs typeface="Arial MT"/>
              </a:rPr>
              <a:t>company</a:t>
            </a:r>
            <a:r>
              <a:rPr sz="800" spc="20" dirty="0">
                <a:solidFill>
                  <a:srgbClr val="454C4C"/>
                </a:solidFill>
                <a:latin typeface="Arial MT"/>
                <a:cs typeface="Arial MT"/>
              </a:rPr>
              <a:t> </a:t>
            </a:r>
            <a:r>
              <a:rPr sz="800" dirty="0">
                <a:solidFill>
                  <a:srgbClr val="454C4C"/>
                </a:solidFill>
                <a:latin typeface="Arial MT"/>
                <a:cs typeface="Arial MT"/>
              </a:rPr>
              <a:t>names</a:t>
            </a:r>
            <a:r>
              <a:rPr sz="800" spc="25" dirty="0">
                <a:solidFill>
                  <a:srgbClr val="454C4C"/>
                </a:solidFill>
                <a:latin typeface="Arial MT"/>
                <a:cs typeface="Arial MT"/>
              </a:rPr>
              <a:t> </a:t>
            </a:r>
            <a:r>
              <a:rPr sz="800" dirty="0">
                <a:solidFill>
                  <a:srgbClr val="454C4C"/>
                </a:solidFill>
                <a:latin typeface="Arial MT"/>
                <a:cs typeface="Arial MT"/>
              </a:rPr>
              <a:t>different</a:t>
            </a:r>
            <a:r>
              <a:rPr sz="800" spc="20" dirty="0">
                <a:solidFill>
                  <a:srgbClr val="454C4C"/>
                </a:solidFill>
                <a:latin typeface="Arial MT"/>
                <a:cs typeface="Arial MT"/>
              </a:rPr>
              <a:t> </a:t>
            </a:r>
            <a:r>
              <a:rPr sz="800" dirty="0">
                <a:solidFill>
                  <a:srgbClr val="454C4C"/>
                </a:solidFill>
                <a:latin typeface="Arial MT"/>
                <a:cs typeface="Arial MT"/>
              </a:rPr>
              <a:t>from</a:t>
            </a:r>
            <a:r>
              <a:rPr sz="800" spc="25" dirty="0">
                <a:solidFill>
                  <a:srgbClr val="454C4C"/>
                </a:solidFill>
                <a:latin typeface="Arial MT"/>
                <a:cs typeface="Arial MT"/>
              </a:rPr>
              <a:t> </a:t>
            </a:r>
            <a:r>
              <a:rPr sz="800" dirty="0">
                <a:solidFill>
                  <a:srgbClr val="454C4C"/>
                </a:solidFill>
                <a:latin typeface="Arial MT"/>
                <a:cs typeface="Arial MT"/>
              </a:rPr>
              <a:t>Proxmox</a:t>
            </a:r>
            <a:r>
              <a:rPr sz="800" spc="20" dirty="0">
                <a:solidFill>
                  <a:srgbClr val="454C4C"/>
                </a:solidFill>
                <a:latin typeface="Arial MT"/>
                <a:cs typeface="Arial MT"/>
              </a:rPr>
              <a:t> </a:t>
            </a:r>
            <a:r>
              <a:rPr sz="800" dirty="0">
                <a:solidFill>
                  <a:srgbClr val="454C4C"/>
                </a:solidFill>
                <a:latin typeface="Arial MT"/>
                <a:cs typeface="Arial MT"/>
              </a:rPr>
              <a:t>may</a:t>
            </a:r>
            <a:r>
              <a:rPr sz="800" spc="25" dirty="0">
                <a:solidFill>
                  <a:srgbClr val="454C4C"/>
                </a:solidFill>
                <a:latin typeface="Arial MT"/>
                <a:cs typeface="Arial MT"/>
              </a:rPr>
              <a:t> </a:t>
            </a:r>
            <a:r>
              <a:rPr sz="800" dirty="0">
                <a:solidFill>
                  <a:srgbClr val="454C4C"/>
                </a:solidFill>
                <a:latin typeface="Arial MT"/>
                <a:cs typeface="Arial MT"/>
              </a:rPr>
              <a:t>be</a:t>
            </a:r>
            <a:r>
              <a:rPr sz="800" spc="20" dirty="0">
                <a:solidFill>
                  <a:srgbClr val="454C4C"/>
                </a:solidFill>
                <a:latin typeface="Arial MT"/>
                <a:cs typeface="Arial MT"/>
              </a:rPr>
              <a:t> </a:t>
            </a:r>
            <a:r>
              <a:rPr sz="800" dirty="0">
                <a:solidFill>
                  <a:srgbClr val="454C4C"/>
                </a:solidFill>
                <a:latin typeface="Arial MT"/>
                <a:cs typeface="Arial MT"/>
              </a:rPr>
              <a:t>trademarks</a:t>
            </a:r>
            <a:r>
              <a:rPr sz="800" spc="25" dirty="0">
                <a:solidFill>
                  <a:srgbClr val="454C4C"/>
                </a:solidFill>
                <a:latin typeface="Arial MT"/>
                <a:cs typeface="Arial MT"/>
              </a:rPr>
              <a:t> </a:t>
            </a:r>
            <a:r>
              <a:rPr sz="800" dirty="0">
                <a:solidFill>
                  <a:srgbClr val="454C4C"/>
                </a:solidFill>
                <a:latin typeface="Arial MT"/>
                <a:cs typeface="Arial MT"/>
              </a:rPr>
              <a:t>or</a:t>
            </a:r>
            <a:r>
              <a:rPr sz="800" spc="20" dirty="0">
                <a:solidFill>
                  <a:srgbClr val="454C4C"/>
                </a:solidFill>
                <a:latin typeface="Arial MT"/>
                <a:cs typeface="Arial MT"/>
              </a:rPr>
              <a:t> </a:t>
            </a:r>
            <a:r>
              <a:rPr sz="800" dirty="0">
                <a:solidFill>
                  <a:srgbClr val="454C4C"/>
                </a:solidFill>
                <a:latin typeface="Arial MT"/>
                <a:cs typeface="Arial MT"/>
              </a:rPr>
              <a:t>registered</a:t>
            </a:r>
            <a:r>
              <a:rPr sz="800" spc="25" dirty="0">
                <a:solidFill>
                  <a:srgbClr val="454C4C"/>
                </a:solidFill>
                <a:latin typeface="Arial MT"/>
                <a:cs typeface="Arial MT"/>
              </a:rPr>
              <a:t> </a:t>
            </a:r>
            <a:r>
              <a:rPr sz="800" dirty="0">
                <a:solidFill>
                  <a:srgbClr val="454C4C"/>
                </a:solidFill>
                <a:latin typeface="Arial MT"/>
                <a:cs typeface="Arial MT"/>
              </a:rPr>
              <a:t>trademarks</a:t>
            </a:r>
            <a:r>
              <a:rPr sz="800" spc="20" dirty="0">
                <a:solidFill>
                  <a:srgbClr val="454C4C"/>
                </a:solidFill>
                <a:latin typeface="Arial MT"/>
                <a:cs typeface="Arial MT"/>
              </a:rPr>
              <a:t> </a:t>
            </a:r>
            <a:r>
              <a:rPr sz="800" dirty="0">
                <a:solidFill>
                  <a:srgbClr val="454C4C"/>
                </a:solidFill>
                <a:latin typeface="Arial MT"/>
                <a:cs typeface="Arial MT"/>
              </a:rPr>
              <a:t>of</a:t>
            </a:r>
            <a:r>
              <a:rPr sz="800" spc="25" dirty="0">
                <a:solidFill>
                  <a:srgbClr val="454C4C"/>
                </a:solidFill>
                <a:latin typeface="Arial MT"/>
                <a:cs typeface="Arial MT"/>
              </a:rPr>
              <a:t> </a:t>
            </a:r>
            <a:r>
              <a:rPr sz="800" spc="-10" dirty="0">
                <a:solidFill>
                  <a:srgbClr val="454C4C"/>
                </a:solidFill>
                <a:latin typeface="Arial MT"/>
                <a:cs typeface="Arial MT"/>
              </a:rPr>
              <a:t>their </a:t>
            </a:r>
            <a:r>
              <a:rPr sz="800" dirty="0">
                <a:solidFill>
                  <a:srgbClr val="454C4C"/>
                </a:solidFill>
                <a:latin typeface="Arial MT"/>
                <a:cs typeface="Arial MT"/>
              </a:rPr>
              <a:t>respective</a:t>
            </a:r>
            <a:r>
              <a:rPr sz="800" spc="-40" dirty="0">
                <a:solidFill>
                  <a:srgbClr val="454C4C"/>
                </a:solidFill>
                <a:latin typeface="Arial MT"/>
                <a:cs typeface="Arial MT"/>
              </a:rPr>
              <a:t> </a:t>
            </a:r>
            <a:r>
              <a:rPr sz="800" spc="-10" dirty="0">
                <a:solidFill>
                  <a:srgbClr val="454C4C"/>
                </a:solidFill>
                <a:latin typeface="Arial MT"/>
                <a:cs typeface="Arial MT"/>
              </a:rPr>
              <a:t>owners.</a:t>
            </a:r>
            <a:endParaRPr sz="800">
              <a:latin typeface="Arial MT"/>
              <a:cs typeface="Arial MT"/>
            </a:endParaRPr>
          </a:p>
          <a:p>
            <a:pPr>
              <a:lnSpc>
                <a:spcPct val="100000"/>
              </a:lnSpc>
              <a:spcBef>
                <a:spcPts val="30"/>
              </a:spcBef>
            </a:pPr>
            <a:endParaRPr sz="800">
              <a:latin typeface="Arial MT"/>
              <a:cs typeface="Arial MT"/>
            </a:endParaRPr>
          </a:p>
          <a:p>
            <a:pPr marL="12700" marR="175260">
              <a:lnSpc>
                <a:spcPct val="103600"/>
              </a:lnSpc>
            </a:pPr>
            <a:r>
              <a:rPr sz="800" spc="75" dirty="0">
                <a:solidFill>
                  <a:srgbClr val="454C4C"/>
                </a:solidFill>
                <a:latin typeface="Arial MT"/>
                <a:cs typeface="Arial MT"/>
              </a:rPr>
              <a:t>©</a:t>
            </a:r>
            <a:r>
              <a:rPr sz="800" spc="5" dirty="0">
                <a:solidFill>
                  <a:srgbClr val="454C4C"/>
                </a:solidFill>
                <a:latin typeface="Arial MT"/>
                <a:cs typeface="Arial MT"/>
              </a:rPr>
              <a:t> </a:t>
            </a:r>
            <a:r>
              <a:rPr sz="800" dirty="0">
                <a:solidFill>
                  <a:srgbClr val="454C4C"/>
                </a:solidFill>
                <a:latin typeface="Arial MT"/>
                <a:cs typeface="Arial MT"/>
              </a:rPr>
              <a:t>Copyright</a:t>
            </a:r>
            <a:r>
              <a:rPr sz="800" spc="5" dirty="0">
                <a:solidFill>
                  <a:srgbClr val="454C4C"/>
                </a:solidFill>
                <a:latin typeface="Arial MT"/>
                <a:cs typeface="Arial MT"/>
              </a:rPr>
              <a:t> </a:t>
            </a:r>
            <a:r>
              <a:rPr sz="800" dirty="0">
                <a:solidFill>
                  <a:srgbClr val="454C4C"/>
                </a:solidFill>
                <a:latin typeface="Arial MT"/>
                <a:cs typeface="Arial MT"/>
              </a:rPr>
              <a:t>2025</a:t>
            </a:r>
            <a:r>
              <a:rPr sz="800" spc="10" dirty="0">
                <a:solidFill>
                  <a:srgbClr val="454C4C"/>
                </a:solidFill>
                <a:latin typeface="Arial MT"/>
                <a:cs typeface="Arial MT"/>
              </a:rPr>
              <a:t> </a:t>
            </a:r>
            <a:r>
              <a:rPr sz="800" dirty="0">
                <a:solidFill>
                  <a:srgbClr val="454C4C"/>
                </a:solidFill>
                <a:latin typeface="Arial MT"/>
                <a:cs typeface="Arial MT"/>
              </a:rPr>
              <a:t>Proxmox</a:t>
            </a:r>
            <a:r>
              <a:rPr sz="800" spc="5" dirty="0">
                <a:solidFill>
                  <a:srgbClr val="454C4C"/>
                </a:solidFill>
                <a:latin typeface="Arial MT"/>
                <a:cs typeface="Arial MT"/>
              </a:rPr>
              <a:t> </a:t>
            </a:r>
            <a:r>
              <a:rPr sz="800" spc="-10" dirty="0">
                <a:solidFill>
                  <a:srgbClr val="454C4C"/>
                </a:solidFill>
                <a:latin typeface="Arial MT"/>
                <a:cs typeface="Arial MT"/>
              </a:rPr>
              <a:t>Server</a:t>
            </a:r>
            <a:r>
              <a:rPr sz="800" spc="10" dirty="0">
                <a:solidFill>
                  <a:srgbClr val="454C4C"/>
                </a:solidFill>
                <a:latin typeface="Arial MT"/>
                <a:cs typeface="Arial MT"/>
              </a:rPr>
              <a:t> </a:t>
            </a:r>
            <a:r>
              <a:rPr sz="800" dirty="0">
                <a:solidFill>
                  <a:srgbClr val="454C4C"/>
                </a:solidFill>
                <a:latin typeface="Arial MT"/>
                <a:cs typeface="Arial MT"/>
              </a:rPr>
              <a:t>Solutions</a:t>
            </a:r>
            <a:r>
              <a:rPr sz="800" spc="5" dirty="0">
                <a:solidFill>
                  <a:srgbClr val="454C4C"/>
                </a:solidFill>
                <a:latin typeface="Arial MT"/>
                <a:cs typeface="Arial MT"/>
              </a:rPr>
              <a:t> </a:t>
            </a:r>
            <a:r>
              <a:rPr sz="800" dirty="0">
                <a:solidFill>
                  <a:srgbClr val="454C4C"/>
                </a:solidFill>
                <a:latin typeface="Arial MT"/>
                <a:cs typeface="Arial MT"/>
              </a:rPr>
              <a:t>GmbH.</a:t>
            </a:r>
            <a:r>
              <a:rPr sz="800" spc="10" dirty="0">
                <a:solidFill>
                  <a:srgbClr val="454C4C"/>
                </a:solidFill>
                <a:latin typeface="Arial MT"/>
                <a:cs typeface="Arial MT"/>
              </a:rPr>
              <a:t> </a:t>
            </a:r>
            <a:r>
              <a:rPr sz="800" spc="-10" dirty="0">
                <a:solidFill>
                  <a:srgbClr val="454C4C"/>
                </a:solidFill>
                <a:latin typeface="Arial MT"/>
                <a:cs typeface="Arial MT"/>
              </a:rPr>
              <a:t>All</a:t>
            </a:r>
            <a:r>
              <a:rPr sz="800" spc="5" dirty="0">
                <a:solidFill>
                  <a:srgbClr val="454C4C"/>
                </a:solidFill>
                <a:latin typeface="Arial MT"/>
                <a:cs typeface="Arial MT"/>
              </a:rPr>
              <a:t> </a:t>
            </a:r>
            <a:r>
              <a:rPr sz="800" dirty="0">
                <a:solidFill>
                  <a:srgbClr val="454C4C"/>
                </a:solidFill>
                <a:latin typeface="Arial MT"/>
                <a:cs typeface="Arial MT"/>
              </a:rPr>
              <a:t>rights</a:t>
            </a:r>
            <a:r>
              <a:rPr sz="800" spc="10" dirty="0">
                <a:solidFill>
                  <a:srgbClr val="454C4C"/>
                </a:solidFill>
                <a:latin typeface="Arial MT"/>
                <a:cs typeface="Arial MT"/>
              </a:rPr>
              <a:t> </a:t>
            </a:r>
            <a:r>
              <a:rPr sz="800" dirty="0">
                <a:solidFill>
                  <a:srgbClr val="454C4C"/>
                </a:solidFill>
                <a:latin typeface="Arial MT"/>
                <a:cs typeface="Arial MT"/>
              </a:rPr>
              <a:t>reserved.</a:t>
            </a:r>
            <a:r>
              <a:rPr sz="800" spc="5" dirty="0">
                <a:solidFill>
                  <a:srgbClr val="454C4C"/>
                </a:solidFill>
                <a:latin typeface="Arial MT"/>
                <a:cs typeface="Arial MT"/>
              </a:rPr>
              <a:t> </a:t>
            </a:r>
            <a:r>
              <a:rPr sz="800" dirty="0">
                <a:solidFill>
                  <a:srgbClr val="454C4C"/>
                </a:solidFill>
                <a:latin typeface="Arial MT"/>
                <a:cs typeface="Arial MT"/>
              </a:rPr>
              <a:t>No</a:t>
            </a:r>
            <a:r>
              <a:rPr sz="800" spc="10" dirty="0">
                <a:solidFill>
                  <a:srgbClr val="454C4C"/>
                </a:solidFill>
                <a:latin typeface="Arial MT"/>
                <a:cs typeface="Arial MT"/>
              </a:rPr>
              <a:t> </a:t>
            </a:r>
            <a:r>
              <a:rPr sz="800" dirty="0">
                <a:solidFill>
                  <a:srgbClr val="454C4C"/>
                </a:solidFill>
                <a:latin typeface="Arial MT"/>
                <a:cs typeface="Arial MT"/>
              </a:rPr>
              <a:t>part</a:t>
            </a:r>
            <a:r>
              <a:rPr sz="800" spc="5" dirty="0">
                <a:solidFill>
                  <a:srgbClr val="454C4C"/>
                </a:solidFill>
                <a:latin typeface="Arial MT"/>
                <a:cs typeface="Arial MT"/>
              </a:rPr>
              <a:t> </a:t>
            </a:r>
            <a:r>
              <a:rPr sz="800" dirty="0">
                <a:solidFill>
                  <a:srgbClr val="454C4C"/>
                </a:solidFill>
                <a:latin typeface="Arial MT"/>
                <a:cs typeface="Arial MT"/>
              </a:rPr>
              <a:t>of</a:t>
            </a:r>
            <a:r>
              <a:rPr sz="800" spc="10" dirty="0">
                <a:solidFill>
                  <a:srgbClr val="454C4C"/>
                </a:solidFill>
                <a:latin typeface="Arial MT"/>
                <a:cs typeface="Arial MT"/>
              </a:rPr>
              <a:t> </a:t>
            </a:r>
            <a:r>
              <a:rPr sz="800" dirty="0">
                <a:solidFill>
                  <a:srgbClr val="454C4C"/>
                </a:solidFill>
                <a:latin typeface="Arial MT"/>
                <a:cs typeface="Arial MT"/>
              </a:rPr>
              <a:t>this</a:t>
            </a:r>
            <a:r>
              <a:rPr sz="800" spc="5" dirty="0">
                <a:solidFill>
                  <a:srgbClr val="454C4C"/>
                </a:solidFill>
                <a:latin typeface="Arial MT"/>
                <a:cs typeface="Arial MT"/>
              </a:rPr>
              <a:t> </a:t>
            </a:r>
            <a:r>
              <a:rPr sz="800" dirty="0">
                <a:solidFill>
                  <a:srgbClr val="454C4C"/>
                </a:solidFill>
                <a:latin typeface="Arial MT"/>
                <a:cs typeface="Arial MT"/>
              </a:rPr>
              <a:t>publication</a:t>
            </a:r>
            <a:r>
              <a:rPr sz="800" spc="10" dirty="0">
                <a:solidFill>
                  <a:srgbClr val="454C4C"/>
                </a:solidFill>
                <a:latin typeface="Arial MT"/>
                <a:cs typeface="Arial MT"/>
              </a:rPr>
              <a:t> </a:t>
            </a:r>
            <a:r>
              <a:rPr sz="800" dirty="0">
                <a:solidFill>
                  <a:srgbClr val="454C4C"/>
                </a:solidFill>
                <a:latin typeface="Arial MT"/>
                <a:cs typeface="Arial MT"/>
              </a:rPr>
              <a:t>may</a:t>
            </a:r>
            <a:r>
              <a:rPr sz="800" spc="5" dirty="0">
                <a:solidFill>
                  <a:srgbClr val="454C4C"/>
                </a:solidFill>
                <a:latin typeface="Arial MT"/>
                <a:cs typeface="Arial MT"/>
              </a:rPr>
              <a:t> </a:t>
            </a:r>
            <a:r>
              <a:rPr sz="800" dirty="0">
                <a:solidFill>
                  <a:srgbClr val="454C4C"/>
                </a:solidFill>
                <a:latin typeface="Arial MT"/>
                <a:cs typeface="Arial MT"/>
              </a:rPr>
              <a:t>be</a:t>
            </a:r>
            <a:r>
              <a:rPr sz="800" spc="10" dirty="0">
                <a:solidFill>
                  <a:srgbClr val="454C4C"/>
                </a:solidFill>
                <a:latin typeface="Arial MT"/>
                <a:cs typeface="Arial MT"/>
              </a:rPr>
              <a:t> </a:t>
            </a:r>
            <a:r>
              <a:rPr sz="800" dirty="0">
                <a:solidFill>
                  <a:srgbClr val="454C4C"/>
                </a:solidFill>
                <a:latin typeface="Arial MT"/>
                <a:cs typeface="Arial MT"/>
              </a:rPr>
              <a:t>reproduced,</a:t>
            </a:r>
            <a:r>
              <a:rPr sz="800" spc="5" dirty="0">
                <a:solidFill>
                  <a:srgbClr val="454C4C"/>
                </a:solidFill>
                <a:latin typeface="Arial MT"/>
                <a:cs typeface="Arial MT"/>
              </a:rPr>
              <a:t> </a:t>
            </a:r>
            <a:r>
              <a:rPr sz="800" dirty="0">
                <a:solidFill>
                  <a:srgbClr val="454C4C"/>
                </a:solidFill>
                <a:latin typeface="Arial MT"/>
                <a:cs typeface="Arial MT"/>
              </a:rPr>
              <a:t>photocopied,</a:t>
            </a:r>
            <a:r>
              <a:rPr sz="800" spc="10" dirty="0">
                <a:solidFill>
                  <a:srgbClr val="454C4C"/>
                </a:solidFill>
                <a:latin typeface="Arial MT"/>
                <a:cs typeface="Arial MT"/>
              </a:rPr>
              <a:t> </a:t>
            </a:r>
            <a:r>
              <a:rPr sz="800" dirty="0">
                <a:solidFill>
                  <a:srgbClr val="454C4C"/>
                </a:solidFill>
                <a:latin typeface="Arial MT"/>
                <a:cs typeface="Arial MT"/>
              </a:rPr>
              <a:t>stored</a:t>
            </a:r>
            <a:r>
              <a:rPr sz="800" spc="5" dirty="0">
                <a:solidFill>
                  <a:srgbClr val="454C4C"/>
                </a:solidFill>
                <a:latin typeface="Arial MT"/>
                <a:cs typeface="Arial MT"/>
              </a:rPr>
              <a:t> </a:t>
            </a:r>
            <a:r>
              <a:rPr sz="800" dirty="0">
                <a:solidFill>
                  <a:srgbClr val="454C4C"/>
                </a:solidFill>
                <a:latin typeface="Arial MT"/>
                <a:cs typeface="Arial MT"/>
              </a:rPr>
              <a:t>in</a:t>
            </a:r>
            <a:r>
              <a:rPr sz="800" spc="5" dirty="0">
                <a:solidFill>
                  <a:srgbClr val="454C4C"/>
                </a:solidFill>
                <a:latin typeface="Arial MT"/>
                <a:cs typeface="Arial MT"/>
              </a:rPr>
              <a:t> </a:t>
            </a:r>
            <a:r>
              <a:rPr sz="800" dirty="0">
                <a:solidFill>
                  <a:srgbClr val="454C4C"/>
                </a:solidFill>
                <a:latin typeface="Arial MT"/>
                <a:cs typeface="Arial MT"/>
              </a:rPr>
              <a:t>a</a:t>
            </a:r>
            <a:r>
              <a:rPr sz="800" spc="10" dirty="0">
                <a:solidFill>
                  <a:srgbClr val="454C4C"/>
                </a:solidFill>
                <a:latin typeface="Arial MT"/>
                <a:cs typeface="Arial MT"/>
              </a:rPr>
              <a:t> </a:t>
            </a:r>
            <a:r>
              <a:rPr sz="800" dirty="0">
                <a:solidFill>
                  <a:srgbClr val="454C4C"/>
                </a:solidFill>
                <a:latin typeface="Arial MT"/>
                <a:cs typeface="Arial MT"/>
              </a:rPr>
              <a:t>retrieval</a:t>
            </a:r>
            <a:r>
              <a:rPr sz="800" spc="5" dirty="0">
                <a:solidFill>
                  <a:srgbClr val="454C4C"/>
                </a:solidFill>
                <a:latin typeface="Arial MT"/>
                <a:cs typeface="Arial MT"/>
              </a:rPr>
              <a:t> </a:t>
            </a:r>
            <a:r>
              <a:rPr sz="800" spc="-10" dirty="0">
                <a:solidFill>
                  <a:srgbClr val="454C4C"/>
                </a:solidFill>
                <a:latin typeface="Arial MT"/>
                <a:cs typeface="Arial MT"/>
              </a:rPr>
              <a:t>system,</a:t>
            </a:r>
            <a:r>
              <a:rPr sz="800" spc="10" dirty="0">
                <a:solidFill>
                  <a:srgbClr val="454C4C"/>
                </a:solidFill>
                <a:latin typeface="Arial MT"/>
                <a:cs typeface="Arial MT"/>
              </a:rPr>
              <a:t> </a:t>
            </a:r>
            <a:r>
              <a:rPr sz="800" dirty="0">
                <a:solidFill>
                  <a:srgbClr val="454C4C"/>
                </a:solidFill>
                <a:latin typeface="Arial MT"/>
                <a:cs typeface="Arial MT"/>
              </a:rPr>
              <a:t>or</a:t>
            </a:r>
            <a:r>
              <a:rPr sz="800" spc="5" dirty="0">
                <a:solidFill>
                  <a:srgbClr val="454C4C"/>
                </a:solidFill>
                <a:latin typeface="Arial MT"/>
                <a:cs typeface="Arial MT"/>
              </a:rPr>
              <a:t> </a:t>
            </a:r>
            <a:r>
              <a:rPr sz="800" spc="-10" dirty="0">
                <a:solidFill>
                  <a:srgbClr val="454C4C"/>
                </a:solidFill>
                <a:latin typeface="Arial MT"/>
                <a:cs typeface="Arial MT"/>
              </a:rPr>
              <a:t>transmitted </a:t>
            </a:r>
            <a:r>
              <a:rPr sz="800" dirty="0">
                <a:solidFill>
                  <a:srgbClr val="454C4C"/>
                </a:solidFill>
                <a:latin typeface="Arial MT"/>
                <a:cs typeface="Arial MT"/>
              </a:rPr>
              <a:t>without</a:t>
            </a:r>
            <a:r>
              <a:rPr sz="800" spc="50" dirty="0">
                <a:solidFill>
                  <a:srgbClr val="454C4C"/>
                </a:solidFill>
                <a:latin typeface="Arial MT"/>
                <a:cs typeface="Arial MT"/>
              </a:rPr>
              <a:t> </a:t>
            </a:r>
            <a:r>
              <a:rPr sz="800" dirty="0">
                <a:solidFill>
                  <a:srgbClr val="454C4C"/>
                </a:solidFill>
                <a:latin typeface="Arial MT"/>
                <a:cs typeface="Arial MT"/>
              </a:rPr>
              <a:t>the</a:t>
            </a:r>
            <a:r>
              <a:rPr sz="800" spc="50" dirty="0">
                <a:solidFill>
                  <a:srgbClr val="454C4C"/>
                </a:solidFill>
                <a:latin typeface="Arial MT"/>
                <a:cs typeface="Arial MT"/>
              </a:rPr>
              <a:t> </a:t>
            </a:r>
            <a:r>
              <a:rPr sz="800" dirty="0">
                <a:solidFill>
                  <a:srgbClr val="454C4C"/>
                </a:solidFill>
                <a:latin typeface="Arial MT"/>
                <a:cs typeface="Arial MT"/>
              </a:rPr>
              <a:t>express</a:t>
            </a:r>
            <a:r>
              <a:rPr sz="800" spc="55" dirty="0">
                <a:solidFill>
                  <a:srgbClr val="454C4C"/>
                </a:solidFill>
                <a:latin typeface="Arial MT"/>
                <a:cs typeface="Arial MT"/>
              </a:rPr>
              <a:t> </a:t>
            </a:r>
            <a:r>
              <a:rPr sz="800" dirty="0">
                <a:solidFill>
                  <a:srgbClr val="454C4C"/>
                </a:solidFill>
                <a:latin typeface="Arial MT"/>
                <a:cs typeface="Arial MT"/>
              </a:rPr>
              <a:t>prior</a:t>
            </a:r>
            <a:r>
              <a:rPr sz="800" spc="50" dirty="0">
                <a:solidFill>
                  <a:srgbClr val="454C4C"/>
                </a:solidFill>
                <a:latin typeface="Arial MT"/>
                <a:cs typeface="Arial MT"/>
              </a:rPr>
              <a:t> </a:t>
            </a:r>
            <a:r>
              <a:rPr sz="800" dirty="0">
                <a:solidFill>
                  <a:srgbClr val="454C4C"/>
                </a:solidFill>
                <a:latin typeface="Arial MT"/>
                <a:cs typeface="Arial MT"/>
              </a:rPr>
              <a:t>written</a:t>
            </a:r>
            <a:r>
              <a:rPr sz="800" spc="50" dirty="0">
                <a:solidFill>
                  <a:srgbClr val="454C4C"/>
                </a:solidFill>
                <a:latin typeface="Arial MT"/>
                <a:cs typeface="Arial MT"/>
              </a:rPr>
              <a:t> </a:t>
            </a:r>
            <a:r>
              <a:rPr sz="800" dirty="0">
                <a:solidFill>
                  <a:srgbClr val="454C4C"/>
                </a:solidFill>
                <a:latin typeface="Arial MT"/>
                <a:cs typeface="Arial MT"/>
              </a:rPr>
              <a:t>consent</a:t>
            </a:r>
            <a:r>
              <a:rPr sz="800" spc="55" dirty="0">
                <a:solidFill>
                  <a:srgbClr val="454C4C"/>
                </a:solidFill>
                <a:latin typeface="Arial MT"/>
                <a:cs typeface="Arial MT"/>
              </a:rPr>
              <a:t> </a:t>
            </a:r>
            <a:r>
              <a:rPr sz="800" dirty="0">
                <a:solidFill>
                  <a:srgbClr val="454C4C"/>
                </a:solidFill>
                <a:latin typeface="Arial MT"/>
                <a:cs typeface="Arial MT"/>
              </a:rPr>
              <a:t>of</a:t>
            </a:r>
            <a:r>
              <a:rPr sz="800" spc="50" dirty="0">
                <a:solidFill>
                  <a:srgbClr val="454C4C"/>
                </a:solidFill>
                <a:latin typeface="Arial MT"/>
                <a:cs typeface="Arial MT"/>
              </a:rPr>
              <a:t> </a:t>
            </a:r>
            <a:r>
              <a:rPr sz="800" spc="-10" dirty="0">
                <a:solidFill>
                  <a:srgbClr val="454C4C"/>
                </a:solidFill>
                <a:latin typeface="Arial MT"/>
                <a:cs typeface="Arial MT"/>
              </a:rPr>
              <a:t>Proxmox.</a:t>
            </a:r>
            <a:endParaRPr sz="800">
              <a:latin typeface="Arial MT"/>
              <a:cs typeface="Arial MT"/>
            </a:endParaRPr>
          </a:p>
          <a:p>
            <a:pPr>
              <a:lnSpc>
                <a:spcPct val="100000"/>
              </a:lnSpc>
              <a:spcBef>
                <a:spcPts val="60"/>
              </a:spcBef>
            </a:pPr>
            <a:endParaRPr sz="800">
              <a:latin typeface="Arial MT"/>
              <a:cs typeface="Arial MT"/>
            </a:endParaRPr>
          </a:p>
          <a:p>
            <a:pPr marL="12700">
              <a:lnSpc>
                <a:spcPct val="100000"/>
              </a:lnSpc>
              <a:spcBef>
                <a:spcPts val="5"/>
              </a:spcBef>
            </a:pPr>
            <a:r>
              <a:rPr sz="800" dirty="0">
                <a:solidFill>
                  <a:srgbClr val="454C4C"/>
                </a:solidFill>
                <a:latin typeface="Arial MT"/>
                <a:cs typeface="Arial MT"/>
              </a:rPr>
              <a:t>September</a:t>
            </a:r>
            <a:r>
              <a:rPr sz="800" spc="-5" dirty="0">
                <a:solidFill>
                  <a:srgbClr val="454C4C"/>
                </a:solidFill>
                <a:latin typeface="Arial MT"/>
                <a:cs typeface="Arial MT"/>
              </a:rPr>
              <a:t> </a:t>
            </a:r>
            <a:r>
              <a:rPr sz="800" dirty="0">
                <a:solidFill>
                  <a:srgbClr val="454C4C"/>
                </a:solidFill>
                <a:latin typeface="Arial MT"/>
                <a:cs typeface="Arial MT"/>
              </a:rPr>
              <a:t>2025 </a:t>
            </a:r>
            <a:r>
              <a:rPr sz="800" spc="215" dirty="0">
                <a:solidFill>
                  <a:srgbClr val="454C4C"/>
                </a:solidFill>
                <a:latin typeface="Arial MT"/>
                <a:cs typeface="Arial MT"/>
              </a:rPr>
              <a:t>|</a:t>
            </a:r>
            <a:r>
              <a:rPr sz="800" dirty="0">
                <a:solidFill>
                  <a:srgbClr val="454C4C"/>
                </a:solidFill>
                <a:latin typeface="Arial MT"/>
                <a:cs typeface="Arial MT"/>
              </a:rPr>
              <a:t> </a:t>
            </a:r>
            <a:r>
              <a:rPr sz="800" spc="-20" dirty="0">
                <a:solidFill>
                  <a:srgbClr val="454C4C"/>
                </a:solidFill>
                <a:latin typeface="Arial MT"/>
                <a:cs typeface="Arial MT"/>
              </a:rPr>
              <a:t>v9.0</a:t>
            </a:r>
            <a:endParaRPr sz="8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7380" y="5164108"/>
            <a:ext cx="143510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A5A5A5"/>
                </a:solidFill>
                <a:latin typeface="Arial MT"/>
                <a:cs typeface="Arial MT"/>
              </a:rPr>
              <a:t>Proxmox</a:t>
            </a:r>
            <a:r>
              <a:rPr sz="1200" spc="15" dirty="0">
                <a:solidFill>
                  <a:srgbClr val="A5A5A5"/>
                </a:solidFill>
                <a:latin typeface="Arial MT"/>
                <a:cs typeface="Arial MT"/>
              </a:rPr>
              <a:t> </a:t>
            </a:r>
            <a:r>
              <a:rPr sz="1200" spc="-140" dirty="0">
                <a:solidFill>
                  <a:srgbClr val="A5A5A5"/>
                </a:solidFill>
                <a:latin typeface="Arial MT"/>
                <a:cs typeface="Arial MT"/>
              </a:rPr>
              <a:t>VE</a:t>
            </a:r>
            <a:r>
              <a:rPr sz="1200" spc="15" dirty="0">
                <a:solidFill>
                  <a:srgbClr val="A5A5A5"/>
                </a:solidFill>
                <a:latin typeface="Arial MT"/>
                <a:cs typeface="Arial MT"/>
              </a:rPr>
              <a:t> </a:t>
            </a:r>
            <a:r>
              <a:rPr sz="1200" spc="-10" dirty="0">
                <a:solidFill>
                  <a:srgbClr val="A5A5A5"/>
                </a:solidFill>
                <a:latin typeface="Arial MT"/>
                <a:cs typeface="Arial MT"/>
              </a:rPr>
              <a:t>Training</a:t>
            </a:r>
            <a:endParaRPr sz="1200">
              <a:latin typeface="Arial MT"/>
              <a:cs typeface="Arial MT"/>
            </a:endParaRPr>
          </a:p>
        </p:txBody>
      </p:sp>
      <p:sp>
        <p:nvSpPr>
          <p:cNvPr id="3" name="object 3"/>
          <p:cNvSpPr txBox="1"/>
          <p:nvPr/>
        </p:nvSpPr>
        <p:spPr>
          <a:xfrm>
            <a:off x="9251175" y="5164108"/>
            <a:ext cx="33845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A5A5A5"/>
                </a:solidFill>
                <a:latin typeface="Arial MT"/>
                <a:cs typeface="Arial MT"/>
              </a:rPr>
              <a:t>3/60</a:t>
            </a:r>
            <a:endParaRPr sz="1200">
              <a:latin typeface="Arial MT"/>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735455">
              <a:lnSpc>
                <a:spcPct val="100000"/>
              </a:lnSpc>
              <a:spcBef>
                <a:spcPts val="100"/>
              </a:spcBef>
            </a:pPr>
            <a:r>
              <a:rPr spc="-40" dirty="0"/>
              <a:t>Training</a:t>
            </a:r>
            <a:r>
              <a:rPr spc="-325" dirty="0"/>
              <a:t> </a:t>
            </a:r>
            <a:r>
              <a:rPr spc="-25" dirty="0"/>
              <a:t>Schedule</a:t>
            </a:r>
            <a:r>
              <a:rPr spc="-325" dirty="0"/>
              <a:t> </a:t>
            </a:r>
            <a:r>
              <a:rPr dirty="0"/>
              <a:t>5-</a:t>
            </a:r>
            <a:r>
              <a:rPr spc="-20" dirty="0"/>
              <a:t>days</a:t>
            </a:r>
          </a:p>
        </p:txBody>
      </p:sp>
      <p:graphicFrame>
        <p:nvGraphicFramePr>
          <p:cNvPr id="5" name="object 5"/>
          <p:cNvGraphicFramePr>
            <a:graphicFrameLocks noGrp="1"/>
          </p:cNvGraphicFramePr>
          <p:nvPr/>
        </p:nvGraphicFramePr>
        <p:xfrm>
          <a:off x="1758238" y="1456203"/>
          <a:ext cx="6520180" cy="394335"/>
        </p:xfrm>
        <a:graphic>
          <a:graphicData uri="http://schemas.openxmlformats.org/drawingml/2006/table">
            <a:tbl>
              <a:tblPr firstRow="1" bandRow="1">
                <a:tableStyleId>{2D5ABB26-0587-4C30-8999-92F81FD0307C}</a:tableStyleId>
              </a:tblPr>
              <a:tblGrid>
                <a:gridCol w="1306830">
                  <a:extLst>
                    <a:ext uri="{9D8B030D-6E8A-4147-A177-3AD203B41FA5}">
                      <a16:colId xmlns:a16="http://schemas.microsoft.com/office/drawing/2014/main" val="20000"/>
                    </a:ext>
                  </a:extLst>
                </a:gridCol>
                <a:gridCol w="347980">
                  <a:extLst>
                    <a:ext uri="{9D8B030D-6E8A-4147-A177-3AD203B41FA5}">
                      <a16:colId xmlns:a16="http://schemas.microsoft.com/office/drawing/2014/main" val="20001"/>
                    </a:ext>
                  </a:extLst>
                </a:gridCol>
                <a:gridCol w="130683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1306195">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1306195">
                  <a:extLst>
                    <a:ext uri="{9D8B030D-6E8A-4147-A177-3AD203B41FA5}">
                      <a16:colId xmlns:a16="http://schemas.microsoft.com/office/drawing/2014/main" val="20006"/>
                    </a:ext>
                  </a:extLst>
                </a:gridCol>
              </a:tblGrid>
              <a:tr h="394335">
                <a:tc>
                  <a:txBody>
                    <a:bodyPr/>
                    <a:lstStyle/>
                    <a:p>
                      <a:pPr marL="33020">
                        <a:lnSpc>
                          <a:spcPct val="100000"/>
                        </a:lnSpc>
                        <a:spcBef>
                          <a:spcPts val="935"/>
                        </a:spcBef>
                      </a:pPr>
                      <a:r>
                        <a:rPr sz="1200" dirty="0">
                          <a:solidFill>
                            <a:srgbClr val="FFFFFF"/>
                          </a:solidFill>
                          <a:latin typeface="Arial MT"/>
                          <a:cs typeface="Arial MT"/>
                        </a:rPr>
                        <a:t>2</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18745" marB="0">
                    <a:solidFill>
                      <a:srgbClr val="FF9000"/>
                    </a:solidFill>
                  </a:tcPr>
                </a:tc>
                <a:tc>
                  <a:txBody>
                    <a:bodyPr/>
                    <a:lstStyle/>
                    <a:p>
                      <a:pPr>
                        <a:lnSpc>
                          <a:spcPct val="100000"/>
                        </a:lnSpc>
                        <a:spcBef>
                          <a:spcPts val="285"/>
                        </a:spcBef>
                      </a:pPr>
                      <a:endParaRPr sz="750">
                        <a:latin typeface="Times New Roman"/>
                        <a:cs typeface="Times New Roman"/>
                      </a:endParaRPr>
                    </a:p>
                    <a:p>
                      <a:pPr marL="41275">
                        <a:lnSpc>
                          <a:spcPct val="100000"/>
                        </a:lnSpc>
                      </a:pPr>
                      <a:r>
                        <a:rPr sz="750" spc="40" dirty="0">
                          <a:latin typeface="Arial MT"/>
                          <a:cs typeface="Arial MT"/>
                        </a:rPr>
                        <a:t>10min</a:t>
                      </a:r>
                      <a:endParaRPr sz="750">
                        <a:latin typeface="Arial MT"/>
                        <a:cs typeface="Arial MT"/>
                      </a:endParaRPr>
                    </a:p>
                  </a:txBody>
                  <a:tcPr marL="0" marR="0" marT="36195"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FF9000"/>
                    </a:solidFill>
                  </a:tcPr>
                </a:tc>
                <a:tc>
                  <a:txBody>
                    <a:bodyPr/>
                    <a:lstStyle/>
                    <a:p>
                      <a:pPr marL="162560" marR="128270" indent="13970">
                        <a:lnSpc>
                          <a:spcPct val="115399"/>
                        </a:lnSpc>
                        <a:spcBef>
                          <a:spcPts val="490"/>
                        </a:spcBef>
                      </a:pPr>
                      <a:r>
                        <a:rPr sz="750" spc="-10" dirty="0">
                          <a:latin typeface="Arial MT"/>
                          <a:cs typeface="Arial MT"/>
                        </a:rPr>
                        <a:t>Break </a:t>
                      </a:r>
                      <a:r>
                        <a:rPr sz="750" spc="40" dirty="0">
                          <a:latin typeface="Arial MT"/>
                          <a:cs typeface="Arial MT"/>
                        </a:rPr>
                        <a:t>30min</a:t>
                      </a:r>
                      <a:endParaRPr sz="750">
                        <a:latin typeface="Arial MT"/>
                        <a:cs typeface="Arial MT"/>
                      </a:endParaRPr>
                    </a:p>
                  </a:txBody>
                  <a:tcPr marL="0" marR="0" marT="62230"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FF9000"/>
                    </a:solidFill>
                  </a:tcPr>
                </a:tc>
                <a:tc>
                  <a:txBody>
                    <a:bodyPr/>
                    <a:lstStyle/>
                    <a:p>
                      <a:pPr>
                        <a:lnSpc>
                          <a:spcPct val="100000"/>
                        </a:lnSpc>
                        <a:spcBef>
                          <a:spcPts val="285"/>
                        </a:spcBef>
                      </a:pPr>
                      <a:endParaRPr sz="750">
                        <a:latin typeface="Times New Roman"/>
                        <a:cs typeface="Times New Roman"/>
                      </a:endParaRPr>
                    </a:p>
                    <a:p>
                      <a:pPr marL="45085">
                        <a:lnSpc>
                          <a:spcPct val="100000"/>
                        </a:lnSpc>
                      </a:pPr>
                      <a:r>
                        <a:rPr sz="750" spc="40" dirty="0">
                          <a:latin typeface="Arial MT"/>
                          <a:cs typeface="Arial MT"/>
                        </a:rPr>
                        <a:t>10min</a:t>
                      </a:r>
                      <a:endParaRPr sz="750">
                        <a:latin typeface="Arial MT"/>
                        <a:cs typeface="Arial MT"/>
                      </a:endParaRPr>
                    </a:p>
                  </a:txBody>
                  <a:tcPr marL="0" marR="0" marT="36195" marB="0">
                    <a:solidFill>
                      <a:srgbClr val="F2EEEB"/>
                    </a:solidFill>
                  </a:tcPr>
                </a:tc>
                <a:tc>
                  <a:txBody>
                    <a:bodyPr/>
                    <a:lstStyle/>
                    <a:p>
                      <a:pPr marR="6985" algn="r">
                        <a:lnSpc>
                          <a:spcPct val="100000"/>
                        </a:lnSpc>
                        <a:spcBef>
                          <a:spcPts val="935"/>
                        </a:spcBef>
                      </a:pPr>
                      <a:r>
                        <a:rPr sz="1200" dirty="0">
                          <a:solidFill>
                            <a:srgbClr val="FFFFFF"/>
                          </a:solidFill>
                          <a:latin typeface="Arial MT"/>
                          <a:cs typeface="Arial MT"/>
                        </a:rPr>
                        <a:t>8</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18745" marB="0">
                    <a:solidFill>
                      <a:srgbClr val="FF9000"/>
                    </a:solidFill>
                  </a:tcPr>
                </a:tc>
                <a:extLst>
                  <a:ext uri="{0D108BD9-81ED-4DB2-BD59-A6C34878D82A}">
                    <a16:rowId xmlns:a16="http://schemas.microsoft.com/office/drawing/2014/main" val="10000"/>
                  </a:ext>
                </a:extLst>
              </a:tr>
            </a:tbl>
          </a:graphicData>
        </a:graphic>
      </p:graphicFrame>
      <p:graphicFrame>
        <p:nvGraphicFramePr>
          <p:cNvPr id="6" name="object 6"/>
          <p:cNvGraphicFramePr>
            <a:graphicFrameLocks noGrp="1"/>
          </p:cNvGraphicFramePr>
          <p:nvPr/>
        </p:nvGraphicFramePr>
        <p:xfrm>
          <a:off x="1758238" y="2099534"/>
          <a:ext cx="6520180" cy="407670"/>
        </p:xfrm>
        <a:graphic>
          <a:graphicData uri="http://schemas.openxmlformats.org/drawingml/2006/table">
            <a:tbl>
              <a:tblPr firstRow="1" bandRow="1">
                <a:tableStyleId>{2D5ABB26-0587-4C30-8999-92F81FD0307C}</a:tableStyleId>
              </a:tblPr>
              <a:tblGrid>
                <a:gridCol w="1306830">
                  <a:extLst>
                    <a:ext uri="{9D8B030D-6E8A-4147-A177-3AD203B41FA5}">
                      <a16:colId xmlns:a16="http://schemas.microsoft.com/office/drawing/2014/main" val="20000"/>
                    </a:ext>
                  </a:extLst>
                </a:gridCol>
                <a:gridCol w="347980">
                  <a:extLst>
                    <a:ext uri="{9D8B030D-6E8A-4147-A177-3AD203B41FA5}">
                      <a16:colId xmlns:a16="http://schemas.microsoft.com/office/drawing/2014/main" val="20001"/>
                    </a:ext>
                  </a:extLst>
                </a:gridCol>
                <a:gridCol w="130683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1306195">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1306195">
                  <a:extLst>
                    <a:ext uri="{9D8B030D-6E8A-4147-A177-3AD203B41FA5}">
                      <a16:colId xmlns:a16="http://schemas.microsoft.com/office/drawing/2014/main" val="20006"/>
                    </a:ext>
                  </a:extLst>
                </a:gridCol>
              </a:tblGrid>
              <a:tr h="407670">
                <a:tc>
                  <a:txBody>
                    <a:bodyPr/>
                    <a:lstStyle/>
                    <a:p>
                      <a:pPr marL="33020">
                        <a:lnSpc>
                          <a:spcPct val="100000"/>
                        </a:lnSpc>
                        <a:spcBef>
                          <a:spcPts val="1040"/>
                        </a:spcBef>
                      </a:pPr>
                      <a:r>
                        <a:rPr sz="1200" dirty="0">
                          <a:solidFill>
                            <a:srgbClr val="FFFFFF"/>
                          </a:solidFill>
                          <a:latin typeface="Arial MT"/>
                          <a:cs typeface="Arial MT"/>
                        </a:rPr>
                        <a:t>2</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FF9000"/>
                    </a:solidFill>
                  </a:tcPr>
                </a:tc>
                <a:tc>
                  <a:txBody>
                    <a:bodyPr/>
                    <a:lstStyle/>
                    <a:p>
                      <a:pPr>
                        <a:lnSpc>
                          <a:spcPct val="100000"/>
                        </a:lnSpc>
                        <a:spcBef>
                          <a:spcPts val="395"/>
                        </a:spcBef>
                      </a:pPr>
                      <a:endParaRPr sz="750">
                        <a:latin typeface="Times New Roman"/>
                        <a:cs typeface="Times New Roman"/>
                      </a:endParaRPr>
                    </a:p>
                    <a:p>
                      <a:pPr marL="4127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FF9000"/>
                    </a:solidFill>
                  </a:tcPr>
                </a:tc>
                <a:tc>
                  <a:txBody>
                    <a:bodyPr/>
                    <a:lstStyle/>
                    <a:p>
                      <a:pPr marL="162560" marR="128270" indent="13970">
                        <a:lnSpc>
                          <a:spcPct val="115399"/>
                        </a:lnSpc>
                        <a:spcBef>
                          <a:spcPts val="600"/>
                        </a:spcBef>
                      </a:pPr>
                      <a:r>
                        <a:rPr sz="750" spc="-10" dirty="0">
                          <a:latin typeface="Arial MT"/>
                          <a:cs typeface="Arial MT"/>
                        </a:rPr>
                        <a:t>Break </a:t>
                      </a:r>
                      <a:r>
                        <a:rPr sz="750" spc="40" dirty="0">
                          <a:latin typeface="Arial MT"/>
                          <a:cs typeface="Arial MT"/>
                        </a:rPr>
                        <a:t>30min</a:t>
                      </a:r>
                      <a:endParaRPr sz="750">
                        <a:latin typeface="Arial MT"/>
                        <a:cs typeface="Arial MT"/>
                      </a:endParaRPr>
                    </a:p>
                  </a:txBody>
                  <a:tcPr marL="0" marR="0" marT="76200"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FF9000"/>
                    </a:solidFill>
                  </a:tcPr>
                </a:tc>
                <a:tc>
                  <a:txBody>
                    <a:bodyPr/>
                    <a:lstStyle/>
                    <a:p>
                      <a:pPr>
                        <a:lnSpc>
                          <a:spcPct val="100000"/>
                        </a:lnSpc>
                        <a:spcBef>
                          <a:spcPts val="395"/>
                        </a:spcBef>
                      </a:pPr>
                      <a:endParaRPr sz="750">
                        <a:latin typeface="Times New Roman"/>
                        <a:cs typeface="Times New Roman"/>
                      </a:endParaRPr>
                    </a:p>
                    <a:p>
                      <a:pPr marL="4508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marR="6985" algn="r">
                        <a:lnSpc>
                          <a:spcPct val="100000"/>
                        </a:lnSpc>
                        <a:spcBef>
                          <a:spcPts val="1040"/>
                        </a:spcBef>
                      </a:pPr>
                      <a:r>
                        <a:rPr sz="1200" dirty="0">
                          <a:solidFill>
                            <a:srgbClr val="FFFFFF"/>
                          </a:solidFill>
                          <a:latin typeface="Arial MT"/>
                          <a:cs typeface="Arial MT"/>
                        </a:rPr>
                        <a:t>8</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FF9000"/>
                    </a:solidFill>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nvGraphicFramePr>
        <p:xfrm>
          <a:off x="1758238" y="2756531"/>
          <a:ext cx="6520180" cy="407670"/>
        </p:xfrm>
        <a:graphic>
          <a:graphicData uri="http://schemas.openxmlformats.org/drawingml/2006/table">
            <a:tbl>
              <a:tblPr firstRow="1" bandRow="1">
                <a:tableStyleId>{2D5ABB26-0587-4C30-8999-92F81FD0307C}</a:tableStyleId>
              </a:tblPr>
              <a:tblGrid>
                <a:gridCol w="1306830">
                  <a:extLst>
                    <a:ext uri="{9D8B030D-6E8A-4147-A177-3AD203B41FA5}">
                      <a16:colId xmlns:a16="http://schemas.microsoft.com/office/drawing/2014/main" val="20000"/>
                    </a:ext>
                  </a:extLst>
                </a:gridCol>
                <a:gridCol w="347980">
                  <a:extLst>
                    <a:ext uri="{9D8B030D-6E8A-4147-A177-3AD203B41FA5}">
                      <a16:colId xmlns:a16="http://schemas.microsoft.com/office/drawing/2014/main" val="20001"/>
                    </a:ext>
                  </a:extLst>
                </a:gridCol>
                <a:gridCol w="130683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1306195">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1306195">
                  <a:extLst>
                    <a:ext uri="{9D8B030D-6E8A-4147-A177-3AD203B41FA5}">
                      <a16:colId xmlns:a16="http://schemas.microsoft.com/office/drawing/2014/main" val="20006"/>
                    </a:ext>
                  </a:extLst>
                </a:gridCol>
              </a:tblGrid>
              <a:tr h="407670">
                <a:tc>
                  <a:txBody>
                    <a:bodyPr/>
                    <a:lstStyle/>
                    <a:p>
                      <a:pPr marL="33020">
                        <a:lnSpc>
                          <a:spcPct val="100000"/>
                        </a:lnSpc>
                        <a:spcBef>
                          <a:spcPts val="1040"/>
                        </a:spcBef>
                      </a:pPr>
                      <a:r>
                        <a:rPr sz="1200" dirty="0">
                          <a:solidFill>
                            <a:srgbClr val="FFFFFF"/>
                          </a:solidFill>
                          <a:latin typeface="Arial MT"/>
                          <a:cs typeface="Arial MT"/>
                        </a:rPr>
                        <a:t>2</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FF9000"/>
                    </a:solidFill>
                  </a:tcPr>
                </a:tc>
                <a:tc>
                  <a:txBody>
                    <a:bodyPr/>
                    <a:lstStyle/>
                    <a:p>
                      <a:pPr>
                        <a:lnSpc>
                          <a:spcPct val="100000"/>
                        </a:lnSpc>
                        <a:spcBef>
                          <a:spcPts val="395"/>
                        </a:spcBef>
                      </a:pPr>
                      <a:endParaRPr sz="750">
                        <a:latin typeface="Times New Roman"/>
                        <a:cs typeface="Times New Roman"/>
                      </a:endParaRPr>
                    </a:p>
                    <a:p>
                      <a:pPr marL="4127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marL="744220">
                        <a:lnSpc>
                          <a:spcPct val="100000"/>
                        </a:lnSpc>
                        <a:spcBef>
                          <a:spcPts val="1040"/>
                        </a:spcBef>
                      </a:pPr>
                      <a:r>
                        <a:rPr sz="1200" spc="-10" dirty="0">
                          <a:solidFill>
                            <a:srgbClr val="FFFFFF"/>
                          </a:solidFill>
                          <a:latin typeface="Arial MT"/>
                          <a:cs typeface="Arial MT"/>
                        </a:rPr>
                        <a:t>4:30pm</a:t>
                      </a:r>
                      <a:endParaRPr sz="1200">
                        <a:latin typeface="Arial MT"/>
                        <a:cs typeface="Arial MT"/>
                      </a:endParaRPr>
                    </a:p>
                  </a:txBody>
                  <a:tcPr marL="0" marR="0" marT="132080" marB="0">
                    <a:solidFill>
                      <a:srgbClr val="FF9000"/>
                    </a:solidFill>
                  </a:tcPr>
                </a:tc>
                <a:tc>
                  <a:txBody>
                    <a:bodyPr/>
                    <a:lstStyle/>
                    <a:p>
                      <a:pPr marL="162560" marR="128270" indent="13970">
                        <a:lnSpc>
                          <a:spcPct val="115399"/>
                        </a:lnSpc>
                        <a:spcBef>
                          <a:spcPts val="600"/>
                        </a:spcBef>
                      </a:pPr>
                      <a:r>
                        <a:rPr sz="750" spc="-10" dirty="0">
                          <a:latin typeface="Arial MT"/>
                          <a:cs typeface="Arial MT"/>
                        </a:rPr>
                        <a:t>Break </a:t>
                      </a:r>
                      <a:r>
                        <a:rPr sz="750" spc="40" dirty="0">
                          <a:latin typeface="Arial MT"/>
                          <a:cs typeface="Arial MT"/>
                        </a:rPr>
                        <a:t>30min</a:t>
                      </a:r>
                      <a:endParaRPr sz="750">
                        <a:latin typeface="Arial MT"/>
                        <a:cs typeface="Arial MT"/>
                      </a:endParaRPr>
                    </a:p>
                  </a:txBody>
                  <a:tcPr marL="0" marR="0" marT="76200" marB="0">
                    <a:solidFill>
                      <a:srgbClr val="F2EEEB"/>
                    </a:solidFill>
                  </a:tcPr>
                </a:tc>
                <a:tc>
                  <a:txBody>
                    <a:bodyPr/>
                    <a:lstStyle/>
                    <a:p>
                      <a:pPr marL="33020">
                        <a:lnSpc>
                          <a:spcPct val="100000"/>
                        </a:lnSpc>
                        <a:spcBef>
                          <a:spcPts val="1040"/>
                        </a:spcBef>
                      </a:pPr>
                      <a:r>
                        <a:rPr sz="1200" dirty="0">
                          <a:solidFill>
                            <a:srgbClr val="FFFFFF"/>
                          </a:solidFill>
                          <a:latin typeface="Arial MT"/>
                          <a:cs typeface="Arial MT"/>
                        </a:rPr>
                        <a:t>5</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00607E"/>
                    </a:solidFill>
                  </a:tcPr>
                </a:tc>
                <a:tc>
                  <a:txBody>
                    <a:bodyPr/>
                    <a:lstStyle/>
                    <a:p>
                      <a:pPr>
                        <a:lnSpc>
                          <a:spcPct val="100000"/>
                        </a:lnSpc>
                        <a:spcBef>
                          <a:spcPts val="395"/>
                        </a:spcBef>
                      </a:pPr>
                      <a:endParaRPr sz="750">
                        <a:latin typeface="Times New Roman"/>
                        <a:cs typeface="Times New Roman"/>
                      </a:endParaRPr>
                    </a:p>
                    <a:p>
                      <a:pPr marL="4508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marR="6985" algn="r">
                        <a:lnSpc>
                          <a:spcPct val="100000"/>
                        </a:lnSpc>
                        <a:spcBef>
                          <a:spcPts val="1040"/>
                        </a:spcBef>
                      </a:pPr>
                      <a:r>
                        <a:rPr sz="1200" dirty="0">
                          <a:solidFill>
                            <a:srgbClr val="FFFFFF"/>
                          </a:solidFill>
                          <a:latin typeface="Arial MT"/>
                          <a:cs typeface="Arial MT"/>
                        </a:rPr>
                        <a:t>8</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00607E"/>
                    </a:solidFill>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nvGraphicFramePr>
        <p:xfrm>
          <a:off x="1758238" y="3413527"/>
          <a:ext cx="6520180" cy="407670"/>
        </p:xfrm>
        <a:graphic>
          <a:graphicData uri="http://schemas.openxmlformats.org/drawingml/2006/table">
            <a:tbl>
              <a:tblPr firstRow="1" bandRow="1">
                <a:tableStyleId>{2D5ABB26-0587-4C30-8999-92F81FD0307C}</a:tableStyleId>
              </a:tblPr>
              <a:tblGrid>
                <a:gridCol w="1306830">
                  <a:extLst>
                    <a:ext uri="{9D8B030D-6E8A-4147-A177-3AD203B41FA5}">
                      <a16:colId xmlns:a16="http://schemas.microsoft.com/office/drawing/2014/main" val="20000"/>
                    </a:ext>
                  </a:extLst>
                </a:gridCol>
                <a:gridCol w="347980">
                  <a:extLst>
                    <a:ext uri="{9D8B030D-6E8A-4147-A177-3AD203B41FA5}">
                      <a16:colId xmlns:a16="http://schemas.microsoft.com/office/drawing/2014/main" val="20001"/>
                    </a:ext>
                  </a:extLst>
                </a:gridCol>
                <a:gridCol w="130683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1306195">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1306195">
                  <a:extLst>
                    <a:ext uri="{9D8B030D-6E8A-4147-A177-3AD203B41FA5}">
                      <a16:colId xmlns:a16="http://schemas.microsoft.com/office/drawing/2014/main" val="20006"/>
                    </a:ext>
                  </a:extLst>
                </a:gridCol>
              </a:tblGrid>
              <a:tr h="407670">
                <a:tc>
                  <a:txBody>
                    <a:bodyPr/>
                    <a:lstStyle/>
                    <a:p>
                      <a:pPr marL="33020">
                        <a:lnSpc>
                          <a:spcPct val="100000"/>
                        </a:lnSpc>
                        <a:spcBef>
                          <a:spcPts val="1040"/>
                        </a:spcBef>
                      </a:pPr>
                      <a:r>
                        <a:rPr sz="1200" dirty="0">
                          <a:solidFill>
                            <a:srgbClr val="FFFFFF"/>
                          </a:solidFill>
                          <a:latin typeface="Arial MT"/>
                          <a:cs typeface="Arial MT"/>
                        </a:rPr>
                        <a:t>2</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00607E"/>
                    </a:solidFill>
                  </a:tcPr>
                </a:tc>
                <a:tc>
                  <a:txBody>
                    <a:bodyPr/>
                    <a:lstStyle/>
                    <a:p>
                      <a:pPr>
                        <a:lnSpc>
                          <a:spcPct val="100000"/>
                        </a:lnSpc>
                        <a:spcBef>
                          <a:spcPts val="395"/>
                        </a:spcBef>
                      </a:pPr>
                      <a:endParaRPr sz="750">
                        <a:latin typeface="Times New Roman"/>
                        <a:cs typeface="Times New Roman"/>
                      </a:endParaRPr>
                    </a:p>
                    <a:p>
                      <a:pPr marL="4127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00607E"/>
                    </a:solidFill>
                  </a:tcPr>
                </a:tc>
                <a:tc>
                  <a:txBody>
                    <a:bodyPr/>
                    <a:lstStyle/>
                    <a:p>
                      <a:pPr marL="162560" marR="128270" indent="13970">
                        <a:lnSpc>
                          <a:spcPct val="115399"/>
                        </a:lnSpc>
                        <a:spcBef>
                          <a:spcPts val="600"/>
                        </a:spcBef>
                      </a:pPr>
                      <a:r>
                        <a:rPr sz="750" spc="-10" dirty="0">
                          <a:latin typeface="Arial MT"/>
                          <a:cs typeface="Arial MT"/>
                        </a:rPr>
                        <a:t>Break </a:t>
                      </a:r>
                      <a:r>
                        <a:rPr sz="750" spc="40" dirty="0">
                          <a:latin typeface="Arial MT"/>
                          <a:cs typeface="Arial MT"/>
                        </a:rPr>
                        <a:t>30min</a:t>
                      </a:r>
                      <a:endParaRPr sz="750">
                        <a:latin typeface="Arial MT"/>
                        <a:cs typeface="Arial MT"/>
                      </a:endParaRPr>
                    </a:p>
                  </a:txBody>
                  <a:tcPr marL="0" marR="0" marT="76200"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00607E"/>
                    </a:solidFill>
                  </a:tcPr>
                </a:tc>
                <a:tc>
                  <a:txBody>
                    <a:bodyPr/>
                    <a:lstStyle/>
                    <a:p>
                      <a:pPr>
                        <a:lnSpc>
                          <a:spcPct val="100000"/>
                        </a:lnSpc>
                        <a:spcBef>
                          <a:spcPts val="395"/>
                        </a:spcBef>
                      </a:pPr>
                      <a:endParaRPr sz="750">
                        <a:latin typeface="Times New Roman"/>
                        <a:cs typeface="Times New Roman"/>
                      </a:endParaRPr>
                    </a:p>
                    <a:p>
                      <a:pPr marL="4508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marR="6985" algn="r">
                        <a:lnSpc>
                          <a:spcPct val="100000"/>
                        </a:lnSpc>
                        <a:spcBef>
                          <a:spcPts val="1040"/>
                        </a:spcBef>
                      </a:pPr>
                      <a:r>
                        <a:rPr sz="1200" dirty="0">
                          <a:solidFill>
                            <a:srgbClr val="FFFFFF"/>
                          </a:solidFill>
                          <a:latin typeface="Arial MT"/>
                          <a:cs typeface="Arial MT"/>
                        </a:rPr>
                        <a:t>8</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080" marB="0">
                    <a:solidFill>
                      <a:srgbClr val="00607E"/>
                    </a:solidFill>
                  </a:tcPr>
                </a:tc>
                <a:extLst>
                  <a:ext uri="{0D108BD9-81ED-4DB2-BD59-A6C34878D82A}">
                    <a16:rowId xmlns:a16="http://schemas.microsoft.com/office/drawing/2014/main" val="10000"/>
                  </a:ext>
                </a:extLst>
              </a:tr>
            </a:tbl>
          </a:graphicData>
        </a:graphic>
      </p:graphicFrame>
      <p:graphicFrame>
        <p:nvGraphicFramePr>
          <p:cNvPr id="9" name="object 9"/>
          <p:cNvGraphicFramePr>
            <a:graphicFrameLocks noGrp="1"/>
          </p:cNvGraphicFramePr>
          <p:nvPr/>
        </p:nvGraphicFramePr>
        <p:xfrm>
          <a:off x="1758238" y="4070524"/>
          <a:ext cx="6520180" cy="407670"/>
        </p:xfrm>
        <a:graphic>
          <a:graphicData uri="http://schemas.openxmlformats.org/drawingml/2006/table">
            <a:tbl>
              <a:tblPr firstRow="1" bandRow="1">
                <a:tableStyleId>{2D5ABB26-0587-4C30-8999-92F81FD0307C}</a:tableStyleId>
              </a:tblPr>
              <a:tblGrid>
                <a:gridCol w="1306830">
                  <a:extLst>
                    <a:ext uri="{9D8B030D-6E8A-4147-A177-3AD203B41FA5}">
                      <a16:colId xmlns:a16="http://schemas.microsoft.com/office/drawing/2014/main" val="20000"/>
                    </a:ext>
                  </a:extLst>
                </a:gridCol>
                <a:gridCol w="347980">
                  <a:extLst>
                    <a:ext uri="{9D8B030D-6E8A-4147-A177-3AD203B41FA5}">
                      <a16:colId xmlns:a16="http://schemas.microsoft.com/office/drawing/2014/main" val="20001"/>
                    </a:ext>
                  </a:extLst>
                </a:gridCol>
                <a:gridCol w="130683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1306195">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1306195">
                  <a:extLst>
                    <a:ext uri="{9D8B030D-6E8A-4147-A177-3AD203B41FA5}">
                      <a16:colId xmlns:a16="http://schemas.microsoft.com/office/drawing/2014/main" val="20006"/>
                    </a:ext>
                  </a:extLst>
                </a:gridCol>
              </a:tblGrid>
              <a:tr h="407670">
                <a:tc>
                  <a:txBody>
                    <a:bodyPr/>
                    <a:lstStyle/>
                    <a:p>
                      <a:pPr marL="33020">
                        <a:lnSpc>
                          <a:spcPct val="100000"/>
                        </a:lnSpc>
                        <a:spcBef>
                          <a:spcPts val="1045"/>
                        </a:spcBef>
                      </a:pPr>
                      <a:r>
                        <a:rPr sz="1200" dirty="0">
                          <a:solidFill>
                            <a:srgbClr val="FFFFFF"/>
                          </a:solidFill>
                          <a:latin typeface="Arial MT"/>
                          <a:cs typeface="Arial MT"/>
                        </a:rPr>
                        <a:t>2</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715" marB="0">
                    <a:solidFill>
                      <a:srgbClr val="00607E"/>
                    </a:solidFill>
                  </a:tcPr>
                </a:tc>
                <a:tc>
                  <a:txBody>
                    <a:bodyPr/>
                    <a:lstStyle/>
                    <a:p>
                      <a:pPr>
                        <a:lnSpc>
                          <a:spcPct val="100000"/>
                        </a:lnSpc>
                        <a:spcBef>
                          <a:spcPts val="395"/>
                        </a:spcBef>
                      </a:pPr>
                      <a:endParaRPr sz="750">
                        <a:latin typeface="Times New Roman"/>
                        <a:cs typeface="Times New Roman"/>
                      </a:endParaRPr>
                    </a:p>
                    <a:p>
                      <a:pPr marL="4127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00607E"/>
                    </a:solidFill>
                  </a:tcPr>
                </a:tc>
                <a:tc>
                  <a:txBody>
                    <a:bodyPr/>
                    <a:lstStyle/>
                    <a:p>
                      <a:pPr marL="162560" marR="128270" indent="13970">
                        <a:lnSpc>
                          <a:spcPct val="115399"/>
                        </a:lnSpc>
                        <a:spcBef>
                          <a:spcPts val="600"/>
                        </a:spcBef>
                      </a:pPr>
                      <a:r>
                        <a:rPr sz="750" spc="-10" dirty="0">
                          <a:latin typeface="Arial MT"/>
                          <a:cs typeface="Arial MT"/>
                        </a:rPr>
                        <a:t>Break </a:t>
                      </a:r>
                      <a:r>
                        <a:rPr sz="750" spc="40" dirty="0">
                          <a:latin typeface="Arial MT"/>
                          <a:cs typeface="Arial MT"/>
                        </a:rPr>
                        <a:t>30min</a:t>
                      </a:r>
                      <a:endParaRPr sz="750">
                        <a:latin typeface="Arial MT"/>
                        <a:cs typeface="Arial MT"/>
                      </a:endParaRPr>
                    </a:p>
                  </a:txBody>
                  <a:tcPr marL="0" marR="0" marT="76200" marB="0">
                    <a:solidFill>
                      <a:srgbClr val="F2EEEB"/>
                    </a:solidFill>
                  </a:tcPr>
                </a:tc>
                <a:tc>
                  <a:txBody>
                    <a:bodyPr/>
                    <a:lstStyle/>
                    <a:p>
                      <a:pPr>
                        <a:lnSpc>
                          <a:spcPct val="100000"/>
                        </a:lnSpc>
                      </a:pPr>
                      <a:endParaRPr sz="1100">
                        <a:latin typeface="Times New Roman"/>
                        <a:cs typeface="Times New Roman"/>
                      </a:endParaRPr>
                    </a:p>
                  </a:txBody>
                  <a:tcPr marL="0" marR="0" marT="0" marB="0">
                    <a:solidFill>
                      <a:srgbClr val="00607E"/>
                    </a:solidFill>
                  </a:tcPr>
                </a:tc>
                <a:tc>
                  <a:txBody>
                    <a:bodyPr/>
                    <a:lstStyle/>
                    <a:p>
                      <a:pPr>
                        <a:lnSpc>
                          <a:spcPct val="100000"/>
                        </a:lnSpc>
                        <a:spcBef>
                          <a:spcPts val="395"/>
                        </a:spcBef>
                      </a:pPr>
                      <a:endParaRPr sz="750">
                        <a:latin typeface="Times New Roman"/>
                        <a:cs typeface="Times New Roman"/>
                      </a:endParaRPr>
                    </a:p>
                    <a:p>
                      <a:pPr marL="45085">
                        <a:lnSpc>
                          <a:spcPct val="100000"/>
                        </a:lnSpc>
                      </a:pPr>
                      <a:r>
                        <a:rPr sz="750" spc="40" dirty="0">
                          <a:latin typeface="Arial MT"/>
                          <a:cs typeface="Arial MT"/>
                        </a:rPr>
                        <a:t>10min</a:t>
                      </a:r>
                      <a:endParaRPr sz="750">
                        <a:latin typeface="Arial MT"/>
                        <a:cs typeface="Arial MT"/>
                      </a:endParaRPr>
                    </a:p>
                  </a:txBody>
                  <a:tcPr marL="0" marR="0" marT="50165" marB="0">
                    <a:solidFill>
                      <a:srgbClr val="F2EEEB"/>
                    </a:solidFill>
                  </a:tcPr>
                </a:tc>
                <a:tc>
                  <a:txBody>
                    <a:bodyPr/>
                    <a:lstStyle/>
                    <a:p>
                      <a:pPr marR="6985" algn="r">
                        <a:lnSpc>
                          <a:spcPct val="100000"/>
                        </a:lnSpc>
                        <a:spcBef>
                          <a:spcPts val="1045"/>
                        </a:spcBef>
                      </a:pPr>
                      <a:r>
                        <a:rPr sz="1200" dirty="0">
                          <a:solidFill>
                            <a:srgbClr val="FFFFFF"/>
                          </a:solidFill>
                          <a:latin typeface="Arial MT"/>
                          <a:cs typeface="Arial MT"/>
                        </a:rPr>
                        <a:t>8</a:t>
                      </a:r>
                      <a:r>
                        <a:rPr sz="1200" spc="30" dirty="0">
                          <a:solidFill>
                            <a:srgbClr val="FFFFFF"/>
                          </a:solidFill>
                          <a:latin typeface="Arial MT"/>
                          <a:cs typeface="Arial MT"/>
                        </a:rPr>
                        <a:t> </a:t>
                      </a:r>
                      <a:r>
                        <a:rPr sz="1200" spc="80" dirty="0">
                          <a:solidFill>
                            <a:srgbClr val="FFFFFF"/>
                          </a:solidFill>
                          <a:latin typeface="Arial MT"/>
                          <a:cs typeface="Arial MT"/>
                        </a:rPr>
                        <a:t>pm</a:t>
                      </a:r>
                      <a:endParaRPr sz="1200">
                        <a:latin typeface="Arial MT"/>
                        <a:cs typeface="Arial MT"/>
                      </a:endParaRPr>
                    </a:p>
                  </a:txBody>
                  <a:tcPr marL="0" marR="0" marT="132715" marB="0">
                    <a:solidFill>
                      <a:srgbClr val="00607E"/>
                    </a:solidFill>
                  </a:tcPr>
                </a:tc>
                <a:extLst>
                  <a:ext uri="{0D108BD9-81ED-4DB2-BD59-A6C34878D82A}">
                    <a16:rowId xmlns:a16="http://schemas.microsoft.com/office/drawing/2014/main" val="10000"/>
                  </a:ext>
                </a:extLst>
              </a:tr>
            </a:tbl>
          </a:graphicData>
        </a:graphic>
      </p:graphicFrame>
      <p:sp>
        <p:nvSpPr>
          <p:cNvPr id="10" name="object 10"/>
          <p:cNvSpPr txBox="1"/>
          <p:nvPr/>
        </p:nvSpPr>
        <p:spPr>
          <a:xfrm>
            <a:off x="1123124" y="1633241"/>
            <a:ext cx="4368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Arial MT"/>
                <a:cs typeface="Arial MT"/>
              </a:rPr>
              <a:t>Day</a:t>
            </a:r>
            <a:r>
              <a:rPr sz="1200" spc="60" dirty="0">
                <a:latin typeface="Arial MT"/>
                <a:cs typeface="Arial MT"/>
              </a:rPr>
              <a:t> </a:t>
            </a:r>
            <a:r>
              <a:rPr sz="1200" spc="-50" dirty="0">
                <a:latin typeface="Arial MT"/>
                <a:cs typeface="Arial MT"/>
              </a:rPr>
              <a:t>1</a:t>
            </a:r>
            <a:endParaRPr sz="1200">
              <a:latin typeface="Arial MT"/>
              <a:cs typeface="Arial MT"/>
            </a:endParaRPr>
          </a:p>
        </p:txBody>
      </p:sp>
      <p:sp>
        <p:nvSpPr>
          <p:cNvPr id="11" name="object 11"/>
          <p:cNvSpPr txBox="1"/>
          <p:nvPr/>
        </p:nvSpPr>
        <p:spPr>
          <a:xfrm>
            <a:off x="1123124" y="2290276"/>
            <a:ext cx="4368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Arial MT"/>
                <a:cs typeface="Arial MT"/>
              </a:rPr>
              <a:t>Day</a:t>
            </a:r>
            <a:r>
              <a:rPr sz="1200" spc="60" dirty="0">
                <a:latin typeface="Arial MT"/>
                <a:cs typeface="Arial MT"/>
              </a:rPr>
              <a:t> </a:t>
            </a:r>
            <a:r>
              <a:rPr sz="1200" spc="-50" dirty="0">
                <a:latin typeface="Arial MT"/>
                <a:cs typeface="Arial MT"/>
              </a:rPr>
              <a:t>2</a:t>
            </a:r>
            <a:endParaRPr sz="1200">
              <a:latin typeface="Arial MT"/>
              <a:cs typeface="Arial MT"/>
            </a:endParaRPr>
          </a:p>
        </p:txBody>
      </p:sp>
      <p:sp>
        <p:nvSpPr>
          <p:cNvPr id="12" name="object 12"/>
          <p:cNvSpPr txBox="1"/>
          <p:nvPr/>
        </p:nvSpPr>
        <p:spPr>
          <a:xfrm>
            <a:off x="1123124" y="2947323"/>
            <a:ext cx="4368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Arial MT"/>
                <a:cs typeface="Arial MT"/>
              </a:rPr>
              <a:t>Day</a:t>
            </a:r>
            <a:r>
              <a:rPr sz="1200" spc="60" dirty="0">
                <a:latin typeface="Arial MT"/>
                <a:cs typeface="Arial MT"/>
              </a:rPr>
              <a:t> </a:t>
            </a:r>
            <a:r>
              <a:rPr sz="1200" spc="-50" dirty="0">
                <a:latin typeface="Arial MT"/>
                <a:cs typeface="Arial MT"/>
              </a:rPr>
              <a:t>3</a:t>
            </a:r>
            <a:endParaRPr sz="1200">
              <a:latin typeface="Arial MT"/>
              <a:cs typeface="Arial MT"/>
            </a:endParaRPr>
          </a:p>
        </p:txBody>
      </p:sp>
      <p:sp>
        <p:nvSpPr>
          <p:cNvPr id="13" name="object 13"/>
          <p:cNvSpPr txBox="1"/>
          <p:nvPr/>
        </p:nvSpPr>
        <p:spPr>
          <a:xfrm>
            <a:off x="1123124" y="3604370"/>
            <a:ext cx="4368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Arial MT"/>
                <a:cs typeface="Arial MT"/>
              </a:rPr>
              <a:t>Day</a:t>
            </a:r>
            <a:r>
              <a:rPr sz="1200" spc="60" dirty="0">
                <a:latin typeface="Arial MT"/>
                <a:cs typeface="Arial MT"/>
              </a:rPr>
              <a:t> </a:t>
            </a:r>
            <a:r>
              <a:rPr sz="1200" spc="-50" dirty="0">
                <a:latin typeface="Arial MT"/>
                <a:cs typeface="Arial MT"/>
              </a:rPr>
              <a:t>4</a:t>
            </a:r>
            <a:endParaRPr sz="1200">
              <a:latin typeface="Arial MT"/>
              <a:cs typeface="Arial MT"/>
            </a:endParaRPr>
          </a:p>
        </p:txBody>
      </p:sp>
      <p:sp>
        <p:nvSpPr>
          <p:cNvPr id="14" name="object 14"/>
          <p:cNvSpPr txBox="1"/>
          <p:nvPr/>
        </p:nvSpPr>
        <p:spPr>
          <a:xfrm>
            <a:off x="1123124" y="4261405"/>
            <a:ext cx="4368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Arial MT"/>
                <a:cs typeface="Arial MT"/>
              </a:rPr>
              <a:t>Day</a:t>
            </a:r>
            <a:r>
              <a:rPr sz="1200" spc="60" dirty="0">
                <a:latin typeface="Arial MT"/>
                <a:cs typeface="Arial MT"/>
              </a:rPr>
              <a:t> </a:t>
            </a:r>
            <a:r>
              <a:rPr sz="1200" spc="-50" dirty="0">
                <a:latin typeface="Arial MT"/>
                <a:cs typeface="Arial MT"/>
              </a:rPr>
              <a:t>5</a:t>
            </a:r>
            <a:endParaRPr sz="1200">
              <a:latin typeface="Arial MT"/>
              <a:cs typeface="Arial MT"/>
            </a:endParaRPr>
          </a:p>
        </p:txBody>
      </p:sp>
      <p:sp>
        <p:nvSpPr>
          <p:cNvPr id="15" name="object 15"/>
          <p:cNvSpPr txBox="1"/>
          <p:nvPr/>
        </p:nvSpPr>
        <p:spPr>
          <a:xfrm>
            <a:off x="6618236" y="4727533"/>
            <a:ext cx="1663700" cy="248920"/>
          </a:xfrm>
          <a:prstGeom prst="rect">
            <a:avLst/>
          </a:prstGeom>
          <a:solidFill>
            <a:srgbClr val="FF9000"/>
          </a:solidFill>
        </p:spPr>
        <p:txBody>
          <a:bodyPr vert="horz" wrap="square" lIns="0" tIns="75565" rIns="0" bIns="0" rtlCol="0">
            <a:spAutoFit/>
          </a:bodyPr>
          <a:lstStyle/>
          <a:p>
            <a:pPr marL="97790">
              <a:lnSpc>
                <a:spcPct val="100000"/>
              </a:lnSpc>
              <a:spcBef>
                <a:spcPts val="595"/>
              </a:spcBef>
            </a:pPr>
            <a:r>
              <a:rPr sz="900" spc="10" dirty="0">
                <a:solidFill>
                  <a:srgbClr val="FFFFFF"/>
                </a:solidFill>
                <a:latin typeface="Arial MT"/>
                <a:cs typeface="Arial MT"/>
              </a:rPr>
              <a:t>Deployment</a:t>
            </a:r>
            <a:r>
              <a:rPr sz="900" spc="125" dirty="0">
                <a:solidFill>
                  <a:srgbClr val="FFFFFF"/>
                </a:solidFill>
                <a:latin typeface="Arial MT"/>
                <a:cs typeface="Arial MT"/>
              </a:rPr>
              <a:t> </a:t>
            </a:r>
            <a:r>
              <a:rPr sz="900" spc="50" dirty="0">
                <a:solidFill>
                  <a:srgbClr val="FFFFFF"/>
                </a:solidFill>
                <a:latin typeface="Arial MT"/>
                <a:cs typeface="Arial MT"/>
              </a:rPr>
              <a:t>&amp;</a:t>
            </a:r>
            <a:r>
              <a:rPr sz="900" spc="110" dirty="0">
                <a:solidFill>
                  <a:srgbClr val="FFFFFF"/>
                </a:solidFill>
                <a:latin typeface="Arial MT"/>
                <a:cs typeface="Arial MT"/>
              </a:rPr>
              <a:t> </a:t>
            </a:r>
            <a:r>
              <a:rPr sz="900" spc="-10" dirty="0">
                <a:solidFill>
                  <a:srgbClr val="FFFFFF"/>
                </a:solidFill>
                <a:latin typeface="Arial MT"/>
                <a:cs typeface="Arial MT"/>
              </a:rPr>
              <a:t>Management</a:t>
            </a:r>
            <a:endParaRPr sz="900">
              <a:latin typeface="Arial MT"/>
              <a:cs typeface="Arial MT"/>
            </a:endParaRPr>
          </a:p>
        </p:txBody>
      </p:sp>
      <p:sp>
        <p:nvSpPr>
          <p:cNvPr id="16" name="object 16"/>
          <p:cNvSpPr txBox="1"/>
          <p:nvPr/>
        </p:nvSpPr>
        <p:spPr>
          <a:xfrm>
            <a:off x="6618236" y="4976288"/>
            <a:ext cx="1663700" cy="248920"/>
          </a:xfrm>
          <a:prstGeom prst="rect">
            <a:avLst/>
          </a:prstGeom>
          <a:solidFill>
            <a:srgbClr val="00607E"/>
          </a:solidFill>
        </p:spPr>
        <p:txBody>
          <a:bodyPr vert="horz" wrap="square" lIns="0" tIns="75565" rIns="0" bIns="0" rtlCol="0">
            <a:spAutoFit/>
          </a:bodyPr>
          <a:lstStyle/>
          <a:p>
            <a:pPr marL="104775">
              <a:lnSpc>
                <a:spcPct val="100000"/>
              </a:lnSpc>
              <a:spcBef>
                <a:spcPts val="595"/>
              </a:spcBef>
            </a:pPr>
            <a:r>
              <a:rPr sz="900" dirty="0">
                <a:solidFill>
                  <a:srgbClr val="FFFFFF"/>
                </a:solidFill>
                <a:latin typeface="Arial MT"/>
                <a:cs typeface="Arial MT"/>
              </a:rPr>
              <a:t>Clustering </a:t>
            </a:r>
            <a:r>
              <a:rPr sz="900" spc="50" dirty="0">
                <a:solidFill>
                  <a:srgbClr val="FFFFFF"/>
                </a:solidFill>
                <a:latin typeface="Arial MT"/>
                <a:cs typeface="Arial MT"/>
              </a:rPr>
              <a:t>&amp;</a:t>
            </a:r>
            <a:r>
              <a:rPr sz="900" spc="65" dirty="0">
                <a:solidFill>
                  <a:srgbClr val="FFFFFF"/>
                </a:solidFill>
                <a:latin typeface="Arial MT"/>
                <a:cs typeface="Arial MT"/>
              </a:rPr>
              <a:t> </a:t>
            </a:r>
            <a:r>
              <a:rPr sz="900" dirty="0">
                <a:solidFill>
                  <a:srgbClr val="FFFFFF"/>
                </a:solidFill>
                <a:latin typeface="Arial MT"/>
                <a:cs typeface="Arial MT"/>
              </a:rPr>
              <a:t>Shared</a:t>
            </a:r>
            <a:r>
              <a:rPr sz="900" spc="50" dirty="0">
                <a:solidFill>
                  <a:srgbClr val="FFFFFF"/>
                </a:solidFill>
                <a:latin typeface="Arial MT"/>
                <a:cs typeface="Arial MT"/>
              </a:rPr>
              <a:t> </a:t>
            </a:r>
            <a:r>
              <a:rPr sz="900" spc="-10" dirty="0">
                <a:solidFill>
                  <a:srgbClr val="FFFFFF"/>
                </a:solidFill>
                <a:latin typeface="Arial MT"/>
                <a:cs typeface="Arial MT"/>
              </a:rPr>
              <a:t>Storage</a:t>
            </a:r>
            <a:endParaRPr sz="9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Agenda</a:t>
            </a:r>
            <a:r>
              <a:rPr spc="-310" dirty="0"/>
              <a:t> </a:t>
            </a:r>
            <a:r>
              <a:rPr spc="-295" dirty="0"/>
              <a:t>—</a:t>
            </a:r>
            <a:r>
              <a:rPr spc="-305" dirty="0"/>
              <a:t> </a:t>
            </a:r>
            <a:r>
              <a:rPr dirty="0"/>
              <a:t>Deployment</a:t>
            </a:r>
            <a:r>
              <a:rPr spc="-310" dirty="0"/>
              <a:t> </a:t>
            </a:r>
            <a:r>
              <a:rPr spc="-25" dirty="0"/>
              <a:t>and</a:t>
            </a:r>
            <a:r>
              <a:rPr spc="-305" dirty="0"/>
              <a:t> </a:t>
            </a:r>
            <a:r>
              <a:rPr spc="-10" dirty="0"/>
              <a:t>Management</a:t>
            </a:r>
          </a:p>
        </p:txBody>
      </p:sp>
      <p:sp>
        <p:nvSpPr>
          <p:cNvPr id="12" name="object 12"/>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3" name="object 13"/>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4</a:t>
            </a:fld>
            <a:r>
              <a:rPr spc="-10" dirty="0"/>
              <a:t>/60</a:t>
            </a:r>
          </a:p>
        </p:txBody>
      </p:sp>
      <p:sp>
        <p:nvSpPr>
          <p:cNvPr id="3" name="object 3"/>
          <p:cNvSpPr txBox="1"/>
          <p:nvPr/>
        </p:nvSpPr>
        <p:spPr>
          <a:xfrm>
            <a:off x="598944" y="1374745"/>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4" name="object 4"/>
          <p:cNvSpPr txBox="1"/>
          <p:nvPr/>
        </p:nvSpPr>
        <p:spPr>
          <a:xfrm>
            <a:off x="922934" y="1334791"/>
            <a:ext cx="3758565" cy="765810"/>
          </a:xfrm>
          <a:prstGeom prst="rect">
            <a:avLst/>
          </a:prstGeom>
        </p:spPr>
        <p:txBody>
          <a:bodyPr vert="horz" wrap="square" lIns="0" tIns="3810" rIns="0" bIns="0" rtlCol="0">
            <a:spAutoFit/>
          </a:bodyPr>
          <a:lstStyle/>
          <a:p>
            <a:pPr marL="12700" marR="5080">
              <a:lnSpc>
                <a:spcPct val="102400"/>
              </a:lnSpc>
              <a:spcBef>
                <a:spcPts val="30"/>
              </a:spcBef>
            </a:pPr>
            <a:r>
              <a:rPr sz="2400" dirty="0">
                <a:solidFill>
                  <a:srgbClr val="454C4C"/>
                </a:solidFill>
                <a:latin typeface="Arial MT"/>
                <a:cs typeface="Arial MT"/>
              </a:rPr>
              <a:t>Understanding</a:t>
            </a:r>
            <a:r>
              <a:rPr sz="2400" spc="285" dirty="0">
                <a:solidFill>
                  <a:srgbClr val="454C4C"/>
                </a:solidFill>
                <a:latin typeface="Arial MT"/>
                <a:cs typeface="Arial MT"/>
              </a:rPr>
              <a:t> </a:t>
            </a:r>
            <a:r>
              <a:rPr sz="2400" spc="35" dirty="0">
                <a:solidFill>
                  <a:srgbClr val="454C4C"/>
                </a:solidFill>
                <a:latin typeface="Arial MT"/>
                <a:cs typeface="Arial MT"/>
              </a:rPr>
              <a:t>the </a:t>
            </a:r>
            <a:r>
              <a:rPr sz="2400" dirty="0">
                <a:solidFill>
                  <a:srgbClr val="454C4C"/>
                </a:solidFill>
                <a:latin typeface="Arial MT"/>
                <a:cs typeface="Arial MT"/>
              </a:rPr>
              <a:t>architecture</a:t>
            </a:r>
            <a:r>
              <a:rPr sz="2400" spc="80" dirty="0">
                <a:solidFill>
                  <a:srgbClr val="454C4C"/>
                </a:solidFill>
                <a:latin typeface="Arial MT"/>
                <a:cs typeface="Arial MT"/>
              </a:rPr>
              <a:t> </a:t>
            </a:r>
            <a:r>
              <a:rPr sz="2400" spc="55" dirty="0">
                <a:solidFill>
                  <a:srgbClr val="454C4C"/>
                </a:solidFill>
                <a:latin typeface="Arial MT"/>
                <a:cs typeface="Arial MT"/>
              </a:rPr>
              <a:t>of</a:t>
            </a:r>
            <a:r>
              <a:rPr sz="2400" spc="80" dirty="0">
                <a:solidFill>
                  <a:srgbClr val="454C4C"/>
                </a:solidFill>
                <a:latin typeface="Arial MT"/>
                <a:cs typeface="Arial MT"/>
              </a:rPr>
              <a:t> </a:t>
            </a:r>
            <a:r>
              <a:rPr sz="2400" dirty="0">
                <a:solidFill>
                  <a:srgbClr val="454C4C"/>
                </a:solidFill>
                <a:latin typeface="Arial MT"/>
                <a:cs typeface="Arial MT"/>
              </a:rPr>
              <a:t>Proxmox</a:t>
            </a:r>
            <a:r>
              <a:rPr sz="2400" spc="80" dirty="0">
                <a:solidFill>
                  <a:srgbClr val="454C4C"/>
                </a:solidFill>
                <a:latin typeface="Arial MT"/>
                <a:cs typeface="Arial MT"/>
              </a:rPr>
              <a:t> </a:t>
            </a:r>
            <a:r>
              <a:rPr sz="2400" spc="-285" dirty="0">
                <a:solidFill>
                  <a:srgbClr val="454C4C"/>
                </a:solidFill>
                <a:latin typeface="Arial MT"/>
                <a:cs typeface="Arial MT"/>
              </a:rPr>
              <a:t>VE</a:t>
            </a:r>
            <a:endParaRPr sz="2400">
              <a:latin typeface="Arial MT"/>
              <a:cs typeface="Arial MT"/>
            </a:endParaRPr>
          </a:p>
        </p:txBody>
      </p:sp>
      <p:sp>
        <p:nvSpPr>
          <p:cNvPr id="5" name="object 5"/>
          <p:cNvSpPr txBox="1"/>
          <p:nvPr/>
        </p:nvSpPr>
        <p:spPr>
          <a:xfrm>
            <a:off x="598944" y="2244505"/>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6" name="object 6"/>
          <p:cNvSpPr txBox="1"/>
          <p:nvPr/>
        </p:nvSpPr>
        <p:spPr>
          <a:xfrm>
            <a:off x="922934" y="2204551"/>
            <a:ext cx="3987165" cy="2384425"/>
          </a:xfrm>
          <a:prstGeom prst="rect">
            <a:avLst/>
          </a:prstGeom>
        </p:spPr>
        <p:txBody>
          <a:bodyPr vert="horz" wrap="square" lIns="0" tIns="3810" rIns="0" bIns="0" rtlCol="0">
            <a:spAutoFit/>
          </a:bodyPr>
          <a:lstStyle/>
          <a:p>
            <a:pPr marL="12700" marR="560070">
              <a:lnSpc>
                <a:spcPct val="102400"/>
              </a:lnSpc>
              <a:spcBef>
                <a:spcPts val="30"/>
              </a:spcBef>
            </a:pPr>
            <a:r>
              <a:rPr sz="2400" dirty="0">
                <a:solidFill>
                  <a:srgbClr val="454C4C"/>
                </a:solidFill>
                <a:latin typeface="Arial MT"/>
                <a:cs typeface="Arial MT"/>
              </a:rPr>
              <a:t>Setting</a:t>
            </a:r>
            <a:r>
              <a:rPr sz="2400" spc="-55" dirty="0">
                <a:solidFill>
                  <a:srgbClr val="454C4C"/>
                </a:solidFill>
                <a:latin typeface="Arial MT"/>
                <a:cs typeface="Arial MT"/>
              </a:rPr>
              <a:t> </a:t>
            </a:r>
            <a:r>
              <a:rPr sz="2400" spc="75" dirty="0">
                <a:solidFill>
                  <a:srgbClr val="454C4C"/>
                </a:solidFill>
                <a:latin typeface="Arial MT"/>
                <a:cs typeface="Arial MT"/>
              </a:rPr>
              <a:t>up</a:t>
            </a:r>
            <a:r>
              <a:rPr sz="2400" spc="-55" dirty="0">
                <a:solidFill>
                  <a:srgbClr val="454C4C"/>
                </a:solidFill>
                <a:latin typeface="Arial MT"/>
                <a:cs typeface="Arial MT"/>
              </a:rPr>
              <a:t> </a:t>
            </a:r>
            <a:r>
              <a:rPr sz="2400" dirty="0">
                <a:solidFill>
                  <a:srgbClr val="454C4C"/>
                </a:solidFill>
                <a:latin typeface="Arial MT"/>
                <a:cs typeface="Arial MT"/>
              </a:rPr>
              <a:t>Proxmox</a:t>
            </a:r>
            <a:r>
              <a:rPr sz="2400" spc="-55" dirty="0">
                <a:solidFill>
                  <a:srgbClr val="454C4C"/>
                </a:solidFill>
                <a:latin typeface="Arial MT"/>
                <a:cs typeface="Arial MT"/>
              </a:rPr>
              <a:t> </a:t>
            </a:r>
            <a:r>
              <a:rPr sz="2400" spc="-25" dirty="0">
                <a:solidFill>
                  <a:srgbClr val="454C4C"/>
                </a:solidFill>
                <a:latin typeface="Arial MT"/>
                <a:cs typeface="Arial MT"/>
              </a:rPr>
              <a:t>VE: </a:t>
            </a:r>
            <a:r>
              <a:rPr sz="2400" dirty="0">
                <a:solidFill>
                  <a:srgbClr val="454C4C"/>
                </a:solidFill>
                <a:latin typeface="Arial MT"/>
                <a:cs typeface="Arial MT"/>
              </a:rPr>
              <a:t>system</a:t>
            </a:r>
            <a:r>
              <a:rPr sz="2400" spc="-155" dirty="0">
                <a:solidFill>
                  <a:srgbClr val="454C4C"/>
                </a:solidFill>
                <a:latin typeface="Arial MT"/>
                <a:cs typeface="Arial MT"/>
              </a:rPr>
              <a:t> </a:t>
            </a:r>
            <a:r>
              <a:rPr sz="2400" spc="-10" dirty="0">
                <a:solidFill>
                  <a:srgbClr val="454C4C"/>
                </a:solidFill>
                <a:latin typeface="Arial MT"/>
                <a:cs typeface="Arial MT"/>
              </a:rPr>
              <a:t>requirements, </a:t>
            </a:r>
            <a:r>
              <a:rPr sz="2400" dirty="0">
                <a:solidFill>
                  <a:srgbClr val="454C4C"/>
                </a:solidFill>
                <a:latin typeface="Arial MT"/>
                <a:cs typeface="Arial MT"/>
              </a:rPr>
              <a:t>installation,</a:t>
            </a:r>
            <a:r>
              <a:rPr sz="2400" spc="-40" dirty="0">
                <a:solidFill>
                  <a:srgbClr val="454C4C"/>
                </a:solidFill>
                <a:latin typeface="Arial MT"/>
                <a:cs typeface="Arial MT"/>
              </a:rPr>
              <a:t> </a:t>
            </a:r>
            <a:r>
              <a:rPr sz="2400" dirty="0">
                <a:solidFill>
                  <a:srgbClr val="454C4C"/>
                </a:solidFill>
                <a:latin typeface="Arial MT"/>
                <a:cs typeface="Arial MT"/>
              </a:rPr>
              <a:t>updates,</a:t>
            </a:r>
            <a:r>
              <a:rPr sz="2400" spc="-35" dirty="0">
                <a:solidFill>
                  <a:srgbClr val="454C4C"/>
                </a:solidFill>
                <a:latin typeface="Arial MT"/>
                <a:cs typeface="Arial MT"/>
              </a:rPr>
              <a:t> </a:t>
            </a:r>
            <a:r>
              <a:rPr sz="2400" spc="-25" dirty="0">
                <a:solidFill>
                  <a:srgbClr val="454C4C"/>
                </a:solidFill>
                <a:latin typeface="Arial MT"/>
                <a:cs typeface="Arial MT"/>
              </a:rPr>
              <a:t>and </a:t>
            </a:r>
            <a:r>
              <a:rPr sz="2400" spc="45" dirty="0">
                <a:solidFill>
                  <a:srgbClr val="454C4C"/>
                </a:solidFill>
                <a:latin typeface="Arial MT"/>
                <a:cs typeface="Arial MT"/>
              </a:rPr>
              <a:t>network</a:t>
            </a:r>
            <a:r>
              <a:rPr sz="2400" spc="-50" dirty="0">
                <a:solidFill>
                  <a:srgbClr val="454C4C"/>
                </a:solidFill>
                <a:latin typeface="Arial MT"/>
                <a:cs typeface="Arial MT"/>
              </a:rPr>
              <a:t> </a:t>
            </a:r>
            <a:r>
              <a:rPr sz="2400" spc="-10" dirty="0">
                <a:solidFill>
                  <a:srgbClr val="454C4C"/>
                </a:solidFill>
                <a:latin typeface="Arial MT"/>
                <a:cs typeface="Arial MT"/>
              </a:rPr>
              <a:t>configuration.</a:t>
            </a:r>
            <a:endParaRPr sz="2400">
              <a:latin typeface="Arial MT"/>
              <a:cs typeface="Arial MT"/>
            </a:endParaRPr>
          </a:p>
          <a:p>
            <a:pPr marL="12700" marR="5080">
              <a:lnSpc>
                <a:spcPct val="102400"/>
              </a:lnSpc>
              <a:spcBef>
                <a:spcPts val="950"/>
              </a:spcBef>
            </a:pPr>
            <a:r>
              <a:rPr sz="2400" dirty="0">
                <a:solidFill>
                  <a:srgbClr val="454C4C"/>
                </a:solidFill>
                <a:latin typeface="Arial MT"/>
                <a:cs typeface="Arial MT"/>
              </a:rPr>
              <a:t>Management</a:t>
            </a:r>
            <a:r>
              <a:rPr sz="2400" spc="70" dirty="0">
                <a:solidFill>
                  <a:srgbClr val="454C4C"/>
                </a:solidFill>
                <a:latin typeface="Arial MT"/>
                <a:cs typeface="Arial MT"/>
              </a:rPr>
              <a:t> </a:t>
            </a:r>
            <a:r>
              <a:rPr sz="2400" dirty="0">
                <a:solidFill>
                  <a:srgbClr val="454C4C"/>
                </a:solidFill>
                <a:latin typeface="Arial MT"/>
                <a:cs typeface="Arial MT"/>
              </a:rPr>
              <a:t>interfaces</a:t>
            </a:r>
            <a:r>
              <a:rPr sz="2400" spc="85" dirty="0">
                <a:solidFill>
                  <a:srgbClr val="454C4C"/>
                </a:solidFill>
                <a:latin typeface="Arial MT"/>
                <a:cs typeface="Arial MT"/>
              </a:rPr>
              <a:t> </a:t>
            </a:r>
            <a:r>
              <a:rPr sz="2400" spc="-20" dirty="0">
                <a:solidFill>
                  <a:srgbClr val="454C4C"/>
                </a:solidFill>
                <a:latin typeface="Arial MT"/>
                <a:cs typeface="Arial MT"/>
              </a:rPr>
              <a:t>(web </a:t>
            </a:r>
            <a:r>
              <a:rPr sz="2400" spc="-85" dirty="0">
                <a:solidFill>
                  <a:srgbClr val="454C4C"/>
                </a:solidFill>
                <a:latin typeface="Arial MT"/>
                <a:cs typeface="Arial MT"/>
              </a:rPr>
              <a:t>GUI,</a:t>
            </a:r>
            <a:r>
              <a:rPr sz="2400" spc="-70" dirty="0">
                <a:solidFill>
                  <a:srgbClr val="454C4C"/>
                </a:solidFill>
                <a:latin typeface="Arial MT"/>
                <a:cs typeface="Arial MT"/>
              </a:rPr>
              <a:t> </a:t>
            </a:r>
            <a:r>
              <a:rPr sz="2400" spc="-20" dirty="0">
                <a:solidFill>
                  <a:srgbClr val="454C4C"/>
                </a:solidFill>
                <a:latin typeface="Arial MT"/>
                <a:cs typeface="Arial MT"/>
              </a:rPr>
              <a:t>CLI)</a:t>
            </a:r>
            <a:endParaRPr sz="2400">
              <a:latin typeface="Arial MT"/>
              <a:cs typeface="Arial MT"/>
            </a:endParaRPr>
          </a:p>
        </p:txBody>
      </p:sp>
      <p:sp>
        <p:nvSpPr>
          <p:cNvPr id="7" name="object 7"/>
          <p:cNvSpPr txBox="1"/>
          <p:nvPr/>
        </p:nvSpPr>
        <p:spPr>
          <a:xfrm>
            <a:off x="598944" y="3863069"/>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8" name="object 8"/>
          <p:cNvSpPr txBox="1"/>
          <p:nvPr/>
        </p:nvSpPr>
        <p:spPr>
          <a:xfrm>
            <a:off x="5247614" y="1372955"/>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9" name="object 9"/>
          <p:cNvSpPr txBox="1"/>
          <p:nvPr/>
        </p:nvSpPr>
        <p:spPr>
          <a:xfrm>
            <a:off x="5571616" y="1332988"/>
            <a:ext cx="3887470" cy="2661285"/>
          </a:xfrm>
          <a:prstGeom prst="rect">
            <a:avLst/>
          </a:prstGeom>
        </p:spPr>
        <p:txBody>
          <a:bodyPr vert="horz" wrap="square" lIns="0" tIns="4445" rIns="0" bIns="0" rtlCol="0">
            <a:spAutoFit/>
          </a:bodyPr>
          <a:lstStyle/>
          <a:p>
            <a:pPr marL="12700" marR="596265">
              <a:lnSpc>
                <a:spcPct val="102299"/>
              </a:lnSpc>
              <a:spcBef>
                <a:spcPts val="35"/>
              </a:spcBef>
            </a:pPr>
            <a:r>
              <a:rPr sz="2200" dirty="0">
                <a:solidFill>
                  <a:srgbClr val="454C4C"/>
                </a:solidFill>
                <a:latin typeface="Arial MT"/>
                <a:cs typeface="Arial MT"/>
              </a:rPr>
              <a:t>Networks</a:t>
            </a:r>
            <a:r>
              <a:rPr sz="2200" spc="-5" dirty="0">
                <a:solidFill>
                  <a:srgbClr val="454C4C"/>
                </a:solidFill>
                <a:latin typeface="Arial MT"/>
                <a:cs typeface="Arial MT"/>
              </a:rPr>
              <a:t> </a:t>
            </a:r>
            <a:r>
              <a:rPr sz="2200" dirty="0">
                <a:solidFill>
                  <a:srgbClr val="454C4C"/>
                </a:solidFill>
                <a:latin typeface="Arial MT"/>
                <a:cs typeface="Arial MT"/>
              </a:rPr>
              <a:t>(bridging</a:t>
            </a:r>
            <a:r>
              <a:rPr sz="2200" spc="-5" dirty="0">
                <a:solidFill>
                  <a:srgbClr val="454C4C"/>
                </a:solidFill>
                <a:latin typeface="Arial MT"/>
                <a:cs typeface="Arial MT"/>
              </a:rPr>
              <a:t> </a:t>
            </a:r>
            <a:r>
              <a:rPr sz="2200" spc="-25" dirty="0">
                <a:solidFill>
                  <a:srgbClr val="454C4C"/>
                </a:solidFill>
                <a:latin typeface="Arial MT"/>
                <a:cs typeface="Arial MT"/>
              </a:rPr>
              <a:t>and </a:t>
            </a:r>
            <a:r>
              <a:rPr sz="2200" dirty="0">
                <a:solidFill>
                  <a:srgbClr val="454C4C"/>
                </a:solidFill>
                <a:latin typeface="Arial MT"/>
                <a:cs typeface="Arial MT"/>
              </a:rPr>
              <a:t>bonding,</a:t>
            </a:r>
            <a:r>
              <a:rPr sz="2200" spc="20" dirty="0">
                <a:solidFill>
                  <a:srgbClr val="454C4C"/>
                </a:solidFill>
                <a:latin typeface="Arial MT"/>
                <a:cs typeface="Arial MT"/>
              </a:rPr>
              <a:t> </a:t>
            </a:r>
            <a:r>
              <a:rPr sz="2200" spc="-125" dirty="0">
                <a:solidFill>
                  <a:srgbClr val="454C4C"/>
                </a:solidFill>
                <a:latin typeface="Arial MT"/>
                <a:cs typeface="Arial MT"/>
              </a:rPr>
              <a:t>VLANs,</a:t>
            </a:r>
            <a:r>
              <a:rPr sz="2200" spc="20" dirty="0">
                <a:solidFill>
                  <a:srgbClr val="454C4C"/>
                </a:solidFill>
                <a:latin typeface="Arial MT"/>
                <a:cs typeface="Arial MT"/>
              </a:rPr>
              <a:t> </a:t>
            </a:r>
            <a:r>
              <a:rPr sz="2200" spc="-10" dirty="0">
                <a:solidFill>
                  <a:srgbClr val="454C4C"/>
                </a:solidFill>
                <a:latin typeface="Arial MT"/>
                <a:cs typeface="Arial MT"/>
              </a:rPr>
              <a:t>software- </a:t>
            </a:r>
            <a:r>
              <a:rPr sz="2200" dirty="0">
                <a:solidFill>
                  <a:srgbClr val="454C4C"/>
                </a:solidFill>
                <a:latin typeface="Arial MT"/>
                <a:cs typeface="Arial MT"/>
              </a:rPr>
              <a:t>defined</a:t>
            </a:r>
            <a:r>
              <a:rPr sz="2200" spc="135" dirty="0">
                <a:solidFill>
                  <a:srgbClr val="454C4C"/>
                </a:solidFill>
                <a:latin typeface="Arial MT"/>
                <a:cs typeface="Arial MT"/>
              </a:rPr>
              <a:t> </a:t>
            </a:r>
            <a:r>
              <a:rPr sz="2200" spc="-10" dirty="0">
                <a:solidFill>
                  <a:srgbClr val="454C4C"/>
                </a:solidFill>
                <a:latin typeface="Arial MT"/>
                <a:cs typeface="Arial MT"/>
              </a:rPr>
              <a:t>networking)</a:t>
            </a:r>
            <a:endParaRPr sz="2200">
              <a:latin typeface="Arial MT"/>
              <a:cs typeface="Arial MT"/>
            </a:endParaRPr>
          </a:p>
          <a:p>
            <a:pPr marL="12700">
              <a:lnSpc>
                <a:spcPct val="100000"/>
              </a:lnSpc>
              <a:spcBef>
                <a:spcPts val="1015"/>
              </a:spcBef>
            </a:pPr>
            <a:r>
              <a:rPr sz="2200" spc="-20" dirty="0">
                <a:solidFill>
                  <a:srgbClr val="454C4C"/>
                </a:solidFill>
                <a:latin typeface="Arial MT"/>
                <a:cs typeface="Arial MT"/>
              </a:rPr>
              <a:t>Storage</a:t>
            </a:r>
            <a:r>
              <a:rPr sz="2200" spc="55" dirty="0">
                <a:solidFill>
                  <a:srgbClr val="454C4C"/>
                </a:solidFill>
                <a:latin typeface="Arial MT"/>
                <a:cs typeface="Arial MT"/>
              </a:rPr>
              <a:t> </a:t>
            </a:r>
            <a:r>
              <a:rPr sz="2200" dirty="0">
                <a:solidFill>
                  <a:srgbClr val="454C4C"/>
                </a:solidFill>
                <a:latin typeface="Arial MT"/>
                <a:cs typeface="Arial MT"/>
              </a:rPr>
              <a:t>options</a:t>
            </a:r>
            <a:r>
              <a:rPr sz="2200" spc="60" dirty="0">
                <a:solidFill>
                  <a:srgbClr val="454C4C"/>
                </a:solidFill>
                <a:latin typeface="Arial MT"/>
                <a:cs typeface="Arial MT"/>
              </a:rPr>
              <a:t> </a:t>
            </a:r>
            <a:r>
              <a:rPr sz="2200" dirty="0">
                <a:solidFill>
                  <a:srgbClr val="454C4C"/>
                </a:solidFill>
                <a:latin typeface="Arial MT"/>
                <a:cs typeface="Arial MT"/>
              </a:rPr>
              <a:t>in</a:t>
            </a:r>
            <a:r>
              <a:rPr sz="2200" spc="55" dirty="0">
                <a:solidFill>
                  <a:srgbClr val="454C4C"/>
                </a:solidFill>
                <a:latin typeface="Arial MT"/>
                <a:cs typeface="Arial MT"/>
              </a:rPr>
              <a:t> </a:t>
            </a:r>
            <a:r>
              <a:rPr sz="2200" dirty="0">
                <a:solidFill>
                  <a:srgbClr val="454C4C"/>
                </a:solidFill>
                <a:latin typeface="Arial MT"/>
                <a:cs typeface="Arial MT"/>
              </a:rPr>
              <a:t>Proxmox</a:t>
            </a:r>
            <a:r>
              <a:rPr sz="2200" spc="60" dirty="0">
                <a:solidFill>
                  <a:srgbClr val="454C4C"/>
                </a:solidFill>
                <a:latin typeface="Arial MT"/>
                <a:cs typeface="Arial MT"/>
              </a:rPr>
              <a:t> </a:t>
            </a:r>
            <a:r>
              <a:rPr sz="2200" spc="-114" dirty="0">
                <a:solidFill>
                  <a:srgbClr val="454C4C"/>
                </a:solidFill>
                <a:latin typeface="Arial MT"/>
                <a:cs typeface="Arial MT"/>
              </a:rPr>
              <a:t>VE</a:t>
            </a:r>
            <a:endParaRPr sz="2200">
              <a:latin typeface="Arial MT"/>
              <a:cs typeface="Arial MT"/>
            </a:endParaRPr>
          </a:p>
          <a:p>
            <a:pPr marL="12700" marR="121920">
              <a:lnSpc>
                <a:spcPct val="102299"/>
              </a:lnSpc>
              <a:spcBef>
                <a:spcPts val="955"/>
              </a:spcBef>
            </a:pPr>
            <a:r>
              <a:rPr sz="2200" dirty="0">
                <a:solidFill>
                  <a:srgbClr val="454C4C"/>
                </a:solidFill>
                <a:latin typeface="Arial MT"/>
                <a:cs typeface="Arial MT"/>
              </a:rPr>
              <a:t>Virtual</a:t>
            </a:r>
            <a:r>
              <a:rPr sz="2200" spc="-40" dirty="0">
                <a:solidFill>
                  <a:srgbClr val="454C4C"/>
                </a:solidFill>
                <a:latin typeface="Arial MT"/>
                <a:cs typeface="Arial MT"/>
              </a:rPr>
              <a:t> </a:t>
            </a:r>
            <a:r>
              <a:rPr sz="2200" dirty="0">
                <a:solidFill>
                  <a:srgbClr val="454C4C"/>
                </a:solidFill>
                <a:latin typeface="Arial MT"/>
                <a:cs typeface="Arial MT"/>
              </a:rPr>
              <a:t>guest</a:t>
            </a:r>
            <a:r>
              <a:rPr sz="2200" spc="-40" dirty="0">
                <a:solidFill>
                  <a:srgbClr val="454C4C"/>
                </a:solidFill>
                <a:latin typeface="Arial MT"/>
                <a:cs typeface="Arial MT"/>
              </a:rPr>
              <a:t> </a:t>
            </a:r>
            <a:r>
              <a:rPr sz="2200" spc="-10" dirty="0">
                <a:solidFill>
                  <a:srgbClr val="454C4C"/>
                </a:solidFill>
                <a:latin typeface="Arial MT"/>
                <a:cs typeface="Arial MT"/>
              </a:rPr>
              <a:t>management: </a:t>
            </a:r>
            <a:r>
              <a:rPr sz="2200" dirty="0">
                <a:solidFill>
                  <a:srgbClr val="454C4C"/>
                </a:solidFill>
                <a:latin typeface="Arial MT"/>
                <a:cs typeface="Arial MT"/>
              </a:rPr>
              <a:t>Exploring</a:t>
            </a:r>
            <a:r>
              <a:rPr sz="2200" spc="55" dirty="0">
                <a:solidFill>
                  <a:srgbClr val="454C4C"/>
                </a:solidFill>
                <a:latin typeface="Arial MT"/>
                <a:cs typeface="Arial MT"/>
              </a:rPr>
              <a:t> </a:t>
            </a:r>
            <a:r>
              <a:rPr sz="2200" dirty="0">
                <a:solidFill>
                  <a:srgbClr val="454C4C"/>
                </a:solidFill>
                <a:latin typeface="Arial MT"/>
                <a:cs typeface="Arial MT"/>
              </a:rPr>
              <a:t>the</a:t>
            </a:r>
            <a:r>
              <a:rPr sz="2200" spc="60" dirty="0">
                <a:solidFill>
                  <a:srgbClr val="454C4C"/>
                </a:solidFill>
                <a:latin typeface="Arial MT"/>
                <a:cs typeface="Arial MT"/>
              </a:rPr>
              <a:t> </a:t>
            </a:r>
            <a:r>
              <a:rPr sz="2200" dirty="0">
                <a:solidFill>
                  <a:srgbClr val="454C4C"/>
                </a:solidFill>
                <a:latin typeface="Arial MT"/>
                <a:cs typeface="Arial MT"/>
              </a:rPr>
              <a:t>options</a:t>
            </a:r>
            <a:r>
              <a:rPr sz="2200" spc="50" dirty="0">
                <a:solidFill>
                  <a:srgbClr val="454C4C"/>
                </a:solidFill>
                <a:latin typeface="Arial MT"/>
                <a:cs typeface="Arial MT"/>
              </a:rPr>
              <a:t> </a:t>
            </a:r>
            <a:r>
              <a:rPr sz="2200" spc="65" dirty="0">
                <a:solidFill>
                  <a:srgbClr val="454C4C"/>
                </a:solidFill>
                <a:latin typeface="Arial MT"/>
                <a:cs typeface="Arial MT"/>
              </a:rPr>
              <a:t>for</a:t>
            </a:r>
            <a:r>
              <a:rPr sz="2200" spc="60" dirty="0">
                <a:solidFill>
                  <a:srgbClr val="454C4C"/>
                </a:solidFill>
                <a:latin typeface="Arial MT"/>
                <a:cs typeface="Arial MT"/>
              </a:rPr>
              <a:t> </a:t>
            </a:r>
            <a:r>
              <a:rPr sz="2200" spc="-25" dirty="0">
                <a:solidFill>
                  <a:srgbClr val="454C4C"/>
                </a:solidFill>
                <a:latin typeface="Arial MT"/>
                <a:cs typeface="Arial MT"/>
              </a:rPr>
              <a:t>VMs </a:t>
            </a:r>
            <a:r>
              <a:rPr sz="2200" dirty="0">
                <a:solidFill>
                  <a:srgbClr val="454C4C"/>
                </a:solidFill>
                <a:latin typeface="Arial MT"/>
                <a:cs typeface="Arial MT"/>
              </a:rPr>
              <a:t>and</a:t>
            </a:r>
            <a:r>
              <a:rPr sz="2200" spc="20" dirty="0">
                <a:solidFill>
                  <a:srgbClr val="454C4C"/>
                </a:solidFill>
                <a:latin typeface="Arial MT"/>
                <a:cs typeface="Arial MT"/>
              </a:rPr>
              <a:t> </a:t>
            </a:r>
            <a:r>
              <a:rPr sz="2200" dirty="0">
                <a:solidFill>
                  <a:srgbClr val="454C4C"/>
                </a:solidFill>
                <a:latin typeface="Arial MT"/>
                <a:cs typeface="Arial MT"/>
              </a:rPr>
              <a:t>Linux</a:t>
            </a:r>
            <a:r>
              <a:rPr sz="2200" spc="20" dirty="0">
                <a:solidFill>
                  <a:srgbClr val="454C4C"/>
                </a:solidFill>
                <a:latin typeface="Arial MT"/>
                <a:cs typeface="Arial MT"/>
              </a:rPr>
              <a:t> </a:t>
            </a:r>
            <a:r>
              <a:rPr sz="2200" spc="-160" dirty="0">
                <a:solidFill>
                  <a:srgbClr val="454C4C"/>
                </a:solidFill>
                <a:latin typeface="Arial MT"/>
                <a:cs typeface="Arial MT"/>
              </a:rPr>
              <a:t>OS</a:t>
            </a:r>
            <a:r>
              <a:rPr sz="2200" spc="25" dirty="0">
                <a:solidFill>
                  <a:srgbClr val="454C4C"/>
                </a:solidFill>
                <a:latin typeface="Arial MT"/>
                <a:cs typeface="Arial MT"/>
              </a:rPr>
              <a:t> </a:t>
            </a:r>
            <a:r>
              <a:rPr sz="2200" dirty="0">
                <a:solidFill>
                  <a:srgbClr val="454C4C"/>
                </a:solidFill>
                <a:latin typeface="Arial MT"/>
                <a:cs typeface="Arial MT"/>
              </a:rPr>
              <a:t>containers</a:t>
            </a:r>
            <a:r>
              <a:rPr sz="2200" spc="20" dirty="0">
                <a:solidFill>
                  <a:srgbClr val="454C4C"/>
                </a:solidFill>
                <a:latin typeface="Arial MT"/>
                <a:cs typeface="Arial MT"/>
              </a:rPr>
              <a:t> </a:t>
            </a:r>
            <a:r>
              <a:rPr sz="2200" spc="-165" dirty="0">
                <a:solidFill>
                  <a:srgbClr val="454C4C"/>
                </a:solidFill>
                <a:latin typeface="Arial MT"/>
                <a:cs typeface="Arial MT"/>
              </a:rPr>
              <a:t>(LXC)</a:t>
            </a:r>
            <a:endParaRPr sz="2200">
              <a:latin typeface="Arial MT"/>
              <a:cs typeface="Arial MT"/>
            </a:endParaRPr>
          </a:p>
        </p:txBody>
      </p:sp>
      <p:sp>
        <p:nvSpPr>
          <p:cNvPr id="10" name="object 10"/>
          <p:cNvSpPr txBox="1"/>
          <p:nvPr/>
        </p:nvSpPr>
        <p:spPr>
          <a:xfrm>
            <a:off x="5247614" y="2523156"/>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11" name="object 11"/>
          <p:cNvSpPr txBox="1"/>
          <p:nvPr/>
        </p:nvSpPr>
        <p:spPr>
          <a:xfrm>
            <a:off x="5247614" y="2987188"/>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Agenda</a:t>
            </a:r>
            <a:r>
              <a:rPr spc="-310" dirty="0"/>
              <a:t> </a:t>
            </a:r>
            <a:r>
              <a:rPr spc="-295" dirty="0"/>
              <a:t>—</a:t>
            </a:r>
            <a:r>
              <a:rPr spc="-305" dirty="0"/>
              <a:t> </a:t>
            </a:r>
            <a:r>
              <a:rPr dirty="0"/>
              <a:t>Deployment</a:t>
            </a:r>
            <a:r>
              <a:rPr spc="-310" dirty="0"/>
              <a:t> </a:t>
            </a:r>
            <a:r>
              <a:rPr spc="-25" dirty="0"/>
              <a:t>and</a:t>
            </a:r>
            <a:r>
              <a:rPr spc="-305" dirty="0"/>
              <a:t> </a:t>
            </a:r>
            <a:r>
              <a:rPr spc="-10" dirty="0"/>
              <a:t>Management</a:t>
            </a:r>
          </a:p>
        </p:txBody>
      </p:sp>
      <p:sp>
        <p:nvSpPr>
          <p:cNvPr id="10" name="object 1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1" name="object 11"/>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5</a:t>
            </a:fld>
            <a:r>
              <a:rPr spc="-10" dirty="0"/>
              <a:t>/60</a:t>
            </a:r>
          </a:p>
        </p:txBody>
      </p:sp>
      <p:sp>
        <p:nvSpPr>
          <p:cNvPr id="3" name="object 3"/>
          <p:cNvSpPr txBox="1"/>
          <p:nvPr/>
        </p:nvSpPr>
        <p:spPr>
          <a:xfrm>
            <a:off x="598944" y="1374745"/>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4" name="object 4"/>
          <p:cNvSpPr txBox="1"/>
          <p:nvPr/>
        </p:nvSpPr>
        <p:spPr>
          <a:xfrm>
            <a:off x="922934" y="1334791"/>
            <a:ext cx="3933190" cy="3133090"/>
          </a:xfrm>
          <a:prstGeom prst="rect">
            <a:avLst/>
          </a:prstGeom>
        </p:spPr>
        <p:txBody>
          <a:bodyPr vert="horz" wrap="square" lIns="0" tIns="3810" rIns="0" bIns="0" rtlCol="0">
            <a:spAutoFit/>
          </a:bodyPr>
          <a:lstStyle/>
          <a:p>
            <a:pPr marL="12700" marR="5080">
              <a:lnSpc>
                <a:spcPct val="102400"/>
              </a:lnSpc>
              <a:spcBef>
                <a:spcPts val="30"/>
              </a:spcBef>
            </a:pPr>
            <a:r>
              <a:rPr sz="2400" dirty="0">
                <a:solidFill>
                  <a:srgbClr val="454C4C"/>
                </a:solidFill>
                <a:latin typeface="Arial MT"/>
                <a:cs typeface="Arial MT"/>
              </a:rPr>
              <a:t>Migration</a:t>
            </a:r>
            <a:r>
              <a:rPr sz="2400" spc="55" dirty="0">
                <a:solidFill>
                  <a:srgbClr val="454C4C"/>
                </a:solidFill>
                <a:latin typeface="Arial MT"/>
                <a:cs typeface="Arial MT"/>
              </a:rPr>
              <a:t> </a:t>
            </a:r>
            <a:r>
              <a:rPr sz="2400" spc="95" dirty="0">
                <a:solidFill>
                  <a:srgbClr val="454C4C"/>
                </a:solidFill>
                <a:latin typeface="Arial MT"/>
                <a:cs typeface="Arial MT"/>
              </a:rPr>
              <a:t>to</a:t>
            </a:r>
            <a:r>
              <a:rPr sz="2400" spc="60" dirty="0">
                <a:solidFill>
                  <a:srgbClr val="454C4C"/>
                </a:solidFill>
                <a:latin typeface="Arial MT"/>
                <a:cs typeface="Arial MT"/>
              </a:rPr>
              <a:t> </a:t>
            </a:r>
            <a:r>
              <a:rPr sz="2400" dirty="0">
                <a:solidFill>
                  <a:srgbClr val="454C4C"/>
                </a:solidFill>
                <a:latin typeface="Arial MT"/>
                <a:cs typeface="Arial MT"/>
              </a:rPr>
              <a:t>Proxmox</a:t>
            </a:r>
            <a:r>
              <a:rPr sz="2400" spc="60" dirty="0">
                <a:solidFill>
                  <a:srgbClr val="454C4C"/>
                </a:solidFill>
                <a:latin typeface="Arial MT"/>
                <a:cs typeface="Arial MT"/>
              </a:rPr>
              <a:t> </a:t>
            </a:r>
            <a:r>
              <a:rPr sz="2400" spc="-290" dirty="0">
                <a:solidFill>
                  <a:srgbClr val="454C4C"/>
                </a:solidFill>
                <a:latin typeface="Arial MT"/>
                <a:cs typeface="Arial MT"/>
              </a:rPr>
              <a:t>VE </a:t>
            </a:r>
            <a:r>
              <a:rPr sz="2400" spc="80" dirty="0">
                <a:solidFill>
                  <a:srgbClr val="454C4C"/>
                </a:solidFill>
                <a:latin typeface="Arial MT"/>
                <a:cs typeface="Arial MT"/>
              </a:rPr>
              <a:t>from</a:t>
            </a:r>
            <a:r>
              <a:rPr sz="2400" spc="-40" dirty="0">
                <a:solidFill>
                  <a:srgbClr val="454C4C"/>
                </a:solidFill>
                <a:latin typeface="Arial MT"/>
                <a:cs typeface="Arial MT"/>
              </a:rPr>
              <a:t> </a:t>
            </a:r>
            <a:r>
              <a:rPr sz="2400" spc="70" dirty="0">
                <a:solidFill>
                  <a:srgbClr val="454C4C"/>
                </a:solidFill>
                <a:latin typeface="Arial MT"/>
                <a:cs typeface="Arial MT"/>
              </a:rPr>
              <a:t>other</a:t>
            </a:r>
            <a:r>
              <a:rPr sz="2400" spc="-40" dirty="0">
                <a:solidFill>
                  <a:srgbClr val="454C4C"/>
                </a:solidFill>
                <a:latin typeface="Arial MT"/>
                <a:cs typeface="Arial MT"/>
              </a:rPr>
              <a:t> </a:t>
            </a:r>
            <a:r>
              <a:rPr sz="2400" dirty="0">
                <a:solidFill>
                  <a:srgbClr val="454C4C"/>
                </a:solidFill>
                <a:latin typeface="Arial MT"/>
                <a:cs typeface="Arial MT"/>
              </a:rPr>
              <a:t>hypervisors</a:t>
            </a:r>
            <a:r>
              <a:rPr sz="2400" spc="-35" dirty="0">
                <a:solidFill>
                  <a:srgbClr val="454C4C"/>
                </a:solidFill>
                <a:latin typeface="Arial MT"/>
                <a:cs typeface="Arial MT"/>
              </a:rPr>
              <a:t> </a:t>
            </a:r>
            <a:r>
              <a:rPr sz="2400" spc="-110" dirty="0">
                <a:solidFill>
                  <a:srgbClr val="454C4C"/>
                </a:solidFill>
                <a:latin typeface="Arial MT"/>
                <a:cs typeface="Arial MT"/>
              </a:rPr>
              <a:t>(V2V) </a:t>
            </a:r>
            <a:r>
              <a:rPr sz="2400" spc="90" dirty="0">
                <a:solidFill>
                  <a:srgbClr val="454C4C"/>
                </a:solidFill>
                <a:latin typeface="Arial MT"/>
                <a:cs typeface="Arial MT"/>
              </a:rPr>
              <a:t>or</a:t>
            </a:r>
            <a:r>
              <a:rPr sz="2400" spc="-35" dirty="0">
                <a:solidFill>
                  <a:srgbClr val="454C4C"/>
                </a:solidFill>
                <a:latin typeface="Arial MT"/>
                <a:cs typeface="Arial MT"/>
              </a:rPr>
              <a:t> </a:t>
            </a:r>
            <a:r>
              <a:rPr sz="2400" spc="-20" dirty="0">
                <a:solidFill>
                  <a:srgbClr val="454C4C"/>
                </a:solidFill>
                <a:latin typeface="Arial MT"/>
                <a:cs typeface="Arial MT"/>
              </a:rPr>
              <a:t>physical</a:t>
            </a:r>
            <a:r>
              <a:rPr sz="2400" spc="-30" dirty="0">
                <a:solidFill>
                  <a:srgbClr val="454C4C"/>
                </a:solidFill>
                <a:latin typeface="Arial MT"/>
                <a:cs typeface="Arial MT"/>
              </a:rPr>
              <a:t> </a:t>
            </a:r>
            <a:r>
              <a:rPr sz="2400" dirty="0">
                <a:solidFill>
                  <a:srgbClr val="454C4C"/>
                </a:solidFill>
                <a:latin typeface="Arial MT"/>
                <a:cs typeface="Arial MT"/>
              </a:rPr>
              <a:t>hosts</a:t>
            </a:r>
            <a:r>
              <a:rPr sz="2400" spc="-35" dirty="0">
                <a:solidFill>
                  <a:srgbClr val="454C4C"/>
                </a:solidFill>
                <a:latin typeface="Arial MT"/>
                <a:cs typeface="Arial MT"/>
              </a:rPr>
              <a:t> </a:t>
            </a:r>
            <a:r>
              <a:rPr sz="2400" spc="-20" dirty="0">
                <a:solidFill>
                  <a:srgbClr val="454C4C"/>
                </a:solidFill>
                <a:latin typeface="Arial MT"/>
                <a:cs typeface="Arial MT"/>
              </a:rPr>
              <a:t>(P2V)</a:t>
            </a:r>
            <a:endParaRPr sz="2400">
              <a:latin typeface="Arial MT"/>
              <a:cs typeface="Arial MT"/>
            </a:endParaRPr>
          </a:p>
          <a:p>
            <a:pPr marL="12700" marR="86995">
              <a:lnSpc>
                <a:spcPct val="102400"/>
              </a:lnSpc>
              <a:spcBef>
                <a:spcPts val="950"/>
              </a:spcBef>
            </a:pPr>
            <a:r>
              <a:rPr sz="2400" spc="-20" dirty="0">
                <a:solidFill>
                  <a:srgbClr val="454C4C"/>
                </a:solidFill>
                <a:latin typeface="Arial MT"/>
                <a:cs typeface="Arial MT"/>
              </a:rPr>
              <a:t>Backup</a:t>
            </a:r>
            <a:r>
              <a:rPr sz="2400" spc="-50" dirty="0">
                <a:solidFill>
                  <a:srgbClr val="454C4C"/>
                </a:solidFill>
                <a:latin typeface="Arial MT"/>
                <a:cs typeface="Arial MT"/>
              </a:rPr>
              <a:t> </a:t>
            </a:r>
            <a:r>
              <a:rPr sz="2400" dirty="0">
                <a:solidFill>
                  <a:srgbClr val="454C4C"/>
                </a:solidFill>
                <a:latin typeface="Arial MT"/>
                <a:cs typeface="Arial MT"/>
              </a:rPr>
              <a:t>and</a:t>
            </a:r>
            <a:r>
              <a:rPr sz="2400" spc="-45" dirty="0">
                <a:solidFill>
                  <a:srgbClr val="454C4C"/>
                </a:solidFill>
                <a:latin typeface="Arial MT"/>
                <a:cs typeface="Arial MT"/>
              </a:rPr>
              <a:t> </a:t>
            </a:r>
            <a:r>
              <a:rPr sz="2400" spc="-10" dirty="0">
                <a:solidFill>
                  <a:srgbClr val="454C4C"/>
                </a:solidFill>
                <a:latin typeface="Arial MT"/>
                <a:cs typeface="Arial MT"/>
              </a:rPr>
              <a:t>restore strategies:</a:t>
            </a:r>
            <a:r>
              <a:rPr sz="2400" spc="-90" dirty="0">
                <a:solidFill>
                  <a:srgbClr val="454C4C"/>
                </a:solidFill>
                <a:latin typeface="Arial MT"/>
                <a:cs typeface="Arial MT"/>
              </a:rPr>
              <a:t> </a:t>
            </a:r>
            <a:r>
              <a:rPr sz="2400" dirty="0">
                <a:solidFill>
                  <a:srgbClr val="454C4C"/>
                </a:solidFill>
                <a:latin typeface="Arial MT"/>
                <a:cs typeface="Arial MT"/>
              </a:rPr>
              <a:t>guest</a:t>
            </a:r>
            <a:r>
              <a:rPr sz="2400" spc="-85" dirty="0">
                <a:solidFill>
                  <a:srgbClr val="454C4C"/>
                </a:solidFill>
                <a:latin typeface="Arial MT"/>
                <a:cs typeface="Arial MT"/>
              </a:rPr>
              <a:t> </a:t>
            </a:r>
            <a:r>
              <a:rPr sz="2400" spc="-10" dirty="0">
                <a:solidFill>
                  <a:srgbClr val="454C4C"/>
                </a:solidFill>
                <a:latin typeface="Arial MT"/>
                <a:cs typeface="Arial MT"/>
              </a:rPr>
              <a:t>backups, </a:t>
            </a:r>
            <a:r>
              <a:rPr sz="2400" dirty="0">
                <a:solidFill>
                  <a:srgbClr val="454C4C"/>
                </a:solidFill>
                <a:latin typeface="Arial MT"/>
                <a:cs typeface="Arial MT"/>
              </a:rPr>
              <a:t>Proxmox</a:t>
            </a:r>
            <a:r>
              <a:rPr sz="2400" spc="-55" dirty="0">
                <a:solidFill>
                  <a:srgbClr val="454C4C"/>
                </a:solidFill>
                <a:latin typeface="Arial MT"/>
                <a:cs typeface="Arial MT"/>
              </a:rPr>
              <a:t> </a:t>
            </a:r>
            <a:r>
              <a:rPr sz="2400" spc="-20" dirty="0">
                <a:solidFill>
                  <a:srgbClr val="454C4C"/>
                </a:solidFill>
                <a:latin typeface="Arial MT"/>
                <a:cs typeface="Arial MT"/>
              </a:rPr>
              <a:t>Backup</a:t>
            </a:r>
            <a:r>
              <a:rPr sz="2400" spc="-50" dirty="0">
                <a:solidFill>
                  <a:srgbClr val="454C4C"/>
                </a:solidFill>
                <a:latin typeface="Arial MT"/>
                <a:cs typeface="Arial MT"/>
              </a:rPr>
              <a:t> </a:t>
            </a:r>
            <a:r>
              <a:rPr sz="2400" spc="-10" dirty="0">
                <a:solidFill>
                  <a:srgbClr val="454C4C"/>
                </a:solidFill>
                <a:latin typeface="Arial MT"/>
                <a:cs typeface="Arial MT"/>
              </a:rPr>
              <a:t>Server, </a:t>
            </a:r>
            <a:r>
              <a:rPr sz="2400" spc="55" dirty="0">
                <a:solidFill>
                  <a:srgbClr val="454C4C"/>
                </a:solidFill>
                <a:latin typeface="Arial MT"/>
                <a:cs typeface="Arial MT"/>
              </a:rPr>
              <a:t>retention</a:t>
            </a:r>
            <a:r>
              <a:rPr sz="2400" spc="-65" dirty="0">
                <a:solidFill>
                  <a:srgbClr val="454C4C"/>
                </a:solidFill>
                <a:latin typeface="Arial MT"/>
                <a:cs typeface="Arial MT"/>
              </a:rPr>
              <a:t> </a:t>
            </a:r>
            <a:r>
              <a:rPr sz="2400" dirty="0">
                <a:solidFill>
                  <a:srgbClr val="454C4C"/>
                </a:solidFill>
                <a:latin typeface="Arial MT"/>
                <a:cs typeface="Arial MT"/>
              </a:rPr>
              <a:t>management,</a:t>
            </a:r>
            <a:r>
              <a:rPr sz="2400" spc="-60" dirty="0">
                <a:solidFill>
                  <a:srgbClr val="454C4C"/>
                </a:solidFill>
                <a:latin typeface="Arial MT"/>
                <a:cs typeface="Arial MT"/>
              </a:rPr>
              <a:t> </a:t>
            </a:r>
            <a:r>
              <a:rPr sz="2400" spc="-25" dirty="0">
                <a:solidFill>
                  <a:srgbClr val="454C4C"/>
                </a:solidFill>
                <a:latin typeface="Arial MT"/>
                <a:cs typeface="Arial MT"/>
              </a:rPr>
              <a:t>and </a:t>
            </a:r>
            <a:r>
              <a:rPr sz="2400" dirty="0">
                <a:solidFill>
                  <a:srgbClr val="454C4C"/>
                </a:solidFill>
                <a:latin typeface="Arial MT"/>
                <a:cs typeface="Arial MT"/>
              </a:rPr>
              <a:t>restore</a:t>
            </a:r>
            <a:r>
              <a:rPr sz="2400" spc="215" dirty="0">
                <a:solidFill>
                  <a:srgbClr val="454C4C"/>
                </a:solidFill>
                <a:latin typeface="Arial MT"/>
                <a:cs typeface="Arial MT"/>
              </a:rPr>
              <a:t> </a:t>
            </a:r>
            <a:r>
              <a:rPr sz="2400" spc="-10" dirty="0">
                <a:solidFill>
                  <a:srgbClr val="454C4C"/>
                </a:solidFill>
                <a:latin typeface="Arial MT"/>
                <a:cs typeface="Arial MT"/>
              </a:rPr>
              <a:t>possibilities.</a:t>
            </a:r>
            <a:endParaRPr sz="2400">
              <a:latin typeface="Arial MT"/>
              <a:cs typeface="Arial MT"/>
            </a:endParaRPr>
          </a:p>
        </p:txBody>
      </p:sp>
      <p:sp>
        <p:nvSpPr>
          <p:cNvPr id="5" name="object 5"/>
          <p:cNvSpPr txBox="1"/>
          <p:nvPr/>
        </p:nvSpPr>
        <p:spPr>
          <a:xfrm>
            <a:off x="598944" y="261891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6" name="object 6"/>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7" name="object 7"/>
          <p:cNvSpPr txBox="1"/>
          <p:nvPr/>
        </p:nvSpPr>
        <p:spPr>
          <a:xfrm>
            <a:off x="5571616" y="1284522"/>
            <a:ext cx="3567429" cy="2375535"/>
          </a:xfrm>
          <a:prstGeom prst="rect">
            <a:avLst/>
          </a:prstGeom>
        </p:spPr>
        <p:txBody>
          <a:bodyPr vert="horz" wrap="square" lIns="0" tIns="12700" rIns="0" bIns="0" rtlCol="0">
            <a:spAutoFit/>
          </a:bodyPr>
          <a:lstStyle/>
          <a:p>
            <a:pPr marL="12700" marR="946785">
              <a:lnSpc>
                <a:spcPct val="113799"/>
              </a:lnSpc>
              <a:spcBef>
                <a:spcPts val="100"/>
              </a:spcBef>
            </a:pPr>
            <a:r>
              <a:rPr sz="2400" dirty="0">
                <a:solidFill>
                  <a:srgbClr val="454C4C"/>
                </a:solidFill>
                <a:latin typeface="Arial MT"/>
                <a:cs typeface="Arial MT"/>
              </a:rPr>
              <a:t>Authentication</a:t>
            </a:r>
            <a:r>
              <a:rPr sz="2400" spc="340" dirty="0">
                <a:solidFill>
                  <a:srgbClr val="454C4C"/>
                </a:solidFill>
                <a:latin typeface="Arial MT"/>
                <a:cs typeface="Arial MT"/>
              </a:rPr>
              <a:t> </a:t>
            </a:r>
            <a:r>
              <a:rPr sz="2400" spc="-25" dirty="0">
                <a:solidFill>
                  <a:srgbClr val="454C4C"/>
                </a:solidFill>
                <a:latin typeface="Arial MT"/>
                <a:cs typeface="Arial MT"/>
              </a:rPr>
              <a:t>and </a:t>
            </a:r>
            <a:r>
              <a:rPr sz="2400" spc="-10" dirty="0">
                <a:solidFill>
                  <a:srgbClr val="454C4C"/>
                </a:solidFill>
                <a:latin typeface="Arial MT"/>
                <a:cs typeface="Arial MT"/>
              </a:rPr>
              <a:t>permissions</a:t>
            </a:r>
            <a:endParaRPr sz="2400">
              <a:latin typeface="Arial MT"/>
              <a:cs typeface="Arial MT"/>
            </a:endParaRPr>
          </a:p>
          <a:p>
            <a:pPr marL="12700">
              <a:lnSpc>
                <a:spcPct val="100000"/>
              </a:lnSpc>
              <a:spcBef>
                <a:spcPts val="1455"/>
              </a:spcBef>
            </a:pPr>
            <a:r>
              <a:rPr sz="2400" dirty="0">
                <a:solidFill>
                  <a:srgbClr val="454C4C"/>
                </a:solidFill>
                <a:latin typeface="Arial MT"/>
                <a:cs typeface="Arial MT"/>
              </a:rPr>
              <a:t>Integrated</a:t>
            </a:r>
            <a:r>
              <a:rPr sz="2400" spc="225" dirty="0">
                <a:solidFill>
                  <a:srgbClr val="454C4C"/>
                </a:solidFill>
                <a:latin typeface="Arial MT"/>
                <a:cs typeface="Arial MT"/>
              </a:rPr>
              <a:t> </a:t>
            </a:r>
            <a:r>
              <a:rPr sz="2400" spc="-10" dirty="0">
                <a:solidFill>
                  <a:srgbClr val="454C4C"/>
                </a:solidFill>
                <a:latin typeface="Arial MT"/>
                <a:cs typeface="Arial MT"/>
              </a:rPr>
              <a:t>Firewall</a:t>
            </a:r>
            <a:endParaRPr sz="2400">
              <a:latin typeface="Arial MT"/>
              <a:cs typeface="Arial MT"/>
            </a:endParaRPr>
          </a:p>
          <a:p>
            <a:pPr marL="12700" marR="5080">
              <a:lnSpc>
                <a:spcPct val="113799"/>
              </a:lnSpc>
              <a:spcBef>
                <a:spcPts val="1060"/>
              </a:spcBef>
            </a:pPr>
            <a:r>
              <a:rPr sz="2400" dirty="0">
                <a:solidFill>
                  <a:srgbClr val="454C4C"/>
                </a:solidFill>
                <a:latin typeface="Arial MT"/>
                <a:cs typeface="Arial MT"/>
              </a:rPr>
              <a:t>Troubleshooting</a:t>
            </a:r>
            <a:r>
              <a:rPr sz="2400" spc="270" dirty="0">
                <a:solidFill>
                  <a:srgbClr val="454C4C"/>
                </a:solidFill>
                <a:latin typeface="Arial MT"/>
                <a:cs typeface="Arial MT"/>
              </a:rPr>
              <a:t> </a:t>
            </a:r>
            <a:r>
              <a:rPr sz="2400" spc="45" dirty="0">
                <a:solidFill>
                  <a:srgbClr val="454C4C"/>
                </a:solidFill>
                <a:latin typeface="Arial MT"/>
                <a:cs typeface="Arial MT"/>
              </a:rPr>
              <a:t>common </a:t>
            </a:r>
            <a:r>
              <a:rPr sz="2400" spc="-10" dirty="0">
                <a:solidFill>
                  <a:srgbClr val="454C4C"/>
                </a:solidFill>
                <a:latin typeface="Arial MT"/>
                <a:cs typeface="Arial MT"/>
              </a:rPr>
              <a:t>issues</a:t>
            </a:r>
            <a:endParaRPr sz="2400">
              <a:latin typeface="Arial MT"/>
              <a:cs typeface="Arial MT"/>
            </a:endParaRPr>
          </a:p>
        </p:txBody>
      </p:sp>
      <p:sp>
        <p:nvSpPr>
          <p:cNvPr id="8" name="object 8"/>
          <p:cNvSpPr txBox="1"/>
          <p:nvPr/>
        </p:nvSpPr>
        <p:spPr>
          <a:xfrm>
            <a:off x="5247614" y="2383468"/>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9" name="object 9"/>
          <p:cNvSpPr txBox="1"/>
          <p:nvPr/>
        </p:nvSpPr>
        <p:spPr>
          <a:xfrm>
            <a:off x="5247614" y="2934267"/>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Agenda</a:t>
            </a:r>
            <a:r>
              <a:rPr spc="-285" dirty="0"/>
              <a:t> </a:t>
            </a:r>
            <a:r>
              <a:rPr spc="-295" dirty="0"/>
              <a:t>—</a:t>
            </a:r>
            <a:r>
              <a:rPr spc="-285" dirty="0"/>
              <a:t> </a:t>
            </a:r>
            <a:r>
              <a:rPr dirty="0"/>
              <a:t>Clustering</a:t>
            </a:r>
            <a:r>
              <a:rPr spc="-285" dirty="0"/>
              <a:t> </a:t>
            </a:r>
            <a:r>
              <a:rPr spc="-25" dirty="0"/>
              <a:t>and</a:t>
            </a:r>
            <a:r>
              <a:rPr spc="-285" dirty="0"/>
              <a:t> </a:t>
            </a:r>
            <a:r>
              <a:rPr spc="-25" dirty="0"/>
              <a:t>Shared</a:t>
            </a:r>
            <a:r>
              <a:rPr spc="-285" dirty="0"/>
              <a:t> </a:t>
            </a:r>
            <a:r>
              <a:rPr spc="-10" dirty="0"/>
              <a:t>Storage</a:t>
            </a:r>
          </a:p>
        </p:txBody>
      </p:sp>
      <p:sp>
        <p:nvSpPr>
          <p:cNvPr id="10" name="object 1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1" name="object 11"/>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6</a:t>
            </a:fld>
            <a:r>
              <a:rPr spc="-10" dirty="0"/>
              <a:t>/60</a:t>
            </a:r>
          </a:p>
        </p:txBody>
      </p:sp>
      <p:sp>
        <p:nvSpPr>
          <p:cNvPr id="3" name="object 3"/>
          <p:cNvSpPr txBox="1"/>
          <p:nvPr/>
        </p:nvSpPr>
        <p:spPr>
          <a:xfrm>
            <a:off x="598944" y="1372955"/>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4" name="object 4"/>
          <p:cNvSpPr txBox="1"/>
          <p:nvPr/>
        </p:nvSpPr>
        <p:spPr>
          <a:xfrm>
            <a:off x="922934" y="1332988"/>
            <a:ext cx="3775710" cy="2661285"/>
          </a:xfrm>
          <a:prstGeom prst="rect">
            <a:avLst/>
          </a:prstGeom>
        </p:spPr>
        <p:txBody>
          <a:bodyPr vert="horz" wrap="square" lIns="0" tIns="4445" rIns="0" bIns="0" rtlCol="0">
            <a:spAutoFit/>
          </a:bodyPr>
          <a:lstStyle/>
          <a:p>
            <a:pPr marL="12700" marR="19685">
              <a:lnSpc>
                <a:spcPct val="102299"/>
              </a:lnSpc>
              <a:spcBef>
                <a:spcPts val="35"/>
              </a:spcBef>
            </a:pPr>
            <a:r>
              <a:rPr sz="2200" dirty="0">
                <a:solidFill>
                  <a:srgbClr val="454C4C"/>
                </a:solidFill>
                <a:latin typeface="Arial MT"/>
                <a:cs typeface="Arial MT"/>
              </a:rPr>
              <a:t>Architecture</a:t>
            </a:r>
            <a:r>
              <a:rPr sz="2200" spc="100" dirty="0">
                <a:solidFill>
                  <a:srgbClr val="454C4C"/>
                </a:solidFill>
                <a:latin typeface="Arial MT"/>
                <a:cs typeface="Arial MT"/>
              </a:rPr>
              <a:t> </a:t>
            </a:r>
            <a:r>
              <a:rPr sz="2200" dirty="0">
                <a:solidFill>
                  <a:srgbClr val="454C4C"/>
                </a:solidFill>
                <a:latin typeface="Arial MT"/>
                <a:cs typeface="Arial MT"/>
              </a:rPr>
              <a:t>and</a:t>
            </a:r>
            <a:r>
              <a:rPr sz="2200" spc="105" dirty="0">
                <a:solidFill>
                  <a:srgbClr val="454C4C"/>
                </a:solidFill>
                <a:latin typeface="Arial MT"/>
                <a:cs typeface="Arial MT"/>
              </a:rPr>
              <a:t> </a:t>
            </a:r>
            <a:r>
              <a:rPr sz="2200" spc="-10" dirty="0">
                <a:solidFill>
                  <a:srgbClr val="454C4C"/>
                </a:solidFill>
                <a:latin typeface="Arial MT"/>
                <a:cs typeface="Arial MT"/>
              </a:rPr>
              <a:t>components </a:t>
            </a:r>
            <a:r>
              <a:rPr sz="2200" dirty="0">
                <a:solidFill>
                  <a:srgbClr val="454C4C"/>
                </a:solidFill>
                <a:latin typeface="Arial MT"/>
                <a:cs typeface="Arial MT"/>
              </a:rPr>
              <a:t>of</a:t>
            </a:r>
            <a:r>
              <a:rPr sz="2200" spc="-10" dirty="0">
                <a:solidFill>
                  <a:srgbClr val="454C4C"/>
                </a:solidFill>
                <a:latin typeface="Arial MT"/>
                <a:cs typeface="Arial MT"/>
              </a:rPr>
              <a:t> </a:t>
            </a:r>
            <a:r>
              <a:rPr sz="2200" dirty="0">
                <a:solidFill>
                  <a:srgbClr val="454C4C"/>
                </a:solidFill>
                <a:latin typeface="Arial MT"/>
                <a:cs typeface="Arial MT"/>
              </a:rPr>
              <a:t>a</a:t>
            </a:r>
            <a:r>
              <a:rPr sz="2200" spc="-15" dirty="0">
                <a:solidFill>
                  <a:srgbClr val="454C4C"/>
                </a:solidFill>
                <a:latin typeface="Arial MT"/>
                <a:cs typeface="Arial MT"/>
              </a:rPr>
              <a:t> </a:t>
            </a:r>
            <a:r>
              <a:rPr sz="2200" dirty="0">
                <a:solidFill>
                  <a:srgbClr val="454C4C"/>
                </a:solidFill>
                <a:latin typeface="Arial MT"/>
                <a:cs typeface="Arial MT"/>
              </a:rPr>
              <a:t>Proxmox</a:t>
            </a:r>
            <a:r>
              <a:rPr sz="2200" spc="-5" dirty="0">
                <a:solidFill>
                  <a:srgbClr val="454C4C"/>
                </a:solidFill>
                <a:latin typeface="Arial MT"/>
                <a:cs typeface="Arial MT"/>
              </a:rPr>
              <a:t> </a:t>
            </a:r>
            <a:r>
              <a:rPr sz="2200" spc="-235" dirty="0">
                <a:solidFill>
                  <a:srgbClr val="454C4C"/>
                </a:solidFill>
                <a:latin typeface="Arial MT"/>
                <a:cs typeface="Arial MT"/>
              </a:rPr>
              <a:t>VE</a:t>
            </a:r>
            <a:r>
              <a:rPr sz="2200" spc="-10" dirty="0">
                <a:solidFill>
                  <a:srgbClr val="454C4C"/>
                </a:solidFill>
                <a:latin typeface="Arial MT"/>
                <a:cs typeface="Arial MT"/>
              </a:rPr>
              <a:t> cluster</a:t>
            </a:r>
            <a:endParaRPr sz="2200">
              <a:latin typeface="Arial MT"/>
              <a:cs typeface="Arial MT"/>
            </a:endParaRPr>
          </a:p>
          <a:p>
            <a:pPr marL="12700" marR="207010">
              <a:lnSpc>
                <a:spcPct val="102299"/>
              </a:lnSpc>
              <a:spcBef>
                <a:spcPts val="955"/>
              </a:spcBef>
            </a:pPr>
            <a:r>
              <a:rPr sz="2200" dirty="0">
                <a:solidFill>
                  <a:srgbClr val="454C4C"/>
                </a:solidFill>
                <a:latin typeface="Arial MT"/>
                <a:cs typeface="Arial MT"/>
              </a:rPr>
              <a:t>Proxmox</a:t>
            </a:r>
            <a:r>
              <a:rPr sz="2200" spc="-40" dirty="0">
                <a:solidFill>
                  <a:srgbClr val="454C4C"/>
                </a:solidFill>
                <a:latin typeface="Arial MT"/>
                <a:cs typeface="Arial MT"/>
              </a:rPr>
              <a:t> </a:t>
            </a:r>
            <a:r>
              <a:rPr sz="2200" dirty="0">
                <a:solidFill>
                  <a:srgbClr val="454C4C"/>
                </a:solidFill>
                <a:latin typeface="Arial MT"/>
                <a:cs typeface="Arial MT"/>
              </a:rPr>
              <a:t>Cluster</a:t>
            </a:r>
            <a:r>
              <a:rPr sz="2200" spc="-40" dirty="0">
                <a:solidFill>
                  <a:srgbClr val="454C4C"/>
                </a:solidFill>
                <a:latin typeface="Arial MT"/>
                <a:cs typeface="Arial MT"/>
              </a:rPr>
              <a:t> </a:t>
            </a:r>
            <a:r>
              <a:rPr sz="2200" spc="-60" dirty="0">
                <a:solidFill>
                  <a:srgbClr val="454C4C"/>
                </a:solidFill>
                <a:latin typeface="Arial MT"/>
                <a:cs typeface="Arial MT"/>
              </a:rPr>
              <a:t>File</a:t>
            </a:r>
            <a:r>
              <a:rPr sz="2200" spc="-35" dirty="0">
                <a:solidFill>
                  <a:srgbClr val="454C4C"/>
                </a:solidFill>
                <a:latin typeface="Arial MT"/>
                <a:cs typeface="Arial MT"/>
              </a:rPr>
              <a:t> </a:t>
            </a:r>
            <a:r>
              <a:rPr sz="2200" spc="-30" dirty="0">
                <a:solidFill>
                  <a:srgbClr val="454C4C"/>
                </a:solidFill>
                <a:latin typeface="Arial MT"/>
                <a:cs typeface="Arial MT"/>
              </a:rPr>
              <a:t>System </a:t>
            </a:r>
            <a:r>
              <a:rPr sz="2200" spc="-25" dirty="0">
                <a:solidFill>
                  <a:srgbClr val="454C4C"/>
                </a:solidFill>
                <a:latin typeface="Arial MT"/>
                <a:cs typeface="Arial MT"/>
              </a:rPr>
              <a:t>(pmxcfs) </a:t>
            </a:r>
            <a:r>
              <a:rPr sz="2200" dirty="0">
                <a:solidFill>
                  <a:srgbClr val="454C4C"/>
                </a:solidFill>
                <a:latin typeface="Arial MT"/>
                <a:cs typeface="Arial MT"/>
              </a:rPr>
              <a:t>and</a:t>
            </a:r>
            <a:r>
              <a:rPr sz="2200" spc="-25" dirty="0">
                <a:solidFill>
                  <a:srgbClr val="454C4C"/>
                </a:solidFill>
                <a:latin typeface="Arial MT"/>
                <a:cs typeface="Arial MT"/>
              </a:rPr>
              <a:t> </a:t>
            </a:r>
            <a:r>
              <a:rPr sz="2200" spc="-10" dirty="0">
                <a:solidFill>
                  <a:srgbClr val="454C4C"/>
                </a:solidFill>
                <a:latin typeface="Arial MT"/>
                <a:cs typeface="Arial MT"/>
              </a:rPr>
              <a:t>Corosync</a:t>
            </a:r>
            <a:endParaRPr sz="2200">
              <a:latin typeface="Arial MT"/>
              <a:cs typeface="Arial MT"/>
            </a:endParaRPr>
          </a:p>
          <a:p>
            <a:pPr marL="12700" marR="5080">
              <a:lnSpc>
                <a:spcPct val="102299"/>
              </a:lnSpc>
              <a:spcBef>
                <a:spcPts val="955"/>
              </a:spcBef>
            </a:pPr>
            <a:r>
              <a:rPr sz="2200" dirty="0">
                <a:solidFill>
                  <a:srgbClr val="454C4C"/>
                </a:solidFill>
                <a:latin typeface="Arial MT"/>
                <a:cs typeface="Arial MT"/>
              </a:rPr>
              <a:t>Cluster</a:t>
            </a:r>
            <a:r>
              <a:rPr sz="2200" spc="55" dirty="0">
                <a:solidFill>
                  <a:srgbClr val="454C4C"/>
                </a:solidFill>
                <a:latin typeface="Arial MT"/>
                <a:cs typeface="Arial MT"/>
              </a:rPr>
              <a:t> </a:t>
            </a:r>
            <a:r>
              <a:rPr sz="2200" dirty="0">
                <a:solidFill>
                  <a:srgbClr val="454C4C"/>
                </a:solidFill>
                <a:latin typeface="Arial MT"/>
                <a:cs typeface="Arial MT"/>
              </a:rPr>
              <a:t>networking</a:t>
            </a:r>
            <a:r>
              <a:rPr sz="2200" spc="55" dirty="0">
                <a:solidFill>
                  <a:srgbClr val="454C4C"/>
                </a:solidFill>
                <a:latin typeface="Arial MT"/>
                <a:cs typeface="Arial MT"/>
              </a:rPr>
              <a:t> </a:t>
            </a:r>
            <a:r>
              <a:rPr sz="2200" spc="-25" dirty="0">
                <a:solidFill>
                  <a:srgbClr val="454C4C"/>
                </a:solidFill>
                <a:latin typeface="Arial MT"/>
                <a:cs typeface="Arial MT"/>
              </a:rPr>
              <a:t>and </a:t>
            </a:r>
            <a:r>
              <a:rPr sz="2200" dirty="0">
                <a:solidFill>
                  <a:srgbClr val="454C4C"/>
                </a:solidFill>
                <a:latin typeface="Arial MT"/>
                <a:cs typeface="Arial MT"/>
              </a:rPr>
              <a:t>redundancy,</a:t>
            </a:r>
            <a:r>
              <a:rPr sz="2200" spc="165" dirty="0">
                <a:solidFill>
                  <a:srgbClr val="454C4C"/>
                </a:solidFill>
                <a:latin typeface="Arial MT"/>
                <a:cs typeface="Arial MT"/>
              </a:rPr>
              <a:t> </a:t>
            </a:r>
            <a:r>
              <a:rPr sz="2200" dirty="0">
                <a:solidFill>
                  <a:srgbClr val="454C4C"/>
                </a:solidFill>
                <a:latin typeface="Arial MT"/>
                <a:cs typeface="Arial MT"/>
              </a:rPr>
              <a:t>software-</a:t>
            </a:r>
            <a:r>
              <a:rPr sz="2200" spc="-10" dirty="0">
                <a:solidFill>
                  <a:srgbClr val="454C4C"/>
                </a:solidFill>
                <a:latin typeface="Arial MT"/>
                <a:cs typeface="Arial MT"/>
              </a:rPr>
              <a:t>defined </a:t>
            </a:r>
            <a:r>
              <a:rPr sz="2200" dirty="0">
                <a:solidFill>
                  <a:srgbClr val="454C4C"/>
                </a:solidFill>
                <a:latin typeface="Arial MT"/>
                <a:cs typeface="Arial MT"/>
              </a:rPr>
              <a:t>networking</a:t>
            </a:r>
            <a:r>
              <a:rPr sz="2200" spc="70" dirty="0">
                <a:solidFill>
                  <a:srgbClr val="454C4C"/>
                </a:solidFill>
                <a:latin typeface="Arial MT"/>
                <a:cs typeface="Arial MT"/>
              </a:rPr>
              <a:t> </a:t>
            </a:r>
            <a:r>
              <a:rPr sz="2200" spc="-140" dirty="0">
                <a:solidFill>
                  <a:srgbClr val="454C4C"/>
                </a:solidFill>
                <a:latin typeface="Arial MT"/>
                <a:cs typeface="Arial MT"/>
              </a:rPr>
              <a:t>(SDN),</a:t>
            </a:r>
            <a:r>
              <a:rPr sz="2200" spc="75" dirty="0">
                <a:solidFill>
                  <a:srgbClr val="454C4C"/>
                </a:solidFill>
                <a:latin typeface="Arial MT"/>
                <a:cs typeface="Arial MT"/>
              </a:rPr>
              <a:t> </a:t>
            </a:r>
            <a:r>
              <a:rPr sz="2200" dirty="0">
                <a:solidFill>
                  <a:srgbClr val="454C4C"/>
                </a:solidFill>
                <a:latin typeface="Arial MT"/>
                <a:cs typeface="Arial MT"/>
              </a:rPr>
              <a:t>and</a:t>
            </a:r>
            <a:r>
              <a:rPr sz="2200" spc="75" dirty="0">
                <a:solidFill>
                  <a:srgbClr val="454C4C"/>
                </a:solidFill>
                <a:latin typeface="Arial MT"/>
                <a:cs typeface="Arial MT"/>
              </a:rPr>
              <a:t> </a:t>
            </a:r>
            <a:r>
              <a:rPr sz="2200" spc="-10" dirty="0">
                <a:solidFill>
                  <a:srgbClr val="454C4C"/>
                </a:solidFill>
                <a:latin typeface="Arial MT"/>
                <a:cs typeface="Arial MT"/>
              </a:rPr>
              <a:t>VLANs</a:t>
            </a:r>
            <a:endParaRPr sz="2200">
              <a:latin typeface="Arial MT"/>
              <a:cs typeface="Arial MT"/>
            </a:endParaRPr>
          </a:p>
        </p:txBody>
      </p:sp>
      <p:sp>
        <p:nvSpPr>
          <p:cNvPr id="5" name="object 5"/>
          <p:cNvSpPr txBox="1"/>
          <p:nvPr/>
        </p:nvSpPr>
        <p:spPr>
          <a:xfrm>
            <a:off x="598944" y="2180078"/>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6" name="object 6"/>
          <p:cNvSpPr txBox="1"/>
          <p:nvPr/>
        </p:nvSpPr>
        <p:spPr>
          <a:xfrm>
            <a:off x="598944" y="2987188"/>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7" name="object 7"/>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8" name="object 8"/>
          <p:cNvSpPr txBox="1"/>
          <p:nvPr/>
        </p:nvSpPr>
        <p:spPr>
          <a:xfrm>
            <a:off x="5571616" y="1149889"/>
            <a:ext cx="3463925" cy="1959610"/>
          </a:xfrm>
          <a:prstGeom prst="rect">
            <a:avLst/>
          </a:prstGeom>
        </p:spPr>
        <p:txBody>
          <a:bodyPr vert="horz" wrap="square" lIns="0" tIns="197485" rIns="0" bIns="0" rtlCol="0">
            <a:spAutoFit/>
          </a:bodyPr>
          <a:lstStyle/>
          <a:p>
            <a:pPr marL="12700">
              <a:lnSpc>
                <a:spcPct val="100000"/>
              </a:lnSpc>
              <a:spcBef>
                <a:spcPts val="1555"/>
              </a:spcBef>
            </a:pPr>
            <a:r>
              <a:rPr sz="2400" spc="-10" dirty="0">
                <a:solidFill>
                  <a:srgbClr val="454C4C"/>
                </a:solidFill>
                <a:latin typeface="Arial MT"/>
                <a:cs typeface="Arial MT"/>
              </a:rPr>
              <a:t>Shared</a:t>
            </a:r>
            <a:r>
              <a:rPr sz="2400" spc="-80" dirty="0">
                <a:solidFill>
                  <a:srgbClr val="454C4C"/>
                </a:solidFill>
                <a:latin typeface="Arial MT"/>
                <a:cs typeface="Arial MT"/>
              </a:rPr>
              <a:t> </a:t>
            </a:r>
            <a:r>
              <a:rPr sz="2400" dirty="0">
                <a:solidFill>
                  <a:srgbClr val="454C4C"/>
                </a:solidFill>
                <a:latin typeface="Arial MT"/>
                <a:cs typeface="Arial MT"/>
              </a:rPr>
              <a:t>storage</a:t>
            </a:r>
            <a:r>
              <a:rPr sz="2400" spc="-80" dirty="0">
                <a:solidFill>
                  <a:srgbClr val="454C4C"/>
                </a:solidFill>
                <a:latin typeface="Arial MT"/>
                <a:cs typeface="Arial MT"/>
              </a:rPr>
              <a:t> </a:t>
            </a:r>
            <a:r>
              <a:rPr sz="2400" spc="-10" dirty="0">
                <a:solidFill>
                  <a:srgbClr val="454C4C"/>
                </a:solidFill>
                <a:latin typeface="Arial MT"/>
                <a:cs typeface="Arial MT"/>
              </a:rPr>
              <a:t>options</a:t>
            </a:r>
            <a:endParaRPr sz="2400">
              <a:latin typeface="Arial MT"/>
              <a:cs typeface="Arial MT"/>
            </a:endParaRPr>
          </a:p>
          <a:p>
            <a:pPr marL="12700" marR="5080">
              <a:lnSpc>
                <a:spcPct val="113799"/>
              </a:lnSpc>
              <a:spcBef>
                <a:spcPts val="1060"/>
              </a:spcBef>
            </a:pPr>
            <a:r>
              <a:rPr sz="2400" dirty="0">
                <a:solidFill>
                  <a:srgbClr val="454C4C"/>
                </a:solidFill>
                <a:latin typeface="Arial MT"/>
                <a:cs typeface="Arial MT"/>
              </a:rPr>
              <a:t>Deploying</a:t>
            </a:r>
            <a:r>
              <a:rPr sz="2400" spc="-140" dirty="0">
                <a:solidFill>
                  <a:srgbClr val="454C4C"/>
                </a:solidFill>
                <a:latin typeface="Arial MT"/>
                <a:cs typeface="Arial MT"/>
              </a:rPr>
              <a:t> </a:t>
            </a:r>
            <a:r>
              <a:rPr sz="2400" spc="-25" dirty="0">
                <a:solidFill>
                  <a:srgbClr val="454C4C"/>
                </a:solidFill>
                <a:latin typeface="Arial MT"/>
                <a:cs typeface="Arial MT"/>
              </a:rPr>
              <a:t>Ceph:</a:t>
            </a:r>
            <a:r>
              <a:rPr sz="2400" spc="-140" dirty="0">
                <a:solidFill>
                  <a:srgbClr val="454C4C"/>
                </a:solidFill>
                <a:latin typeface="Arial MT"/>
                <a:cs typeface="Arial MT"/>
              </a:rPr>
              <a:t> </a:t>
            </a:r>
            <a:r>
              <a:rPr sz="2400" spc="-10" dirty="0">
                <a:solidFill>
                  <a:srgbClr val="454C4C"/>
                </a:solidFill>
                <a:latin typeface="Arial MT"/>
                <a:cs typeface="Arial MT"/>
              </a:rPr>
              <a:t>hyper- </a:t>
            </a:r>
            <a:r>
              <a:rPr sz="2400" dirty="0">
                <a:solidFill>
                  <a:srgbClr val="454C4C"/>
                </a:solidFill>
                <a:latin typeface="Arial MT"/>
                <a:cs typeface="Arial MT"/>
              </a:rPr>
              <a:t>converged</a:t>
            </a:r>
            <a:r>
              <a:rPr sz="2400" spc="-90" dirty="0">
                <a:solidFill>
                  <a:srgbClr val="454C4C"/>
                </a:solidFill>
                <a:latin typeface="Arial MT"/>
                <a:cs typeface="Arial MT"/>
              </a:rPr>
              <a:t> </a:t>
            </a:r>
            <a:r>
              <a:rPr sz="2400" spc="-10" dirty="0">
                <a:solidFill>
                  <a:srgbClr val="454C4C"/>
                </a:solidFill>
                <a:latin typeface="Arial MT"/>
                <a:cs typeface="Arial MT"/>
              </a:rPr>
              <a:t>infrastructure </a:t>
            </a:r>
            <a:r>
              <a:rPr sz="2400" spc="-140" dirty="0">
                <a:solidFill>
                  <a:srgbClr val="454C4C"/>
                </a:solidFill>
                <a:latin typeface="Arial MT"/>
                <a:cs typeface="Arial MT"/>
              </a:rPr>
              <a:t>(HCI),</a:t>
            </a:r>
            <a:r>
              <a:rPr sz="2400" spc="-50" dirty="0">
                <a:solidFill>
                  <a:srgbClr val="454C4C"/>
                </a:solidFill>
                <a:latin typeface="Arial MT"/>
                <a:cs typeface="Arial MT"/>
              </a:rPr>
              <a:t> </a:t>
            </a:r>
            <a:r>
              <a:rPr sz="2400" spc="-10" dirty="0">
                <a:solidFill>
                  <a:srgbClr val="454C4C"/>
                </a:solidFill>
                <a:latin typeface="Arial MT"/>
                <a:cs typeface="Arial MT"/>
              </a:rPr>
              <a:t>Ceph</a:t>
            </a:r>
            <a:r>
              <a:rPr sz="2400" spc="-135" dirty="0">
                <a:solidFill>
                  <a:srgbClr val="454C4C"/>
                </a:solidFill>
                <a:latin typeface="Arial MT"/>
                <a:cs typeface="Arial MT"/>
              </a:rPr>
              <a:t> </a:t>
            </a:r>
            <a:r>
              <a:rPr sz="2400" spc="-170" dirty="0">
                <a:solidFill>
                  <a:srgbClr val="454C4C"/>
                </a:solidFill>
                <a:latin typeface="Arial MT"/>
                <a:cs typeface="Arial MT"/>
              </a:rPr>
              <a:t>RBD,</a:t>
            </a:r>
            <a:r>
              <a:rPr sz="2400" spc="-50" dirty="0">
                <a:solidFill>
                  <a:srgbClr val="454C4C"/>
                </a:solidFill>
                <a:latin typeface="Arial MT"/>
                <a:cs typeface="Arial MT"/>
              </a:rPr>
              <a:t> </a:t>
            </a:r>
            <a:r>
              <a:rPr sz="2400" spc="-10" dirty="0">
                <a:solidFill>
                  <a:srgbClr val="454C4C"/>
                </a:solidFill>
                <a:latin typeface="Arial MT"/>
                <a:cs typeface="Arial MT"/>
              </a:rPr>
              <a:t>Ceph</a:t>
            </a:r>
            <a:r>
              <a:rPr sz="2400" spc="-75" dirty="0">
                <a:solidFill>
                  <a:srgbClr val="454C4C"/>
                </a:solidFill>
                <a:latin typeface="Arial MT"/>
                <a:cs typeface="Arial MT"/>
              </a:rPr>
              <a:t> </a:t>
            </a:r>
            <a:r>
              <a:rPr sz="2400" spc="-310" dirty="0">
                <a:solidFill>
                  <a:srgbClr val="454C4C"/>
                </a:solidFill>
                <a:latin typeface="Arial MT"/>
                <a:cs typeface="Arial MT"/>
              </a:rPr>
              <a:t>FS</a:t>
            </a:r>
            <a:endParaRPr sz="2400">
              <a:latin typeface="Arial MT"/>
              <a:cs typeface="Arial MT"/>
            </a:endParaRPr>
          </a:p>
        </p:txBody>
      </p:sp>
      <p:sp>
        <p:nvSpPr>
          <p:cNvPr id="9" name="object 9"/>
          <p:cNvSpPr txBox="1"/>
          <p:nvPr/>
        </p:nvSpPr>
        <p:spPr>
          <a:xfrm>
            <a:off x="524761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Agenda</a:t>
            </a:r>
            <a:r>
              <a:rPr spc="-285" dirty="0"/>
              <a:t> </a:t>
            </a:r>
            <a:r>
              <a:rPr spc="-295" dirty="0"/>
              <a:t>—</a:t>
            </a:r>
            <a:r>
              <a:rPr spc="-285" dirty="0"/>
              <a:t> </a:t>
            </a:r>
            <a:r>
              <a:rPr dirty="0"/>
              <a:t>Clustering</a:t>
            </a:r>
            <a:r>
              <a:rPr spc="-285" dirty="0"/>
              <a:t> </a:t>
            </a:r>
            <a:r>
              <a:rPr spc="-25" dirty="0"/>
              <a:t>and</a:t>
            </a:r>
            <a:r>
              <a:rPr spc="-285" dirty="0"/>
              <a:t> </a:t>
            </a:r>
            <a:r>
              <a:rPr spc="-25" dirty="0"/>
              <a:t>Shared</a:t>
            </a:r>
            <a:r>
              <a:rPr spc="-285" dirty="0"/>
              <a:t> </a:t>
            </a:r>
            <a:r>
              <a:rPr spc="-10" dirty="0"/>
              <a:t>Storage</a:t>
            </a:r>
          </a:p>
        </p:txBody>
      </p:sp>
      <p:sp>
        <p:nvSpPr>
          <p:cNvPr id="12" name="object 12"/>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3" name="object 13"/>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7</a:t>
            </a:fld>
            <a:r>
              <a:rPr spc="-10" dirty="0"/>
              <a:t>/60</a:t>
            </a:r>
          </a:p>
        </p:txBody>
      </p:sp>
      <p:sp>
        <p:nvSpPr>
          <p:cNvPr id="3" name="object 3"/>
          <p:cNvSpPr txBox="1"/>
          <p:nvPr/>
        </p:nvSpPr>
        <p:spPr>
          <a:xfrm>
            <a:off x="598944" y="1372955"/>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4" name="object 4"/>
          <p:cNvSpPr txBox="1">
            <a:spLocks noGrp="1"/>
          </p:cNvSpPr>
          <p:nvPr>
            <p:ph sz="half" idx="2"/>
          </p:nvPr>
        </p:nvSpPr>
        <p:spPr>
          <a:prstGeom prst="rect">
            <a:avLst/>
          </a:prstGeom>
        </p:spPr>
        <p:txBody>
          <a:bodyPr vert="horz" wrap="square" lIns="0" tIns="4445" rIns="0" bIns="0" rtlCol="0">
            <a:spAutoFit/>
          </a:bodyPr>
          <a:lstStyle/>
          <a:p>
            <a:pPr marL="12700" marR="384175">
              <a:lnSpc>
                <a:spcPct val="102299"/>
              </a:lnSpc>
              <a:spcBef>
                <a:spcPts val="35"/>
              </a:spcBef>
            </a:pPr>
            <a:r>
              <a:rPr dirty="0"/>
              <a:t>Migration</a:t>
            </a:r>
            <a:r>
              <a:rPr spc="35" dirty="0"/>
              <a:t> </a:t>
            </a:r>
            <a:r>
              <a:rPr dirty="0"/>
              <a:t>of</a:t>
            </a:r>
            <a:r>
              <a:rPr spc="35" dirty="0"/>
              <a:t> </a:t>
            </a:r>
            <a:r>
              <a:rPr dirty="0"/>
              <a:t>guests</a:t>
            </a:r>
            <a:r>
              <a:rPr spc="40" dirty="0"/>
              <a:t> </a:t>
            </a:r>
            <a:r>
              <a:rPr spc="-10" dirty="0"/>
              <a:t>between nodes</a:t>
            </a:r>
          </a:p>
          <a:p>
            <a:pPr marL="12700" marR="466090">
              <a:lnSpc>
                <a:spcPct val="102299"/>
              </a:lnSpc>
              <a:spcBef>
                <a:spcPts val="955"/>
              </a:spcBef>
            </a:pPr>
            <a:r>
              <a:rPr spc="-220" dirty="0"/>
              <a:t>ZFS</a:t>
            </a:r>
            <a:r>
              <a:rPr spc="-10" dirty="0"/>
              <a:t> </a:t>
            </a:r>
            <a:r>
              <a:rPr spc="70" dirty="0"/>
              <a:t>for</a:t>
            </a:r>
            <a:r>
              <a:rPr spc="-10" dirty="0"/>
              <a:t> </a:t>
            </a:r>
            <a:r>
              <a:rPr dirty="0"/>
              <a:t>asynchronous</a:t>
            </a:r>
            <a:r>
              <a:rPr spc="-10" dirty="0"/>
              <a:t> guest </a:t>
            </a:r>
            <a:r>
              <a:rPr dirty="0"/>
              <a:t>disk</a:t>
            </a:r>
            <a:r>
              <a:rPr spc="-114" dirty="0"/>
              <a:t> </a:t>
            </a:r>
            <a:r>
              <a:rPr spc="-10" dirty="0"/>
              <a:t>replication</a:t>
            </a:r>
          </a:p>
          <a:p>
            <a:pPr marL="12700" marR="396875">
              <a:lnSpc>
                <a:spcPct val="102299"/>
              </a:lnSpc>
              <a:spcBef>
                <a:spcPts val="955"/>
              </a:spcBef>
            </a:pPr>
            <a:r>
              <a:rPr dirty="0"/>
              <a:t>High</a:t>
            </a:r>
            <a:r>
              <a:rPr spc="-85" dirty="0"/>
              <a:t> </a:t>
            </a:r>
            <a:r>
              <a:rPr spc="-10" dirty="0"/>
              <a:t>availability</a:t>
            </a:r>
            <a:r>
              <a:rPr spc="-65" dirty="0"/>
              <a:t> </a:t>
            </a:r>
            <a:r>
              <a:rPr spc="-120" dirty="0"/>
              <a:t>(HA)</a:t>
            </a:r>
            <a:r>
              <a:rPr spc="-45" dirty="0"/>
              <a:t> </a:t>
            </a:r>
            <a:r>
              <a:rPr spc="70" dirty="0"/>
              <a:t>for</a:t>
            </a:r>
            <a:r>
              <a:rPr spc="-65" dirty="0"/>
              <a:t> </a:t>
            </a:r>
            <a:r>
              <a:rPr spc="-45" dirty="0"/>
              <a:t>VMs </a:t>
            </a:r>
            <a:r>
              <a:rPr dirty="0"/>
              <a:t>and</a:t>
            </a:r>
            <a:r>
              <a:rPr spc="30" dirty="0"/>
              <a:t> </a:t>
            </a:r>
            <a:r>
              <a:rPr spc="-10" dirty="0"/>
              <a:t>containers</a:t>
            </a:r>
          </a:p>
          <a:p>
            <a:pPr marL="12700" marR="5080">
              <a:lnSpc>
                <a:spcPct val="102299"/>
              </a:lnSpc>
              <a:spcBef>
                <a:spcPts val="950"/>
              </a:spcBef>
            </a:pPr>
            <a:r>
              <a:rPr spc="-20" dirty="0"/>
              <a:t>Failure</a:t>
            </a:r>
            <a:r>
              <a:rPr spc="-30" dirty="0"/>
              <a:t> </a:t>
            </a:r>
            <a:r>
              <a:rPr dirty="0"/>
              <a:t>scenarios</a:t>
            </a:r>
            <a:r>
              <a:rPr spc="-25" dirty="0"/>
              <a:t> </a:t>
            </a:r>
            <a:r>
              <a:rPr dirty="0"/>
              <a:t>with</a:t>
            </a:r>
            <a:r>
              <a:rPr spc="-25" dirty="0"/>
              <a:t> </a:t>
            </a:r>
            <a:r>
              <a:rPr spc="-10" dirty="0"/>
              <a:t>exercises </a:t>
            </a:r>
            <a:r>
              <a:rPr spc="70" dirty="0"/>
              <a:t>for</a:t>
            </a:r>
            <a:r>
              <a:rPr spc="-35" dirty="0"/>
              <a:t> </a:t>
            </a:r>
            <a:r>
              <a:rPr spc="-60" dirty="0"/>
              <a:t>HA</a:t>
            </a:r>
            <a:r>
              <a:rPr spc="-35" dirty="0"/>
              <a:t> </a:t>
            </a:r>
            <a:r>
              <a:rPr dirty="0"/>
              <a:t>and</a:t>
            </a:r>
            <a:r>
              <a:rPr spc="-35" dirty="0"/>
              <a:t> </a:t>
            </a:r>
            <a:r>
              <a:rPr spc="-20" dirty="0"/>
              <a:t>Ceph</a:t>
            </a:r>
          </a:p>
        </p:txBody>
      </p:sp>
      <p:sp>
        <p:nvSpPr>
          <p:cNvPr id="5" name="object 5"/>
          <p:cNvSpPr txBox="1"/>
          <p:nvPr/>
        </p:nvSpPr>
        <p:spPr>
          <a:xfrm>
            <a:off x="598944" y="2180078"/>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6" name="object 6"/>
          <p:cNvSpPr txBox="1"/>
          <p:nvPr/>
        </p:nvSpPr>
        <p:spPr>
          <a:xfrm>
            <a:off x="598944" y="2987188"/>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7" name="object 7"/>
          <p:cNvSpPr txBox="1"/>
          <p:nvPr/>
        </p:nvSpPr>
        <p:spPr>
          <a:xfrm>
            <a:off x="598944" y="3794311"/>
            <a:ext cx="127000" cy="178435"/>
          </a:xfrm>
          <a:prstGeom prst="rect">
            <a:avLst/>
          </a:prstGeom>
        </p:spPr>
        <p:txBody>
          <a:bodyPr vert="horz" wrap="square" lIns="0" tIns="12700" rIns="0" bIns="0" rtlCol="0">
            <a:spAutoFit/>
          </a:bodyPr>
          <a:lstStyle/>
          <a:p>
            <a:pPr marL="12700">
              <a:lnSpc>
                <a:spcPct val="100000"/>
              </a:lnSpc>
              <a:spcBef>
                <a:spcPts val="100"/>
              </a:spcBef>
            </a:pPr>
            <a:r>
              <a:rPr sz="1000" spc="-50" dirty="0">
                <a:latin typeface="Lucida Sans Unicode"/>
                <a:cs typeface="Lucida Sans Unicode"/>
              </a:rPr>
              <a:t>●</a:t>
            </a:r>
            <a:endParaRPr sz="1000">
              <a:latin typeface="Lucida Sans Unicode"/>
              <a:cs typeface="Lucida Sans Unicode"/>
            </a:endParaRPr>
          </a:p>
        </p:txBody>
      </p:sp>
      <p:sp>
        <p:nvSpPr>
          <p:cNvPr id="8" name="object 8"/>
          <p:cNvSpPr txBox="1"/>
          <p:nvPr/>
        </p:nvSpPr>
        <p:spPr>
          <a:xfrm>
            <a:off x="5247614" y="1374745"/>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9" name="object 9"/>
          <p:cNvSpPr txBox="1">
            <a:spLocks noGrp="1"/>
          </p:cNvSpPr>
          <p:nvPr>
            <p:ph sz="half" idx="3"/>
          </p:nvPr>
        </p:nvSpPr>
        <p:spPr>
          <a:prstGeom prst="rect">
            <a:avLst/>
          </a:prstGeom>
        </p:spPr>
        <p:txBody>
          <a:bodyPr vert="horz" wrap="square" lIns="0" tIns="3810" rIns="0" bIns="0" rtlCol="0">
            <a:spAutoFit/>
          </a:bodyPr>
          <a:lstStyle/>
          <a:p>
            <a:pPr marL="12700" marR="5080">
              <a:lnSpc>
                <a:spcPct val="102400"/>
              </a:lnSpc>
              <a:spcBef>
                <a:spcPts val="30"/>
              </a:spcBef>
            </a:pPr>
            <a:r>
              <a:rPr dirty="0"/>
              <a:t>Considerations</a:t>
            </a:r>
            <a:r>
              <a:rPr spc="-65" dirty="0"/>
              <a:t> </a:t>
            </a:r>
            <a:r>
              <a:rPr spc="80" dirty="0"/>
              <a:t>for</a:t>
            </a:r>
            <a:r>
              <a:rPr spc="-60" dirty="0"/>
              <a:t> </a:t>
            </a:r>
            <a:r>
              <a:rPr dirty="0"/>
              <a:t>a</a:t>
            </a:r>
            <a:r>
              <a:rPr spc="-65" dirty="0"/>
              <a:t> </a:t>
            </a:r>
            <a:r>
              <a:rPr spc="-10" dirty="0"/>
              <a:t>minimal </a:t>
            </a:r>
            <a:r>
              <a:rPr dirty="0"/>
              <a:t>2</a:t>
            </a:r>
            <a:r>
              <a:rPr spc="90" dirty="0"/>
              <a:t> </a:t>
            </a:r>
            <a:r>
              <a:rPr dirty="0"/>
              <a:t>node</a:t>
            </a:r>
            <a:r>
              <a:rPr spc="95" dirty="0"/>
              <a:t> </a:t>
            </a:r>
            <a:r>
              <a:rPr dirty="0"/>
              <a:t>setup</a:t>
            </a:r>
            <a:r>
              <a:rPr spc="95" dirty="0"/>
              <a:t> </a:t>
            </a:r>
            <a:r>
              <a:rPr dirty="0"/>
              <a:t>with</a:t>
            </a:r>
            <a:r>
              <a:rPr spc="95" dirty="0"/>
              <a:t> </a:t>
            </a:r>
            <a:r>
              <a:rPr spc="-25" dirty="0"/>
              <a:t>an </a:t>
            </a:r>
            <a:r>
              <a:rPr dirty="0"/>
              <a:t>external</a:t>
            </a:r>
            <a:r>
              <a:rPr spc="105" dirty="0"/>
              <a:t> </a:t>
            </a:r>
            <a:r>
              <a:rPr spc="-10" dirty="0"/>
              <a:t>tiebreaker (QDevice).</a:t>
            </a:r>
          </a:p>
          <a:p>
            <a:pPr marL="12700" marR="175260">
              <a:lnSpc>
                <a:spcPct val="102400"/>
              </a:lnSpc>
              <a:spcBef>
                <a:spcPts val="950"/>
              </a:spcBef>
            </a:pPr>
            <a:r>
              <a:rPr dirty="0"/>
              <a:t>Automating</a:t>
            </a:r>
            <a:r>
              <a:rPr spc="60" dirty="0"/>
              <a:t> </a:t>
            </a:r>
            <a:r>
              <a:rPr spc="-20" dirty="0"/>
              <a:t>tasks</a:t>
            </a:r>
            <a:r>
              <a:rPr spc="60" dirty="0"/>
              <a:t> </a:t>
            </a:r>
            <a:r>
              <a:rPr dirty="0"/>
              <a:t>with</a:t>
            </a:r>
            <a:r>
              <a:rPr spc="65" dirty="0"/>
              <a:t> </a:t>
            </a:r>
            <a:r>
              <a:rPr spc="-300" dirty="0"/>
              <a:t>REST </a:t>
            </a:r>
            <a:r>
              <a:rPr spc="-145" dirty="0"/>
              <a:t>API</a:t>
            </a:r>
            <a:r>
              <a:rPr spc="-45" dirty="0"/>
              <a:t> </a:t>
            </a:r>
            <a:r>
              <a:rPr spc="90" dirty="0"/>
              <a:t>or</a:t>
            </a:r>
            <a:r>
              <a:rPr spc="-45" dirty="0"/>
              <a:t> </a:t>
            </a:r>
            <a:r>
              <a:rPr spc="-25" dirty="0"/>
              <a:t>CLI</a:t>
            </a:r>
          </a:p>
          <a:p>
            <a:pPr marL="12700" marR="393065">
              <a:lnSpc>
                <a:spcPct val="102400"/>
              </a:lnSpc>
              <a:spcBef>
                <a:spcPts val="955"/>
              </a:spcBef>
            </a:pPr>
            <a:r>
              <a:rPr dirty="0"/>
              <a:t>Troubleshooting</a:t>
            </a:r>
            <a:r>
              <a:rPr spc="270" dirty="0"/>
              <a:t> </a:t>
            </a:r>
            <a:r>
              <a:rPr spc="45" dirty="0"/>
              <a:t>common </a:t>
            </a:r>
            <a:r>
              <a:rPr spc="-10" dirty="0"/>
              <a:t>issues</a:t>
            </a:r>
          </a:p>
        </p:txBody>
      </p:sp>
      <p:sp>
        <p:nvSpPr>
          <p:cNvPr id="10" name="object 10"/>
          <p:cNvSpPr txBox="1"/>
          <p:nvPr/>
        </p:nvSpPr>
        <p:spPr>
          <a:xfrm>
            <a:off x="5247614" y="2993309"/>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11" name="object 11"/>
          <p:cNvSpPr txBox="1"/>
          <p:nvPr/>
        </p:nvSpPr>
        <p:spPr>
          <a:xfrm>
            <a:off x="5247614" y="3863069"/>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336550">
              <a:lnSpc>
                <a:spcPct val="100000"/>
              </a:lnSpc>
              <a:spcBef>
                <a:spcPts val="100"/>
              </a:spcBef>
            </a:pPr>
            <a:r>
              <a:rPr sz="3600" spc="310" dirty="0"/>
              <a:t>INTRODUCTION</a:t>
            </a:r>
            <a:endParaRPr sz="3600"/>
          </a:p>
        </p:txBody>
      </p:sp>
      <p:sp>
        <p:nvSpPr>
          <p:cNvPr id="4" name="object 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object 5"/>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8</a:t>
            </a:fld>
            <a:r>
              <a:rPr spc="-10" dirty="0"/>
              <a:t>/60</a:t>
            </a:r>
          </a:p>
        </p:txBody>
      </p:sp>
      <p:sp>
        <p:nvSpPr>
          <p:cNvPr id="3" name="object 3"/>
          <p:cNvSpPr txBox="1"/>
          <p:nvPr/>
        </p:nvSpPr>
        <p:spPr>
          <a:xfrm>
            <a:off x="2817622" y="3462028"/>
            <a:ext cx="4455795"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54C4C"/>
                </a:solidFill>
                <a:latin typeface="Arial MT"/>
                <a:cs typeface="Arial MT"/>
              </a:rPr>
              <a:t>About</a:t>
            </a:r>
            <a:r>
              <a:rPr sz="2400" spc="10" dirty="0">
                <a:solidFill>
                  <a:srgbClr val="454C4C"/>
                </a:solidFill>
                <a:latin typeface="Arial MT"/>
                <a:cs typeface="Arial MT"/>
              </a:rPr>
              <a:t> </a:t>
            </a:r>
            <a:r>
              <a:rPr sz="2400" dirty="0">
                <a:solidFill>
                  <a:srgbClr val="454C4C"/>
                </a:solidFill>
                <a:latin typeface="Arial MT"/>
                <a:cs typeface="Arial MT"/>
              </a:rPr>
              <a:t>Proxmox</a:t>
            </a:r>
            <a:r>
              <a:rPr sz="2400" spc="15" dirty="0">
                <a:solidFill>
                  <a:srgbClr val="454C4C"/>
                </a:solidFill>
                <a:latin typeface="Arial MT"/>
                <a:cs typeface="Arial MT"/>
              </a:rPr>
              <a:t> </a:t>
            </a:r>
            <a:r>
              <a:rPr sz="2400" spc="-30" dirty="0">
                <a:solidFill>
                  <a:srgbClr val="454C4C"/>
                </a:solidFill>
                <a:latin typeface="Arial MT"/>
                <a:cs typeface="Arial MT"/>
              </a:rPr>
              <a:t>Server</a:t>
            </a:r>
            <a:r>
              <a:rPr sz="2400" spc="15" dirty="0">
                <a:solidFill>
                  <a:srgbClr val="454C4C"/>
                </a:solidFill>
                <a:latin typeface="Arial MT"/>
                <a:cs typeface="Arial MT"/>
              </a:rPr>
              <a:t> </a:t>
            </a:r>
            <a:r>
              <a:rPr sz="2400" spc="-10" dirty="0">
                <a:solidFill>
                  <a:srgbClr val="454C4C"/>
                </a:solidFill>
                <a:latin typeface="Arial MT"/>
                <a:cs typeface="Arial MT"/>
              </a:rPr>
              <a:t>Solutions</a:t>
            </a:r>
            <a:endParaRPr sz="24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69037" y="1117812"/>
            <a:ext cx="2910954" cy="3496322"/>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0" dirty="0"/>
              <a:t>About</a:t>
            </a:r>
            <a:r>
              <a:rPr spc="-380" dirty="0"/>
              <a:t> </a:t>
            </a:r>
            <a:r>
              <a:rPr spc="-10" dirty="0"/>
              <a:t>Proxmox</a:t>
            </a:r>
          </a:p>
        </p:txBody>
      </p:sp>
      <p:sp>
        <p:nvSpPr>
          <p:cNvPr id="9" name="object 9"/>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0" name="object 10"/>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9</a:t>
            </a:fld>
            <a:r>
              <a:rPr spc="-10" dirty="0"/>
              <a:t>/60</a:t>
            </a:r>
          </a:p>
        </p:txBody>
      </p:sp>
      <p:sp>
        <p:nvSpPr>
          <p:cNvPr id="4" name="object 4"/>
          <p:cNvSpPr txBox="1"/>
          <p:nvPr/>
        </p:nvSpPr>
        <p:spPr>
          <a:xfrm>
            <a:off x="598944" y="1374745"/>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5" name="object 5"/>
          <p:cNvSpPr txBox="1"/>
          <p:nvPr/>
        </p:nvSpPr>
        <p:spPr>
          <a:xfrm>
            <a:off x="922934" y="1334791"/>
            <a:ext cx="3954779" cy="3001010"/>
          </a:xfrm>
          <a:prstGeom prst="rect">
            <a:avLst/>
          </a:prstGeom>
        </p:spPr>
        <p:txBody>
          <a:bodyPr vert="horz" wrap="square" lIns="0" tIns="3810" rIns="0" bIns="0" rtlCol="0">
            <a:spAutoFit/>
          </a:bodyPr>
          <a:lstStyle/>
          <a:p>
            <a:pPr marL="12700" marR="5080">
              <a:lnSpc>
                <a:spcPct val="102400"/>
              </a:lnSpc>
              <a:spcBef>
                <a:spcPts val="30"/>
              </a:spcBef>
            </a:pPr>
            <a:r>
              <a:rPr sz="2400" dirty="0">
                <a:solidFill>
                  <a:srgbClr val="454C4C"/>
                </a:solidFill>
                <a:latin typeface="Arial MT"/>
                <a:cs typeface="Arial MT"/>
              </a:rPr>
              <a:t>Delivering</a:t>
            </a:r>
            <a:r>
              <a:rPr sz="2400" spc="-50" dirty="0">
                <a:solidFill>
                  <a:srgbClr val="454C4C"/>
                </a:solidFill>
                <a:latin typeface="Arial MT"/>
                <a:cs typeface="Arial MT"/>
              </a:rPr>
              <a:t> </a:t>
            </a:r>
            <a:r>
              <a:rPr sz="2400" dirty="0">
                <a:solidFill>
                  <a:srgbClr val="454C4C"/>
                </a:solidFill>
                <a:latin typeface="Arial MT"/>
                <a:cs typeface="Arial MT"/>
              </a:rPr>
              <a:t>open-</a:t>
            </a:r>
            <a:r>
              <a:rPr sz="2400" spc="-10" dirty="0">
                <a:solidFill>
                  <a:srgbClr val="454C4C"/>
                </a:solidFill>
                <a:latin typeface="Arial MT"/>
                <a:cs typeface="Arial MT"/>
              </a:rPr>
              <a:t>source </a:t>
            </a:r>
            <a:r>
              <a:rPr sz="2400" dirty="0">
                <a:solidFill>
                  <a:srgbClr val="454C4C"/>
                </a:solidFill>
                <a:latin typeface="Arial MT"/>
                <a:cs typeface="Arial MT"/>
              </a:rPr>
              <a:t>enterprise</a:t>
            </a:r>
            <a:r>
              <a:rPr sz="2400" spc="220" dirty="0">
                <a:solidFill>
                  <a:srgbClr val="454C4C"/>
                </a:solidFill>
                <a:latin typeface="Arial MT"/>
                <a:cs typeface="Arial MT"/>
              </a:rPr>
              <a:t> </a:t>
            </a:r>
            <a:r>
              <a:rPr sz="2400" dirty="0">
                <a:solidFill>
                  <a:srgbClr val="454C4C"/>
                </a:solidFill>
                <a:latin typeface="Arial MT"/>
                <a:cs typeface="Arial MT"/>
              </a:rPr>
              <a:t>solutions</a:t>
            </a:r>
            <a:r>
              <a:rPr sz="2400" spc="235" dirty="0">
                <a:solidFill>
                  <a:srgbClr val="454C4C"/>
                </a:solidFill>
                <a:latin typeface="Arial MT"/>
                <a:cs typeface="Arial MT"/>
              </a:rPr>
              <a:t> </a:t>
            </a:r>
            <a:r>
              <a:rPr sz="2400" spc="70" dirty="0">
                <a:solidFill>
                  <a:srgbClr val="454C4C"/>
                </a:solidFill>
                <a:latin typeface="Arial MT"/>
                <a:cs typeface="Arial MT"/>
              </a:rPr>
              <a:t>to </a:t>
            </a:r>
            <a:r>
              <a:rPr sz="2400" dirty="0">
                <a:solidFill>
                  <a:srgbClr val="454C4C"/>
                </a:solidFill>
                <a:latin typeface="Arial MT"/>
                <a:cs typeface="Arial MT"/>
              </a:rPr>
              <a:t>simplify</a:t>
            </a:r>
            <a:r>
              <a:rPr sz="2400" spc="-40" dirty="0">
                <a:solidFill>
                  <a:srgbClr val="454C4C"/>
                </a:solidFill>
                <a:latin typeface="Arial MT"/>
                <a:cs typeface="Arial MT"/>
              </a:rPr>
              <a:t> </a:t>
            </a:r>
            <a:r>
              <a:rPr sz="2400" dirty="0">
                <a:solidFill>
                  <a:srgbClr val="454C4C"/>
                </a:solidFill>
                <a:latin typeface="Arial MT"/>
                <a:cs typeface="Arial MT"/>
              </a:rPr>
              <a:t>server</a:t>
            </a:r>
            <a:r>
              <a:rPr sz="2400" spc="-40" dirty="0">
                <a:solidFill>
                  <a:srgbClr val="454C4C"/>
                </a:solidFill>
                <a:latin typeface="Arial MT"/>
                <a:cs typeface="Arial MT"/>
              </a:rPr>
              <a:t> </a:t>
            </a:r>
            <a:r>
              <a:rPr sz="2400" spc="-10" dirty="0">
                <a:solidFill>
                  <a:srgbClr val="454C4C"/>
                </a:solidFill>
                <a:latin typeface="Arial MT"/>
                <a:cs typeface="Arial MT"/>
              </a:rPr>
              <a:t>management.</a:t>
            </a:r>
            <a:endParaRPr sz="2400">
              <a:latin typeface="Arial MT"/>
              <a:cs typeface="Arial MT"/>
            </a:endParaRPr>
          </a:p>
          <a:p>
            <a:pPr marL="12700" marR="479425">
              <a:lnSpc>
                <a:spcPct val="135400"/>
              </a:lnSpc>
            </a:pPr>
            <a:r>
              <a:rPr sz="2400" spc="-30" dirty="0">
                <a:solidFill>
                  <a:srgbClr val="454C4C"/>
                </a:solidFill>
                <a:latin typeface="Arial MT"/>
                <a:cs typeface="Arial MT"/>
              </a:rPr>
              <a:t>Based</a:t>
            </a:r>
            <a:r>
              <a:rPr sz="2400" spc="-75" dirty="0">
                <a:solidFill>
                  <a:srgbClr val="454C4C"/>
                </a:solidFill>
                <a:latin typeface="Arial MT"/>
                <a:cs typeface="Arial MT"/>
              </a:rPr>
              <a:t> </a:t>
            </a:r>
            <a:r>
              <a:rPr sz="2400" dirty="0">
                <a:solidFill>
                  <a:srgbClr val="454C4C"/>
                </a:solidFill>
                <a:latin typeface="Arial MT"/>
                <a:cs typeface="Arial MT"/>
              </a:rPr>
              <a:t>in</a:t>
            </a:r>
            <a:r>
              <a:rPr sz="2400" spc="-75" dirty="0">
                <a:solidFill>
                  <a:srgbClr val="454C4C"/>
                </a:solidFill>
                <a:latin typeface="Arial MT"/>
                <a:cs typeface="Arial MT"/>
              </a:rPr>
              <a:t> </a:t>
            </a:r>
            <a:r>
              <a:rPr sz="2400" spc="-25" dirty="0">
                <a:solidFill>
                  <a:srgbClr val="454C4C"/>
                </a:solidFill>
                <a:latin typeface="Arial MT"/>
                <a:cs typeface="Arial MT"/>
              </a:rPr>
              <a:t>Vienna</a:t>
            </a:r>
            <a:r>
              <a:rPr sz="2400" spc="-75" dirty="0">
                <a:solidFill>
                  <a:srgbClr val="454C4C"/>
                </a:solidFill>
                <a:latin typeface="Arial MT"/>
                <a:cs typeface="Arial MT"/>
              </a:rPr>
              <a:t> </a:t>
            </a:r>
            <a:r>
              <a:rPr sz="2400" spc="-30" dirty="0">
                <a:solidFill>
                  <a:srgbClr val="454C4C"/>
                </a:solidFill>
                <a:latin typeface="Arial MT"/>
                <a:cs typeface="Arial MT"/>
              </a:rPr>
              <a:t>(Austria). </a:t>
            </a:r>
            <a:r>
              <a:rPr sz="2400" spc="-10" dirty="0">
                <a:solidFill>
                  <a:srgbClr val="454C4C"/>
                </a:solidFill>
                <a:latin typeface="Arial MT"/>
                <a:cs typeface="Arial MT"/>
              </a:rPr>
              <a:t>Established</a:t>
            </a:r>
            <a:r>
              <a:rPr sz="2400" spc="-50" dirty="0">
                <a:solidFill>
                  <a:srgbClr val="454C4C"/>
                </a:solidFill>
                <a:latin typeface="Arial MT"/>
                <a:cs typeface="Arial MT"/>
              </a:rPr>
              <a:t> </a:t>
            </a:r>
            <a:r>
              <a:rPr sz="2400" dirty="0">
                <a:solidFill>
                  <a:srgbClr val="454C4C"/>
                </a:solidFill>
                <a:latin typeface="Arial MT"/>
                <a:cs typeface="Arial MT"/>
              </a:rPr>
              <a:t>in</a:t>
            </a:r>
            <a:r>
              <a:rPr sz="2400" spc="-45" dirty="0">
                <a:solidFill>
                  <a:srgbClr val="454C4C"/>
                </a:solidFill>
                <a:latin typeface="Arial MT"/>
                <a:cs typeface="Arial MT"/>
              </a:rPr>
              <a:t> </a:t>
            </a:r>
            <a:r>
              <a:rPr sz="2400" spc="-10" dirty="0">
                <a:solidFill>
                  <a:srgbClr val="454C4C"/>
                </a:solidFill>
                <a:latin typeface="Arial MT"/>
                <a:cs typeface="Arial MT"/>
              </a:rPr>
              <a:t>2005.</a:t>
            </a:r>
            <a:endParaRPr sz="2400">
              <a:latin typeface="Arial MT"/>
              <a:cs typeface="Arial MT"/>
            </a:endParaRPr>
          </a:p>
          <a:p>
            <a:pPr marL="12700" marR="358775">
              <a:lnSpc>
                <a:spcPct val="102400"/>
              </a:lnSpc>
              <a:spcBef>
                <a:spcPts val="955"/>
              </a:spcBef>
            </a:pPr>
            <a:r>
              <a:rPr sz="2400" spc="-30" dirty="0">
                <a:solidFill>
                  <a:srgbClr val="454C4C"/>
                </a:solidFill>
                <a:latin typeface="Arial MT"/>
                <a:cs typeface="Arial MT"/>
              </a:rPr>
              <a:t>Privately</a:t>
            </a:r>
            <a:r>
              <a:rPr sz="2400" spc="-40" dirty="0">
                <a:solidFill>
                  <a:srgbClr val="454C4C"/>
                </a:solidFill>
                <a:latin typeface="Arial MT"/>
                <a:cs typeface="Arial MT"/>
              </a:rPr>
              <a:t> </a:t>
            </a:r>
            <a:r>
              <a:rPr sz="2400" dirty="0">
                <a:solidFill>
                  <a:srgbClr val="454C4C"/>
                </a:solidFill>
                <a:latin typeface="Arial MT"/>
                <a:cs typeface="Arial MT"/>
              </a:rPr>
              <a:t>owned,</a:t>
            </a:r>
            <a:r>
              <a:rPr sz="2400" spc="-35" dirty="0">
                <a:solidFill>
                  <a:srgbClr val="454C4C"/>
                </a:solidFill>
                <a:latin typeface="Arial MT"/>
                <a:cs typeface="Arial MT"/>
              </a:rPr>
              <a:t> </a:t>
            </a:r>
            <a:r>
              <a:rPr sz="2400" dirty="0">
                <a:solidFill>
                  <a:srgbClr val="454C4C"/>
                </a:solidFill>
                <a:latin typeface="Arial MT"/>
                <a:cs typeface="Arial MT"/>
              </a:rPr>
              <a:t>free</a:t>
            </a:r>
            <a:r>
              <a:rPr sz="2400" spc="-40" dirty="0">
                <a:solidFill>
                  <a:srgbClr val="454C4C"/>
                </a:solidFill>
                <a:latin typeface="Arial MT"/>
                <a:cs typeface="Arial MT"/>
              </a:rPr>
              <a:t> </a:t>
            </a:r>
            <a:r>
              <a:rPr sz="2400" spc="55" dirty="0">
                <a:solidFill>
                  <a:srgbClr val="454C4C"/>
                </a:solidFill>
                <a:latin typeface="Arial MT"/>
                <a:cs typeface="Arial MT"/>
              </a:rPr>
              <a:t>from </a:t>
            </a:r>
            <a:r>
              <a:rPr sz="2400" dirty="0">
                <a:solidFill>
                  <a:srgbClr val="454C4C"/>
                </a:solidFill>
                <a:latin typeface="Arial MT"/>
                <a:cs typeface="Arial MT"/>
              </a:rPr>
              <a:t>venture</a:t>
            </a:r>
            <a:r>
              <a:rPr sz="2400" spc="50" dirty="0">
                <a:solidFill>
                  <a:srgbClr val="454C4C"/>
                </a:solidFill>
                <a:latin typeface="Arial MT"/>
                <a:cs typeface="Arial MT"/>
              </a:rPr>
              <a:t> </a:t>
            </a:r>
            <a:r>
              <a:rPr sz="2400" dirty="0">
                <a:solidFill>
                  <a:srgbClr val="454C4C"/>
                </a:solidFill>
                <a:latin typeface="Arial MT"/>
                <a:cs typeface="Arial MT"/>
              </a:rPr>
              <a:t>capital</a:t>
            </a:r>
            <a:r>
              <a:rPr sz="2400" spc="55" dirty="0">
                <a:solidFill>
                  <a:srgbClr val="454C4C"/>
                </a:solidFill>
                <a:latin typeface="Arial MT"/>
                <a:cs typeface="Arial MT"/>
              </a:rPr>
              <a:t> </a:t>
            </a:r>
            <a:r>
              <a:rPr sz="2400" spc="-10" dirty="0">
                <a:solidFill>
                  <a:srgbClr val="454C4C"/>
                </a:solidFill>
                <a:latin typeface="Arial MT"/>
                <a:cs typeface="Arial MT"/>
              </a:rPr>
              <a:t>influence.</a:t>
            </a:r>
            <a:endParaRPr sz="2400">
              <a:latin typeface="Arial MT"/>
              <a:cs typeface="Arial MT"/>
            </a:endParaRPr>
          </a:p>
        </p:txBody>
      </p:sp>
      <p:sp>
        <p:nvSpPr>
          <p:cNvPr id="6" name="object 6"/>
          <p:cNvSpPr txBox="1"/>
          <p:nvPr/>
        </p:nvSpPr>
        <p:spPr>
          <a:xfrm>
            <a:off x="598944" y="261891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7" name="object 7"/>
          <p:cNvSpPr txBox="1"/>
          <p:nvPr/>
        </p:nvSpPr>
        <p:spPr>
          <a:xfrm>
            <a:off x="598944" y="311426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8" name="object 8"/>
          <p:cNvSpPr txBox="1"/>
          <p:nvPr/>
        </p:nvSpPr>
        <p:spPr>
          <a:xfrm>
            <a:off x="598944" y="3609628"/>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894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15" name="object 1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6" name="object 16"/>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10</a:t>
            </a:fld>
            <a:r>
              <a:rPr spc="-10" dirty="0"/>
              <a:t>/60</a:t>
            </a:r>
          </a:p>
        </p:txBody>
      </p:sp>
      <p:sp>
        <p:nvSpPr>
          <p:cNvPr id="3" name="object 3"/>
          <p:cNvSpPr txBox="1"/>
          <p:nvPr/>
        </p:nvSpPr>
        <p:spPr>
          <a:xfrm>
            <a:off x="922934" y="1700688"/>
            <a:ext cx="2806065" cy="1678305"/>
          </a:xfrm>
          <a:prstGeom prst="rect">
            <a:avLst/>
          </a:prstGeom>
        </p:spPr>
        <p:txBody>
          <a:bodyPr vert="horz" wrap="square" lIns="0" tIns="12700" rIns="0" bIns="0" rtlCol="0">
            <a:spAutoFit/>
          </a:bodyPr>
          <a:lstStyle/>
          <a:p>
            <a:pPr marL="12700" marR="557530">
              <a:lnSpc>
                <a:spcPct val="150600"/>
              </a:lnSpc>
              <a:spcBef>
                <a:spcPts val="100"/>
              </a:spcBef>
            </a:pPr>
            <a:r>
              <a:rPr sz="2400" dirty="0">
                <a:solidFill>
                  <a:srgbClr val="454C4C"/>
                </a:solidFill>
                <a:latin typeface="Arial MT"/>
                <a:cs typeface="Arial MT"/>
              </a:rPr>
              <a:t>Open</a:t>
            </a:r>
            <a:r>
              <a:rPr sz="2400" spc="15" dirty="0">
                <a:solidFill>
                  <a:srgbClr val="454C4C"/>
                </a:solidFill>
                <a:latin typeface="Arial MT"/>
                <a:cs typeface="Arial MT"/>
              </a:rPr>
              <a:t> </a:t>
            </a:r>
            <a:r>
              <a:rPr sz="2400" spc="-10" dirty="0">
                <a:solidFill>
                  <a:srgbClr val="454C4C"/>
                </a:solidFill>
                <a:latin typeface="Arial MT"/>
                <a:cs typeface="Arial MT"/>
              </a:rPr>
              <a:t>Source </a:t>
            </a:r>
            <a:r>
              <a:rPr sz="2400" spc="-40" dirty="0">
                <a:solidFill>
                  <a:srgbClr val="454C4C"/>
                </a:solidFill>
                <a:latin typeface="Arial MT"/>
                <a:cs typeface="Arial MT"/>
              </a:rPr>
              <a:t>License:</a:t>
            </a:r>
            <a:r>
              <a:rPr sz="2400" spc="-90" dirty="0">
                <a:solidFill>
                  <a:srgbClr val="454C4C"/>
                </a:solidFill>
                <a:latin typeface="Arial MT"/>
                <a:cs typeface="Arial MT"/>
              </a:rPr>
              <a:t> </a:t>
            </a:r>
            <a:r>
              <a:rPr sz="2400" spc="-114" dirty="0">
                <a:solidFill>
                  <a:srgbClr val="454C4C"/>
                </a:solidFill>
                <a:latin typeface="Arial MT"/>
                <a:cs typeface="Arial MT"/>
              </a:rPr>
              <a:t>AGPLv3</a:t>
            </a:r>
            <a:endParaRPr sz="2400">
              <a:latin typeface="Arial MT"/>
              <a:cs typeface="Arial MT"/>
            </a:endParaRPr>
          </a:p>
          <a:p>
            <a:pPr marL="12700">
              <a:lnSpc>
                <a:spcPct val="100000"/>
              </a:lnSpc>
              <a:spcBef>
                <a:spcPts val="1455"/>
              </a:spcBef>
            </a:pPr>
            <a:r>
              <a:rPr sz="2400" spc="-35" dirty="0">
                <a:solidFill>
                  <a:srgbClr val="454C4C"/>
                </a:solidFill>
                <a:latin typeface="Arial MT"/>
                <a:cs typeface="Arial MT"/>
              </a:rPr>
              <a:t>All</a:t>
            </a:r>
            <a:r>
              <a:rPr sz="2400" spc="-15" dirty="0">
                <a:solidFill>
                  <a:srgbClr val="454C4C"/>
                </a:solidFill>
                <a:latin typeface="Arial MT"/>
                <a:cs typeface="Arial MT"/>
              </a:rPr>
              <a:t> </a:t>
            </a:r>
            <a:r>
              <a:rPr sz="2400" dirty="0">
                <a:solidFill>
                  <a:srgbClr val="454C4C"/>
                </a:solidFill>
                <a:latin typeface="Arial MT"/>
                <a:cs typeface="Arial MT"/>
              </a:rPr>
              <a:t>features</a:t>
            </a:r>
            <a:r>
              <a:rPr sz="2400" spc="-10" dirty="0">
                <a:solidFill>
                  <a:srgbClr val="454C4C"/>
                </a:solidFill>
                <a:latin typeface="Arial MT"/>
                <a:cs typeface="Arial MT"/>
              </a:rPr>
              <a:t> included</a:t>
            </a:r>
            <a:endParaRPr sz="2400">
              <a:latin typeface="Arial MT"/>
              <a:cs typeface="Arial MT"/>
            </a:endParaRPr>
          </a:p>
        </p:txBody>
      </p:sp>
      <p:sp>
        <p:nvSpPr>
          <p:cNvPr id="4" name="object 4"/>
          <p:cNvSpPr txBox="1"/>
          <p:nvPr/>
        </p:nvSpPr>
        <p:spPr>
          <a:xfrm>
            <a:off x="490943" y="1334791"/>
            <a:ext cx="5788025" cy="391795"/>
          </a:xfrm>
          <a:prstGeom prst="rect">
            <a:avLst/>
          </a:prstGeom>
        </p:spPr>
        <p:txBody>
          <a:bodyPr vert="horz" wrap="square" lIns="0" tIns="12700" rIns="0" bIns="0" rtlCol="0">
            <a:spAutoFit/>
          </a:bodyPr>
          <a:lstStyle/>
          <a:p>
            <a:pPr marL="12700">
              <a:lnSpc>
                <a:spcPct val="100000"/>
              </a:lnSpc>
              <a:spcBef>
                <a:spcPts val="100"/>
              </a:spcBef>
              <a:tabLst>
                <a:tab pos="4660900" algn="l"/>
              </a:tabLst>
            </a:pPr>
            <a:r>
              <a:rPr sz="2400" spc="-10" dirty="0">
                <a:solidFill>
                  <a:srgbClr val="454C4C"/>
                </a:solidFill>
                <a:latin typeface="Arial MT"/>
                <a:cs typeface="Arial MT"/>
              </a:rPr>
              <a:t>Software</a:t>
            </a:r>
            <a:r>
              <a:rPr sz="2400" dirty="0">
                <a:solidFill>
                  <a:srgbClr val="454C4C"/>
                </a:solidFill>
                <a:latin typeface="Arial MT"/>
                <a:cs typeface="Arial MT"/>
              </a:rPr>
              <a:t>	</a:t>
            </a:r>
            <a:r>
              <a:rPr sz="2400" spc="-55" dirty="0">
                <a:solidFill>
                  <a:srgbClr val="454C4C"/>
                </a:solidFill>
                <a:latin typeface="Arial MT"/>
                <a:cs typeface="Arial MT"/>
              </a:rPr>
              <a:t>Services</a:t>
            </a:r>
            <a:endParaRPr sz="2400">
              <a:latin typeface="Arial MT"/>
              <a:cs typeface="Arial MT"/>
            </a:endParaRPr>
          </a:p>
        </p:txBody>
      </p:sp>
      <p:sp>
        <p:nvSpPr>
          <p:cNvPr id="5" name="object 5"/>
          <p:cNvSpPr txBox="1"/>
          <p:nvPr/>
        </p:nvSpPr>
        <p:spPr>
          <a:xfrm>
            <a:off x="598944" y="251811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6" name="object 6"/>
          <p:cNvSpPr txBox="1"/>
          <p:nvPr/>
        </p:nvSpPr>
        <p:spPr>
          <a:xfrm>
            <a:off x="598944" y="306891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0" dirty="0"/>
              <a:t>About</a:t>
            </a:r>
            <a:r>
              <a:rPr spc="-305" dirty="0"/>
              <a:t> </a:t>
            </a:r>
            <a:r>
              <a:rPr dirty="0"/>
              <a:t>Proxmox</a:t>
            </a:r>
            <a:r>
              <a:rPr spc="-305" dirty="0"/>
              <a:t> </a:t>
            </a:r>
            <a:r>
              <a:rPr spc="-295" dirty="0"/>
              <a:t>—</a:t>
            </a:r>
            <a:r>
              <a:rPr spc="-300" dirty="0"/>
              <a:t> </a:t>
            </a:r>
            <a:r>
              <a:rPr dirty="0"/>
              <a:t>Business</a:t>
            </a:r>
            <a:r>
              <a:rPr spc="-305" dirty="0"/>
              <a:t> </a:t>
            </a:r>
            <a:r>
              <a:rPr spc="105" dirty="0"/>
              <a:t>Model</a:t>
            </a:r>
          </a:p>
        </p:txBody>
      </p:sp>
      <p:sp>
        <p:nvSpPr>
          <p:cNvPr id="8" name="object 8"/>
          <p:cNvSpPr txBox="1"/>
          <p:nvPr/>
        </p:nvSpPr>
        <p:spPr>
          <a:xfrm>
            <a:off x="524761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9" name="object 9"/>
          <p:cNvSpPr txBox="1"/>
          <p:nvPr/>
        </p:nvSpPr>
        <p:spPr>
          <a:xfrm>
            <a:off x="5571616" y="1885590"/>
            <a:ext cx="1879600"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54C4C"/>
                </a:solidFill>
                <a:latin typeface="Arial MT"/>
                <a:cs typeface="Arial MT"/>
              </a:rPr>
              <a:t>Subscriptions</a:t>
            </a:r>
            <a:endParaRPr sz="2400">
              <a:latin typeface="Arial MT"/>
              <a:cs typeface="Arial MT"/>
            </a:endParaRPr>
          </a:p>
        </p:txBody>
      </p:sp>
      <p:sp>
        <p:nvSpPr>
          <p:cNvPr id="10" name="object 10"/>
          <p:cNvSpPr txBox="1"/>
          <p:nvPr/>
        </p:nvSpPr>
        <p:spPr>
          <a:xfrm>
            <a:off x="5679617" y="2886032"/>
            <a:ext cx="137160" cy="266065"/>
          </a:xfrm>
          <a:prstGeom prst="rect">
            <a:avLst/>
          </a:prstGeom>
        </p:spPr>
        <p:txBody>
          <a:bodyPr vert="horz" wrap="square" lIns="0" tIns="15875" rIns="0" bIns="0" rtlCol="0">
            <a:spAutoFit/>
          </a:bodyPr>
          <a:lstStyle/>
          <a:p>
            <a:pPr marL="12700">
              <a:lnSpc>
                <a:spcPct val="100000"/>
              </a:lnSpc>
              <a:spcBef>
                <a:spcPts val="125"/>
              </a:spcBef>
            </a:pPr>
            <a:r>
              <a:rPr sz="1550" spc="50" dirty="0">
                <a:latin typeface="Lucida Sans Unicode"/>
                <a:cs typeface="Lucida Sans Unicode"/>
              </a:rPr>
              <a:t>–</a:t>
            </a:r>
            <a:endParaRPr sz="1550">
              <a:latin typeface="Lucida Sans Unicode"/>
              <a:cs typeface="Lucida Sans Unicode"/>
            </a:endParaRPr>
          </a:p>
        </p:txBody>
      </p:sp>
      <p:sp>
        <p:nvSpPr>
          <p:cNvPr id="11" name="object 11"/>
          <p:cNvSpPr txBox="1"/>
          <p:nvPr/>
        </p:nvSpPr>
        <p:spPr>
          <a:xfrm>
            <a:off x="5679617" y="2256113"/>
            <a:ext cx="2931160" cy="965835"/>
          </a:xfrm>
          <a:prstGeom prst="rect">
            <a:avLst/>
          </a:prstGeom>
        </p:spPr>
        <p:txBody>
          <a:bodyPr vert="horz" wrap="square" lIns="0" tIns="12700" rIns="0" bIns="0" rtlCol="0">
            <a:spAutoFit/>
          </a:bodyPr>
          <a:lstStyle/>
          <a:p>
            <a:pPr marL="336550" marR="5080" indent="-324485">
              <a:lnSpc>
                <a:spcPct val="146900"/>
              </a:lnSpc>
              <a:spcBef>
                <a:spcPts val="100"/>
              </a:spcBef>
              <a:tabLst>
                <a:tab pos="336550" algn="l"/>
              </a:tabLst>
            </a:pPr>
            <a:r>
              <a:rPr sz="2325" spc="75" baseline="16129" dirty="0">
                <a:latin typeface="Lucida Sans Unicode"/>
                <a:cs typeface="Lucida Sans Unicode"/>
              </a:rPr>
              <a:t>–</a:t>
            </a:r>
            <a:r>
              <a:rPr sz="2325" baseline="16129" dirty="0">
                <a:latin typeface="Lucida Sans Unicode"/>
                <a:cs typeface="Lucida Sans Unicode"/>
              </a:rPr>
              <a:t>	</a:t>
            </a:r>
            <a:r>
              <a:rPr sz="2100" dirty="0">
                <a:solidFill>
                  <a:srgbClr val="454C4C"/>
                </a:solidFill>
                <a:latin typeface="Arial MT"/>
                <a:cs typeface="Arial MT"/>
              </a:rPr>
              <a:t>Enterprise</a:t>
            </a:r>
            <a:r>
              <a:rPr sz="2100" spc="100" dirty="0">
                <a:solidFill>
                  <a:srgbClr val="454C4C"/>
                </a:solidFill>
                <a:latin typeface="Arial MT"/>
                <a:cs typeface="Arial MT"/>
              </a:rPr>
              <a:t> </a:t>
            </a:r>
            <a:r>
              <a:rPr sz="2100" spc="-10" dirty="0">
                <a:solidFill>
                  <a:srgbClr val="454C4C"/>
                </a:solidFill>
                <a:latin typeface="Arial MT"/>
                <a:cs typeface="Arial MT"/>
              </a:rPr>
              <a:t>Repository </a:t>
            </a:r>
            <a:r>
              <a:rPr sz="2100" dirty="0">
                <a:solidFill>
                  <a:srgbClr val="454C4C"/>
                </a:solidFill>
                <a:latin typeface="Arial MT"/>
                <a:cs typeface="Arial MT"/>
              </a:rPr>
              <a:t>Support</a:t>
            </a:r>
            <a:r>
              <a:rPr sz="2100" spc="215" dirty="0">
                <a:solidFill>
                  <a:srgbClr val="454C4C"/>
                </a:solidFill>
                <a:latin typeface="Arial MT"/>
                <a:cs typeface="Arial MT"/>
              </a:rPr>
              <a:t> </a:t>
            </a:r>
            <a:r>
              <a:rPr sz="2100" spc="-10" dirty="0">
                <a:solidFill>
                  <a:srgbClr val="454C4C"/>
                </a:solidFill>
                <a:latin typeface="Arial MT"/>
                <a:cs typeface="Arial MT"/>
              </a:rPr>
              <a:t>Tickets</a:t>
            </a:r>
            <a:endParaRPr sz="2100">
              <a:latin typeface="Arial MT"/>
              <a:cs typeface="Arial MT"/>
            </a:endParaRPr>
          </a:p>
        </p:txBody>
      </p:sp>
      <p:sp>
        <p:nvSpPr>
          <p:cNvPr id="12" name="object 12"/>
          <p:cNvSpPr txBox="1"/>
          <p:nvPr/>
        </p:nvSpPr>
        <p:spPr>
          <a:xfrm>
            <a:off x="5247614" y="345843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13" name="object 13"/>
          <p:cNvSpPr txBox="1"/>
          <p:nvPr/>
        </p:nvSpPr>
        <p:spPr>
          <a:xfrm>
            <a:off x="5571616" y="3191808"/>
            <a:ext cx="3545840" cy="1127125"/>
          </a:xfrm>
          <a:prstGeom prst="rect">
            <a:avLst/>
          </a:prstGeom>
        </p:spPr>
        <p:txBody>
          <a:bodyPr vert="horz" wrap="square" lIns="0" tIns="197485" rIns="0" bIns="0" rtlCol="0">
            <a:spAutoFit/>
          </a:bodyPr>
          <a:lstStyle/>
          <a:p>
            <a:pPr marL="12700">
              <a:lnSpc>
                <a:spcPct val="100000"/>
              </a:lnSpc>
              <a:spcBef>
                <a:spcPts val="1555"/>
              </a:spcBef>
            </a:pPr>
            <a:r>
              <a:rPr sz="2400" spc="-10" dirty="0">
                <a:solidFill>
                  <a:srgbClr val="454C4C"/>
                </a:solidFill>
                <a:latin typeface="Arial MT"/>
                <a:cs typeface="Arial MT"/>
              </a:rPr>
              <a:t>Training</a:t>
            </a:r>
            <a:r>
              <a:rPr sz="2400" spc="-95" dirty="0">
                <a:solidFill>
                  <a:srgbClr val="454C4C"/>
                </a:solidFill>
                <a:latin typeface="Arial MT"/>
                <a:cs typeface="Arial MT"/>
              </a:rPr>
              <a:t> </a:t>
            </a:r>
            <a:r>
              <a:rPr sz="2400" spc="-10" dirty="0">
                <a:solidFill>
                  <a:srgbClr val="454C4C"/>
                </a:solidFill>
                <a:latin typeface="Arial MT"/>
                <a:cs typeface="Arial MT"/>
              </a:rPr>
              <a:t>courses</a:t>
            </a:r>
            <a:endParaRPr sz="2400">
              <a:latin typeface="Arial MT"/>
              <a:cs typeface="Arial MT"/>
            </a:endParaRPr>
          </a:p>
          <a:p>
            <a:pPr marL="12700">
              <a:lnSpc>
                <a:spcPct val="100000"/>
              </a:lnSpc>
              <a:spcBef>
                <a:spcPts val="1455"/>
              </a:spcBef>
            </a:pPr>
            <a:r>
              <a:rPr sz="2400" dirty="0">
                <a:solidFill>
                  <a:srgbClr val="454C4C"/>
                </a:solidFill>
                <a:latin typeface="Arial MT"/>
                <a:cs typeface="Arial MT"/>
              </a:rPr>
              <a:t>Global</a:t>
            </a:r>
            <a:r>
              <a:rPr sz="2400" spc="-95" dirty="0">
                <a:solidFill>
                  <a:srgbClr val="454C4C"/>
                </a:solidFill>
                <a:latin typeface="Arial MT"/>
                <a:cs typeface="Arial MT"/>
              </a:rPr>
              <a:t> </a:t>
            </a:r>
            <a:r>
              <a:rPr sz="2400" spc="60" dirty="0">
                <a:solidFill>
                  <a:srgbClr val="454C4C"/>
                </a:solidFill>
                <a:latin typeface="Arial MT"/>
                <a:cs typeface="Arial MT"/>
              </a:rPr>
              <a:t>partner</a:t>
            </a:r>
            <a:r>
              <a:rPr sz="2400" spc="-95" dirty="0">
                <a:solidFill>
                  <a:srgbClr val="454C4C"/>
                </a:solidFill>
                <a:latin typeface="Arial MT"/>
                <a:cs typeface="Arial MT"/>
              </a:rPr>
              <a:t> </a:t>
            </a:r>
            <a:r>
              <a:rPr sz="2400" spc="-10" dirty="0">
                <a:solidFill>
                  <a:srgbClr val="454C4C"/>
                </a:solidFill>
                <a:latin typeface="Arial MT"/>
                <a:cs typeface="Arial MT"/>
              </a:rPr>
              <a:t>ecosystem</a:t>
            </a:r>
            <a:endParaRPr sz="2400">
              <a:latin typeface="Arial MT"/>
              <a:cs typeface="Arial MT"/>
            </a:endParaRPr>
          </a:p>
        </p:txBody>
      </p:sp>
      <p:sp>
        <p:nvSpPr>
          <p:cNvPr id="14" name="object 14"/>
          <p:cNvSpPr txBox="1"/>
          <p:nvPr/>
        </p:nvSpPr>
        <p:spPr>
          <a:xfrm>
            <a:off x="5247614" y="400923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0" dirty="0"/>
              <a:t>About</a:t>
            </a:r>
            <a:r>
              <a:rPr spc="-320" dirty="0"/>
              <a:t> </a:t>
            </a:r>
            <a:r>
              <a:rPr dirty="0"/>
              <a:t>Proxmox</a:t>
            </a:r>
            <a:r>
              <a:rPr spc="-315" dirty="0"/>
              <a:t> </a:t>
            </a:r>
            <a:r>
              <a:rPr spc="-295" dirty="0"/>
              <a:t>—</a:t>
            </a:r>
            <a:r>
              <a:rPr spc="-315" dirty="0"/>
              <a:t> </a:t>
            </a:r>
            <a:r>
              <a:rPr spc="70" dirty="0"/>
              <a:t>History</a:t>
            </a:r>
          </a:p>
        </p:txBody>
      </p:sp>
      <p:pic>
        <p:nvPicPr>
          <p:cNvPr id="3" name="object 3"/>
          <p:cNvPicPr/>
          <p:nvPr/>
        </p:nvPicPr>
        <p:blipFill>
          <a:blip r:embed="rId2" cstate="print"/>
          <a:stretch>
            <a:fillRect/>
          </a:stretch>
        </p:blipFill>
        <p:spPr>
          <a:xfrm>
            <a:off x="203758" y="1050489"/>
            <a:ext cx="8999994" cy="4280395"/>
          </a:xfrm>
          <a:prstGeom prst="rect">
            <a:avLst/>
          </a:prstGeom>
        </p:spPr>
      </p:pic>
      <p:sp>
        <p:nvSpPr>
          <p:cNvPr id="4" name="object 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object 5"/>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11</a:t>
            </a:fld>
            <a:r>
              <a:rPr spc="-10" dirty="0"/>
              <a:t>/60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994" y="2628362"/>
            <a:ext cx="4536440" cy="1152525"/>
          </a:xfrm>
          <a:custGeom>
            <a:avLst/>
            <a:gdLst/>
            <a:ahLst/>
            <a:cxnLst/>
            <a:rect l="l" t="t" r="r" b="b"/>
            <a:pathLst>
              <a:path w="4536440" h="1152525">
                <a:moveTo>
                  <a:pt x="4454283" y="0"/>
                </a:moveTo>
                <a:lnTo>
                  <a:pt x="82080" y="0"/>
                </a:lnTo>
                <a:lnTo>
                  <a:pt x="71369" y="731"/>
                </a:lnTo>
                <a:lnTo>
                  <a:pt x="32074" y="17098"/>
                </a:lnTo>
                <a:lnTo>
                  <a:pt x="6381" y="50749"/>
                </a:lnTo>
                <a:lnTo>
                  <a:pt x="0" y="82080"/>
                </a:lnTo>
                <a:lnTo>
                  <a:pt x="0" y="1070279"/>
                </a:lnTo>
                <a:lnTo>
                  <a:pt x="11163" y="1111326"/>
                </a:lnTo>
                <a:lnTo>
                  <a:pt x="41046" y="1141209"/>
                </a:lnTo>
                <a:lnTo>
                  <a:pt x="82080" y="1152359"/>
                </a:lnTo>
                <a:lnTo>
                  <a:pt x="4454283" y="1152359"/>
                </a:lnTo>
                <a:lnTo>
                  <a:pt x="4495330" y="1141209"/>
                </a:lnTo>
                <a:lnTo>
                  <a:pt x="4525200" y="1111326"/>
                </a:lnTo>
                <a:lnTo>
                  <a:pt x="4536363" y="1070279"/>
                </a:lnTo>
                <a:lnTo>
                  <a:pt x="4536008" y="82080"/>
                </a:lnTo>
                <a:lnTo>
                  <a:pt x="4536363" y="82080"/>
                </a:lnTo>
                <a:lnTo>
                  <a:pt x="4525200" y="41046"/>
                </a:lnTo>
                <a:lnTo>
                  <a:pt x="4495330" y="11163"/>
                </a:lnTo>
                <a:lnTo>
                  <a:pt x="4464999" y="731"/>
                </a:lnTo>
                <a:lnTo>
                  <a:pt x="4454283" y="0"/>
                </a:lnTo>
                <a:close/>
              </a:path>
            </a:pathLst>
          </a:custGeom>
          <a:solidFill>
            <a:srgbClr val="F2EEEC"/>
          </a:solidFill>
        </p:spPr>
        <p:txBody>
          <a:bodyPr wrap="square" lIns="0" tIns="0" rIns="0" bIns="0" rtlCol="0"/>
          <a:lstStyle/>
          <a:p>
            <a:endParaRPr/>
          </a:p>
        </p:txBody>
      </p:sp>
      <p:sp>
        <p:nvSpPr>
          <p:cNvPr id="3" name="object 3"/>
          <p:cNvSpPr/>
          <p:nvPr/>
        </p:nvSpPr>
        <p:spPr>
          <a:xfrm>
            <a:off x="467994" y="1346043"/>
            <a:ext cx="4536440" cy="1152525"/>
          </a:xfrm>
          <a:custGeom>
            <a:avLst/>
            <a:gdLst/>
            <a:ahLst/>
            <a:cxnLst/>
            <a:rect l="l" t="t" r="r" b="b"/>
            <a:pathLst>
              <a:path w="4536440" h="1152525">
                <a:moveTo>
                  <a:pt x="4454283" y="0"/>
                </a:moveTo>
                <a:lnTo>
                  <a:pt x="82080" y="0"/>
                </a:lnTo>
                <a:lnTo>
                  <a:pt x="71369" y="731"/>
                </a:lnTo>
                <a:lnTo>
                  <a:pt x="32074" y="17098"/>
                </a:lnTo>
                <a:lnTo>
                  <a:pt x="6381" y="50749"/>
                </a:lnTo>
                <a:lnTo>
                  <a:pt x="0" y="82080"/>
                </a:lnTo>
                <a:lnTo>
                  <a:pt x="0" y="1070279"/>
                </a:lnTo>
                <a:lnTo>
                  <a:pt x="11163" y="1111326"/>
                </a:lnTo>
                <a:lnTo>
                  <a:pt x="41046" y="1141209"/>
                </a:lnTo>
                <a:lnTo>
                  <a:pt x="82080" y="1152359"/>
                </a:lnTo>
                <a:lnTo>
                  <a:pt x="4454283" y="1152359"/>
                </a:lnTo>
                <a:lnTo>
                  <a:pt x="4495330" y="1141209"/>
                </a:lnTo>
                <a:lnTo>
                  <a:pt x="4525200" y="1111326"/>
                </a:lnTo>
                <a:lnTo>
                  <a:pt x="4536363" y="1070279"/>
                </a:lnTo>
                <a:lnTo>
                  <a:pt x="4536008" y="82080"/>
                </a:lnTo>
                <a:lnTo>
                  <a:pt x="4536363" y="82080"/>
                </a:lnTo>
                <a:lnTo>
                  <a:pt x="4525200" y="41046"/>
                </a:lnTo>
                <a:lnTo>
                  <a:pt x="4495330" y="11163"/>
                </a:lnTo>
                <a:lnTo>
                  <a:pt x="4464999" y="731"/>
                </a:lnTo>
                <a:lnTo>
                  <a:pt x="4454283" y="0"/>
                </a:lnTo>
                <a:close/>
              </a:path>
            </a:pathLst>
          </a:custGeom>
          <a:solidFill>
            <a:srgbClr val="F2EEEC"/>
          </a:solidFill>
        </p:spPr>
        <p:txBody>
          <a:bodyPr wrap="square" lIns="0" tIns="0" rIns="0" bIns="0" rtlCol="0"/>
          <a:lstStyle/>
          <a:p>
            <a:endParaRPr/>
          </a:p>
        </p:txBody>
      </p:sp>
      <p:sp>
        <p:nvSpPr>
          <p:cNvPr id="4" name="object 4"/>
          <p:cNvSpPr/>
          <p:nvPr/>
        </p:nvSpPr>
        <p:spPr>
          <a:xfrm>
            <a:off x="467994" y="3888012"/>
            <a:ext cx="4536440" cy="1152525"/>
          </a:xfrm>
          <a:custGeom>
            <a:avLst/>
            <a:gdLst/>
            <a:ahLst/>
            <a:cxnLst/>
            <a:rect l="l" t="t" r="r" b="b"/>
            <a:pathLst>
              <a:path w="4536440" h="1152525">
                <a:moveTo>
                  <a:pt x="4454283" y="0"/>
                </a:moveTo>
                <a:lnTo>
                  <a:pt x="82080" y="0"/>
                </a:lnTo>
                <a:lnTo>
                  <a:pt x="71369" y="731"/>
                </a:lnTo>
                <a:lnTo>
                  <a:pt x="32074" y="17086"/>
                </a:lnTo>
                <a:lnTo>
                  <a:pt x="6381" y="50736"/>
                </a:lnTo>
                <a:lnTo>
                  <a:pt x="0" y="82080"/>
                </a:lnTo>
                <a:lnTo>
                  <a:pt x="0" y="1070279"/>
                </a:lnTo>
                <a:lnTo>
                  <a:pt x="11163" y="1111313"/>
                </a:lnTo>
                <a:lnTo>
                  <a:pt x="41046" y="1141196"/>
                </a:lnTo>
                <a:lnTo>
                  <a:pt x="82080" y="1152359"/>
                </a:lnTo>
                <a:lnTo>
                  <a:pt x="4454283" y="1152359"/>
                </a:lnTo>
                <a:lnTo>
                  <a:pt x="4495330" y="1141196"/>
                </a:lnTo>
                <a:lnTo>
                  <a:pt x="4525200" y="1111313"/>
                </a:lnTo>
                <a:lnTo>
                  <a:pt x="4536363" y="1070279"/>
                </a:lnTo>
                <a:lnTo>
                  <a:pt x="4536008" y="82080"/>
                </a:lnTo>
                <a:lnTo>
                  <a:pt x="4536363" y="82080"/>
                </a:lnTo>
                <a:lnTo>
                  <a:pt x="4525200" y="41033"/>
                </a:lnTo>
                <a:lnTo>
                  <a:pt x="4495330" y="11150"/>
                </a:lnTo>
                <a:lnTo>
                  <a:pt x="4464999" y="731"/>
                </a:lnTo>
                <a:lnTo>
                  <a:pt x="4454283" y="0"/>
                </a:lnTo>
                <a:close/>
              </a:path>
            </a:pathLst>
          </a:custGeom>
          <a:solidFill>
            <a:srgbClr val="F2EEEC"/>
          </a:solidFill>
        </p:spPr>
        <p:txBody>
          <a:bodyPr wrap="square" lIns="0" tIns="0" rIns="0" bIns="0" rtlCol="0"/>
          <a:lstStyle/>
          <a:p>
            <a:endParaRPr/>
          </a:p>
        </p:txBody>
      </p:sp>
      <p:grpSp>
        <p:nvGrpSpPr>
          <p:cNvPr id="5" name="object 5"/>
          <p:cNvGrpSpPr/>
          <p:nvPr/>
        </p:nvGrpSpPr>
        <p:grpSpPr>
          <a:xfrm>
            <a:off x="5400001" y="1368014"/>
            <a:ext cx="4536440" cy="3672840"/>
            <a:chOff x="5400001" y="1368014"/>
            <a:chExt cx="4536440" cy="3672840"/>
          </a:xfrm>
        </p:grpSpPr>
        <p:sp>
          <p:nvSpPr>
            <p:cNvPr id="6" name="object 6"/>
            <p:cNvSpPr/>
            <p:nvPr/>
          </p:nvSpPr>
          <p:spPr>
            <a:xfrm>
              <a:off x="5400001" y="1368014"/>
              <a:ext cx="4536440" cy="3672840"/>
            </a:xfrm>
            <a:custGeom>
              <a:avLst/>
              <a:gdLst/>
              <a:ahLst/>
              <a:cxnLst/>
              <a:rect l="l" t="t" r="r" b="b"/>
              <a:pathLst>
                <a:path w="4536440" h="3672840">
                  <a:moveTo>
                    <a:pt x="4411802" y="0"/>
                  </a:moveTo>
                  <a:lnTo>
                    <a:pt x="124561" y="0"/>
                  </a:lnTo>
                  <a:lnTo>
                    <a:pt x="108249" y="1067"/>
                  </a:lnTo>
                  <a:lnTo>
                    <a:pt x="62280" y="16548"/>
                  </a:lnTo>
                  <a:lnTo>
                    <a:pt x="25729" y="48646"/>
                  </a:lnTo>
                  <a:lnTo>
                    <a:pt x="4227" y="92332"/>
                  </a:lnTo>
                  <a:lnTo>
                    <a:pt x="0" y="3547795"/>
                  </a:lnTo>
                  <a:lnTo>
                    <a:pt x="1067" y="3564106"/>
                  </a:lnTo>
                  <a:lnTo>
                    <a:pt x="16560" y="3610076"/>
                  </a:lnTo>
                  <a:lnTo>
                    <a:pt x="48654" y="3646625"/>
                  </a:lnTo>
                  <a:lnTo>
                    <a:pt x="92340" y="3668125"/>
                  </a:lnTo>
                  <a:lnTo>
                    <a:pt x="124561" y="3672357"/>
                  </a:lnTo>
                  <a:lnTo>
                    <a:pt x="4411802" y="3672357"/>
                  </a:lnTo>
                  <a:lnTo>
                    <a:pt x="4459386" y="3662938"/>
                  </a:lnTo>
                  <a:lnTo>
                    <a:pt x="4499910" y="3635903"/>
                  </a:lnTo>
                  <a:lnTo>
                    <a:pt x="4526944" y="3595380"/>
                  </a:lnTo>
                  <a:lnTo>
                    <a:pt x="4536363" y="3547795"/>
                  </a:lnTo>
                  <a:lnTo>
                    <a:pt x="4536363" y="124193"/>
                  </a:lnTo>
                  <a:lnTo>
                    <a:pt x="4526944" y="76964"/>
                  </a:lnTo>
                  <a:lnTo>
                    <a:pt x="4499910" y="36441"/>
                  </a:lnTo>
                  <a:lnTo>
                    <a:pt x="4459386" y="9408"/>
                  </a:lnTo>
                  <a:lnTo>
                    <a:pt x="4411802" y="0"/>
                  </a:lnTo>
                  <a:close/>
                </a:path>
              </a:pathLst>
            </a:custGeom>
            <a:solidFill>
              <a:srgbClr val="F2EEEC"/>
            </a:solidFill>
          </p:spPr>
          <p:txBody>
            <a:bodyPr wrap="square" lIns="0" tIns="0" rIns="0" bIns="0" rtlCol="0"/>
            <a:lstStyle/>
            <a:p>
              <a:endParaRPr/>
            </a:p>
          </p:txBody>
        </p:sp>
        <p:sp>
          <p:nvSpPr>
            <p:cNvPr id="7" name="object 7"/>
            <p:cNvSpPr/>
            <p:nvPr/>
          </p:nvSpPr>
          <p:spPr>
            <a:xfrm>
              <a:off x="5974194" y="2773803"/>
              <a:ext cx="3384550" cy="1588135"/>
            </a:xfrm>
            <a:custGeom>
              <a:avLst/>
              <a:gdLst/>
              <a:ahLst/>
              <a:cxnLst/>
              <a:rect l="l" t="t" r="r" b="b"/>
              <a:pathLst>
                <a:path w="3384550" h="1588135">
                  <a:moveTo>
                    <a:pt x="1692008" y="1587969"/>
                  </a:moveTo>
                  <a:lnTo>
                    <a:pt x="0" y="1587969"/>
                  </a:lnTo>
                  <a:lnTo>
                    <a:pt x="0" y="0"/>
                  </a:lnTo>
                  <a:lnTo>
                    <a:pt x="3384003" y="0"/>
                  </a:lnTo>
                  <a:lnTo>
                    <a:pt x="3384003" y="1587969"/>
                  </a:lnTo>
                  <a:lnTo>
                    <a:pt x="1692008" y="1587969"/>
                  </a:lnTo>
                  <a:close/>
                </a:path>
              </a:pathLst>
            </a:custGeom>
            <a:ln w="3175">
              <a:solidFill>
                <a:srgbClr val="FFFFFF"/>
              </a:solidFill>
            </a:ln>
          </p:spPr>
          <p:txBody>
            <a:bodyPr wrap="square" lIns="0" tIns="0" rIns="0" bIns="0" rtlCol="0"/>
            <a:lstStyle/>
            <a:p>
              <a:endParaRPr/>
            </a:p>
          </p:txBody>
        </p:sp>
        <p:sp>
          <p:nvSpPr>
            <p:cNvPr id="8" name="object 8"/>
            <p:cNvSpPr/>
            <p:nvPr/>
          </p:nvSpPr>
          <p:spPr>
            <a:xfrm>
              <a:off x="5974194" y="2773447"/>
              <a:ext cx="3384550" cy="1642110"/>
            </a:xfrm>
            <a:custGeom>
              <a:avLst/>
              <a:gdLst/>
              <a:ahLst/>
              <a:cxnLst/>
              <a:rect l="l" t="t" r="r" b="b"/>
              <a:pathLst>
                <a:path w="3384550" h="1642110">
                  <a:moveTo>
                    <a:pt x="0" y="1587957"/>
                  </a:moveTo>
                  <a:lnTo>
                    <a:pt x="597966" y="1587957"/>
                  </a:lnTo>
                </a:path>
                <a:path w="3384550" h="1642110">
                  <a:moveTo>
                    <a:pt x="852131" y="1587957"/>
                  </a:moveTo>
                  <a:lnTo>
                    <a:pt x="1081443" y="1587957"/>
                  </a:lnTo>
                </a:path>
                <a:path w="3384550" h="1642110">
                  <a:moveTo>
                    <a:pt x="1335608" y="1587957"/>
                  </a:moveTo>
                  <a:lnTo>
                    <a:pt x="1564919" y="1587957"/>
                  </a:lnTo>
                </a:path>
                <a:path w="3384550" h="1642110">
                  <a:moveTo>
                    <a:pt x="1818728" y="1587957"/>
                  </a:moveTo>
                  <a:lnTo>
                    <a:pt x="2048040" y="1587957"/>
                  </a:lnTo>
                </a:path>
                <a:path w="3384550" h="1642110">
                  <a:moveTo>
                    <a:pt x="2302205" y="1587957"/>
                  </a:moveTo>
                  <a:lnTo>
                    <a:pt x="2531529" y="1587957"/>
                  </a:lnTo>
                </a:path>
                <a:path w="3384550" h="1642110">
                  <a:moveTo>
                    <a:pt x="2785681" y="1587957"/>
                  </a:moveTo>
                  <a:lnTo>
                    <a:pt x="3015005" y="1587957"/>
                  </a:lnTo>
                </a:path>
                <a:path w="3384550" h="1642110">
                  <a:moveTo>
                    <a:pt x="3269170" y="1587957"/>
                  </a:moveTo>
                  <a:lnTo>
                    <a:pt x="3384003" y="1587957"/>
                  </a:lnTo>
                </a:path>
                <a:path w="3384550" h="1642110">
                  <a:moveTo>
                    <a:pt x="0" y="1411198"/>
                  </a:moveTo>
                  <a:lnTo>
                    <a:pt x="1564919" y="1411198"/>
                  </a:lnTo>
                </a:path>
                <a:path w="3384550" h="1642110">
                  <a:moveTo>
                    <a:pt x="1818728" y="1411198"/>
                  </a:moveTo>
                  <a:lnTo>
                    <a:pt x="2048040" y="1411198"/>
                  </a:lnTo>
                </a:path>
                <a:path w="3384550" h="1642110">
                  <a:moveTo>
                    <a:pt x="2302205" y="1411198"/>
                  </a:moveTo>
                  <a:lnTo>
                    <a:pt x="2531529" y="1411198"/>
                  </a:lnTo>
                </a:path>
                <a:path w="3384550" h="1642110">
                  <a:moveTo>
                    <a:pt x="2785681" y="1411198"/>
                  </a:moveTo>
                  <a:lnTo>
                    <a:pt x="3015005" y="1411198"/>
                  </a:lnTo>
                </a:path>
                <a:path w="3384550" h="1642110">
                  <a:moveTo>
                    <a:pt x="3269170" y="1411198"/>
                  </a:moveTo>
                  <a:lnTo>
                    <a:pt x="3384003" y="1411198"/>
                  </a:lnTo>
                </a:path>
                <a:path w="3384550" h="1642110">
                  <a:moveTo>
                    <a:pt x="0" y="1234795"/>
                  </a:moveTo>
                  <a:lnTo>
                    <a:pt x="2048040" y="1234795"/>
                  </a:lnTo>
                </a:path>
                <a:path w="3384550" h="1642110">
                  <a:moveTo>
                    <a:pt x="2302205" y="1234795"/>
                  </a:moveTo>
                  <a:lnTo>
                    <a:pt x="2531529" y="1234795"/>
                  </a:lnTo>
                </a:path>
                <a:path w="3384550" h="1642110">
                  <a:moveTo>
                    <a:pt x="2785681" y="1234795"/>
                  </a:moveTo>
                  <a:lnTo>
                    <a:pt x="3015005" y="1234795"/>
                  </a:lnTo>
                </a:path>
                <a:path w="3384550" h="1642110">
                  <a:moveTo>
                    <a:pt x="3269170" y="1234795"/>
                  </a:moveTo>
                  <a:lnTo>
                    <a:pt x="3384003" y="1234795"/>
                  </a:lnTo>
                </a:path>
                <a:path w="3384550" h="1642110">
                  <a:moveTo>
                    <a:pt x="0" y="1058405"/>
                  </a:moveTo>
                  <a:lnTo>
                    <a:pt x="2531529" y="1058405"/>
                  </a:lnTo>
                </a:path>
                <a:path w="3384550" h="1642110">
                  <a:moveTo>
                    <a:pt x="2785681" y="1058405"/>
                  </a:moveTo>
                  <a:lnTo>
                    <a:pt x="3015005" y="1058405"/>
                  </a:lnTo>
                </a:path>
                <a:path w="3384550" h="1642110">
                  <a:moveTo>
                    <a:pt x="3269170" y="1058405"/>
                  </a:moveTo>
                  <a:lnTo>
                    <a:pt x="3384003" y="1058405"/>
                  </a:lnTo>
                </a:path>
                <a:path w="3384550" h="1642110">
                  <a:moveTo>
                    <a:pt x="0" y="882002"/>
                  </a:moveTo>
                  <a:lnTo>
                    <a:pt x="2531529" y="882002"/>
                  </a:lnTo>
                </a:path>
                <a:path w="3384550" h="1642110">
                  <a:moveTo>
                    <a:pt x="2785681" y="882002"/>
                  </a:moveTo>
                  <a:lnTo>
                    <a:pt x="3015005" y="882002"/>
                  </a:lnTo>
                </a:path>
                <a:path w="3384550" h="1642110">
                  <a:moveTo>
                    <a:pt x="3269170" y="882002"/>
                  </a:moveTo>
                  <a:lnTo>
                    <a:pt x="3384003" y="882002"/>
                  </a:lnTo>
                </a:path>
                <a:path w="3384550" h="1642110">
                  <a:moveTo>
                    <a:pt x="0" y="705599"/>
                  </a:moveTo>
                  <a:lnTo>
                    <a:pt x="3015005" y="705599"/>
                  </a:lnTo>
                </a:path>
                <a:path w="3384550" h="1642110">
                  <a:moveTo>
                    <a:pt x="3269170" y="705599"/>
                  </a:moveTo>
                  <a:lnTo>
                    <a:pt x="3384003" y="705599"/>
                  </a:lnTo>
                </a:path>
                <a:path w="3384550" h="1642110">
                  <a:moveTo>
                    <a:pt x="0" y="529196"/>
                  </a:moveTo>
                  <a:lnTo>
                    <a:pt x="3015005" y="529196"/>
                  </a:lnTo>
                </a:path>
                <a:path w="3384550" h="1642110">
                  <a:moveTo>
                    <a:pt x="3269170" y="529196"/>
                  </a:moveTo>
                  <a:lnTo>
                    <a:pt x="3384003" y="529196"/>
                  </a:lnTo>
                </a:path>
                <a:path w="3384550" h="1642110">
                  <a:moveTo>
                    <a:pt x="0" y="352806"/>
                  </a:moveTo>
                  <a:lnTo>
                    <a:pt x="3015005" y="352806"/>
                  </a:lnTo>
                </a:path>
                <a:path w="3384550" h="1642110">
                  <a:moveTo>
                    <a:pt x="3269170" y="352806"/>
                  </a:moveTo>
                  <a:lnTo>
                    <a:pt x="3384003" y="352806"/>
                  </a:lnTo>
                </a:path>
                <a:path w="3384550" h="1642110">
                  <a:moveTo>
                    <a:pt x="0" y="176402"/>
                  </a:moveTo>
                  <a:lnTo>
                    <a:pt x="3015005" y="176402"/>
                  </a:lnTo>
                </a:path>
                <a:path w="3384550" h="1642110">
                  <a:moveTo>
                    <a:pt x="3269170" y="176402"/>
                  </a:moveTo>
                  <a:lnTo>
                    <a:pt x="3384003" y="176402"/>
                  </a:lnTo>
                </a:path>
                <a:path w="3384550" h="1642110">
                  <a:moveTo>
                    <a:pt x="3384003" y="0"/>
                  </a:moveTo>
                  <a:lnTo>
                    <a:pt x="0" y="0"/>
                  </a:lnTo>
                </a:path>
                <a:path w="3384550" h="1642110">
                  <a:moveTo>
                    <a:pt x="0" y="1641957"/>
                  </a:moveTo>
                  <a:lnTo>
                    <a:pt x="0" y="1587957"/>
                  </a:lnTo>
                </a:path>
                <a:path w="3384550" h="1642110">
                  <a:moveTo>
                    <a:pt x="0" y="1641957"/>
                  </a:moveTo>
                  <a:lnTo>
                    <a:pt x="0" y="1587957"/>
                  </a:lnTo>
                </a:path>
                <a:path w="3384550" h="1642110">
                  <a:moveTo>
                    <a:pt x="483488" y="1641957"/>
                  </a:moveTo>
                  <a:lnTo>
                    <a:pt x="483488" y="1587957"/>
                  </a:lnTo>
                </a:path>
                <a:path w="3384550" h="1642110">
                  <a:moveTo>
                    <a:pt x="483488" y="1641957"/>
                  </a:moveTo>
                  <a:lnTo>
                    <a:pt x="483488" y="1587957"/>
                  </a:lnTo>
                </a:path>
                <a:path w="3384550" h="1642110">
                  <a:moveTo>
                    <a:pt x="966965" y="1641957"/>
                  </a:moveTo>
                  <a:lnTo>
                    <a:pt x="966965" y="1587957"/>
                  </a:lnTo>
                </a:path>
                <a:path w="3384550" h="1642110">
                  <a:moveTo>
                    <a:pt x="966965" y="1641957"/>
                  </a:moveTo>
                  <a:lnTo>
                    <a:pt x="966965" y="1587957"/>
                  </a:lnTo>
                </a:path>
                <a:path w="3384550" h="1642110">
                  <a:moveTo>
                    <a:pt x="1450441" y="1641957"/>
                  </a:moveTo>
                  <a:lnTo>
                    <a:pt x="1450441" y="1587957"/>
                  </a:lnTo>
                </a:path>
                <a:path w="3384550" h="1642110">
                  <a:moveTo>
                    <a:pt x="1450441" y="1641957"/>
                  </a:moveTo>
                  <a:lnTo>
                    <a:pt x="1450441" y="1587957"/>
                  </a:lnTo>
                </a:path>
                <a:path w="3384550" h="1642110">
                  <a:moveTo>
                    <a:pt x="1933562" y="1641957"/>
                  </a:moveTo>
                  <a:lnTo>
                    <a:pt x="1933562" y="1587957"/>
                  </a:lnTo>
                </a:path>
                <a:path w="3384550" h="1642110">
                  <a:moveTo>
                    <a:pt x="1933562" y="1641957"/>
                  </a:moveTo>
                  <a:lnTo>
                    <a:pt x="1933562" y="1587957"/>
                  </a:lnTo>
                </a:path>
                <a:path w="3384550" h="1642110">
                  <a:moveTo>
                    <a:pt x="2417051" y="1641957"/>
                  </a:moveTo>
                  <a:lnTo>
                    <a:pt x="2417051" y="1587957"/>
                  </a:lnTo>
                </a:path>
                <a:path w="3384550" h="1642110">
                  <a:moveTo>
                    <a:pt x="2417051" y="1641957"/>
                  </a:moveTo>
                  <a:lnTo>
                    <a:pt x="2417051" y="1587957"/>
                  </a:lnTo>
                </a:path>
                <a:path w="3384550" h="1642110">
                  <a:moveTo>
                    <a:pt x="2900527" y="1641957"/>
                  </a:moveTo>
                  <a:lnTo>
                    <a:pt x="2900527" y="1587957"/>
                  </a:lnTo>
                </a:path>
                <a:path w="3384550" h="1642110">
                  <a:moveTo>
                    <a:pt x="2900527" y="1641957"/>
                  </a:moveTo>
                  <a:lnTo>
                    <a:pt x="2900527" y="1587957"/>
                  </a:lnTo>
                </a:path>
                <a:path w="3384550" h="1642110">
                  <a:moveTo>
                    <a:pt x="3384003" y="1641957"/>
                  </a:moveTo>
                  <a:lnTo>
                    <a:pt x="3384003" y="1587957"/>
                  </a:lnTo>
                </a:path>
                <a:path w="3384550" h="1642110">
                  <a:moveTo>
                    <a:pt x="3384003" y="1641957"/>
                  </a:moveTo>
                  <a:lnTo>
                    <a:pt x="3384003" y="1587957"/>
                  </a:lnTo>
                </a:path>
                <a:path w="3384550" h="1642110">
                  <a:moveTo>
                    <a:pt x="0" y="1587957"/>
                  </a:moveTo>
                  <a:lnTo>
                    <a:pt x="597966" y="1587957"/>
                  </a:lnTo>
                </a:path>
                <a:path w="3384550" h="1642110">
                  <a:moveTo>
                    <a:pt x="852131" y="1587957"/>
                  </a:moveTo>
                  <a:lnTo>
                    <a:pt x="1081443" y="1587957"/>
                  </a:lnTo>
                </a:path>
                <a:path w="3384550" h="1642110">
                  <a:moveTo>
                    <a:pt x="1335608" y="1587957"/>
                  </a:moveTo>
                  <a:lnTo>
                    <a:pt x="1564919" y="1587957"/>
                  </a:lnTo>
                </a:path>
                <a:path w="3384550" h="1642110">
                  <a:moveTo>
                    <a:pt x="1818728" y="1587957"/>
                  </a:moveTo>
                  <a:lnTo>
                    <a:pt x="2048040" y="1587957"/>
                  </a:lnTo>
                </a:path>
                <a:path w="3384550" h="1642110">
                  <a:moveTo>
                    <a:pt x="2302205" y="1587957"/>
                  </a:moveTo>
                  <a:lnTo>
                    <a:pt x="2531529" y="1587957"/>
                  </a:lnTo>
                </a:path>
                <a:path w="3384550" h="1642110">
                  <a:moveTo>
                    <a:pt x="2785681" y="1587957"/>
                  </a:moveTo>
                  <a:lnTo>
                    <a:pt x="3015005" y="1587957"/>
                  </a:lnTo>
                </a:path>
                <a:path w="3384550" h="1642110">
                  <a:moveTo>
                    <a:pt x="3269170" y="1587957"/>
                  </a:moveTo>
                  <a:lnTo>
                    <a:pt x="3384003" y="1587957"/>
                  </a:lnTo>
                </a:path>
              </a:pathLst>
            </a:custGeom>
            <a:ln w="3175">
              <a:solidFill>
                <a:srgbClr val="B2B2B2"/>
              </a:solidFill>
            </a:ln>
          </p:spPr>
          <p:txBody>
            <a:bodyPr wrap="square" lIns="0" tIns="0" rIns="0" bIns="0" rtlCol="0"/>
            <a:lstStyle/>
            <a:p>
              <a:endParaRPr/>
            </a:p>
          </p:txBody>
        </p:sp>
        <p:sp>
          <p:nvSpPr>
            <p:cNvPr id="9" name="object 9"/>
            <p:cNvSpPr/>
            <p:nvPr/>
          </p:nvSpPr>
          <p:spPr>
            <a:xfrm>
              <a:off x="6088684" y="2949850"/>
              <a:ext cx="3154680" cy="1411605"/>
            </a:xfrm>
            <a:custGeom>
              <a:avLst/>
              <a:gdLst/>
              <a:ahLst/>
              <a:cxnLst/>
              <a:rect l="l" t="t" r="r" b="b"/>
              <a:pathLst>
                <a:path w="3154679" h="1411604">
                  <a:moveTo>
                    <a:pt x="254152" y="1375918"/>
                  </a:moveTo>
                  <a:lnTo>
                    <a:pt x="0" y="1375918"/>
                  </a:lnTo>
                  <a:lnTo>
                    <a:pt x="0" y="1411554"/>
                  </a:lnTo>
                  <a:lnTo>
                    <a:pt x="254152" y="1411554"/>
                  </a:lnTo>
                  <a:lnTo>
                    <a:pt x="254152" y="1375918"/>
                  </a:lnTo>
                  <a:close/>
                </a:path>
                <a:path w="3154679" h="1411604">
                  <a:moveTo>
                    <a:pt x="737641" y="1332001"/>
                  </a:moveTo>
                  <a:lnTo>
                    <a:pt x="483476" y="1332001"/>
                  </a:lnTo>
                  <a:lnTo>
                    <a:pt x="483476" y="1411554"/>
                  </a:lnTo>
                  <a:lnTo>
                    <a:pt x="737641" y="1411554"/>
                  </a:lnTo>
                  <a:lnTo>
                    <a:pt x="737641" y="1332001"/>
                  </a:lnTo>
                  <a:close/>
                </a:path>
                <a:path w="3154679" h="1411604">
                  <a:moveTo>
                    <a:pt x="1221117" y="1252435"/>
                  </a:moveTo>
                  <a:lnTo>
                    <a:pt x="966952" y="1252435"/>
                  </a:lnTo>
                  <a:lnTo>
                    <a:pt x="966952" y="1411554"/>
                  </a:lnTo>
                  <a:lnTo>
                    <a:pt x="1221117" y="1411554"/>
                  </a:lnTo>
                  <a:lnTo>
                    <a:pt x="1221117" y="1252435"/>
                  </a:lnTo>
                  <a:close/>
                </a:path>
                <a:path w="3154679" h="1411604">
                  <a:moveTo>
                    <a:pt x="1704238" y="1146594"/>
                  </a:moveTo>
                  <a:lnTo>
                    <a:pt x="1450428" y="1146594"/>
                  </a:lnTo>
                  <a:lnTo>
                    <a:pt x="1450428" y="1411554"/>
                  </a:lnTo>
                  <a:lnTo>
                    <a:pt x="1704238" y="1411554"/>
                  </a:lnTo>
                  <a:lnTo>
                    <a:pt x="1704238" y="1146594"/>
                  </a:lnTo>
                  <a:close/>
                </a:path>
                <a:path w="3154679" h="1411604">
                  <a:moveTo>
                    <a:pt x="2187714" y="1014476"/>
                  </a:moveTo>
                  <a:lnTo>
                    <a:pt x="1933549" y="1014476"/>
                  </a:lnTo>
                  <a:lnTo>
                    <a:pt x="1933549" y="1411554"/>
                  </a:lnTo>
                  <a:lnTo>
                    <a:pt x="2187714" y="1411554"/>
                  </a:lnTo>
                  <a:lnTo>
                    <a:pt x="2187714" y="1014476"/>
                  </a:lnTo>
                  <a:close/>
                </a:path>
                <a:path w="3154679" h="1411604">
                  <a:moveTo>
                    <a:pt x="2671191" y="705599"/>
                  </a:moveTo>
                  <a:lnTo>
                    <a:pt x="2417038" y="705599"/>
                  </a:lnTo>
                  <a:lnTo>
                    <a:pt x="2417038" y="1411554"/>
                  </a:lnTo>
                  <a:lnTo>
                    <a:pt x="2671191" y="1411554"/>
                  </a:lnTo>
                  <a:lnTo>
                    <a:pt x="2671191" y="705599"/>
                  </a:lnTo>
                  <a:close/>
                </a:path>
                <a:path w="3154679" h="1411604">
                  <a:moveTo>
                    <a:pt x="3154680" y="0"/>
                  </a:moveTo>
                  <a:lnTo>
                    <a:pt x="2900515" y="0"/>
                  </a:lnTo>
                  <a:lnTo>
                    <a:pt x="2900515" y="1411554"/>
                  </a:lnTo>
                  <a:lnTo>
                    <a:pt x="3154680" y="1411554"/>
                  </a:lnTo>
                  <a:lnTo>
                    <a:pt x="3154680" y="0"/>
                  </a:lnTo>
                  <a:close/>
                </a:path>
              </a:pathLst>
            </a:custGeom>
            <a:solidFill>
              <a:srgbClr val="FF9000"/>
            </a:solidFill>
          </p:spPr>
          <p:txBody>
            <a:bodyPr wrap="square" lIns="0" tIns="0" rIns="0" bIns="0" rtlCol="0"/>
            <a:lstStyle/>
            <a:p>
              <a:endParaRPr/>
            </a:p>
          </p:txBody>
        </p:sp>
      </p:grpSp>
      <p:sp>
        <p:nvSpPr>
          <p:cNvPr id="10" name="object 10"/>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0" dirty="0"/>
              <a:t>About</a:t>
            </a:r>
            <a:r>
              <a:rPr spc="-330" dirty="0"/>
              <a:t> </a:t>
            </a:r>
            <a:r>
              <a:rPr dirty="0"/>
              <a:t>Proxmox</a:t>
            </a:r>
            <a:r>
              <a:rPr spc="-330" dirty="0"/>
              <a:t> </a:t>
            </a:r>
            <a:r>
              <a:rPr spc="-295" dirty="0"/>
              <a:t>—</a:t>
            </a:r>
            <a:r>
              <a:rPr spc="-325" dirty="0"/>
              <a:t> </a:t>
            </a:r>
            <a:r>
              <a:rPr spc="-45" dirty="0"/>
              <a:t>Some</a:t>
            </a:r>
            <a:r>
              <a:rPr spc="-330" dirty="0"/>
              <a:t> </a:t>
            </a:r>
            <a:r>
              <a:rPr spc="-10" dirty="0"/>
              <a:t>Facts</a:t>
            </a:r>
          </a:p>
        </p:txBody>
      </p:sp>
      <p:sp>
        <p:nvSpPr>
          <p:cNvPr id="11" name="object 11"/>
          <p:cNvSpPr txBox="1"/>
          <p:nvPr/>
        </p:nvSpPr>
        <p:spPr>
          <a:xfrm>
            <a:off x="6117475" y="4426212"/>
            <a:ext cx="199390" cy="178435"/>
          </a:xfrm>
          <a:prstGeom prst="rect">
            <a:avLst/>
          </a:prstGeom>
        </p:spPr>
        <p:txBody>
          <a:bodyPr vert="horz" wrap="square" lIns="0" tIns="12700" rIns="0" bIns="0" rtlCol="0">
            <a:spAutoFit/>
          </a:bodyPr>
          <a:lstStyle/>
          <a:p>
            <a:pPr marL="12700">
              <a:lnSpc>
                <a:spcPct val="100000"/>
              </a:lnSpc>
              <a:spcBef>
                <a:spcPts val="100"/>
              </a:spcBef>
            </a:pPr>
            <a:r>
              <a:rPr sz="1000" spc="-25" dirty="0">
                <a:latin typeface="Arial MT"/>
                <a:cs typeface="Arial MT"/>
              </a:rPr>
              <a:t>3.0</a:t>
            </a:r>
            <a:endParaRPr sz="1000">
              <a:latin typeface="Arial MT"/>
              <a:cs typeface="Arial MT"/>
            </a:endParaRPr>
          </a:p>
        </p:txBody>
      </p:sp>
      <p:sp>
        <p:nvSpPr>
          <p:cNvPr id="12" name="object 12"/>
          <p:cNvSpPr txBox="1"/>
          <p:nvPr/>
        </p:nvSpPr>
        <p:spPr>
          <a:xfrm>
            <a:off x="6600914" y="4426212"/>
            <a:ext cx="199390" cy="178435"/>
          </a:xfrm>
          <a:prstGeom prst="rect">
            <a:avLst/>
          </a:prstGeom>
        </p:spPr>
        <p:txBody>
          <a:bodyPr vert="horz" wrap="square" lIns="0" tIns="12700" rIns="0" bIns="0" rtlCol="0">
            <a:spAutoFit/>
          </a:bodyPr>
          <a:lstStyle/>
          <a:p>
            <a:pPr marL="12700">
              <a:lnSpc>
                <a:spcPct val="100000"/>
              </a:lnSpc>
              <a:spcBef>
                <a:spcPts val="100"/>
              </a:spcBef>
            </a:pPr>
            <a:r>
              <a:rPr sz="1000" spc="-25" dirty="0">
                <a:latin typeface="Arial MT"/>
                <a:cs typeface="Arial MT"/>
              </a:rPr>
              <a:t>4.0</a:t>
            </a:r>
            <a:endParaRPr sz="1000">
              <a:latin typeface="Arial MT"/>
              <a:cs typeface="Arial MT"/>
            </a:endParaRPr>
          </a:p>
        </p:txBody>
      </p:sp>
      <p:sp>
        <p:nvSpPr>
          <p:cNvPr id="13" name="object 13"/>
          <p:cNvSpPr txBox="1"/>
          <p:nvPr/>
        </p:nvSpPr>
        <p:spPr>
          <a:xfrm>
            <a:off x="8534641" y="4426212"/>
            <a:ext cx="199390" cy="178435"/>
          </a:xfrm>
          <a:prstGeom prst="rect">
            <a:avLst/>
          </a:prstGeom>
        </p:spPr>
        <p:txBody>
          <a:bodyPr vert="horz" wrap="square" lIns="0" tIns="12700" rIns="0" bIns="0" rtlCol="0">
            <a:spAutoFit/>
          </a:bodyPr>
          <a:lstStyle/>
          <a:p>
            <a:pPr marL="12700">
              <a:lnSpc>
                <a:spcPct val="100000"/>
              </a:lnSpc>
              <a:spcBef>
                <a:spcPts val="100"/>
              </a:spcBef>
            </a:pPr>
            <a:r>
              <a:rPr sz="1000" spc="-25" dirty="0">
                <a:latin typeface="Arial MT"/>
                <a:cs typeface="Arial MT"/>
              </a:rPr>
              <a:t>8.0</a:t>
            </a:r>
            <a:endParaRPr sz="1000">
              <a:latin typeface="Arial MT"/>
              <a:cs typeface="Arial MT"/>
            </a:endParaRPr>
          </a:p>
        </p:txBody>
      </p:sp>
      <p:sp>
        <p:nvSpPr>
          <p:cNvPr id="14" name="object 14"/>
          <p:cNvSpPr txBox="1"/>
          <p:nvPr/>
        </p:nvSpPr>
        <p:spPr>
          <a:xfrm>
            <a:off x="9018066" y="4426212"/>
            <a:ext cx="199390" cy="178435"/>
          </a:xfrm>
          <a:prstGeom prst="rect">
            <a:avLst/>
          </a:prstGeom>
        </p:spPr>
        <p:txBody>
          <a:bodyPr vert="horz" wrap="square" lIns="0" tIns="12700" rIns="0" bIns="0" rtlCol="0">
            <a:spAutoFit/>
          </a:bodyPr>
          <a:lstStyle/>
          <a:p>
            <a:pPr marL="12700">
              <a:lnSpc>
                <a:spcPct val="100000"/>
              </a:lnSpc>
              <a:spcBef>
                <a:spcPts val="100"/>
              </a:spcBef>
            </a:pPr>
            <a:r>
              <a:rPr sz="1000" spc="-25" dirty="0">
                <a:latin typeface="Arial MT"/>
                <a:cs typeface="Arial MT"/>
              </a:rPr>
              <a:t>9.0</a:t>
            </a:r>
            <a:endParaRPr sz="1000">
              <a:latin typeface="Arial MT"/>
              <a:cs typeface="Arial MT"/>
            </a:endParaRPr>
          </a:p>
        </p:txBody>
      </p:sp>
      <p:sp>
        <p:nvSpPr>
          <p:cNvPr id="15" name="object 15"/>
          <p:cNvSpPr/>
          <p:nvPr/>
        </p:nvSpPr>
        <p:spPr>
          <a:xfrm>
            <a:off x="7029716" y="4797014"/>
            <a:ext cx="76200" cy="76200"/>
          </a:xfrm>
          <a:custGeom>
            <a:avLst/>
            <a:gdLst/>
            <a:ahLst/>
            <a:cxnLst/>
            <a:rect l="l" t="t" r="r" b="b"/>
            <a:pathLst>
              <a:path w="76200" h="76200">
                <a:moveTo>
                  <a:pt x="75958" y="0"/>
                </a:moveTo>
                <a:lnTo>
                  <a:pt x="0" y="0"/>
                </a:lnTo>
                <a:lnTo>
                  <a:pt x="0" y="75958"/>
                </a:lnTo>
                <a:lnTo>
                  <a:pt x="37807" y="75958"/>
                </a:lnTo>
                <a:lnTo>
                  <a:pt x="75958" y="75958"/>
                </a:lnTo>
                <a:lnTo>
                  <a:pt x="75958" y="0"/>
                </a:lnTo>
                <a:close/>
              </a:path>
            </a:pathLst>
          </a:custGeom>
          <a:solidFill>
            <a:srgbClr val="FF9000"/>
          </a:solidFill>
        </p:spPr>
        <p:txBody>
          <a:bodyPr wrap="square" lIns="0" tIns="0" rIns="0" bIns="0" rtlCol="0"/>
          <a:lstStyle/>
          <a:p>
            <a:endParaRPr/>
          </a:p>
        </p:txBody>
      </p:sp>
      <p:sp>
        <p:nvSpPr>
          <p:cNvPr id="16" name="object 16"/>
          <p:cNvSpPr txBox="1"/>
          <p:nvPr/>
        </p:nvSpPr>
        <p:spPr>
          <a:xfrm>
            <a:off x="7084339" y="4426212"/>
            <a:ext cx="1232535" cy="494665"/>
          </a:xfrm>
          <a:prstGeom prst="rect">
            <a:avLst/>
          </a:prstGeom>
        </p:spPr>
        <p:txBody>
          <a:bodyPr vert="horz" wrap="square" lIns="0" tIns="12700" rIns="0" bIns="0" rtlCol="0">
            <a:spAutoFit/>
          </a:bodyPr>
          <a:lstStyle/>
          <a:p>
            <a:pPr marL="12700">
              <a:lnSpc>
                <a:spcPct val="100000"/>
              </a:lnSpc>
              <a:spcBef>
                <a:spcPts val="100"/>
              </a:spcBef>
              <a:tabLst>
                <a:tab pos="495934" algn="l"/>
                <a:tab pos="979169" algn="l"/>
              </a:tabLst>
            </a:pPr>
            <a:r>
              <a:rPr sz="1000" spc="-25" dirty="0">
                <a:latin typeface="Arial MT"/>
                <a:cs typeface="Arial MT"/>
              </a:rPr>
              <a:t>5.1</a:t>
            </a:r>
            <a:r>
              <a:rPr sz="1000" dirty="0">
                <a:latin typeface="Arial MT"/>
                <a:cs typeface="Arial MT"/>
              </a:rPr>
              <a:t>	</a:t>
            </a:r>
            <a:r>
              <a:rPr sz="1000" spc="-25" dirty="0">
                <a:latin typeface="Arial MT"/>
                <a:cs typeface="Arial MT"/>
              </a:rPr>
              <a:t>6.0</a:t>
            </a:r>
            <a:r>
              <a:rPr sz="1000" dirty="0">
                <a:latin typeface="Arial MT"/>
                <a:cs typeface="Arial MT"/>
              </a:rPr>
              <a:t>	</a:t>
            </a:r>
            <a:r>
              <a:rPr sz="1000" spc="-25" dirty="0">
                <a:latin typeface="Arial MT"/>
                <a:cs typeface="Arial MT"/>
              </a:rPr>
              <a:t>7.0</a:t>
            </a:r>
            <a:endParaRPr sz="1000">
              <a:latin typeface="Arial MT"/>
              <a:cs typeface="Arial MT"/>
            </a:endParaRPr>
          </a:p>
          <a:p>
            <a:pPr>
              <a:lnSpc>
                <a:spcPct val="100000"/>
              </a:lnSpc>
              <a:spcBef>
                <a:spcPts val="140"/>
              </a:spcBef>
            </a:pPr>
            <a:endParaRPr sz="1000">
              <a:latin typeface="Arial MT"/>
              <a:cs typeface="Arial MT"/>
            </a:endParaRPr>
          </a:p>
          <a:p>
            <a:pPr marL="57150">
              <a:lnSpc>
                <a:spcPct val="100000"/>
              </a:lnSpc>
            </a:pPr>
            <a:r>
              <a:rPr sz="1000" spc="-45" dirty="0">
                <a:latin typeface="Lucida Sans Unicode"/>
                <a:cs typeface="Lucida Sans Unicode"/>
              </a:rPr>
              <a:t>Proxmox</a:t>
            </a:r>
            <a:r>
              <a:rPr sz="1000" spc="-50" dirty="0">
                <a:latin typeface="Lucida Sans Unicode"/>
                <a:cs typeface="Lucida Sans Unicode"/>
              </a:rPr>
              <a:t> </a:t>
            </a:r>
            <a:r>
              <a:rPr sz="1000" spc="-40" dirty="0">
                <a:latin typeface="Lucida Sans Unicode"/>
                <a:cs typeface="Lucida Sans Unicode"/>
              </a:rPr>
              <a:t>VE</a:t>
            </a:r>
            <a:r>
              <a:rPr sz="1000" spc="-55" dirty="0">
                <a:latin typeface="Lucida Sans Unicode"/>
                <a:cs typeface="Lucida Sans Unicode"/>
              </a:rPr>
              <a:t> </a:t>
            </a:r>
            <a:r>
              <a:rPr sz="1000" spc="-25" dirty="0">
                <a:latin typeface="Lucida Sans Unicode"/>
                <a:cs typeface="Lucida Sans Unicode"/>
              </a:rPr>
              <a:t>Version</a:t>
            </a:r>
            <a:endParaRPr sz="1000">
              <a:latin typeface="Lucida Sans Unicode"/>
              <a:cs typeface="Lucida Sans Unicode"/>
            </a:endParaRPr>
          </a:p>
        </p:txBody>
      </p:sp>
      <p:sp>
        <p:nvSpPr>
          <p:cNvPr id="17" name="object 17"/>
          <p:cNvSpPr txBox="1"/>
          <p:nvPr/>
        </p:nvSpPr>
        <p:spPr>
          <a:xfrm>
            <a:off x="5837301" y="1562311"/>
            <a:ext cx="2294255" cy="1117600"/>
          </a:xfrm>
          <a:prstGeom prst="rect">
            <a:avLst/>
          </a:prstGeom>
        </p:spPr>
        <p:txBody>
          <a:bodyPr vert="horz" wrap="square" lIns="0" tIns="12700" rIns="0" bIns="0" rtlCol="0">
            <a:spAutoFit/>
          </a:bodyPr>
          <a:lstStyle/>
          <a:p>
            <a:pPr marL="12700">
              <a:lnSpc>
                <a:spcPts val="3620"/>
              </a:lnSpc>
              <a:spcBef>
                <a:spcPts val="100"/>
              </a:spcBef>
            </a:pPr>
            <a:r>
              <a:rPr sz="3200" b="1" spc="-105" dirty="0">
                <a:solidFill>
                  <a:srgbClr val="FF9000"/>
                </a:solidFill>
                <a:latin typeface="Tahoma"/>
                <a:cs typeface="Tahoma"/>
              </a:rPr>
              <a:t>1,600,000</a:t>
            </a:r>
            <a:endParaRPr sz="3200">
              <a:latin typeface="Tahoma"/>
              <a:cs typeface="Tahoma"/>
            </a:endParaRPr>
          </a:p>
          <a:p>
            <a:pPr marL="48260">
              <a:lnSpc>
                <a:spcPts val="2180"/>
              </a:lnSpc>
            </a:pPr>
            <a:r>
              <a:rPr sz="2000" spc="-25" dirty="0">
                <a:solidFill>
                  <a:srgbClr val="454C4C"/>
                </a:solidFill>
                <a:latin typeface="Arial MT"/>
                <a:cs typeface="Arial MT"/>
              </a:rPr>
              <a:t>Active</a:t>
            </a:r>
            <a:r>
              <a:rPr sz="2000" spc="-110" dirty="0">
                <a:solidFill>
                  <a:srgbClr val="454C4C"/>
                </a:solidFill>
                <a:latin typeface="Arial MT"/>
                <a:cs typeface="Arial MT"/>
              </a:rPr>
              <a:t> </a:t>
            </a:r>
            <a:r>
              <a:rPr sz="2000" spc="-20" dirty="0">
                <a:solidFill>
                  <a:srgbClr val="454C4C"/>
                </a:solidFill>
                <a:latin typeface="Arial MT"/>
                <a:cs typeface="Arial MT"/>
              </a:rPr>
              <a:t>Hosts</a:t>
            </a:r>
            <a:endParaRPr sz="2000">
              <a:latin typeface="Arial MT"/>
              <a:cs typeface="Arial MT"/>
            </a:endParaRPr>
          </a:p>
          <a:p>
            <a:pPr marL="1379220">
              <a:lnSpc>
                <a:spcPct val="100000"/>
              </a:lnSpc>
              <a:spcBef>
                <a:spcPts val="1240"/>
              </a:spcBef>
            </a:pPr>
            <a:r>
              <a:rPr sz="1300" spc="-10" dirty="0">
                <a:latin typeface="Arial MT"/>
                <a:cs typeface="Arial MT"/>
              </a:rPr>
              <a:t>Active</a:t>
            </a:r>
            <a:r>
              <a:rPr sz="1300" spc="-55" dirty="0">
                <a:latin typeface="Arial MT"/>
                <a:cs typeface="Arial MT"/>
              </a:rPr>
              <a:t> </a:t>
            </a:r>
            <a:r>
              <a:rPr sz="1300" spc="-10" dirty="0">
                <a:latin typeface="Arial MT"/>
                <a:cs typeface="Arial MT"/>
              </a:rPr>
              <a:t>Hosts</a:t>
            </a:r>
            <a:endParaRPr sz="1300">
              <a:latin typeface="Arial MT"/>
              <a:cs typeface="Arial MT"/>
            </a:endParaRPr>
          </a:p>
        </p:txBody>
      </p:sp>
      <p:sp>
        <p:nvSpPr>
          <p:cNvPr id="18" name="object 18"/>
          <p:cNvSpPr txBox="1"/>
          <p:nvPr/>
        </p:nvSpPr>
        <p:spPr>
          <a:xfrm>
            <a:off x="1517294" y="1576345"/>
            <a:ext cx="732790" cy="513715"/>
          </a:xfrm>
          <a:prstGeom prst="rect">
            <a:avLst/>
          </a:prstGeom>
        </p:spPr>
        <p:txBody>
          <a:bodyPr vert="horz" wrap="square" lIns="0" tIns="12700" rIns="0" bIns="0" rtlCol="0">
            <a:spAutoFit/>
          </a:bodyPr>
          <a:lstStyle/>
          <a:p>
            <a:pPr marL="12700">
              <a:lnSpc>
                <a:spcPct val="100000"/>
              </a:lnSpc>
              <a:spcBef>
                <a:spcPts val="100"/>
              </a:spcBef>
            </a:pPr>
            <a:r>
              <a:rPr sz="3200" b="1" spc="-170" dirty="0">
                <a:solidFill>
                  <a:srgbClr val="FF9000"/>
                </a:solidFill>
                <a:latin typeface="Tahoma"/>
                <a:cs typeface="Tahoma"/>
              </a:rPr>
              <a:t>142</a:t>
            </a:r>
            <a:endParaRPr sz="3200">
              <a:latin typeface="Tahoma"/>
              <a:cs typeface="Tahoma"/>
            </a:endParaRPr>
          </a:p>
        </p:txBody>
      </p:sp>
      <p:sp>
        <p:nvSpPr>
          <p:cNvPr id="19" name="object 19"/>
          <p:cNvSpPr txBox="1"/>
          <p:nvPr/>
        </p:nvSpPr>
        <p:spPr>
          <a:xfrm>
            <a:off x="1517294" y="2764354"/>
            <a:ext cx="1957070" cy="762000"/>
          </a:xfrm>
          <a:prstGeom prst="rect">
            <a:avLst/>
          </a:prstGeom>
        </p:spPr>
        <p:txBody>
          <a:bodyPr vert="horz" wrap="square" lIns="0" tIns="12700" rIns="0" bIns="0" rtlCol="0">
            <a:spAutoFit/>
          </a:bodyPr>
          <a:lstStyle/>
          <a:p>
            <a:pPr marL="12700">
              <a:lnSpc>
                <a:spcPts val="3620"/>
              </a:lnSpc>
              <a:spcBef>
                <a:spcPts val="100"/>
              </a:spcBef>
            </a:pPr>
            <a:r>
              <a:rPr sz="3200" b="1" spc="-65" dirty="0">
                <a:solidFill>
                  <a:srgbClr val="FF9000"/>
                </a:solidFill>
                <a:latin typeface="Tahoma"/>
                <a:cs typeface="Tahoma"/>
              </a:rPr>
              <a:t>225,000</a:t>
            </a:r>
            <a:endParaRPr sz="3200">
              <a:latin typeface="Tahoma"/>
              <a:cs typeface="Tahoma"/>
            </a:endParaRPr>
          </a:p>
          <a:p>
            <a:pPr marL="31115">
              <a:lnSpc>
                <a:spcPts val="2180"/>
              </a:lnSpc>
            </a:pPr>
            <a:r>
              <a:rPr sz="2000" dirty="0">
                <a:solidFill>
                  <a:srgbClr val="454C4C"/>
                </a:solidFill>
                <a:latin typeface="Arial MT"/>
                <a:cs typeface="Arial MT"/>
              </a:rPr>
              <a:t>Forum</a:t>
            </a:r>
            <a:r>
              <a:rPr sz="2000" spc="40" dirty="0">
                <a:solidFill>
                  <a:srgbClr val="454C4C"/>
                </a:solidFill>
                <a:latin typeface="Arial MT"/>
                <a:cs typeface="Arial MT"/>
              </a:rPr>
              <a:t> </a:t>
            </a:r>
            <a:r>
              <a:rPr sz="2000" spc="-10" dirty="0">
                <a:solidFill>
                  <a:srgbClr val="454C4C"/>
                </a:solidFill>
                <a:latin typeface="Arial MT"/>
                <a:cs typeface="Arial MT"/>
              </a:rPr>
              <a:t>members</a:t>
            </a:r>
            <a:endParaRPr sz="2000">
              <a:latin typeface="Arial MT"/>
              <a:cs typeface="Arial MT"/>
            </a:endParaRPr>
          </a:p>
        </p:txBody>
      </p:sp>
      <p:sp>
        <p:nvSpPr>
          <p:cNvPr id="20" name="object 20"/>
          <p:cNvSpPr txBox="1"/>
          <p:nvPr/>
        </p:nvSpPr>
        <p:spPr>
          <a:xfrm>
            <a:off x="1517294" y="4040623"/>
            <a:ext cx="3049270" cy="717550"/>
          </a:xfrm>
          <a:prstGeom prst="rect">
            <a:avLst/>
          </a:prstGeom>
        </p:spPr>
        <p:txBody>
          <a:bodyPr vert="horz" wrap="square" lIns="0" tIns="12700" rIns="0" bIns="0" rtlCol="0">
            <a:spAutoFit/>
          </a:bodyPr>
          <a:lstStyle/>
          <a:p>
            <a:pPr marL="12700" marR="5080">
              <a:lnSpc>
                <a:spcPct val="113500"/>
              </a:lnSpc>
              <a:spcBef>
                <a:spcPts val="100"/>
              </a:spcBef>
            </a:pPr>
            <a:r>
              <a:rPr sz="2000" dirty="0">
                <a:solidFill>
                  <a:srgbClr val="454C4C"/>
                </a:solidFill>
                <a:latin typeface="Arial MT"/>
                <a:cs typeface="Arial MT"/>
              </a:rPr>
              <a:t>Enterprises</a:t>
            </a:r>
            <a:r>
              <a:rPr sz="2000" spc="-25" dirty="0">
                <a:solidFill>
                  <a:srgbClr val="454C4C"/>
                </a:solidFill>
                <a:latin typeface="Arial MT"/>
                <a:cs typeface="Arial MT"/>
              </a:rPr>
              <a:t> </a:t>
            </a:r>
            <a:r>
              <a:rPr sz="2000" dirty="0">
                <a:solidFill>
                  <a:srgbClr val="454C4C"/>
                </a:solidFill>
                <a:latin typeface="Arial MT"/>
                <a:cs typeface="Arial MT"/>
              </a:rPr>
              <a:t>of</a:t>
            </a:r>
            <a:r>
              <a:rPr sz="2000" spc="-25" dirty="0">
                <a:solidFill>
                  <a:srgbClr val="454C4C"/>
                </a:solidFill>
                <a:latin typeface="Arial MT"/>
                <a:cs typeface="Arial MT"/>
              </a:rPr>
              <a:t> </a:t>
            </a:r>
            <a:r>
              <a:rPr sz="2000" dirty="0">
                <a:solidFill>
                  <a:srgbClr val="454C4C"/>
                </a:solidFill>
                <a:latin typeface="Arial MT"/>
                <a:cs typeface="Arial MT"/>
              </a:rPr>
              <a:t>all</a:t>
            </a:r>
            <a:r>
              <a:rPr sz="2000" spc="-25" dirty="0">
                <a:solidFill>
                  <a:srgbClr val="454C4C"/>
                </a:solidFill>
                <a:latin typeface="Arial MT"/>
                <a:cs typeface="Arial MT"/>
              </a:rPr>
              <a:t> </a:t>
            </a:r>
            <a:r>
              <a:rPr sz="2000" spc="-50" dirty="0">
                <a:solidFill>
                  <a:srgbClr val="454C4C"/>
                </a:solidFill>
                <a:latin typeface="Arial MT"/>
                <a:cs typeface="Arial MT"/>
              </a:rPr>
              <a:t>sizes</a:t>
            </a:r>
            <a:r>
              <a:rPr sz="2000" spc="-25" dirty="0">
                <a:solidFill>
                  <a:srgbClr val="454C4C"/>
                </a:solidFill>
                <a:latin typeface="Arial MT"/>
                <a:cs typeface="Arial MT"/>
              </a:rPr>
              <a:t> and </a:t>
            </a:r>
            <a:r>
              <a:rPr sz="2000" spc="-10" dirty="0">
                <a:solidFill>
                  <a:srgbClr val="454C4C"/>
                </a:solidFill>
                <a:latin typeface="Arial MT"/>
                <a:cs typeface="Arial MT"/>
              </a:rPr>
              <a:t>industries</a:t>
            </a:r>
            <a:endParaRPr sz="2000">
              <a:latin typeface="Arial MT"/>
              <a:cs typeface="Arial MT"/>
            </a:endParaRPr>
          </a:p>
        </p:txBody>
      </p:sp>
      <p:sp>
        <p:nvSpPr>
          <p:cNvPr id="21" name="object 21"/>
          <p:cNvSpPr/>
          <p:nvPr/>
        </p:nvSpPr>
        <p:spPr>
          <a:xfrm>
            <a:off x="845997" y="4097892"/>
            <a:ext cx="360045" cy="312420"/>
          </a:xfrm>
          <a:custGeom>
            <a:avLst/>
            <a:gdLst/>
            <a:ahLst/>
            <a:cxnLst/>
            <a:rect l="l" t="t" r="r" b="b"/>
            <a:pathLst>
              <a:path w="360044" h="312420">
                <a:moveTo>
                  <a:pt x="350278" y="287997"/>
                </a:moveTo>
                <a:lnTo>
                  <a:pt x="9728" y="287997"/>
                </a:lnTo>
                <a:lnTo>
                  <a:pt x="7924" y="288721"/>
                </a:lnTo>
                <a:lnTo>
                  <a:pt x="0" y="298081"/>
                </a:lnTo>
                <a:lnTo>
                  <a:pt x="0" y="302399"/>
                </a:lnTo>
                <a:lnTo>
                  <a:pt x="9728" y="312115"/>
                </a:lnTo>
                <a:lnTo>
                  <a:pt x="350278" y="312115"/>
                </a:lnTo>
                <a:lnTo>
                  <a:pt x="360006" y="302399"/>
                </a:lnTo>
                <a:lnTo>
                  <a:pt x="360006" y="298081"/>
                </a:lnTo>
                <a:lnTo>
                  <a:pt x="350278" y="287997"/>
                </a:lnTo>
                <a:close/>
              </a:path>
              <a:path w="360044" h="312420">
                <a:moveTo>
                  <a:pt x="184327" y="0"/>
                </a:moveTo>
                <a:lnTo>
                  <a:pt x="175679" y="0"/>
                </a:lnTo>
                <a:lnTo>
                  <a:pt x="171716" y="1079"/>
                </a:lnTo>
                <a:lnTo>
                  <a:pt x="168122" y="3238"/>
                </a:lnTo>
                <a:lnTo>
                  <a:pt x="167398" y="3594"/>
                </a:lnTo>
                <a:lnTo>
                  <a:pt x="166687" y="4318"/>
                </a:lnTo>
                <a:lnTo>
                  <a:pt x="46799" y="84239"/>
                </a:lnTo>
                <a:lnTo>
                  <a:pt x="43560" y="86042"/>
                </a:lnTo>
                <a:lnTo>
                  <a:pt x="41046" y="88912"/>
                </a:lnTo>
                <a:lnTo>
                  <a:pt x="39242" y="92151"/>
                </a:lnTo>
                <a:lnTo>
                  <a:pt x="37084" y="95758"/>
                </a:lnTo>
                <a:lnTo>
                  <a:pt x="36004" y="99720"/>
                </a:lnTo>
                <a:lnTo>
                  <a:pt x="36004" y="287997"/>
                </a:lnTo>
                <a:lnTo>
                  <a:pt x="60121" y="287997"/>
                </a:lnTo>
                <a:lnTo>
                  <a:pt x="60121" y="104038"/>
                </a:lnTo>
                <a:lnTo>
                  <a:pt x="179997" y="24117"/>
                </a:lnTo>
                <a:lnTo>
                  <a:pt x="204127" y="24117"/>
                </a:lnTo>
                <a:lnTo>
                  <a:pt x="204127" y="19799"/>
                </a:lnTo>
                <a:lnTo>
                  <a:pt x="203047" y="15836"/>
                </a:lnTo>
                <a:lnTo>
                  <a:pt x="200875" y="12230"/>
                </a:lnTo>
                <a:lnTo>
                  <a:pt x="198716" y="8280"/>
                </a:lnTo>
                <a:lnTo>
                  <a:pt x="195478" y="5397"/>
                </a:lnTo>
                <a:lnTo>
                  <a:pt x="188277" y="1079"/>
                </a:lnTo>
                <a:lnTo>
                  <a:pt x="184327" y="0"/>
                </a:lnTo>
                <a:close/>
              </a:path>
              <a:path w="360044" h="312420">
                <a:moveTo>
                  <a:pt x="204127" y="24117"/>
                </a:moveTo>
                <a:lnTo>
                  <a:pt x="179997" y="24117"/>
                </a:lnTo>
                <a:lnTo>
                  <a:pt x="179997" y="287997"/>
                </a:lnTo>
                <a:lnTo>
                  <a:pt x="204127" y="287997"/>
                </a:lnTo>
                <a:lnTo>
                  <a:pt x="204127" y="120230"/>
                </a:lnTo>
                <a:lnTo>
                  <a:pt x="324002" y="120230"/>
                </a:lnTo>
                <a:lnTo>
                  <a:pt x="324002" y="115912"/>
                </a:lnTo>
                <a:lnTo>
                  <a:pt x="322922" y="111594"/>
                </a:lnTo>
                <a:lnTo>
                  <a:pt x="318604" y="104394"/>
                </a:lnTo>
                <a:lnTo>
                  <a:pt x="315722" y="101511"/>
                </a:lnTo>
                <a:lnTo>
                  <a:pt x="308521" y="97193"/>
                </a:lnTo>
                <a:lnTo>
                  <a:pt x="304203" y="96113"/>
                </a:lnTo>
                <a:lnTo>
                  <a:pt x="204127" y="96113"/>
                </a:lnTo>
                <a:lnTo>
                  <a:pt x="204127" y="24117"/>
                </a:lnTo>
                <a:close/>
              </a:path>
              <a:path w="360044" h="312420">
                <a:moveTo>
                  <a:pt x="324002" y="120230"/>
                </a:moveTo>
                <a:lnTo>
                  <a:pt x="299885" y="120230"/>
                </a:lnTo>
                <a:lnTo>
                  <a:pt x="299885" y="287997"/>
                </a:lnTo>
                <a:lnTo>
                  <a:pt x="324002" y="287997"/>
                </a:lnTo>
                <a:lnTo>
                  <a:pt x="324002" y="120230"/>
                </a:lnTo>
                <a:close/>
              </a:path>
              <a:path w="360044" h="312420">
                <a:moveTo>
                  <a:pt x="98285" y="216001"/>
                </a:moveTo>
                <a:lnTo>
                  <a:pt x="93967" y="216001"/>
                </a:lnTo>
                <a:lnTo>
                  <a:pt x="91808" y="216712"/>
                </a:lnTo>
                <a:lnTo>
                  <a:pt x="88201" y="218871"/>
                </a:lnTo>
                <a:lnTo>
                  <a:pt x="86766" y="220319"/>
                </a:lnTo>
                <a:lnTo>
                  <a:pt x="84607" y="223913"/>
                </a:lnTo>
                <a:lnTo>
                  <a:pt x="83883" y="226072"/>
                </a:lnTo>
                <a:lnTo>
                  <a:pt x="83883" y="254152"/>
                </a:lnTo>
                <a:lnTo>
                  <a:pt x="93967" y="264236"/>
                </a:lnTo>
                <a:lnTo>
                  <a:pt x="98285" y="264236"/>
                </a:lnTo>
                <a:lnTo>
                  <a:pt x="108000" y="254152"/>
                </a:lnTo>
                <a:lnTo>
                  <a:pt x="108000" y="226072"/>
                </a:lnTo>
                <a:lnTo>
                  <a:pt x="98285" y="216001"/>
                </a:lnTo>
                <a:close/>
              </a:path>
              <a:path w="360044" h="312420">
                <a:moveTo>
                  <a:pt x="146164" y="216001"/>
                </a:moveTo>
                <a:lnTo>
                  <a:pt x="141846" y="216001"/>
                </a:lnTo>
                <a:lnTo>
                  <a:pt x="139687" y="216712"/>
                </a:lnTo>
                <a:lnTo>
                  <a:pt x="136080" y="218871"/>
                </a:lnTo>
                <a:lnTo>
                  <a:pt x="134645" y="220319"/>
                </a:lnTo>
                <a:lnTo>
                  <a:pt x="132486" y="223913"/>
                </a:lnTo>
                <a:lnTo>
                  <a:pt x="132118" y="226072"/>
                </a:lnTo>
                <a:lnTo>
                  <a:pt x="132118" y="254152"/>
                </a:lnTo>
                <a:lnTo>
                  <a:pt x="141846" y="264236"/>
                </a:lnTo>
                <a:lnTo>
                  <a:pt x="146164" y="264236"/>
                </a:lnTo>
                <a:lnTo>
                  <a:pt x="155879" y="254152"/>
                </a:lnTo>
                <a:lnTo>
                  <a:pt x="155879" y="226072"/>
                </a:lnTo>
                <a:lnTo>
                  <a:pt x="146164" y="216001"/>
                </a:lnTo>
                <a:close/>
              </a:path>
              <a:path w="360044" h="312420">
                <a:moveTo>
                  <a:pt x="98285" y="132118"/>
                </a:moveTo>
                <a:lnTo>
                  <a:pt x="93967" y="132118"/>
                </a:lnTo>
                <a:lnTo>
                  <a:pt x="91808" y="132842"/>
                </a:lnTo>
                <a:lnTo>
                  <a:pt x="83883" y="141833"/>
                </a:lnTo>
                <a:lnTo>
                  <a:pt x="83883" y="170281"/>
                </a:lnTo>
                <a:lnTo>
                  <a:pt x="93967" y="179997"/>
                </a:lnTo>
                <a:lnTo>
                  <a:pt x="98285" y="179997"/>
                </a:lnTo>
                <a:lnTo>
                  <a:pt x="108000" y="170281"/>
                </a:lnTo>
                <a:lnTo>
                  <a:pt x="108000" y="141833"/>
                </a:lnTo>
                <a:lnTo>
                  <a:pt x="98285" y="132118"/>
                </a:lnTo>
                <a:close/>
              </a:path>
              <a:path w="360044" h="312420">
                <a:moveTo>
                  <a:pt x="146164" y="132118"/>
                </a:moveTo>
                <a:lnTo>
                  <a:pt x="141846" y="132118"/>
                </a:lnTo>
                <a:lnTo>
                  <a:pt x="139687" y="132842"/>
                </a:lnTo>
                <a:lnTo>
                  <a:pt x="132118" y="141833"/>
                </a:lnTo>
                <a:lnTo>
                  <a:pt x="132118" y="170281"/>
                </a:lnTo>
                <a:lnTo>
                  <a:pt x="141846" y="179997"/>
                </a:lnTo>
                <a:lnTo>
                  <a:pt x="146164" y="179997"/>
                </a:lnTo>
                <a:lnTo>
                  <a:pt x="155879" y="170281"/>
                </a:lnTo>
                <a:lnTo>
                  <a:pt x="155879" y="141833"/>
                </a:lnTo>
                <a:lnTo>
                  <a:pt x="146164" y="132118"/>
                </a:lnTo>
                <a:close/>
              </a:path>
            </a:pathLst>
          </a:custGeom>
          <a:solidFill>
            <a:srgbClr val="000000"/>
          </a:solidFill>
        </p:spPr>
        <p:txBody>
          <a:bodyPr wrap="square" lIns="0" tIns="0" rIns="0" bIns="0" rtlCol="0"/>
          <a:lstStyle/>
          <a:p>
            <a:endParaRPr/>
          </a:p>
        </p:txBody>
      </p:sp>
      <p:sp>
        <p:nvSpPr>
          <p:cNvPr id="22" name="object 22"/>
          <p:cNvSpPr/>
          <p:nvPr/>
        </p:nvSpPr>
        <p:spPr>
          <a:xfrm>
            <a:off x="870115" y="1662134"/>
            <a:ext cx="311785" cy="311785"/>
          </a:xfrm>
          <a:custGeom>
            <a:avLst/>
            <a:gdLst/>
            <a:ahLst/>
            <a:cxnLst/>
            <a:rect l="l" t="t" r="r" b="b"/>
            <a:pathLst>
              <a:path w="311784" h="311785">
                <a:moveTo>
                  <a:pt x="155879" y="0"/>
                </a:moveTo>
                <a:lnTo>
                  <a:pt x="115473" y="5310"/>
                </a:lnTo>
                <a:lnTo>
                  <a:pt x="77762" y="20878"/>
                </a:lnTo>
                <a:lnTo>
                  <a:pt x="45543" y="45537"/>
                </a:lnTo>
                <a:lnTo>
                  <a:pt x="20878" y="77749"/>
                </a:lnTo>
                <a:lnTo>
                  <a:pt x="5301" y="115508"/>
                </a:lnTo>
                <a:lnTo>
                  <a:pt x="0" y="155879"/>
                </a:lnTo>
                <a:lnTo>
                  <a:pt x="1338" y="176284"/>
                </a:lnTo>
                <a:lnTo>
                  <a:pt x="11846" y="215614"/>
                </a:lnTo>
                <a:lnTo>
                  <a:pt x="32201" y="250984"/>
                </a:lnTo>
                <a:lnTo>
                  <a:pt x="60774" y="279558"/>
                </a:lnTo>
                <a:lnTo>
                  <a:pt x="96145" y="299913"/>
                </a:lnTo>
                <a:lnTo>
                  <a:pt x="135474" y="310420"/>
                </a:lnTo>
                <a:lnTo>
                  <a:pt x="155879" y="311759"/>
                </a:lnTo>
                <a:lnTo>
                  <a:pt x="176292" y="310420"/>
                </a:lnTo>
                <a:lnTo>
                  <a:pt x="196297" y="306449"/>
                </a:lnTo>
                <a:lnTo>
                  <a:pt x="215626" y="299913"/>
                </a:lnTo>
                <a:lnTo>
                  <a:pt x="234010" y="290880"/>
                </a:lnTo>
                <a:lnTo>
                  <a:pt x="243743" y="284391"/>
                </a:lnTo>
                <a:lnTo>
                  <a:pt x="125285" y="284391"/>
                </a:lnTo>
                <a:lnTo>
                  <a:pt x="116177" y="281692"/>
                </a:lnTo>
                <a:lnTo>
                  <a:pt x="75579" y="260582"/>
                </a:lnTo>
                <a:lnTo>
                  <a:pt x="41401" y="221754"/>
                </a:lnTo>
                <a:lnTo>
                  <a:pt x="39242" y="217792"/>
                </a:lnTo>
                <a:lnTo>
                  <a:pt x="38163" y="215988"/>
                </a:lnTo>
                <a:lnTo>
                  <a:pt x="299729" y="215988"/>
                </a:lnTo>
                <a:lnTo>
                  <a:pt x="299913" y="215614"/>
                </a:lnTo>
                <a:lnTo>
                  <a:pt x="306449" y="196286"/>
                </a:lnTo>
                <a:lnTo>
                  <a:pt x="307325" y="191871"/>
                </a:lnTo>
                <a:lnTo>
                  <a:pt x="28803" y="191871"/>
                </a:lnTo>
                <a:lnTo>
                  <a:pt x="26649" y="183108"/>
                </a:lnTo>
                <a:lnTo>
                  <a:pt x="25068" y="174142"/>
                </a:lnTo>
                <a:lnTo>
                  <a:pt x="24094" y="165043"/>
                </a:lnTo>
                <a:lnTo>
                  <a:pt x="23761" y="155879"/>
                </a:lnTo>
                <a:lnTo>
                  <a:pt x="24086" y="146909"/>
                </a:lnTo>
                <a:lnTo>
                  <a:pt x="25039" y="137872"/>
                </a:lnTo>
                <a:lnTo>
                  <a:pt x="25068" y="137606"/>
                </a:lnTo>
                <a:lnTo>
                  <a:pt x="26614" y="128838"/>
                </a:lnTo>
                <a:lnTo>
                  <a:pt x="26649" y="128638"/>
                </a:lnTo>
                <a:lnTo>
                  <a:pt x="28803" y="119875"/>
                </a:lnTo>
                <a:lnTo>
                  <a:pt x="307318" y="119875"/>
                </a:lnTo>
                <a:lnTo>
                  <a:pt x="306449" y="115508"/>
                </a:lnTo>
                <a:lnTo>
                  <a:pt x="299913" y="96288"/>
                </a:lnTo>
                <a:lnTo>
                  <a:pt x="299649" y="95757"/>
                </a:lnTo>
                <a:lnTo>
                  <a:pt x="38163" y="95757"/>
                </a:lnTo>
                <a:lnTo>
                  <a:pt x="39242" y="93954"/>
                </a:lnTo>
                <a:lnTo>
                  <a:pt x="62603" y="62590"/>
                </a:lnTo>
                <a:lnTo>
                  <a:pt x="98505" y="37074"/>
                </a:lnTo>
                <a:lnTo>
                  <a:pt x="125285" y="27355"/>
                </a:lnTo>
                <a:lnTo>
                  <a:pt x="243349" y="27355"/>
                </a:lnTo>
                <a:lnTo>
                  <a:pt x="233641" y="20878"/>
                </a:lnTo>
                <a:lnTo>
                  <a:pt x="215471" y="11846"/>
                </a:lnTo>
                <a:lnTo>
                  <a:pt x="196251" y="5310"/>
                </a:lnTo>
                <a:lnTo>
                  <a:pt x="176286" y="1338"/>
                </a:lnTo>
                <a:lnTo>
                  <a:pt x="155879" y="0"/>
                </a:lnTo>
                <a:close/>
              </a:path>
              <a:path w="311784" h="311785">
                <a:moveTo>
                  <a:pt x="117005" y="215988"/>
                </a:moveTo>
                <a:lnTo>
                  <a:pt x="91808" y="215988"/>
                </a:lnTo>
                <a:lnTo>
                  <a:pt x="95662" y="228331"/>
                </a:lnTo>
                <a:lnTo>
                  <a:pt x="111963" y="263880"/>
                </a:lnTo>
                <a:lnTo>
                  <a:pt x="125285" y="284391"/>
                </a:lnTo>
                <a:lnTo>
                  <a:pt x="186486" y="284391"/>
                </a:lnTo>
                <a:lnTo>
                  <a:pt x="187327" y="283311"/>
                </a:lnTo>
                <a:lnTo>
                  <a:pt x="155879" y="283311"/>
                </a:lnTo>
                <a:lnTo>
                  <a:pt x="149342" y="275883"/>
                </a:lnTo>
                <a:lnTo>
                  <a:pt x="127840" y="243079"/>
                </a:lnTo>
                <a:lnTo>
                  <a:pt x="120029" y="225154"/>
                </a:lnTo>
                <a:lnTo>
                  <a:pt x="117005" y="215988"/>
                </a:lnTo>
                <a:close/>
              </a:path>
              <a:path w="311784" h="311785">
                <a:moveTo>
                  <a:pt x="299729" y="215988"/>
                </a:moveTo>
                <a:lnTo>
                  <a:pt x="273608" y="215988"/>
                </a:lnTo>
                <a:lnTo>
                  <a:pt x="272529" y="217792"/>
                </a:lnTo>
                <a:lnTo>
                  <a:pt x="271449" y="219951"/>
                </a:lnTo>
                <a:lnTo>
                  <a:pt x="270370" y="221754"/>
                </a:lnTo>
                <a:lnTo>
                  <a:pt x="236192" y="260582"/>
                </a:lnTo>
                <a:lnTo>
                  <a:pt x="195594" y="281692"/>
                </a:lnTo>
                <a:lnTo>
                  <a:pt x="186486" y="284391"/>
                </a:lnTo>
                <a:lnTo>
                  <a:pt x="243743" y="284391"/>
                </a:lnTo>
                <a:lnTo>
                  <a:pt x="250991" y="279558"/>
                </a:lnTo>
                <a:lnTo>
                  <a:pt x="266222" y="266215"/>
                </a:lnTo>
                <a:lnTo>
                  <a:pt x="279564" y="250984"/>
                </a:lnTo>
                <a:lnTo>
                  <a:pt x="290880" y="233997"/>
                </a:lnTo>
                <a:lnTo>
                  <a:pt x="299729" y="215988"/>
                </a:lnTo>
                <a:close/>
              </a:path>
              <a:path w="311784" h="311785">
                <a:moveTo>
                  <a:pt x="219963" y="215988"/>
                </a:moveTo>
                <a:lnTo>
                  <a:pt x="194767" y="215988"/>
                </a:lnTo>
                <a:lnTo>
                  <a:pt x="191737" y="225154"/>
                </a:lnTo>
                <a:lnTo>
                  <a:pt x="188191" y="233997"/>
                </a:lnTo>
                <a:lnTo>
                  <a:pt x="168622" y="268150"/>
                </a:lnTo>
                <a:lnTo>
                  <a:pt x="155879" y="283311"/>
                </a:lnTo>
                <a:lnTo>
                  <a:pt x="187327" y="283311"/>
                </a:lnTo>
                <a:lnTo>
                  <a:pt x="211505" y="240472"/>
                </a:lnTo>
                <a:lnTo>
                  <a:pt x="216107" y="228331"/>
                </a:lnTo>
                <a:lnTo>
                  <a:pt x="219963" y="215988"/>
                </a:lnTo>
                <a:close/>
              </a:path>
              <a:path w="311784" h="311785">
                <a:moveTo>
                  <a:pt x="110883" y="119875"/>
                </a:moveTo>
                <a:lnTo>
                  <a:pt x="86766" y="119875"/>
                </a:lnTo>
                <a:lnTo>
                  <a:pt x="85582" y="128638"/>
                </a:lnTo>
                <a:lnTo>
                  <a:pt x="84675" y="137606"/>
                </a:lnTo>
                <a:lnTo>
                  <a:pt x="84089" y="146759"/>
                </a:lnTo>
                <a:lnTo>
                  <a:pt x="83883" y="155879"/>
                </a:lnTo>
                <a:lnTo>
                  <a:pt x="84080" y="164843"/>
                </a:lnTo>
                <a:lnTo>
                  <a:pt x="84648" y="173875"/>
                </a:lnTo>
                <a:lnTo>
                  <a:pt x="85561" y="182958"/>
                </a:lnTo>
                <a:lnTo>
                  <a:pt x="86766" y="191871"/>
                </a:lnTo>
                <a:lnTo>
                  <a:pt x="110883" y="191871"/>
                </a:lnTo>
                <a:lnTo>
                  <a:pt x="109692" y="183108"/>
                </a:lnTo>
                <a:lnTo>
                  <a:pt x="108779" y="174142"/>
                </a:lnTo>
                <a:lnTo>
                  <a:pt x="108200" y="165043"/>
                </a:lnTo>
                <a:lnTo>
                  <a:pt x="108000" y="155879"/>
                </a:lnTo>
                <a:lnTo>
                  <a:pt x="108194" y="146909"/>
                </a:lnTo>
                <a:lnTo>
                  <a:pt x="108757" y="137872"/>
                </a:lnTo>
                <a:lnTo>
                  <a:pt x="109667" y="128838"/>
                </a:lnTo>
                <a:lnTo>
                  <a:pt x="110883" y="119875"/>
                </a:lnTo>
                <a:close/>
              </a:path>
              <a:path w="311784" h="311785">
                <a:moveTo>
                  <a:pt x="225005" y="119875"/>
                </a:moveTo>
                <a:lnTo>
                  <a:pt x="200888" y="119875"/>
                </a:lnTo>
                <a:lnTo>
                  <a:pt x="202225" y="128638"/>
                </a:lnTo>
                <a:lnTo>
                  <a:pt x="203120" y="137606"/>
                </a:lnTo>
                <a:lnTo>
                  <a:pt x="203613" y="146759"/>
                </a:lnTo>
                <a:lnTo>
                  <a:pt x="203758" y="155879"/>
                </a:lnTo>
                <a:lnTo>
                  <a:pt x="203616" y="164843"/>
                </a:lnTo>
                <a:lnTo>
                  <a:pt x="203140" y="173875"/>
                </a:lnTo>
                <a:lnTo>
                  <a:pt x="202247" y="182958"/>
                </a:lnTo>
                <a:lnTo>
                  <a:pt x="200888" y="191871"/>
                </a:lnTo>
                <a:lnTo>
                  <a:pt x="225005" y="191871"/>
                </a:lnTo>
                <a:lnTo>
                  <a:pt x="226190" y="183108"/>
                </a:lnTo>
                <a:lnTo>
                  <a:pt x="227096" y="174142"/>
                </a:lnTo>
                <a:lnTo>
                  <a:pt x="227679" y="165043"/>
                </a:lnTo>
                <a:lnTo>
                  <a:pt x="227888" y="155879"/>
                </a:lnTo>
                <a:lnTo>
                  <a:pt x="227691" y="146909"/>
                </a:lnTo>
                <a:lnTo>
                  <a:pt x="227123" y="137872"/>
                </a:lnTo>
                <a:lnTo>
                  <a:pt x="226217" y="128838"/>
                </a:lnTo>
                <a:lnTo>
                  <a:pt x="225005" y="119875"/>
                </a:lnTo>
                <a:close/>
              </a:path>
              <a:path w="311784" h="311785">
                <a:moveTo>
                  <a:pt x="307318" y="119875"/>
                </a:moveTo>
                <a:lnTo>
                  <a:pt x="282968" y="119875"/>
                </a:lnTo>
                <a:lnTo>
                  <a:pt x="285122" y="128638"/>
                </a:lnTo>
                <a:lnTo>
                  <a:pt x="286704" y="137606"/>
                </a:lnTo>
                <a:lnTo>
                  <a:pt x="287680" y="146759"/>
                </a:lnTo>
                <a:lnTo>
                  <a:pt x="288010" y="155879"/>
                </a:lnTo>
                <a:lnTo>
                  <a:pt x="287685" y="164843"/>
                </a:lnTo>
                <a:lnTo>
                  <a:pt x="287678" y="165043"/>
                </a:lnTo>
                <a:lnTo>
                  <a:pt x="286732" y="173875"/>
                </a:lnTo>
                <a:lnTo>
                  <a:pt x="286704" y="174142"/>
                </a:lnTo>
                <a:lnTo>
                  <a:pt x="285149" y="182958"/>
                </a:lnTo>
                <a:lnTo>
                  <a:pt x="282968" y="191871"/>
                </a:lnTo>
                <a:lnTo>
                  <a:pt x="307325" y="191871"/>
                </a:lnTo>
                <a:lnTo>
                  <a:pt x="310420" y="176284"/>
                </a:lnTo>
                <a:lnTo>
                  <a:pt x="311759" y="155879"/>
                </a:lnTo>
                <a:lnTo>
                  <a:pt x="310420" y="135473"/>
                </a:lnTo>
                <a:lnTo>
                  <a:pt x="307318" y="119875"/>
                </a:lnTo>
                <a:close/>
              </a:path>
              <a:path w="311784" h="311785">
                <a:moveTo>
                  <a:pt x="186486" y="27355"/>
                </a:moveTo>
                <a:lnTo>
                  <a:pt x="125285" y="27355"/>
                </a:lnTo>
                <a:lnTo>
                  <a:pt x="120243" y="33832"/>
                </a:lnTo>
                <a:lnTo>
                  <a:pt x="100261" y="71275"/>
                </a:lnTo>
                <a:lnTo>
                  <a:pt x="91808" y="95757"/>
                </a:lnTo>
                <a:lnTo>
                  <a:pt x="117005" y="95757"/>
                </a:lnTo>
                <a:lnTo>
                  <a:pt x="120029" y="86592"/>
                </a:lnTo>
                <a:lnTo>
                  <a:pt x="123576" y="77749"/>
                </a:lnTo>
                <a:lnTo>
                  <a:pt x="143148" y="43595"/>
                </a:lnTo>
                <a:lnTo>
                  <a:pt x="155879" y="28435"/>
                </a:lnTo>
                <a:lnTo>
                  <a:pt x="187327" y="28435"/>
                </a:lnTo>
                <a:lnTo>
                  <a:pt x="186486" y="27355"/>
                </a:lnTo>
                <a:close/>
              </a:path>
              <a:path w="311784" h="311785">
                <a:moveTo>
                  <a:pt x="187327" y="28435"/>
                </a:moveTo>
                <a:lnTo>
                  <a:pt x="155879" y="28435"/>
                </a:lnTo>
                <a:lnTo>
                  <a:pt x="162424" y="35863"/>
                </a:lnTo>
                <a:lnTo>
                  <a:pt x="168425" y="43462"/>
                </a:lnTo>
                <a:lnTo>
                  <a:pt x="188102" y="77528"/>
                </a:lnTo>
                <a:lnTo>
                  <a:pt x="194767" y="95757"/>
                </a:lnTo>
                <a:lnTo>
                  <a:pt x="219963" y="95757"/>
                </a:lnTo>
                <a:lnTo>
                  <a:pt x="206094" y="59407"/>
                </a:lnTo>
                <a:lnTo>
                  <a:pt x="191528" y="33832"/>
                </a:lnTo>
                <a:lnTo>
                  <a:pt x="187327" y="28435"/>
                </a:lnTo>
                <a:close/>
              </a:path>
              <a:path w="311784" h="311785">
                <a:moveTo>
                  <a:pt x="243349" y="27355"/>
                </a:moveTo>
                <a:lnTo>
                  <a:pt x="186486" y="27355"/>
                </a:lnTo>
                <a:lnTo>
                  <a:pt x="195594" y="30055"/>
                </a:lnTo>
                <a:lnTo>
                  <a:pt x="204531" y="33296"/>
                </a:lnTo>
                <a:lnTo>
                  <a:pt x="249169" y="62590"/>
                </a:lnTo>
                <a:lnTo>
                  <a:pt x="272529" y="93954"/>
                </a:lnTo>
                <a:lnTo>
                  <a:pt x="273608" y="95757"/>
                </a:lnTo>
                <a:lnTo>
                  <a:pt x="299649" y="95757"/>
                </a:lnTo>
                <a:lnTo>
                  <a:pt x="290880" y="78117"/>
                </a:lnTo>
                <a:lnTo>
                  <a:pt x="279508" y="61073"/>
                </a:lnTo>
                <a:lnTo>
                  <a:pt x="266042" y="45716"/>
                </a:lnTo>
                <a:lnTo>
                  <a:pt x="250686" y="32251"/>
                </a:lnTo>
                <a:lnTo>
                  <a:pt x="243349" y="27355"/>
                </a:lnTo>
                <a:close/>
              </a:path>
            </a:pathLst>
          </a:custGeom>
          <a:solidFill>
            <a:srgbClr val="000000"/>
          </a:solidFill>
        </p:spPr>
        <p:txBody>
          <a:bodyPr wrap="square" lIns="0" tIns="0" rIns="0" bIns="0" rtlCol="0"/>
          <a:lstStyle/>
          <a:p>
            <a:endParaRPr/>
          </a:p>
        </p:txBody>
      </p:sp>
      <p:sp>
        <p:nvSpPr>
          <p:cNvPr id="23" name="object 23"/>
          <p:cNvSpPr/>
          <p:nvPr/>
        </p:nvSpPr>
        <p:spPr>
          <a:xfrm>
            <a:off x="845997" y="2886210"/>
            <a:ext cx="360045" cy="264160"/>
          </a:xfrm>
          <a:custGeom>
            <a:avLst/>
            <a:gdLst/>
            <a:ahLst/>
            <a:cxnLst/>
            <a:rect l="l" t="t" r="r" b="b"/>
            <a:pathLst>
              <a:path w="360044" h="264160">
                <a:moveTo>
                  <a:pt x="179997" y="72390"/>
                </a:moveTo>
                <a:lnTo>
                  <a:pt x="136198" y="87630"/>
                </a:lnTo>
                <a:lnTo>
                  <a:pt x="110429" y="125730"/>
                </a:lnTo>
                <a:lnTo>
                  <a:pt x="108087" y="146050"/>
                </a:lnTo>
                <a:lnTo>
                  <a:pt x="108261" y="148590"/>
                </a:lnTo>
                <a:lnTo>
                  <a:pt x="108347" y="149860"/>
                </a:lnTo>
                <a:lnTo>
                  <a:pt x="108434" y="151130"/>
                </a:lnTo>
                <a:lnTo>
                  <a:pt x="125955" y="191770"/>
                </a:lnTo>
                <a:lnTo>
                  <a:pt x="136080" y="201930"/>
                </a:lnTo>
                <a:lnTo>
                  <a:pt x="132486" y="203200"/>
                </a:lnTo>
                <a:lnTo>
                  <a:pt x="128523" y="204470"/>
                </a:lnTo>
                <a:lnTo>
                  <a:pt x="124917" y="207010"/>
                </a:lnTo>
                <a:lnTo>
                  <a:pt x="113272" y="214630"/>
                </a:lnTo>
                <a:lnTo>
                  <a:pt x="102739" y="224790"/>
                </a:lnTo>
                <a:lnTo>
                  <a:pt x="93488" y="234950"/>
                </a:lnTo>
                <a:lnTo>
                  <a:pt x="85686" y="246380"/>
                </a:lnTo>
                <a:lnTo>
                  <a:pt x="85318" y="246380"/>
                </a:lnTo>
                <a:lnTo>
                  <a:pt x="84239" y="248920"/>
                </a:lnTo>
                <a:lnTo>
                  <a:pt x="83883" y="250190"/>
                </a:lnTo>
                <a:lnTo>
                  <a:pt x="83883" y="255270"/>
                </a:lnTo>
                <a:lnTo>
                  <a:pt x="84239" y="256540"/>
                </a:lnTo>
                <a:lnTo>
                  <a:pt x="85318" y="259080"/>
                </a:lnTo>
                <a:lnTo>
                  <a:pt x="86398" y="260350"/>
                </a:lnTo>
                <a:lnTo>
                  <a:pt x="87845" y="262890"/>
                </a:lnTo>
                <a:lnTo>
                  <a:pt x="91439" y="264160"/>
                </a:lnTo>
                <a:lnTo>
                  <a:pt x="100075" y="264160"/>
                </a:lnTo>
                <a:lnTo>
                  <a:pt x="103682" y="262890"/>
                </a:lnTo>
                <a:lnTo>
                  <a:pt x="105117" y="260350"/>
                </a:lnTo>
                <a:lnTo>
                  <a:pt x="106197" y="259080"/>
                </a:lnTo>
                <a:lnTo>
                  <a:pt x="137159" y="227330"/>
                </a:lnTo>
                <a:lnTo>
                  <a:pt x="168751" y="217170"/>
                </a:lnTo>
                <a:lnTo>
                  <a:pt x="249363" y="217170"/>
                </a:lnTo>
                <a:lnTo>
                  <a:pt x="246729" y="214630"/>
                </a:lnTo>
                <a:lnTo>
                  <a:pt x="235076" y="207010"/>
                </a:lnTo>
                <a:lnTo>
                  <a:pt x="231482" y="204470"/>
                </a:lnTo>
                <a:lnTo>
                  <a:pt x="227520" y="203200"/>
                </a:lnTo>
                <a:lnTo>
                  <a:pt x="223926" y="201930"/>
                </a:lnTo>
                <a:lnTo>
                  <a:pt x="229174" y="196850"/>
                </a:lnTo>
                <a:lnTo>
                  <a:pt x="232831" y="193040"/>
                </a:lnTo>
                <a:lnTo>
                  <a:pt x="171716" y="193040"/>
                </a:lnTo>
                <a:lnTo>
                  <a:pt x="163436" y="190500"/>
                </a:lnTo>
                <a:lnTo>
                  <a:pt x="155879" y="185420"/>
                </a:lnTo>
                <a:lnTo>
                  <a:pt x="148678" y="181610"/>
                </a:lnTo>
                <a:lnTo>
                  <a:pt x="142557" y="175260"/>
                </a:lnTo>
                <a:lnTo>
                  <a:pt x="138607" y="168910"/>
                </a:lnTo>
                <a:lnTo>
                  <a:pt x="134277" y="161290"/>
                </a:lnTo>
                <a:lnTo>
                  <a:pt x="132118" y="152400"/>
                </a:lnTo>
                <a:lnTo>
                  <a:pt x="132118" y="135890"/>
                </a:lnTo>
                <a:lnTo>
                  <a:pt x="134277" y="127000"/>
                </a:lnTo>
                <a:lnTo>
                  <a:pt x="138607" y="120650"/>
                </a:lnTo>
                <a:lnTo>
                  <a:pt x="142557" y="113030"/>
                </a:lnTo>
                <a:lnTo>
                  <a:pt x="148678" y="106680"/>
                </a:lnTo>
                <a:lnTo>
                  <a:pt x="155879" y="102870"/>
                </a:lnTo>
                <a:lnTo>
                  <a:pt x="163436" y="99060"/>
                </a:lnTo>
                <a:lnTo>
                  <a:pt x="171716" y="96520"/>
                </a:lnTo>
                <a:lnTo>
                  <a:pt x="233378" y="96520"/>
                </a:lnTo>
                <a:lnTo>
                  <a:pt x="230892" y="93980"/>
                </a:lnTo>
                <a:lnTo>
                  <a:pt x="223800" y="87630"/>
                </a:lnTo>
                <a:lnTo>
                  <a:pt x="216001" y="81280"/>
                </a:lnTo>
                <a:lnTo>
                  <a:pt x="207595" y="77470"/>
                </a:lnTo>
                <a:lnTo>
                  <a:pt x="198680" y="74930"/>
                </a:lnTo>
                <a:lnTo>
                  <a:pt x="179997" y="72390"/>
                </a:lnTo>
                <a:close/>
              </a:path>
              <a:path w="360044" h="264160">
                <a:moveTo>
                  <a:pt x="249363" y="217170"/>
                </a:moveTo>
                <a:lnTo>
                  <a:pt x="191250" y="217170"/>
                </a:lnTo>
                <a:lnTo>
                  <a:pt x="202231" y="219710"/>
                </a:lnTo>
                <a:lnTo>
                  <a:pt x="212808" y="223520"/>
                </a:lnTo>
                <a:lnTo>
                  <a:pt x="247394" y="248920"/>
                </a:lnTo>
                <a:lnTo>
                  <a:pt x="253796" y="259080"/>
                </a:lnTo>
                <a:lnTo>
                  <a:pt x="254876" y="260350"/>
                </a:lnTo>
                <a:lnTo>
                  <a:pt x="256324" y="262890"/>
                </a:lnTo>
                <a:lnTo>
                  <a:pt x="259918" y="264160"/>
                </a:lnTo>
                <a:lnTo>
                  <a:pt x="268566" y="264160"/>
                </a:lnTo>
                <a:lnTo>
                  <a:pt x="272160" y="262890"/>
                </a:lnTo>
                <a:lnTo>
                  <a:pt x="273596" y="260350"/>
                </a:lnTo>
                <a:lnTo>
                  <a:pt x="274688" y="259080"/>
                </a:lnTo>
                <a:lnTo>
                  <a:pt x="275767" y="256540"/>
                </a:lnTo>
                <a:lnTo>
                  <a:pt x="276123" y="255270"/>
                </a:lnTo>
                <a:lnTo>
                  <a:pt x="276123" y="250190"/>
                </a:lnTo>
                <a:lnTo>
                  <a:pt x="275767" y="248920"/>
                </a:lnTo>
                <a:lnTo>
                  <a:pt x="274688" y="246380"/>
                </a:lnTo>
                <a:lnTo>
                  <a:pt x="274319" y="246380"/>
                </a:lnTo>
                <a:lnTo>
                  <a:pt x="266518" y="234950"/>
                </a:lnTo>
                <a:lnTo>
                  <a:pt x="257265" y="224790"/>
                </a:lnTo>
                <a:lnTo>
                  <a:pt x="249363" y="217170"/>
                </a:lnTo>
                <a:close/>
              </a:path>
              <a:path w="360044" h="264160">
                <a:moveTo>
                  <a:pt x="233378" y="96520"/>
                </a:moveTo>
                <a:lnTo>
                  <a:pt x="188277" y="96520"/>
                </a:lnTo>
                <a:lnTo>
                  <a:pt x="196557" y="99060"/>
                </a:lnTo>
                <a:lnTo>
                  <a:pt x="204127" y="102870"/>
                </a:lnTo>
                <a:lnTo>
                  <a:pt x="211328" y="106680"/>
                </a:lnTo>
                <a:lnTo>
                  <a:pt x="217436" y="113030"/>
                </a:lnTo>
                <a:lnTo>
                  <a:pt x="221399" y="120650"/>
                </a:lnTo>
                <a:lnTo>
                  <a:pt x="225717" y="127000"/>
                </a:lnTo>
                <a:lnTo>
                  <a:pt x="227876" y="135890"/>
                </a:lnTo>
                <a:lnTo>
                  <a:pt x="227876" y="152400"/>
                </a:lnTo>
                <a:lnTo>
                  <a:pt x="204127" y="185420"/>
                </a:lnTo>
                <a:lnTo>
                  <a:pt x="196557" y="190500"/>
                </a:lnTo>
                <a:lnTo>
                  <a:pt x="188277" y="193040"/>
                </a:lnTo>
                <a:lnTo>
                  <a:pt x="232831" y="193040"/>
                </a:lnTo>
                <a:lnTo>
                  <a:pt x="251398" y="153670"/>
                </a:lnTo>
                <a:lnTo>
                  <a:pt x="252006" y="144780"/>
                </a:lnTo>
                <a:lnTo>
                  <a:pt x="251702" y="139700"/>
                </a:lnTo>
                <a:lnTo>
                  <a:pt x="251626" y="138430"/>
                </a:lnTo>
                <a:lnTo>
                  <a:pt x="251550" y="137160"/>
                </a:lnTo>
                <a:lnTo>
                  <a:pt x="251474" y="135890"/>
                </a:lnTo>
                <a:lnTo>
                  <a:pt x="251398" y="134620"/>
                </a:lnTo>
                <a:lnTo>
                  <a:pt x="249575" y="125730"/>
                </a:lnTo>
                <a:lnTo>
                  <a:pt x="246535" y="116840"/>
                </a:lnTo>
                <a:lnTo>
                  <a:pt x="242277" y="107950"/>
                </a:lnTo>
                <a:lnTo>
                  <a:pt x="237107" y="100330"/>
                </a:lnTo>
                <a:lnTo>
                  <a:pt x="233378" y="96520"/>
                </a:lnTo>
                <a:close/>
              </a:path>
              <a:path w="360044" h="264160">
                <a:moveTo>
                  <a:pt x="83883" y="0"/>
                </a:moveTo>
                <a:lnTo>
                  <a:pt x="47529" y="12700"/>
                </a:lnTo>
                <a:lnTo>
                  <a:pt x="26055" y="44450"/>
                </a:lnTo>
                <a:lnTo>
                  <a:pt x="24197" y="58420"/>
                </a:lnTo>
                <a:lnTo>
                  <a:pt x="24117" y="59690"/>
                </a:lnTo>
                <a:lnTo>
                  <a:pt x="38887" y="100330"/>
                </a:lnTo>
                <a:lnTo>
                  <a:pt x="43560" y="104140"/>
                </a:lnTo>
                <a:lnTo>
                  <a:pt x="39966" y="106680"/>
                </a:lnTo>
                <a:lnTo>
                  <a:pt x="36360" y="107950"/>
                </a:lnTo>
                <a:lnTo>
                  <a:pt x="33121" y="110490"/>
                </a:lnTo>
                <a:lnTo>
                  <a:pt x="24496" y="115570"/>
                </a:lnTo>
                <a:lnTo>
                  <a:pt x="0" y="142240"/>
                </a:lnTo>
                <a:lnTo>
                  <a:pt x="0" y="146050"/>
                </a:lnTo>
                <a:lnTo>
                  <a:pt x="723" y="148590"/>
                </a:lnTo>
                <a:lnTo>
                  <a:pt x="1447" y="149860"/>
                </a:lnTo>
                <a:lnTo>
                  <a:pt x="2527" y="152400"/>
                </a:lnTo>
                <a:lnTo>
                  <a:pt x="6121" y="154940"/>
                </a:lnTo>
                <a:lnTo>
                  <a:pt x="9728" y="156210"/>
                </a:lnTo>
                <a:lnTo>
                  <a:pt x="16205" y="156210"/>
                </a:lnTo>
                <a:lnTo>
                  <a:pt x="17995" y="154940"/>
                </a:lnTo>
                <a:lnTo>
                  <a:pt x="19443" y="153670"/>
                </a:lnTo>
                <a:lnTo>
                  <a:pt x="21602" y="151130"/>
                </a:lnTo>
                <a:lnTo>
                  <a:pt x="26575" y="146050"/>
                </a:lnTo>
                <a:lnTo>
                  <a:pt x="73558" y="120650"/>
                </a:lnTo>
                <a:lnTo>
                  <a:pt x="86042" y="120650"/>
                </a:lnTo>
                <a:lnTo>
                  <a:pt x="88201" y="119380"/>
                </a:lnTo>
                <a:lnTo>
                  <a:pt x="90004" y="119380"/>
                </a:lnTo>
                <a:lnTo>
                  <a:pt x="91808" y="118110"/>
                </a:lnTo>
                <a:lnTo>
                  <a:pt x="93243" y="115570"/>
                </a:lnTo>
                <a:lnTo>
                  <a:pt x="95402" y="113030"/>
                </a:lnTo>
                <a:lnTo>
                  <a:pt x="96126" y="110490"/>
                </a:lnTo>
                <a:lnTo>
                  <a:pt x="96126" y="106680"/>
                </a:lnTo>
                <a:lnTo>
                  <a:pt x="95402" y="104140"/>
                </a:lnTo>
                <a:lnTo>
                  <a:pt x="93243" y="100330"/>
                </a:lnTo>
                <a:lnTo>
                  <a:pt x="91808" y="99060"/>
                </a:lnTo>
                <a:lnTo>
                  <a:pt x="88201" y="96520"/>
                </a:lnTo>
                <a:lnTo>
                  <a:pt x="77762" y="96520"/>
                </a:lnTo>
                <a:lnTo>
                  <a:pt x="71640" y="95250"/>
                </a:lnTo>
                <a:lnTo>
                  <a:pt x="65887" y="91440"/>
                </a:lnTo>
                <a:lnTo>
                  <a:pt x="60477" y="88900"/>
                </a:lnTo>
                <a:lnTo>
                  <a:pt x="56159" y="83820"/>
                </a:lnTo>
                <a:lnTo>
                  <a:pt x="52920" y="78740"/>
                </a:lnTo>
                <a:lnTo>
                  <a:pt x="49682" y="72390"/>
                </a:lnTo>
                <a:lnTo>
                  <a:pt x="47878" y="67310"/>
                </a:lnTo>
                <a:lnTo>
                  <a:pt x="47878" y="54610"/>
                </a:lnTo>
                <a:lnTo>
                  <a:pt x="77762" y="24130"/>
                </a:lnTo>
                <a:lnTo>
                  <a:pt x="131638" y="24130"/>
                </a:lnTo>
                <a:lnTo>
                  <a:pt x="126453" y="17780"/>
                </a:lnTo>
                <a:lnTo>
                  <a:pt x="120592" y="12700"/>
                </a:lnTo>
                <a:lnTo>
                  <a:pt x="114122" y="8890"/>
                </a:lnTo>
                <a:lnTo>
                  <a:pt x="106966" y="5080"/>
                </a:lnTo>
                <a:lnTo>
                  <a:pt x="99541" y="2540"/>
                </a:lnTo>
                <a:lnTo>
                  <a:pt x="83883" y="0"/>
                </a:lnTo>
                <a:close/>
              </a:path>
              <a:path w="360044" h="264160">
                <a:moveTo>
                  <a:pt x="323521" y="24130"/>
                </a:moveTo>
                <a:lnTo>
                  <a:pt x="282244" y="24130"/>
                </a:lnTo>
                <a:lnTo>
                  <a:pt x="288366" y="26670"/>
                </a:lnTo>
                <a:lnTo>
                  <a:pt x="294119" y="29210"/>
                </a:lnTo>
                <a:lnTo>
                  <a:pt x="312127" y="54610"/>
                </a:lnTo>
                <a:lnTo>
                  <a:pt x="312127" y="67310"/>
                </a:lnTo>
                <a:lnTo>
                  <a:pt x="294119" y="91440"/>
                </a:lnTo>
                <a:lnTo>
                  <a:pt x="288366" y="95250"/>
                </a:lnTo>
                <a:lnTo>
                  <a:pt x="282244" y="96520"/>
                </a:lnTo>
                <a:lnTo>
                  <a:pt x="271805" y="96520"/>
                </a:lnTo>
                <a:lnTo>
                  <a:pt x="268198" y="99060"/>
                </a:lnTo>
                <a:lnTo>
                  <a:pt x="266763" y="100330"/>
                </a:lnTo>
                <a:lnTo>
                  <a:pt x="265684" y="102870"/>
                </a:lnTo>
                <a:lnTo>
                  <a:pt x="264960" y="102870"/>
                </a:lnTo>
                <a:lnTo>
                  <a:pt x="264960" y="104140"/>
                </a:lnTo>
                <a:lnTo>
                  <a:pt x="264236" y="105410"/>
                </a:lnTo>
                <a:lnTo>
                  <a:pt x="263880" y="106680"/>
                </a:lnTo>
                <a:lnTo>
                  <a:pt x="263880" y="110490"/>
                </a:lnTo>
                <a:lnTo>
                  <a:pt x="264236" y="111760"/>
                </a:lnTo>
                <a:lnTo>
                  <a:pt x="265684" y="114300"/>
                </a:lnTo>
                <a:lnTo>
                  <a:pt x="266763" y="115570"/>
                </a:lnTo>
                <a:lnTo>
                  <a:pt x="268198" y="118110"/>
                </a:lnTo>
                <a:lnTo>
                  <a:pt x="270001" y="119380"/>
                </a:lnTo>
                <a:lnTo>
                  <a:pt x="271805" y="119380"/>
                </a:lnTo>
                <a:lnTo>
                  <a:pt x="273964" y="120650"/>
                </a:lnTo>
                <a:lnTo>
                  <a:pt x="286448" y="120650"/>
                </a:lnTo>
                <a:lnTo>
                  <a:pt x="305843" y="125730"/>
                </a:lnTo>
                <a:lnTo>
                  <a:pt x="314998" y="130810"/>
                </a:lnTo>
                <a:lnTo>
                  <a:pt x="321593" y="134620"/>
                </a:lnTo>
                <a:lnTo>
                  <a:pt x="327782" y="139700"/>
                </a:lnTo>
                <a:lnTo>
                  <a:pt x="333430" y="146050"/>
                </a:lnTo>
                <a:lnTo>
                  <a:pt x="338404" y="151130"/>
                </a:lnTo>
                <a:lnTo>
                  <a:pt x="340563" y="153670"/>
                </a:lnTo>
                <a:lnTo>
                  <a:pt x="341998" y="154940"/>
                </a:lnTo>
                <a:lnTo>
                  <a:pt x="343801" y="156210"/>
                </a:lnTo>
                <a:lnTo>
                  <a:pt x="350278" y="156210"/>
                </a:lnTo>
                <a:lnTo>
                  <a:pt x="353885" y="154940"/>
                </a:lnTo>
                <a:lnTo>
                  <a:pt x="354241" y="154940"/>
                </a:lnTo>
                <a:lnTo>
                  <a:pt x="354964" y="153670"/>
                </a:lnTo>
                <a:lnTo>
                  <a:pt x="356400" y="153670"/>
                </a:lnTo>
                <a:lnTo>
                  <a:pt x="358559" y="149860"/>
                </a:lnTo>
                <a:lnTo>
                  <a:pt x="359638" y="148590"/>
                </a:lnTo>
                <a:lnTo>
                  <a:pt x="360006" y="146050"/>
                </a:lnTo>
                <a:lnTo>
                  <a:pt x="360006" y="142240"/>
                </a:lnTo>
                <a:lnTo>
                  <a:pt x="326885" y="110490"/>
                </a:lnTo>
                <a:lnTo>
                  <a:pt x="323646" y="107950"/>
                </a:lnTo>
                <a:lnTo>
                  <a:pt x="320039" y="106680"/>
                </a:lnTo>
                <a:lnTo>
                  <a:pt x="316445" y="104140"/>
                </a:lnTo>
                <a:lnTo>
                  <a:pt x="321119" y="100330"/>
                </a:lnTo>
                <a:lnTo>
                  <a:pt x="324726" y="95250"/>
                </a:lnTo>
                <a:lnTo>
                  <a:pt x="335876" y="59690"/>
                </a:lnTo>
                <a:lnTo>
                  <a:pt x="335638" y="55880"/>
                </a:lnTo>
                <a:lnTo>
                  <a:pt x="335558" y="54610"/>
                </a:lnTo>
                <a:lnTo>
                  <a:pt x="335479" y="53340"/>
                </a:lnTo>
                <a:lnTo>
                  <a:pt x="335399" y="52070"/>
                </a:lnTo>
                <a:lnTo>
                  <a:pt x="333944" y="44450"/>
                </a:lnTo>
                <a:lnTo>
                  <a:pt x="331478" y="36830"/>
                </a:lnTo>
                <a:lnTo>
                  <a:pt x="327964" y="30480"/>
                </a:lnTo>
                <a:lnTo>
                  <a:pt x="323521" y="24130"/>
                </a:lnTo>
                <a:close/>
              </a:path>
              <a:path w="360044" h="264160">
                <a:moveTo>
                  <a:pt x="131638" y="24130"/>
                </a:moveTo>
                <a:lnTo>
                  <a:pt x="90360" y="24130"/>
                </a:lnTo>
                <a:lnTo>
                  <a:pt x="96481" y="26670"/>
                </a:lnTo>
                <a:lnTo>
                  <a:pt x="101879" y="29210"/>
                </a:lnTo>
                <a:lnTo>
                  <a:pt x="107645" y="33020"/>
                </a:lnTo>
                <a:lnTo>
                  <a:pt x="111963" y="36830"/>
                </a:lnTo>
                <a:lnTo>
                  <a:pt x="115201" y="41910"/>
                </a:lnTo>
                <a:lnTo>
                  <a:pt x="116636" y="45720"/>
                </a:lnTo>
                <a:lnTo>
                  <a:pt x="118084" y="48260"/>
                </a:lnTo>
                <a:lnTo>
                  <a:pt x="119519" y="53340"/>
                </a:lnTo>
                <a:lnTo>
                  <a:pt x="120243" y="54610"/>
                </a:lnTo>
                <a:lnTo>
                  <a:pt x="121323" y="55880"/>
                </a:lnTo>
                <a:lnTo>
                  <a:pt x="122758" y="58420"/>
                </a:lnTo>
                <a:lnTo>
                  <a:pt x="126364" y="59690"/>
                </a:lnTo>
                <a:lnTo>
                  <a:pt x="134645" y="59690"/>
                </a:lnTo>
                <a:lnTo>
                  <a:pt x="138239" y="58420"/>
                </a:lnTo>
                <a:lnTo>
                  <a:pt x="139687" y="55880"/>
                </a:lnTo>
                <a:lnTo>
                  <a:pt x="141846" y="53340"/>
                </a:lnTo>
                <a:lnTo>
                  <a:pt x="142557" y="50800"/>
                </a:lnTo>
                <a:lnTo>
                  <a:pt x="142557" y="46990"/>
                </a:lnTo>
                <a:lnTo>
                  <a:pt x="140766" y="40640"/>
                </a:lnTo>
                <a:lnTo>
                  <a:pt x="138607" y="35560"/>
                </a:lnTo>
                <a:lnTo>
                  <a:pt x="136080" y="30480"/>
                </a:lnTo>
                <a:lnTo>
                  <a:pt x="131638" y="24130"/>
                </a:lnTo>
                <a:close/>
              </a:path>
              <a:path w="360044" h="264160">
                <a:moveTo>
                  <a:pt x="276123" y="0"/>
                </a:moveTo>
                <a:lnTo>
                  <a:pt x="239414" y="12700"/>
                </a:lnTo>
                <a:lnTo>
                  <a:pt x="217436" y="46990"/>
                </a:lnTo>
                <a:lnTo>
                  <a:pt x="217436" y="50800"/>
                </a:lnTo>
                <a:lnTo>
                  <a:pt x="218160" y="53340"/>
                </a:lnTo>
                <a:lnTo>
                  <a:pt x="220319" y="55880"/>
                </a:lnTo>
                <a:lnTo>
                  <a:pt x="221767" y="58420"/>
                </a:lnTo>
                <a:lnTo>
                  <a:pt x="225361" y="59690"/>
                </a:lnTo>
                <a:lnTo>
                  <a:pt x="233641" y="59690"/>
                </a:lnTo>
                <a:lnTo>
                  <a:pt x="237235" y="58420"/>
                </a:lnTo>
                <a:lnTo>
                  <a:pt x="238683" y="55880"/>
                </a:lnTo>
                <a:lnTo>
                  <a:pt x="239763" y="54610"/>
                </a:lnTo>
                <a:lnTo>
                  <a:pt x="240487" y="53340"/>
                </a:lnTo>
                <a:lnTo>
                  <a:pt x="241922" y="48260"/>
                </a:lnTo>
                <a:lnTo>
                  <a:pt x="243357" y="45720"/>
                </a:lnTo>
                <a:lnTo>
                  <a:pt x="269646" y="24130"/>
                </a:lnTo>
                <a:lnTo>
                  <a:pt x="323521" y="24130"/>
                </a:lnTo>
                <a:lnTo>
                  <a:pt x="318333" y="17780"/>
                </a:lnTo>
                <a:lnTo>
                  <a:pt x="312471" y="12700"/>
                </a:lnTo>
                <a:lnTo>
                  <a:pt x="306006" y="8890"/>
                </a:lnTo>
                <a:lnTo>
                  <a:pt x="299006" y="5080"/>
                </a:lnTo>
                <a:lnTo>
                  <a:pt x="291603" y="2540"/>
                </a:lnTo>
                <a:lnTo>
                  <a:pt x="276123" y="0"/>
                </a:lnTo>
                <a:close/>
              </a:path>
            </a:pathLst>
          </a:custGeom>
          <a:solidFill>
            <a:srgbClr val="000000"/>
          </a:solidFill>
        </p:spPr>
        <p:txBody>
          <a:bodyPr wrap="square" lIns="0" tIns="0" rIns="0" bIns="0" rtlCol="0"/>
          <a:lstStyle/>
          <a:p>
            <a:endParaRPr/>
          </a:p>
        </p:txBody>
      </p:sp>
      <p:sp>
        <p:nvSpPr>
          <p:cNvPr id="24" name="object 24"/>
          <p:cNvSpPr txBox="1"/>
          <p:nvPr/>
        </p:nvSpPr>
        <p:spPr>
          <a:xfrm>
            <a:off x="1536014" y="1971620"/>
            <a:ext cx="1130935" cy="330835"/>
          </a:xfrm>
          <a:prstGeom prst="rect">
            <a:avLst/>
          </a:prstGeom>
        </p:spPr>
        <p:txBody>
          <a:bodyPr vert="horz" wrap="square" lIns="0" tIns="12700" rIns="0" bIns="0" rtlCol="0">
            <a:spAutoFit/>
          </a:bodyPr>
          <a:lstStyle/>
          <a:p>
            <a:pPr marL="12700">
              <a:lnSpc>
                <a:spcPct val="100000"/>
              </a:lnSpc>
              <a:spcBef>
                <a:spcPts val="100"/>
              </a:spcBef>
            </a:pPr>
            <a:r>
              <a:rPr sz="2000" spc="-10" dirty="0">
                <a:solidFill>
                  <a:srgbClr val="454C4C"/>
                </a:solidFill>
                <a:latin typeface="Arial MT"/>
                <a:cs typeface="Arial MT"/>
              </a:rPr>
              <a:t>Countries</a:t>
            </a:r>
            <a:endParaRPr sz="2000">
              <a:latin typeface="Arial MT"/>
              <a:cs typeface="Arial MT"/>
            </a:endParaRPr>
          </a:p>
        </p:txBody>
      </p:sp>
      <p:sp>
        <p:nvSpPr>
          <p:cNvPr id="26" name="object 26"/>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7" name="object 27"/>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12</a:t>
            </a:fld>
            <a:r>
              <a:rPr spc="-10" dirty="0"/>
              <a:t>/60</a:t>
            </a:r>
          </a:p>
        </p:txBody>
      </p:sp>
      <p:sp>
        <p:nvSpPr>
          <p:cNvPr id="25" name="object 25"/>
          <p:cNvSpPr txBox="1"/>
          <p:nvPr/>
        </p:nvSpPr>
        <p:spPr>
          <a:xfrm>
            <a:off x="8753297" y="2226864"/>
            <a:ext cx="711835" cy="208279"/>
          </a:xfrm>
          <a:prstGeom prst="rect">
            <a:avLst/>
          </a:prstGeom>
        </p:spPr>
        <p:txBody>
          <a:bodyPr vert="horz" wrap="square" lIns="0" tIns="12700" rIns="0" bIns="0" rtlCol="0">
            <a:spAutoFit/>
          </a:bodyPr>
          <a:lstStyle/>
          <a:p>
            <a:pPr marL="12700">
              <a:lnSpc>
                <a:spcPct val="100000"/>
              </a:lnSpc>
              <a:spcBef>
                <a:spcPts val="100"/>
              </a:spcBef>
            </a:pPr>
            <a:r>
              <a:rPr sz="1200" b="1" spc="-80" dirty="0">
                <a:solidFill>
                  <a:srgbClr val="FF9000"/>
                </a:solidFill>
                <a:latin typeface="Tahoma"/>
                <a:cs typeface="Tahoma"/>
              </a:rPr>
              <a:t>1,600,000</a:t>
            </a:r>
            <a:endParaRPr sz="1200">
              <a:latin typeface="Tahoma"/>
              <a:cs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3600" spc="270" dirty="0"/>
              <a:t>TRAINING</a:t>
            </a:r>
            <a:r>
              <a:rPr sz="3600" spc="5" dirty="0"/>
              <a:t> </a:t>
            </a:r>
            <a:r>
              <a:rPr sz="3600" spc="310" dirty="0"/>
              <a:t>COURSE</a:t>
            </a:r>
            <a:endParaRPr sz="3600"/>
          </a:p>
        </p:txBody>
      </p:sp>
      <p:sp>
        <p:nvSpPr>
          <p:cNvPr id="4" name="object 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object 5"/>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13</a:t>
            </a:fld>
            <a:r>
              <a:rPr spc="-10" dirty="0"/>
              <a:t>/60</a:t>
            </a:r>
          </a:p>
        </p:txBody>
      </p:sp>
      <p:sp>
        <p:nvSpPr>
          <p:cNvPr id="3" name="object 3"/>
          <p:cNvSpPr txBox="1"/>
          <p:nvPr/>
        </p:nvSpPr>
        <p:spPr>
          <a:xfrm>
            <a:off x="3027133" y="3462028"/>
            <a:ext cx="4037329"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54C4C"/>
                </a:solidFill>
                <a:latin typeface="Arial MT"/>
                <a:cs typeface="Arial MT"/>
              </a:rPr>
              <a:t>Proxmox</a:t>
            </a:r>
            <a:r>
              <a:rPr sz="2400" spc="-15" dirty="0">
                <a:solidFill>
                  <a:srgbClr val="454C4C"/>
                </a:solidFill>
                <a:latin typeface="Arial MT"/>
                <a:cs typeface="Arial MT"/>
              </a:rPr>
              <a:t> </a:t>
            </a:r>
            <a:r>
              <a:rPr sz="2400" dirty="0">
                <a:solidFill>
                  <a:srgbClr val="454C4C"/>
                </a:solidFill>
                <a:latin typeface="Arial MT"/>
                <a:cs typeface="Arial MT"/>
              </a:rPr>
              <a:t>Virtual</a:t>
            </a:r>
            <a:r>
              <a:rPr sz="2400" spc="-15" dirty="0">
                <a:solidFill>
                  <a:srgbClr val="454C4C"/>
                </a:solidFill>
                <a:latin typeface="Arial MT"/>
                <a:cs typeface="Arial MT"/>
              </a:rPr>
              <a:t> </a:t>
            </a:r>
            <a:r>
              <a:rPr sz="2400" spc="-10" dirty="0">
                <a:solidFill>
                  <a:srgbClr val="454C4C"/>
                </a:solidFill>
                <a:latin typeface="Arial MT"/>
                <a:cs typeface="Arial MT"/>
              </a:rPr>
              <a:t>Environment</a:t>
            </a:r>
            <a:endParaRPr sz="24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60" dirty="0"/>
              <a:t> </a:t>
            </a:r>
            <a:r>
              <a:rPr spc="145" dirty="0"/>
              <a:t>VE</a:t>
            </a:r>
            <a:r>
              <a:rPr spc="-260" dirty="0"/>
              <a:t> </a:t>
            </a:r>
            <a:r>
              <a:rPr dirty="0"/>
              <a:t>Management</a:t>
            </a:r>
            <a:r>
              <a:rPr spc="-260" dirty="0"/>
              <a:t> </a:t>
            </a:r>
            <a:r>
              <a:rPr spc="-10" dirty="0"/>
              <a:t>Tools</a:t>
            </a:r>
          </a:p>
        </p:txBody>
      </p:sp>
      <p:grpSp>
        <p:nvGrpSpPr>
          <p:cNvPr id="3" name="object 3"/>
          <p:cNvGrpSpPr/>
          <p:nvPr/>
        </p:nvGrpSpPr>
        <p:grpSpPr>
          <a:xfrm>
            <a:off x="2821034" y="3158806"/>
            <a:ext cx="2088514" cy="1316990"/>
            <a:chOff x="2821034" y="3158806"/>
            <a:chExt cx="2088514" cy="1316990"/>
          </a:xfrm>
        </p:grpSpPr>
        <p:sp>
          <p:nvSpPr>
            <p:cNvPr id="4" name="object 4"/>
            <p:cNvSpPr/>
            <p:nvPr/>
          </p:nvSpPr>
          <p:spPr>
            <a:xfrm>
              <a:off x="2944099" y="4279497"/>
              <a:ext cx="1842770" cy="196215"/>
            </a:xfrm>
            <a:custGeom>
              <a:avLst/>
              <a:gdLst/>
              <a:ahLst/>
              <a:cxnLst/>
              <a:rect l="l" t="t" r="r" b="b"/>
              <a:pathLst>
                <a:path w="1842770" h="196214">
                  <a:moveTo>
                    <a:pt x="1798282" y="196038"/>
                  </a:moveTo>
                  <a:lnTo>
                    <a:pt x="43960" y="196038"/>
                  </a:lnTo>
                  <a:lnTo>
                    <a:pt x="26819" y="192593"/>
                  </a:lnTo>
                  <a:lnTo>
                    <a:pt x="12849" y="183183"/>
                  </a:lnTo>
                  <a:lnTo>
                    <a:pt x="3444" y="169203"/>
                  </a:lnTo>
                  <a:lnTo>
                    <a:pt x="0" y="152045"/>
                  </a:lnTo>
                  <a:lnTo>
                    <a:pt x="0" y="43971"/>
                  </a:lnTo>
                  <a:lnTo>
                    <a:pt x="3444" y="26825"/>
                  </a:lnTo>
                  <a:lnTo>
                    <a:pt x="12849" y="12852"/>
                  </a:lnTo>
                  <a:lnTo>
                    <a:pt x="26819" y="3445"/>
                  </a:lnTo>
                  <a:lnTo>
                    <a:pt x="43960" y="0"/>
                  </a:lnTo>
                  <a:lnTo>
                    <a:pt x="1798282" y="0"/>
                  </a:lnTo>
                  <a:lnTo>
                    <a:pt x="1815423" y="3445"/>
                  </a:lnTo>
                  <a:lnTo>
                    <a:pt x="1829394" y="12852"/>
                  </a:lnTo>
                  <a:lnTo>
                    <a:pt x="1838798" y="26825"/>
                  </a:lnTo>
                  <a:lnTo>
                    <a:pt x="1842243" y="43971"/>
                  </a:lnTo>
                  <a:lnTo>
                    <a:pt x="1842243" y="152045"/>
                  </a:lnTo>
                  <a:lnTo>
                    <a:pt x="1838798" y="169203"/>
                  </a:lnTo>
                  <a:lnTo>
                    <a:pt x="1829394" y="183183"/>
                  </a:lnTo>
                  <a:lnTo>
                    <a:pt x="1815423" y="192593"/>
                  </a:lnTo>
                  <a:lnTo>
                    <a:pt x="1798282" y="196038"/>
                  </a:lnTo>
                  <a:close/>
                </a:path>
              </a:pathLst>
            </a:custGeom>
            <a:solidFill>
              <a:srgbClr val="FF9000"/>
            </a:solidFill>
          </p:spPr>
          <p:txBody>
            <a:bodyPr wrap="square" lIns="0" tIns="0" rIns="0" bIns="0" rtlCol="0"/>
            <a:lstStyle/>
            <a:p>
              <a:endParaRPr/>
            </a:p>
          </p:txBody>
        </p:sp>
        <p:pic>
          <p:nvPicPr>
            <p:cNvPr id="5" name="object 5"/>
            <p:cNvPicPr/>
            <p:nvPr/>
          </p:nvPicPr>
          <p:blipFill>
            <a:blip r:embed="rId2" cstate="print"/>
            <a:stretch>
              <a:fillRect/>
            </a:stretch>
          </p:blipFill>
          <p:spPr>
            <a:xfrm>
              <a:off x="3659439" y="4312065"/>
              <a:ext cx="96045" cy="130902"/>
            </a:xfrm>
            <a:prstGeom prst="rect">
              <a:avLst/>
            </a:prstGeom>
          </p:spPr>
        </p:pic>
        <p:sp>
          <p:nvSpPr>
            <p:cNvPr id="6" name="object 6"/>
            <p:cNvSpPr/>
            <p:nvPr/>
          </p:nvSpPr>
          <p:spPr>
            <a:xfrm>
              <a:off x="3778745" y="4313436"/>
              <a:ext cx="58419" cy="104775"/>
            </a:xfrm>
            <a:custGeom>
              <a:avLst/>
              <a:gdLst/>
              <a:ahLst/>
              <a:cxnLst/>
              <a:rect l="l" t="t" r="r" b="b"/>
              <a:pathLst>
                <a:path w="58420" h="104775">
                  <a:moveTo>
                    <a:pt x="58178" y="0"/>
                  </a:moveTo>
                  <a:lnTo>
                    <a:pt x="0" y="0"/>
                  </a:lnTo>
                  <a:lnTo>
                    <a:pt x="0" y="11430"/>
                  </a:lnTo>
                  <a:lnTo>
                    <a:pt x="0" y="44450"/>
                  </a:lnTo>
                  <a:lnTo>
                    <a:pt x="0" y="55880"/>
                  </a:lnTo>
                  <a:lnTo>
                    <a:pt x="0" y="93992"/>
                  </a:lnTo>
                  <a:lnTo>
                    <a:pt x="0" y="104152"/>
                  </a:lnTo>
                  <a:lnTo>
                    <a:pt x="58178" y="104152"/>
                  </a:lnTo>
                  <a:lnTo>
                    <a:pt x="58178" y="93992"/>
                  </a:lnTo>
                  <a:lnTo>
                    <a:pt x="12153" y="93992"/>
                  </a:lnTo>
                  <a:lnTo>
                    <a:pt x="12153" y="55880"/>
                  </a:lnTo>
                  <a:lnTo>
                    <a:pt x="55410" y="55880"/>
                  </a:lnTo>
                  <a:lnTo>
                    <a:pt x="55410" y="44450"/>
                  </a:lnTo>
                  <a:lnTo>
                    <a:pt x="12153" y="44450"/>
                  </a:lnTo>
                  <a:lnTo>
                    <a:pt x="12153" y="11430"/>
                  </a:lnTo>
                  <a:lnTo>
                    <a:pt x="58178" y="11430"/>
                  </a:lnTo>
                  <a:lnTo>
                    <a:pt x="58178" y="0"/>
                  </a:lnTo>
                  <a:close/>
                </a:path>
              </a:pathLst>
            </a:custGeom>
            <a:solidFill>
              <a:srgbClr val="FFFFFF"/>
            </a:solidFill>
          </p:spPr>
          <p:txBody>
            <a:bodyPr wrap="square" lIns="0" tIns="0" rIns="0" bIns="0" rtlCol="0"/>
            <a:lstStyle/>
            <a:p>
              <a:endParaRPr/>
            </a:p>
          </p:txBody>
        </p:sp>
        <p:pic>
          <p:nvPicPr>
            <p:cNvPr id="7" name="object 7"/>
            <p:cNvPicPr/>
            <p:nvPr/>
          </p:nvPicPr>
          <p:blipFill>
            <a:blip r:embed="rId3" cstate="print"/>
            <a:stretch>
              <a:fillRect/>
            </a:stretch>
          </p:blipFill>
          <p:spPr>
            <a:xfrm>
              <a:off x="3860081" y="4313696"/>
              <a:ext cx="103389" cy="104406"/>
            </a:xfrm>
            <a:prstGeom prst="rect">
              <a:avLst/>
            </a:prstGeom>
          </p:spPr>
        </p:pic>
        <p:pic>
          <p:nvPicPr>
            <p:cNvPr id="8" name="object 8"/>
            <p:cNvPicPr/>
            <p:nvPr/>
          </p:nvPicPr>
          <p:blipFill>
            <a:blip r:embed="rId4" cstate="print"/>
            <a:stretch>
              <a:fillRect/>
            </a:stretch>
          </p:blipFill>
          <p:spPr>
            <a:xfrm>
              <a:off x="3991032" y="4313696"/>
              <a:ext cx="79884" cy="105847"/>
            </a:xfrm>
            <a:prstGeom prst="rect">
              <a:avLst/>
            </a:prstGeom>
          </p:spPr>
        </p:pic>
        <p:pic>
          <p:nvPicPr>
            <p:cNvPr id="9" name="object 9"/>
            <p:cNvPicPr/>
            <p:nvPr/>
          </p:nvPicPr>
          <p:blipFill>
            <a:blip r:embed="rId5" cstate="print"/>
            <a:stretch>
              <a:fillRect/>
            </a:stretch>
          </p:blipFill>
          <p:spPr>
            <a:xfrm>
              <a:off x="2821034" y="3158806"/>
              <a:ext cx="2088373" cy="1077293"/>
            </a:xfrm>
            <a:prstGeom prst="rect">
              <a:avLst/>
            </a:prstGeom>
          </p:spPr>
        </p:pic>
      </p:grpSp>
      <p:pic>
        <p:nvPicPr>
          <p:cNvPr id="10" name="object 10"/>
          <p:cNvPicPr/>
          <p:nvPr/>
        </p:nvPicPr>
        <p:blipFill>
          <a:blip r:embed="rId6" cstate="print"/>
          <a:stretch>
            <a:fillRect/>
          </a:stretch>
        </p:blipFill>
        <p:spPr>
          <a:xfrm>
            <a:off x="5488906" y="3158806"/>
            <a:ext cx="2086910" cy="1077293"/>
          </a:xfrm>
          <a:prstGeom prst="rect">
            <a:avLst/>
          </a:prstGeom>
        </p:spPr>
      </p:pic>
      <p:pic>
        <p:nvPicPr>
          <p:cNvPr id="11" name="object 11"/>
          <p:cNvPicPr/>
          <p:nvPr/>
        </p:nvPicPr>
        <p:blipFill>
          <a:blip r:embed="rId7" cstate="print"/>
          <a:stretch>
            <a:fillRect/>
          </a:stretch>
        </p:blipFill>
        <p:spPr>
          <a:xfrm>
            <a:off x="1969198" y="4557617"/>
            <a:ext cx="6140841" cy="545022"/>
          </a:xfrm>
          <a:prstGeom prst="rect">
            <a:avLst/>
          </a:prstGeom>
        </p:spPr>
      </p:pic>
      <p:pic>
        <p:nvPicPr>
          <p:cNvPr id="12" name="object 12"/>
          <p:cNvPicPr/>
          <p:nvPr/>
        </p:nvPicPr>
        <p:blipFill>
          <a:blip r:embed="rId8" cstate="print"/>
          <a:stretch>
            <a:fillRect/>
          </a:stretch>
        </p:blipFill>
        <p:spPr>
          <a:xfrm>
            <a:off x="1969198" y="1141839"/>
            <a:ext cx="6140841" cy="1260948"/>
          </a:xfrm>
          <a:prstGeom prst="rect">
            <a:avLst/>
          </a:prstGeom>
        </p:spPr>
      </p:pic>
      <p:pic>
        <p:nvPicPr>
          <p:cNvPr id="13" name="object 13"/>
          <p:cNvPicPr/>
          <p:nvPr/>
        </p:nvPicPr>
        <p:blipFill>
          <a:blip r:embed="rId9" cstate="print"/>
          <a:stretch>
            <a:fillRect/>
          </a:stretch>
        </p:blipFill>
        <p:spPr>
          <a:xfrm>
            <a:off x="1969198" y="2493651"/>
            <a:ext cx="6140841" cy="584915"/>
          </a:xfrm>
          <a:prstGeom prst="rect">
            <a:avLst/>
          </a:prstGeom>
        </p:spPr>
      </p:pic>
      <p:sp>
        <p:nvSpPr>
          <p:cNvPr id="14" name="object 1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5" name="object 15"/>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14</a:t>
            </a:fld>
            <a:r>
              <a:rPr spc="-10" dirty="0"/>
              <a:t>/60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 dirty="0"/>
              <a:t>Training</a:t>
            </a:r>
            <a:r>
              <a:rPr spc="-340" dirty="0"/>
              <a:t> </a:t>
            </a:r>
            <a:r>
              <a:rPr spc="-10" dirty="0"/>
              <a:t>Scenario</a:t>
            </a:r>
          </a:p>
        </p:txBody>
      </p:sp>
      <p:grpSp>
        <p:nvGrpSpPr>
          <p:cNvPr id="3" name="object 3"/>
          <p:cNvGrpSpPr/>
          <p:nvPr/>
        </p:nvGrpSpPr>
        <p:grpSpPr>
          <a:xfrm>
            <a:off x="2530436" y="1326244"/>
            <a:ext cx="4134485" cy="2569210"/>
            <a:chOff x="2530436" y="1326244"/>
            <a:chExt cx="4134485" cy="2569210"/>
          </a:xfrm>
        </p:grpSpPr>
        <p:sp>
          <p:nvSpPr>
            <p:cNvPr id="4" name="object 4"/>
            <p:cNvSpPr/>
            <p:nvPr/>
          </p:nvSpPr>
          <p:spPr>
            <a:xfrm>
              <a:off x="3984116" y="2775250"/>
              <a:ext cx="2673985" cy="1113790"/>
            </a:xfrm>
            <a:custGeom>
              <a:avLst/>
              <a:gdLst/>
              <a:ahLst/>
              <a:cxnLst/>
              <a:rect l="l" t="t" r="r" b="b"/>
              <a:pathLst>
                <a:path w="2673984" h="1113789">
                  <a:moveTo>
                    <a:pt x="704519" y="875512"/>
                  </a:moveTo>
                  <a:lnTo>
                    <a:pt x="0" y="15112"/>
                  </a:lnTo>
                </a:path>
                <a:path w="2673984" h="1113789">
                  <a:moveTo>
                    <a:pt x="1208519" y="879119"/>
                  </a:moveTo>
                  <a:lnTo>
                    <a:pt x="1208519" y="0"/>
                  </a:lnTo>
                </a:path>
                <a:path w="2673984" h="1113789">
                  <a:moveTo>
                    <a:pt x="80645" y="1113472"/>
                  </a:moveTo>
                  <a:lnTo>
                    <a:pt x="2673718" y="1113472"/>
                  </a:lnTo>
                </a:path>
              </a:pathLst>
            </a:custGeom>
            <a:ln w="13270">
              <a:solidFill>
                <a:srgbClr val="454C4C"/>
              </a:solidFill>
            </a:ln>
          </p:spPr>
          <p:txBody>
            <a:bodyPr wrap="square" lIns="0" tIns="0" rIns="0" bIns="0" rtlCol="0"/>
            <a:lstStyle/>
            <a:p>
              <a:endParaRPr/>
            </a:p>
          </p:txBody>
        </p:sp>
        <p:sp>
          <p:nvSpPr>
            <p:cNvPr id="5" name="object 5"/>
            <p:cNvSpPr/>
            <p:nvPr/>
          </p:nvSpPr>
          <p:spPr>
            <a:xfrm>
              <a:off x="2530436" y="1326244"/>
              <a:ext cx="1536700" cy="1536700"/>
            </a:xfrm>
            <a:custGeom>
              <a:avLst/>
              <a:gdLst/>
              <a:ahLst/>
              <a:cxnLst/>
              <a:rect l="l" t="t" r="r" b="b"/>
              <a:pathLst>
                <a:path w="1536700" h="1536700">
                  <a:moveTo>
                    <a:pt x="1334884" y="0"/>
                  </a:moveTo>
                  <a:lnTo>
                    <a:pt x="201968" y="0"/>
                  </a:lnTo>
                  <a:lnTo>
                    <a:pt x="155638" y="5330"/>
                  </a:lnTo>
                  <a:lnTo>
                    <a:pt x="113119" y="20517"/>
                  </a:lnTo>
                  <a:lnTo>
                    <a:pt x="75620" y="44350"/>
                  </a:lnTo>
                  <a:lnTo>
                    <a:pt x="44350" y="75620"/>
                  </a:lnTo>
                  <a:lnTo>
                    <a:pt x="20517" y="113119"/>
                  </a:lnTo>
                  <a:lnTo>
                    <a:pt x="5330" y="155638"/>
                  </a:lnTo>
                  <a:lnTo>
                    <a:pt x="0" y="201968"/>
                  </a:lnTo>
                  <a:lnTo>
                    <a:pt x="0" y="1334884"/>
                  </a:lnTo>
                  <a:lnTo>
                    <a:pt x="5330" y="1381077"/>
                  </a:lnTo>
                  <a:lnTo>
                    <a:pt x="20517" y="1423498"/>
                  </a:lnTo>
                  <a:lnTo>
                    <a:pt x="44350" y="1460932"/>
                  </a:lnTo>
                  <a:lnTo>
                    <a:pt x="75620" y="1492163"/>
                  </a:lnTo>
                  <a:lnTo>
                    <a:pt x="113119" y="1515975"/>
                  </a:lnTo>
                  <a:lnTo>
                    <a:pt x="155638" y="1531154"/>
                  </a:lnTo>
                  <a:lnTo>
                    <a:pt x="201968" y="1536484"/>
                  </a:lnTo>
                  <a:lnTo>
                    <a:pt x="768248" y="1536484"/>
                  </a:lnTo>
                  <a:lnTo>
                    <a:pt x="1334884" y="1536484"/>
                  </a:lnTo>
                  <a:lnTo>
                    <a:pt x="1381077" y="1531154"/>
                  </a:lnTo>
                  <a:lnTo>
                    <a:pt x="1423498" y="1515975"/>
                  </a:lnTo>
                  <a:lnTo>
                    <a:pt x="1460932" y="1492163"/>
                  </a:lnTo>
                  <a:lnTo>
                    <a:pt x="1492163" y="1460932"/>
                  </a:lnTo>
                  <a:lnTo>
                    <a:pt x="1515975" y="1423498"/>
                  </a:lnTo>
                  <a:lnTo>
                    <a:pt x="1531154" y="1381077"/>
                  </a:lnTo>
                  <a:lnTo>
                    <a:pt x="1536484" y="1334884"/>
                  </a:lnTo>
                  <a:lnTo>
                    <a:pt x="1536484" y="201968"/>
                  </a:lnTo>
                  <a:lnTo>
                    <a:pt x="1531154" y="155638"/>
                  </a:lnTo>
                  <a:lnTo>
                    <a:pt x="1515975" y="113119"/>
                  </a:lnTo>
                  <a:lnTo>
                    <a:pt x="1492163" y="75620"/>
                  </a:lnTo>
                  <a:lnTo>
                    <a:pt x="1460932" y="44350"/>
                  </a:lnTo>
                  <a:lnTo>
                    <a:pt x="1423498" y="20517"/>
                  </a:lnTo>
                  <a:lnTo>
                    <a:pt x="1381077" y="5330"/>
                  </a:lnTo>
                  <a:lnTo>
                    <a:pt x="1334884" y="0"/>
                  </a:lnTo>
                  <a:close/>
                </a:path>
              </a:pathLst>
            </a:custGeom>
            <a:solidFill>
              <a:srgbClr val="00607E"/>
            </a:solidFill>
          </p:spPr>
          <p:txBody>
            <a:bodyPr wrap="square" lIns="0" tIns="0" rIns="0" bIns="0" rtlCol="0"/>
            <a:lstStyle/>
            <a:p>
              <a:endParaRPr/>
            </a:p>
          </p:txBody>
        </p:sp>
        <p:sp>
          <p:nvSpPr>
            <p:cNvPr id="6" name="object 6"/>
            <p:cNvSpPr/>
            <p:nvPr/>
          </p:nvSpPr>
          <p:spPr>
            <a:xfrm>
              <a:off x="2657157" y="1705326"/>
              <a:ext cx="1263650" cy="500380"/>
            </a:xfrm>
            <a:custGeom>
              <a:avLst/>
              <a:gdLst/>
              <a:ahLst/>
              <a:cxnLst/>
              <a:rect l="l" t="t" r="r" b="b"/>
              <a:pathLst>
                <a:path w="1263650" h="500380">
                  <a:moveTo>
                    <a:pt x="313918" y="46443"/>
                  </a:moveTo>
                  <a:lnTo>
                    <a:pt x="310311" y="28257"/>
                  </a:lnTo>
                  <a:lnTo>
                    <a:pt x="300456" y="13512"/>
                  </a:lnTo>
                  <a:lnTo>
                    <a:pt x="285826" y="3619"/>
                  </a:lnTo>
                  <a:lnTo>
                    <a:pt x="267843" y="0"/>
                  </a:lnTo>
                  <a:lnTo>
                    <a:pt x="46443" y="0"/>
                  </a:lnTo>
                  <a:lnTo>
                    <a:pt x="28397" y="3619"/>
                  </a:lnTo>
                  <a:lnTo>
                    <a:pt x="13627" y="13512"/>
                  </a:lnTo>
                  <a:lnTo>
                    <a:pt x="3657" y="28257"/>
                  </a:lnTo>
                  <a:lnTo>
                    <a:pt x="0" y="46443"/>
                  </a:lnTo>
                  <a:lnTo>
                    <a:pt x="0" y="136080"/>
                  </a:lnTo>
                  <a:lnTo>
                    <a:pt x="3657" y="154279"/>
                  </a:lnTo>
                  <a:lnTo>
                    <a:pt x="13627" y="169024"/>
                  </a:lnTo>
                  <a:lnTo>
                    <a:pt x="28397" y="178917"/>
                  </a:lnTo>
                  <a:lnTo>
                    <a:pt x="46443" y="182524"/>
                  </a:lnTo>
                  <a:lnTo>
                    <a:pt x="156959" y="182524"/>
                  </a:lnTo>
                  <a:lnTo>
                    <a:pt x="267843" y="182524"/>
                  </a:lnTo>
                  <a:lnTo>
                    <a:pt x="285826" y="178917"/>
                  </a:lnTo>
                  <a:lnTo>
                    <a:pt x="300456" y="169024"/>
                  </a:lnTo>
                  <a:lnTo>
                    <a:pt x="310311" y="154279"/>
                  </a:lnTo>
                  <a:lnTo>
                    <a:pt x="313918" y="136080"/>
                  </a:lnTo>
                  <a:lnTo>
                    <a:pt x="313918" y="46443"/>
                  </a:lnTo>
                  <a:close/>
                </a:path>
                <a:path w="1263650" h="500380">
                  <a:moveTo>
                    <a:pt x="800646" y="46443"/>
                  </a:moveTo>
                  <a:lnTo>
                    <a:pt x="796975" y="28257"/>
                  </a:lnTo>
                  <a:lnTo>
                    <a:pt x="787006" y="13512"/>
                  </a:lnTo>
                  <a:lnTo>
                    <a:pt x="772236" y="3619"/>
                  </a:lnTo>
                  <a:lnTo>
                    <a:pt x="754202" y="0"/>
                  </a:lnTo>
                  <a:lnTo>
                    <a:pt x="532803" y="0"/>
                  </a:lnTo>
                  <a:lnTo>
                    <a:pt x="514756" y="3619"/>
                  </a:lnTo>
                  <a:lnTo>
                    <a:pt x="499986" y="13512"/>
                  </a:lnTo>
                  <a:lnTo>
                    <a:pt x="490016" y="28257"/>
                  </a:lnTo>
                  <a:lnTo>
                    <a:pt x="486359" y="46443"/>
                  </a:lnTo>
                  <a:lnTo>
                    <a:pt x="486359" y="136080"/>
                  </a:lnTo>
                  <a:lnTo>
                    <a:pt x="490016" y="154279"/>
                  </a:lnTo>
                  <a:lnTo>
                    <a:pt x="499986" y="169024"/>
                  </a:lnTo>
                  <a:lnTo>
                    <a:pt x="514756" y="178917"/>
                  </a:lnTo>
                  <a:lnTo>
                    <a:pt x="532803" y="182524"/>
                  </a:lnTo>
                  <a:lnTo>
                    <a:pt x="643318" y="182524"/>
                  </a:lnTo>
                  <a:lnTo>
                    <a:pt x="754202" y="182524"/>
                  </a:lnTo>
                  <a:lnTo>
                    <a:pt x="772236" y="178917"/>
                  </a:lnTo>
                  <a:lnTo>
                    <a:pt x="787006" y="169024"/>
                  </a:lnTo>
                  <a:lnTo>
                    <a:pt x="796975" y="154279"/>
                  </a:lnTo>
                  <a:lnTo>
                    <a:pt x="800646" y="136080"/>
                  </a:lnTo>
                  <a:lnTo>
                    <a:pt x="800646" y="46443"/>
                  </a:lnTo>
                  <a:close/>
                </a:path>
                <a:path w="1263650" h="500380">
                  <a:moveTo>
                    <a:pt x="1252804" y="343446"/>
                  </a:moveTo>
                  <a:lnTo>
                    <a:pt x="1248625" y="322668"/>
                  </a:lnTo>
                  <a:lnTo>
                    <a:pt x="1237234" y="305739"/>
                  </a:lnTo>
                  <a:lnTo>
                    <a:pt x="1220292" y="294335"/>
                  </a:lnTo>
                  <a:lnTo>
                    <a:pt x="1199527" y="290156"/>
                  </a:lnTo>
                  <a:lnTo>
                    <a:pt x="64439" y="290156"/>
                  </a:lnTo>
                  <a:lnTo>
                    <a:pt x="43662" y="294335"/>
                  </a:lnTo>
                  <a:lnTo>
                    <a:pt x="26733" y="305739"/>
                  </a:lnTo>
                  <a:lnTo>
                    <a:pt x="15328" y="322668"/>
                  </a:lnTo>
                  <a:lnTo>
                    <a:pt x="11163" y="343446"/>
                  </a:lnTo>
                  <a:lnTo>
                    <a:pt x="11163" y="446760"/>
                  </a:lnTo>
                  <a:lnTo>
                    <a:pt x="15328" y="467550"/>
                  </a:lnTo>
                  <a:lnTo>
                    <a:pt x="26733" y="484479"/>
                  </a:lnTo>
                  <a:lnTo>
                    <a:pt x="43662" y="495871"/>
                  </a:lnTo>
                  <a:lnTo>
                    <a:pt x="64439" y="500037"/>
                  </a:lnTo>
                  <a:lnTo>
                    <a:pt x="631799" y="500037"/>
                  </a:lnTo>
                  <a:lnTo>
                    <a:pt x="1199527" y="500037"/>
                  </a:lnTo>
                  <a:lnTo>
                    <a:pt x="1220292" y="495871"/>
                  </a:lnTo>
                  <a:lnTo>
                    <a:pt x="1237234" y="484479"/>
                  </a:lnTo>
                  <a:lnTo>
                    <a:pt x="1248625" y="467550"/>
                  </a:lnTo>
                  <a:lnTo>
                    <a:pt x="1252804" y="446760"/>
                  </a:lnTo>
                  <a:lnTo>
                    <a:pt x="1252804" y="343446"/>
                  </a:lnTo>
                  <a:close/>
                </a:path>
                <a:path w="1263650" h="500380">
                  <a:moveTo>
                    <a:pt x="1263599" y="46443"/>
                  </a:moveTo>
                  <a:lnTo>
                    <a:pt x="1259992" y="28257"/>
                  </a:lnTo>
                  <a:lnTo>
                    <a:pt x="1250137" y="13512"/>
                  </a:lnTo>
                  <a:lnTo>
                    <a:pt x="1235506" y="3619"/>
                  </a:lnTo>
                  <a:lnTo>
                    <a:pt x="1217523" y="0"/>
                  </a:lnTo>
                  <a:lnTo>
                    <a:pt x="996124" y="0"/>
                  </a:lnTo>
                  <a:lnTo>
                    <a:pt x="978077" y="3619"/>
                  </a:lnTo>
                  <a:lnTo>
                    <a:pt x="963307" y="13512"/>
                  </a:lnTo>
                  <a:lnTo>
                    <a:pt x="953338" y="28257"/>
                  </a:lnTo>
                  <a:lnTo>
                    <a:pt x="949680" y="46443"/>
                  </a:lnTo>
                  <a:lnTo>
                    <a:pt x="949680" y="136080"/>
                  </a:lnTo>
                  <a:lnTo>
                    <a:pt x="953338" y="154279"/>
                  </a:lnTo>
                  <a:lnTo>
                    <a:pt x="963307" y="169024"/>
                  </a:lnTo>
                  <a:lnTo>
                    <a:pt x="978077" y="178917"/>
                  </a:lnTo>
                  <a:lnTo>
                    <a:pt x="996124" y="182524"/>
                  </a:lnTo>
                  <a:lnTo>
                    <a:pt x="1106639" y="182524"/>
                  </a:lnTo>
                  <a:lnTo>
                    <a:pt x="1217523" y="182524"/>
                  </a:lnTo>
                  <a:lnTo>
                    <a:pt x="1235506" y="178917"/>
                  </a:lnTo>
                  <a:lnTo>
                    <a:pt x="1250137" y="169024"/>
                  </a:lnTo>
                  <a:lnTo>
                    <a:pt x="1259992" y="154279"/>
                  </a:lnTo>
                  <a:lnTo>
                    <a:pt x="1263599" y="136080"/>
                  </a:lnTo>
                  <a:lnTo>
                    <a:pt x="1263599" y="46443"/>
                  </a:lnTo>
                  <a:close/>
                </a:path>
              </a:pathLst>
            </a:custGeom>
            <a:solidFill>
              <a:srgbClr val="FF9000"/>
            </a:solidFill>
          </p:spPr>
          <p:txBody>
            <a:bodyPr wrap="square" lIns="0" tIns="0" rIns="0" bIns="0" rtlCol="0"/>
            <a:lstStyle/>
            <a:p>
              <a:endParaRPr/>
            </a:p>
          </p:txBody>
        </p:sp>
      </p:grpSp>
      <p:sp>
        <p:nvSpPr>
          <p:cNvPr id="7" name="object 7"/>
          <p:cNvSpPr txBox="1"/>
          <p:nvPr/>
        </p:nvSpPr>
        <p:spPr>
          <a:xfrm>
            <a:off x="2714078" y="1379279"/>
            <a:ext cx="1160145" cy="793115"/>
          </a:xfrm>
          <a:prstGeom prst="rect">
            <a:avLst/>
          </a:prstGeom>
        </p:spPr>
        <p:txBody>
          <a:bodyPr vert="horz" wrap="square" lIns="0" tIns="17145" rIns="0" bIns="0" rtlCol="0">
            <a:spAutoFit/>
          </a:bodyPr>
          <a:lstStyle/>
          <a:p>
            <a:pPr marL="3175" algn="ctr">
              <a:lnSpc>
                <a:spcPct val="100000"/>
              </a:lnSpc>
              <a:spcBef>
                <a:spcPts val="135"/>
              </a:spcBef>
            </a:pPr>
            <a:r>
              <a:rPr sz="1150" dirty="0">
                <a:solidFill>
                  <a:srgbClr val="FFFFFF"/>
                </a:solidFill>
                <a:latin typeface="Lucida Sans Unicode"/>
                <a:cs typeface="Lucida Sans Unicode"/>
              </a:rPr>
              <a:t>Windows</a:t>
            </a:r>
            <a:r>
              <a:rPr sz="1150" spc="5" dirty="0">
                <a:solidFill>
                  <a:srgbClr val="FFFFFF"/>
                </a:solidFill>
                <a:latin typeface="Lucida Sans Unicode"/>
                <a:cs typeface="Lucida Sans Unicode"/>
              </a:rPr>
              <a:t> </a:t>
            </a:r>
            <a:r>
              <a:rPr sz="1150" spc="-10" dirty="0">
                <a:solidFill>
                  <a:srgbClr val="FFFFFF"/>
                </a:solidFill>
                <a:latin typeface="Lucida Sans Unicode"/>
                <a:cs typeface="Lucida Sans Unicode"/>
              </a:rPr>
              <a:t>Server</a:t>
            </a:r>
            <a:endParaRPr sz="1150">
              <a:latin typeface="Lucida Sans Unicode"/>
              <a:cs typeface="Lucida Sans Unicode"/>
            </a:endParaRPr>
          </a:p>
          <a:p>
            <a:pPr algn="ctr">
              <a:lnSpc>
                <a:spcPct val="100000"/>
              </a:lnSpc>
              <a:spcBef>
                <a:spcPts val="1300"/>
              </a:spcBef>
              <a:tabLst>
                <a:tab pos="485775" algn="l"/>
                <a:tab pos="949325" algn="l"/>
              </a:tabLst>
            </a:pPr>
            <a:r>
              <a:rPr sz="750" spc="-25" dirty="0">
                <a:solidFill>
                  <a:srgbClr val="FFFFFF"/>
                </a:solidFill>
                <a:latin typeface="Lucida Sans Unicode"/>
                <a:cs typeface="Lucida Sans Unicode"/>
              </a:rPr>
              <a:t>APP</a:t>
            </a:r>
            <a:r>
              <a:rPr sz="750" dirty="0">
                <a:solidFill>
                  <a:srgbClr val="FFFFFF"/>
                </a:solidFill>
                <a:latin typeface="Lucida Sans Unicode"/>
                <a:cs typeface="Lucida Sans Unicode"/>
              </a:rPr>
              <a:t>	</a:t>
            </a:r>
            <a:r>
              <a:rPr sz="750" spc="-25" dirty="0">
                <a:solidFill>
                  <a:srgbClr val="FFFFFF"/>
                </a:solidFill>
                <a:latin typeface="Lucida Sans Unicode"/>
                <a:cs typeface="Lucida Sans Unicode"/>
              </a:rPr>
              <a:t>APP</a:t>
            </a:r>
            <a:r>
              <a:rPr sz="750" dirty="0">
                <a:solidFill>
                  <a:srgbClr val="FFFFFF"/>
                </a:solidFill>
                <a:latin typeface="Lucida Sans Unicode"/>
                <a:cs typeface="Lucida Sans Unicode"/>
              </a:rPr>
              <a:t>	</a:t>
            </a:r>
            <a:r>
              <a:rPr sz="750" spc="-25" dirty="0">
                <a:solidFill>
                  <a:srgbClr val="FFFFFF"/>
                </a:solidFill>
                <a:latin typeface="Lucida Sans Unicode"/>
                <a:cs typeface="Lucida Sans Unicode"/>
              </a:rPr>
              <a:t>APP</a:t>
            </a:r>
            <a:endParaRPr sz="750">
              <a:latin typeface="Lucida Sans Unicode"/>
              <a:cs typeface="Lucida Sans Unicode"/>
            </a:endParaRPr>
          </a:p>
          <a:p>
            <a:pPr>
              <a:lnSpc>
                <a:spcPct val="100000"/>
              </a:lnSpc>
              <a:spcBef>
                <a:spcPts val="310"/>
              </a:spcBef>
            </a:pPr>
            <a:endParaRPr sz="750">
              <a:latin typeface="Lucida Sans Unicode"/>
              <a:cs typeface="Lucida Sans Unicode"/>
            </a:endParaRPr>
          </a:p>
          <a:p>
            <a:pPr algn="ctr">
              <a:lnSpc>
                <a:spcPct val="100000"/>
              </a:lnSpc>
              <a:spcBef>
                <a:spcPts val="5"/>
              </a:spcBef>
            </a:pPr>
            <a:r>
              <a:rPr sz="800" spc="-10" dirty="0">
                <a:solidFill>
                  <a:srgbClr val="FFFFFF"/>
                </a:solidFill>
                <a:latin typeface="Lucida Sans Unicode"/>
                <a:cs typeface="Lucida Sans Unicode"/>
              </a:rPr>
              <a:t>Windows</a:t>
            </a:r>
            <a:r>
              <a:rPr sz="800" spc="-5" dirty="0">
                <a:solidFill>
                  <a:srgbClr val="FFFFFF"/>
                </a:solidFill>
                <a:latin typeface="Lucida Sans Unicode"/>
                <a:cs typeface="Lucida Sans Unicode"/>
              </a:rPr>
              <a:t> </a:t>
            </a:r>
            <a:r>
              <a:rPr sz="800" spc="-10" dirty="0">
                <a:solidFill>
                  <a:srgbClr val="FFFFFF"/>
                </a:solidFill>
                <a:latin typeface="Lucida Sans Unicode"/>
                <a:cs typeface="Lucida Sans Unicode"/>
              </a:rPr>
              <a:t>Kernel</a:t>
            </a:r>
            <a:endParaRPr sz="800">
              <a:latin typeface="Lucida Sans Unicode"/>
              <a:cs typeface="Lucida Sans Unicode"/>
            </a:endParaRPr>
          </a:p>
        </p:txBody>
      </p:sp>
      <p:sp>
        <p:nvSpPr>
          <p:cNvPr id="8" name="object 8"/>
          <p:cNvSpPr/>
          <p:nvPr/>
        </p:nvSpPr>
        <p:spPr>
          <a:xfrm>
            <a:off x="2737434" y="2333163"/>
            <a:ext cx="122555" cy="136525"/>
          </a:xfrm>
          <a:custGeom>
            <a:avLst/>
            <a:gdLst/>
            <a:ahLst/>
            <a:cxnLst/>
            <a:rect l="l" t="t" r="r" b="b"/>
            <a:pathLst>
              <a:path w="122555" h="136525">
                <a:moveTo>
                  <a:pt x="60845" y="136080"/>
                </a:moveTo>
                <a:lnTo>
                  <a:pt x="0" y="136080"/>
                </a:lnTo>
                <a:lnTo>
                  <a:pt x="0" y="0"/>
                </a:lnTo>
                <a:lnTo>
                  <a:pt x="122047" y="0"/>
                </a:lnTo>
                <a:lnTo>
                  <a:pt x="122047" y="136080"/>
                </a:lnTo>
                <a:lnTo>
                  <a:pt x="60845" y="136080"/>
                </a:lnTo>
                <a:close/>
              </a:path>
            </a:pathLst>
          </a:custGeom>
          <a:ln w="10809">
            <a:solidFill>
              <a:srgbClr val="FFFFFF"/>
            </a:solidFill>
          </a:ln>
        </p:spPr>
        <p:txBody>
          <a:bodyPr wrap="square" lIns="0" tIns="0" rIns="0" bIns="0" rtlCol="0"/>
          <a:lstStyle/>
          <a:p>
            <a:endParaRPr/>
          </a:p>
        </p:txBody>
      </p:sp>
      <p:sp>
        <p:nvSpPr>
          <p:cNvPr id="9" name="object 9"/>
          <p:cNvSpPr txBox="1"/>
          <p:nvPr/>
        </p:nvSpPr>
        <p:spPr>
          <a:xfrm>
            <a:off x="2701074" y="2297172"/>
            <a:ext cx="197485" cy="464820"/>
          </a:xfrm>
          <a:prstGeom prst="rect">
            <a:avLst/>
          </a:prstGeom>
          <a:ln w="10809">
            <a:solidFill>
              <a:srgbClr val="FFFFFF"/>
            </a:solidFill>
          </a:ln>
        </p:spPr>
        <p:txBody>
          <a:bodyPr vert="vert" wrap="square" lIns="0" tIns="43815" rIns="0" bIns="0" rtlCol="0">
            <a:spAutoFit/>
          </a:bodyPr>
          <a:lstStyle/>
          <a:p>
            <a:pPr marL="251460">
              <a:lnSpc>
                <a:spcPct val="100000"/>
              </a:lnSpc>
              <a:spcBef>
                <a:spcPts val="345"/>
              </a:spcBef>
            </a:pPr>
            <a:r>
              <a:rPr sz="750" spc="-25" dirty="0">
                <a:solidFill>
                  <a:srgbClr val="FFFFFF"/>
                </a:solidFill>
                <a:latin typeface="Lucida Sans Unicode"/>
                <a:cs typeface="Lucida Sans Unicode"/>
              </a:rPr>
              <a:t>NIC</a:t>
            </a:r>
            <a:endParaRPr sz="750">
              <a:latin typeface="Lucida Sans Unicode"/>
              <a:cs typeface="Lucida Sans Unicode"/>
            </a:endParaRPr>
          </a:p>
        </p:txBody>
      </p:sp>
      <p:sp>
        <p:nvSpPr>
          <p:cNvPr id="10" name="object 10"/>
          <p:cNvSpPr/>
          <p:nvPr/>
        </p:nvSpPr>
        <p:spPr>
          <a:xfrm>
            <a:off x="3538804" y="2428566"/>
            <a:ext cx="330200" cy="243204"/>
          </a:xfrm>
          <a:custGeom>
            <a:avLst/>
            <a:gdLst/>
            <a:ahLst/>
            <a:cxnLst/>
            <a:rect l="l" t="t" r="r" b="b"/>
            <a:pathLst>
              <a:path w="330200" h="243205">
                <a:moveTo>
                  <a:pt x="164871" y="243001"/>
                </a:moveTo>
                <a:lnTo>
                  <a:pt x="0" y="243001"/>
                </a:lnTo>
                <a:lnTo>
                  <a:pt x="0" y="0"/>
                </a:lnTo>
                <a:lnTo>
                  <a:pt x="329755" y="0"/>
                </a:lnTo>
                <a:lnTo>
                  <a:pt x="329755" y="243001"/>
                </a:lnTo>
                <a:lnTo>
                  <a:pt x="164871" y="243001"/>
                </a:lnTo>
                <a:close/>
              </a:path>
              <a:path w="330200" h="243205">
                <a:moveTo>
                  <a:pt x="164871" y="204838"/>
                </a:moveTo>
                <a:lnTo>
                  <a:pt x="38150" y="204838"/>
                </a:lnTo>
                <a:lnTo>
                  <a:pt x="38150" y="37807"/>
                </a:lnTo>
                <a:lnTo>
                  <a:pt x="291591" y="37807"/>
                </a:lnTo>
                <a:lnTo>
                  <a:pt x="291591" y="204838"/>
                </a:lnTo>
                <a:lnTo>
                  <a:pt x="164871" y="204838"/>
                </a:lnTo>
                <a:close/>
              </a:path>
            </a:pathLst>
          </a:custGeom>
          <a:ln w="13745">
            <a:solidFill>
              <a:srgbClr val="FFFFFF"/>
            </a:solidFill>
          </a:ln>
        </p:spPr>
        <p:txBody>
          <a:bodyPr wrap="square" lIns="0" tIns="0" rIns="0" bIns="0" rtlCol="0"/>
          <a:lstStyle/>
          <a:p>
            <a:endParaRPr/>
          </a:p>
        </p:txBody>
      </p:sp>
      <p:sp>
        <p:nvSpPr>
          <p:cNvPr id="11" name="object 11"/>
          <p:cNvSpPr txBox="1"/>
          <p:nvPr/>
        </p:nvSpPr>
        <p:spPr>
          <a:xfrm>
            <a:off x="3583138" y="2466958"/>
            <a:ext cx="215900" cy="159385"/>
          </a:xfrm>
          <a:prstGeom prst="rect">
            <a:avLst/>
          </a:prstGeom>
        </p:spPr>
        <p:txBody>
          <a:bodyPr vert="horz" wrap="square" lIns="0" tIns="21590" rIns="0" bIns="0" rtlCol="0">
            <a:spAutoFit/>
          </a:bodyPr>
          <a:lstStyle/>
          <a:p>
            <a:pPr marL="12700">
              <a:lnSpc>
                <a:spcPct val="100000"/>
              </a:lnSpc>
              <a:spcBef>
                <a:spcPts val="170"/>
              </a:spcBef>
            </a:pPr>
            <a:r>
              <a:rPr sz="750" spc="-25" dirty="0">
                <a:solidFill>
                  <a:srgbClr val="FFFFFF"/>
                </a:solidFill>
                <a:latin typeface="Lucida Sans Unicode"/>
                <a:cs typeface="Lucida Sans Unicode"/>
              </a:rPr>
              <a:t>CPU</a:t>
            </a:r>
            <a:endParaRPr sz="750">
              <a:latin typeface="Lucida Sans Unicode"/>
              <a:cs typeface="Lucida Sans Unicode"/>
            </a:endParaRPr>
          </a:p>
        </p:txBody>
      </p:sp>
      <p:grpSp>
        <p:nvGrpSpPr>
          <p:cNvPr id="12" name="object 12"/>
          <p:cNvGrpSpPr/>
          <p:nvPr/>
        </p:nvGrpSpPr>
        <p:grpSpPr>
          <a:xfrm>
            <a:off x="2535834" y="2396004"/>
            <a:ext cx="1536700" cy="2218690"/>
            <a:chOff x="2535834" y="2396004"/>
            <a:chExt cx="1536700" cy="2218690"/>
          </a:xfrm>
        </p:grpSpPr>
        <p:pic>
          <p:nvPicPr>
            <p:cNvPr id="13" name="object 13"/>
            <p:cNvPicPr/>
            <p:nvPr/>
          </p:nvPicPr>
          <p:blipFill>
            <a:blip r:embed="rId2" cstate="print"/>
            <a:stretch>
              <a:fillRect/>
            </a:stretch>
          </p:blipFill>
          <p:spPr>
            <a:xfrm>
              <a:off x="3156864" y="2396004"/>
              <a:ext cx="189673" cy="329703"/>
            </a:xfrm>
            <a:prstGeom prst="rect">
              <a:avLst/>
            </a:prstGeom>
          </p:spPr>
        </p:pic>
        <p:pic>
          <p:nvPicPr>
            <p:cNvPr id="14" name="object 14"/>
            <p:cNvPicPr/>
            <p:nvPr/>
          </p:nvPicPr>
          <p:blipFill>
            <a:blip r:embed="rId3" cstate="print"/>
            <a:stretch>
              <a:fillRect/>
            </a:stretch>
          </p:blipFill>
          <p:spPr>
            <a:xfrm>
              <a:off x="2535834" y="3078006"/>
              <a:ext cx="1536484" cy="1536484"/>
            </a:xfrm>
            <a:prstGeom prst="rect">
              <a:avLst/>
            </a:prstGeom>
          </p:spPr>
        </p:pic>
      </p:grpSp>
      <p:sp>
        <p:nvSpPr>
          <p:cNvPr id="15" name="object 15"/>
          <p:cNvSpPr txBox="1"/>
          <p:nvPr/>
        </p:nvSpPr>
        <p:spPr>
          <a:xfrm>
            <a:off x="2858655" y="3130304"/>
            <a:ext cx="873125" cy="792480"/>
          </a:xfrm>
          <a:prstGeom prst="rect">
            <a:avLst/>
          </a:prstGeom>
        </p:spPr>
        <p:txBody>
          <a:bodyPr vert="horz" wrap="square" lIns="0" tIns="11430" rIns="0" bIns="0" rtlCol="0">
            <a:spAutoFit/>
          </a:bodyPr>
          <a:lstStyle/>
          <a:p>
            <a:pPr algn="ctr">
              <a:lnSpc>
                <a:spcPct val="100000"/>
              </a:lnSpc>
              <a:spcBef>
                <a:spcPts val="90"/>
              </a:spcBef>
            </a:pPr>
            <a:r>
              <a:rPr sz="1200" spc="-35" dirty="0">
                <a:solidFill>
                  <a:srgbClr val="FFFFFF"/>
                </a:solidFill>
                <a:latin typeface="Lucida Sans Unicode"/>
                <a:cs typeface="Lucida Sans Unicode"/>
              </a:rPr>
              <a:t>Storage</a:t>
            </a:r>
            <a:r>
              <a:rPr sz="1200" spc="-40" dirty="0">
                <a:solidFill>
                  <a:srgbClr val="FFFFFF"/>
                </a:solidFill>
                <a:latin typeface="Lucida Sans Unicode"/>
                <a:cs typeface="Lucida Sans Unicode"/>
              </a:rPr>
              <a:t> </a:t>
            </a:r>
            <a:r>
              <a:rPr sz="1200" spc="-25" dirty="0">
                <a:solidFill>
                  <a:srgbClr val="FFFFFF"/>
                </a:solidFill>
                <a:latin typeface="Lucida Sans Unicode"/>
                <a:cs typeface="Lucida Sans Unicode"/>
              </a:rPr>
              <a:t>Box</a:t>
            </a:r>
            <a:endParaRPr sz="1200">
              <a:latin typeface="Lucida Sans Unicode"/>
              <a:cs typeface="Lucida Sans Unicode"/>
            </a:endParaRPr>
          </a:p>
          <a:p>
            <a:pPr marL="37465" algn="ctr">
              <a:lnSpc>
                <a:spcPct val="100000"/>
              </a:lnSpc>
              <a:spcBef>
                <a:spcPts val="1285"/>
              </a:spcBef>
              <a:tabLst>
                <a:tab pos="579120" algn="l"/>
              </a:tabLst>
            </a:pPr>
            <a:r>
              <a:rPr sz="750" spc="-25" dirty="0">
                <a:solidFill>
                  <a:srgbClr val="FFFFFF"/>
                </a:solidFill>
                <a:latin typeface="Lucida Sans Unicode"/>
                <a:cs typeface="Lucida Sans Unicode"/>
              </a:rPr>
              <a:t>NFS</a:t>
            </a:r>
            <a:r>
              <a:rPr sz="750" dirty="0">
                <a:solidFill>
                  <a:srgbClr val="FFFFFF"/>
                </a:solidFill>
                <a:latin typeface="Lucida Sans Unicode"/>
                <a:cs typeface="Lucida Sans Unicode"/>
              </a:rPr>
              <a:t>	</a:t>
            </a:r>
            <a:r>
              <a:rPr sz="750" spc="-20" dirty="0">
                <a:solidFill>
                  <a:srgbClr val="FFFFFF"/>
                </a:solidFill>
                <a:latin typeface="Lucida Sans Unicode"/>
                <a:cs typeface="Lucida Sans Unicode"/>
              </a:rPr>
              <a:t>CIFS</a:t>
            </a:r>
            <a:endParaRPr sz="750">
              <a:latin typeface="Lucida Sans Unicode"/>
              <a:cs typeface="Lucida Sans Unicode"/>
            </a:endParaRPr>
          </a:p>
          <a:p>
            <a:pPr>
              <a:lnSpc>
                <a:spcPct val="100000"/>
              </a:lnSpc>
              <a:spcBef>
                <a:spcPts val="305"/>
              </a:spcBef>
            </a:pPr>
            <a:endParaRPr sz="750">
              <a:latin typeface="Lucida Sans Unicode"/>
              <a:cs typeface="Lucida Sans Unicode"/>
            </a:endParaRPr>
          </a:p>
          <a:p>
            <a:pPr marR="10160" algn="ctr">
              <a:lnSpc>
                <a:spcPct val="100000"/>
              </a:lnSpc>
            </a:pPr>
            <a:r>
              <a:rPr sz="800" spc="-30" dirty="0">
                <a:solidFill>
                  <a:srgbClr val="FFFFFF"/>
                </a:solidFill>
                <a:latin typeface="Lucida Sans Unicode"/>
                <a:cs typeface="Lucida Sans Unicode"/>
              </a:rPr>
              <a:t>Linux</a:t>
            </a:r>
            <a:r>
              <a:rPr sz="800" spc="-25" dirty="0">
                <a:solidFill>
                  <a:srgbClr val="FFFFFF"/>
                </a:solidFill>
                <a:latin typeface="Lucida Sans Unicode"/>
                <a:cs typeface="Lucida Sans Unicode"/>
              </a:rPr>
              <a:t> NAS</a:t>
            </a:r>
            <a:endParaRPr sz="800">
              <a:latin typeface="Lucida Sans Unicode"/>
              <a:cs typeface="Lucida Sans Unicode"/>
            </a:endParaRPr>
          </a:p>
        </p:txBody>
      </p:sp>
      <p:sp>
        <p:nvSpPr>
          <p:cNvPr id="16" name="object 16"/>
          <p:cNvSpPr txBox="1"/>
          <p:nvPr/>
        </p:nvSpPr>
        <p:spPr>
          <a:xfrm>
            <a:off x="2684268" y="4280420"/>
            <a:ext cx="160020" cy="189865"/>
          </a:xfrm>
          <a:prstGeom prst="rect">
            <a:avLst/>
          </a:prstGeom>
        </p:spPr>
        <p:txBody>
          <a:bodyPr vert="vert" wrap="square" lIns="0" tIns="23495" rIns="0" bIns="0" rtlCol="0">
            <a:spAutoFit/>
          </a:bodyPr>
          <a:lstStyle/>
          <a:p>
            <a:pPr marL="12700">
              <a:lnSpc>
                <a:spcPct val="100000"/>
              </a:lnSpc>
              <a:spcBef>
                <a:spcPts val="185"/>
              </a:spcBef>
            </a:pPr>
            <a:r>
              <a:rPr sz="750" spc="-25" dirty="0">
                <a:solidFill>
                  <a:srgbClr val="FFFFFF"/>
                </a:solidFill>
                <a:latin typeface="Lucida Sans Unicode"/>
                <a:cs typeface="Lucida Sans Unicode"/>
              </a:rPr>
              <a:t>NIC</a:t>
            </a:r>
            <a:endParaRPr sz="750">
              <a:latin typeface="Lucida Sans Unicode"/>
              <a:cs typeface="Lucida Sans Unicode"/>
            </a:endParaRPr>
          </a:p>
        </p:txBody>
      </p:sp>
      <p:sp>
        <p:nvSpPr>
          <p:cNvPr id="17" name="object 17"/>
          <p:cNvSpPr txBox="1"/>
          <p:nvPr/>
        </p:nvSpPr>
        <p:spPr>
          <a:xfrm>
            <a:off x="3665612" y="4219545"/>
            <a:ext cx="215900" cy="159385"/>
          </a:xfrm>
          <a:prstGeom prst="rect">
            <a:avLst/>
          </a:prstGeom>
        </p:spPr>
        <p:txBody>
          <a:bodyPr vert="horz" wrap="square" lIns="0" tIns="21590" rIns="0" bIns="0" rtlCol="0">
            <a:spAutoFit/>
          </a:bodyPr>
          <a:lstStyle/>
          <a:p>
            <a:pPr marL="12700">
              <a:lnSpc>
                <a:spcPct val="100000"/>
              </a:lnSpc>
              <a:spcBef>
                <a:spcPts val="170"/>
              </a:spcBef>
            </a:pPr>
            <a:r>
              <a:rPr sz="750" spc="-25" dirty="0">
                <a:solidFill>
                  <a:srgbClr val="FFFFFF"/>
                </a:solidFill>
                <a:latin typeface="Lucida Sans Unicode"/>
                <a:cs typeface="Lucida Sans Unicode"/>
              </a:rPr>
              <a:t>CPU</a:t>
            </a:r>
            <a:endParaRPr sz="750">
              <a:latin typeface="Lucida Sans Unicode"/>
              <a:cs typeface="Lucida Sans Unicode"/>
            </a:endParaRPr>
          </a:p>
        </p:txBody>
      </p:sp>
      <p:grpSp>
        <p:nvGrpSpPr>
          <p:cNvPr id="18" name="object 18"/>
          <p:cNvGrpSpPr/>
          <p:nvPr/>
        </p:nvGrpSpPr>
        <p:grpSpPr>
          <a:xfrm>
            <a:off x="5709767" y="1689667"/>
            <a:ext cx="1757680" cy="2364105"/>
            <a:chOff x="5709767" y="1689667"/>
            <a:chExt cx="1757680" cy="2364105"/>
          </a:xfrm>
        </p:grpSpPr>
        <p:sp>
          <p:nvSpPr>
            <p:cNvPr id="19" name="object 19"/>
            <p:cNvSpPr/>
            <p:nvPr/>
          </p:nvSpPr>
          <p:spPr>
            <a:xfrm>
              <a:off x="5716435" y="1696335"/>
              <a:ext cx="1068705" cy="1956435"/>
            </a:xfrm>
            <a:custGeom>
              <a:avLst/>
              <a:gdLst/>
              <a:ahLst/>
              <a:cxnLst/>
              <a:rect l="l" t="t" r="r" b="b"/>
              <a:pathLst>
                <a:path w="1068704" h="1956435">
                  <a:moveTo>
                    <a:pt x="0" y="1955876"/>
                  </a:moveTo>
                  <a:lnTo>
                    <a:pt x="995400" y="611276"/>
                  </a:lnTo>
                </a:path>
                <a:path w="1068704" h="1956435">
                  <a:moveTo>
                    <a:pt x="1068120" y="232549"/>
                  </a:moveTo>
                  <a:lnTo>
                    <a:pt x="1068120" y="0"/>
                  </a:lnTo>
                </a:path>
              </a:pathLst>
            </a:custGeom>
            <a:ln w="13270">
              <a:solidFill>
                <a:srgbClr val="454C4C"/>
              </a:solidFill>
            </a:ln>
          </p:spPr>
          <p:txBody>
            <a:bodyPr wrap="square" lIns="0" tIns="0" rIns="0" bIns="0" rtlCol="0"/>
            <a:lstStyle/>
            <a:p>
              <a:endParaRPr/>
            </a:p>
          </p:txBody>
        </p:sp>
        <p:sp>
          <p:nvSpPr>
            <p:cNvPr id="20" name="object 20"/>
            <p:cNvSpPr/>
            <p:nvPr/>
          </p:nvSpPr>
          <p:spPr>
            <a:xfrm>
              <a:off x="6659283" y="3638888"/>
              <a:ext cx="808355" cy="415290"/>
            </a:xfrm>
            <a:custGeom>
              <a:avLst/>
              <a:gdLst/>
              <a:ahLst/>
              <a:cxnLst/>
              <a:rect l="l" t="t" r="r" b="b"/>
              <a:pathLst>
                <a:path w="808354" h="415289">
                  <a:moveTo>
                    <a:pt x="723950" y="0"/>
                  </a:moveTo>
                  <a:lnTo>
                    <a:pt x="83515" y="0"/>
                  </a:lnTo>
                  <a:lnTo>
                    <a:pt x="51027" y="6569"/>
                  </a:lnTo>
                  <a:lnTo>
                    <a:pt x="24479" y="24479"/>
                  </a:lnTo>
                  <a:lnTo>
                    <a:pt x="6569" y="51027"/>
                  </a:lnTo>
                  <a:lnTo>
                    <a:pt x="0" y="83515"/>
                  </a:lnTo>
                  <a:lnTo>
                    <a:pt x="0" y="331203"/>
                  </a:lnTo>
                  <a:lnTo>
                    <a:pt x="6569" y="363690"/>
                  </a:lnTo>
                  <a:lnTo>
                    <a:pt x="24479" y="390239"/>
                  </a:lnTo>
                  <a:lnTo>
                    <a:pt x="51027" y="408148"/>
                  </a:lnTo>
                  <a:lnTo>
                    <a:pt x="83515" y="414718"/>
                  </a:lnTo>
                  <a:lnTo>
                    <a:pt x="403910" y="414718"/>
                  </a:lnTo>
                  <a:lnTo>
                    <a:pt x="723950" y="414718"/>
                  </a:lnTo>
                  <a:lnTo>
                    <a:pt x="756651" y="408148"/>
                  </a:lnTo>
                  <a:lnTo>
                    <a:pt x="783309" y="390239"/>
                  </a:lnTo>
                  <a:lnTo>
                    <a:pt x="801258" y="363690"/>
                  </a:lnTo>
                  <a:lnTo>
                    <a:pt x="807834" y="331203"/>
                  </a:lnTo>
                  <a:lnTo>
                    <a:pt x="807834" y="83515"/>
                  </a:lnTo>
                  <a:lnTo>
                    <a:pt x="801258" y="51027"/>
                  </a:lnTo>
                  <a:lnTo>
                    <a:pt x="783309" y="24479"/>
                  </a:lnTo>
                  <a:lnTo>
                    <a:pt x="756651" y="6569"/>
                  </a:lnTo>
                  <a:lnTo>
                    <a:pt x="723950" y="0"/>
                  </a:lnTo>
                  <a:close/>
                </a:path>
              </a:pathLst>
            </a:custGeom>
            <a:solidFill>
              <a:srgbClr val="00607E"/>
            </a:solidFill>
          </p:spPr>
          <p:txBody>
            <a:bodyPr wrap="square" lIns="0" tIns="0" rIns="0" bIns="0" rtlCol="0"/>
            <a:lstStyle/>
            <a:p>
              <a:endParaRPr/>
            </a:p>
          </p:txBody>
        </p:sp>
      </p:grpSp>
      <p:sp>
        <p:nvSpPr>
          <p:cNvPr id="21" name="object 21"/>
          <p:cNvSpPr txBox="1"/>
          <p:nvPr/>
        </p:nvSpPr>
        <p:spPr>
          <a:xfrm>
            <a:off x="6803390" y="3691962"/>
            <a:ext cx="535940" cy="291465"/>
          </a:xfrm>
          <a:prstGeom prst="rect">
            <a:avLst/>
          </a:prstGeom>
        </p:spPr>
        <p:txBody>
          <a:bodyPr vert="horz" wrap="square" lIns="0" tIns="11430" rIns="0" bIns="0" rtlCol="0">
            <a:spAutoFit/>
          </a:bodyPr>
          <a:lstStyle/>
          <a:p>
            <a:pPr marL="12700">
              <a:lnSpc>
                <a:spcPct val="100000"/>
              </a:lnSpc>
              <a:spcBef>
                <a:spcPts val="90"/>
              </a:spcBef>
            </a:pPr>
            <a:r>
              <a:rPr sz="1750" spc="-25" dirty="0">
                <a:solidFill>
                  <a:srgbClr val="FFFFFF"/>
                </a:solidFill>
                <a:latin typeface="Lucida Sans Unicode"/>
                <a:cs typeface="Lucida Sans Unicode"/>
              </a:rPr>
              <a:t>WAN</a:t>
            </a:r>
            <a:endParaRPr sz="1750">
              <a:latin typeface="Lucida Sans Unicode"/>
              <a:cs typeface="Lucida Sans Unicode"/>
            </a:endParaRPr>
          </a:p>
        </p:txBody>
      </p:sp>
      <p:sp>
        <p:nvSpPr>
          <p:cNvPr id="22" name="object 22"/>
          <p:cNvSpPr/>
          <p:nvPr/>
        </p:nvSpPr>
        <p:spPr>
          <a:xfrm>
            <a:off x="6631558" y="1326244"/>
            <a:ext cx="916940" cy="385445"/>
          </a:xfrm>
          <a:custGeom>
            <a:avLst/>
            <a:gdLst/>
            <a:ahLst/>
            <a:cxnLst/>
            <a:rect l="l" t="t" r="r" b="b"/>
            <a:pathLst>
              <a:path w="916940" h="385444">
                <a:moveTo>
                  <a:pt x="837361" y="0"/>
                </a:moveTo>
                <a:lnTo>
                  <a:pt x="79197" y="0"/>
                </a:lnTo>
                <a:lnTo>
                  <a:pt x="48295" y="6126"/>
                </a:lnTo>
                <a:lnTo>
                  <a:pt x="23129" y="22817"/>
                </a:lnTo>
                <a:lnTo>
                  <a:pt x="6198" y="47539"/>
                </a:lnTo>
                <a:lnTo>
                  <a:pt x="0" y="77762"/>
                </a:lnTo>
                <a:lnTo>
                  <a:pt x="0" y="307441"/>
                </a:lnTo>
                <a:lnTo>
                  <a:pt x="6198" y="337608"/>
                </a:lnTo>
                <a:lnTo>
                  <a:pt x="23129" y="362208"/>
                </a:lnTo>
                <a:lnTo>
                  <a:pt x="48295" y="378777"/>
                </a:lnTo>
                <a:lnTo>
                  <a:pt x="79197" y="384848"/>
                </a:lnTo>
                <a:lnTo>
                  <a:pt x="458279" y="384848"/>
                </a:lnTo>
                <a:lnTo>
                  <a:pt x="837361" y="384848"/>
                </a:lnTo>
                <a:lnTo>
                  <a:pt x="868263" y="378777"/>
                </a:lnTo>
                <a:lnTo>
                  <a:pt x="893429" y="362208"/>
                </a:lnTo>
                <a:lnTo>
                  <a:pt x="910360" y="337608"/>
                </a:lnTo>
                <a:lnTo>
                  <a:pt x="916559" y="307441"/>
                </a:lnTo>
                <a:lnTo>
                  <a:pt x="916559" y="77762"/>
                </a:lnTo>
                <a:lnTo>
                  <a:pt x="910360" y="47539"/>
                </a:lnTo>
                <a:lnTo>
                  <a:pt x="893429" y="22817"/>
                </a:lnTo>
                <a:lnTo>
                  <a:pt x="868263" y="6126"/>
                </a:lnTo>
                <a:lnTo>
                  <a:pt x="837361" y="0"/>
                </a:lnTo>
                <a:close/>
              </a:path>
            </a:pathLst>
          </a:custGeom>
          <a:solidFill>
            <a:srgbClr val="00607E"/>
          </a:solidFill>
        </p:spPr>
        <p:txBody>
          <a:bodyPr wrap="square" lIns="0" tIns="0" rIns="0" bIns="0" rtlCol="0"/>
          <a:lstStyle/>
          <a:p>
            <a:endParaRPr/>
          </a:p>
        </p:txBody>
      </p:sp>
      <p:sp>
        <p:nvSpPr>
          <p:cNvPr id="23" name="object 23"/>
          <p:cNvSpPr txBox="1"/>
          <p:nvPr/>
        </p:nvSpPr>
        <p:spPr>
          <a:xfrm>
            <a:off x="6730504" y="1360585"/>
            <a:ext cx="45720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FFFFFF"/>
                </a:solidFill>
                <a:latin typeface="Lucida Sans Unicode"/>
                <a:cs typeface="Lucida Sans Unicode"/>
              </a:rPr>
              <a:t>PC</a:t>
            </a:r>
            <a:r>
              <a:rPr sz="1600" spc="-70" dirty="0">
                <a:solidFill>
                  <a:srgbClr val="FFFFFF"/>
                </a:solidFill>
                <a:latin typeface="Lucida Sans Unicode"/>
                <a:cs typeface="Lucida Sans Unicode"/>
              </a:rPr>
              <a:t> </a:t>
            </a:r>
            <a:r>
              <a:rPr sz="1600" spc="-50" dirty="0">
                <a:solidFill>
                  <a:srgbClr val="FFFFFF"/>
                </a:solidFill>
                <a:latin typeface="Lucida Sans Unicode"/>
                <a:cs typeface="Lucida Sans Unicode"/>
              </a:rPr>
              <a:t>1</a:t>
            </a:r>
            <a:endParaRPr sz="1600">
              <a:latin typeface="Lucida Sans Unicode"/>
              <a:cs typeface="Lucida Sans Unicode"/>
            </a:endParaRPr>
          </a:p>
        </p:txBody>
      </p:sp>
      <p:grpSp>
        <p:nvGrpSpPr>
          <p:cNvPr id="24" name="object 24"/>
          <p:cNvGrpSpPr/>
          <p:nvPr/>
        </p:nvGrpSpPr>
        <p:grpSpPr>
          <a:xfrm>
            <a:off x="6631558" y="1377311"/>
            <a:ext cx="916940" cy="932180"/>
            <a:chOff x="6631558" y="1377311"/>
            <a:chExt cx="916940" cy="932180"/>
          </a:xfrm>
        </p:grpSpPr>
        <p:sp>
          <p:nvSpPr>
            <p:cNvPr id="25" name="object 25"/>
            <p:cNvSpPr/>
            <p:nvPr/>
          </p:nvSpPr>
          <p:spPr>
            <a:xfrm>
              <a:off x="7275245" y="1384931"/>
              <a:ext cx="163830" cy="259079"/>
            </a:xfrm>
            <a:custGeom>
              <a:avLst/>
              <a:gdLst/>
              <a:ahLst/>
              <a:cxnLst/>
              <a:rect l="l" t="t" r="r" b="b"/>
              <a:pathLst>
                <a:path w="163829" h="259080">
                  <a:moveTo>
                    <a:pt x="163436" y="0"/>
                  </a:moveTo>
                  <a:lnTo>
                    <a:pt x="0" y="0"/>
                  </a:lnTo>
                  <a:lnTo>
                    <a:pt x="0" y="258838"/>
                  </a:lnTo>
                  <a:lnTo>
                    <a:pt x="81711" y="258838"/>
                  </a:lnTo>
                  <a:lnTo>
                    <a:pt x="163436" y="258838"/>
                  </a:lnTo>
                  <a:lnTo>
                    <a:pt x="163436" y="0"/>
                  </a:lnTo>
                  <a:close/>
                </a:path>
              </a:pathLst>
            </a:custGeom>
            <a:solidFill>
              <a:srgbClr val="00607E"/>
            </a:solidFill>
          </p:spPr>
          <p:txBody>
            <a:bodyPr wrap="square" lIns="0" tIns="0" rIns="0" bIns="0" rtlCol="0"/>
            <a:lstStyle/>
            <a:p>
              <a:endParaRPr/>
            </a:p>
          </p:txBody>
        </p:sp>
        <p:sp>
          <p:nvSpPr>
            <p:cNvPr id="26" name="object 26"/>
            <p:cNvSpPr/>
            <p:nvPr/>
          </p:nvSpPr>
          <p:spPr>
            <a:xfrm>
              <a:off x="7275245" y="1384931"/>
              <a:ext cx="163830" cy="259079"/>
            </a:xfrm>
            <a:custGeom>
              <a:avLst/>
              <a:gdLst/>
              <a:ahLst/>
              <a:cxnLst/>
              <a:rect l="l" t="t" r="r" b="b"/>
              <a:pathLst>
                <a:path w="163829" h="259080">
                  <a:moveTo>
                    <a:pt x="81711" y="258838"/>
                  </a:moveTo>
                  <a:lnTo>
                    <a:pt x="0" y="258838"/>
                  </a:lnTo>
                  <a:lnTo>
                    <a:pt x="0" y="0"/>
                  </a:lnTo>
                  <a:lnTo>
                    <a:pt x="163436" y="0"/>
                  </a:lnTo>
                  <a:lnTo>
                    <a:pt x="163436" y="258838"/>
                  </a:lnTo>
                  <a:lnTo>
                    <a:pt x="81711" y="258838"/>
                  </a:lnTo>
                  <a:close/>
                </a:path>
              </a:pathLst>
            </a:custGeom>
            <a:ln w="14728">
              <a:solidFill>
                <a:srgbClr val="FFFFFF"/>
              </a:solidFill>
            </a:ln>
          </p:spPr>
          <p:txBody>
            <a:bodyPr wrap="square" lIns="0" tIns="0" rIns="0" bIns="0" rtlCol="0"/>
            <a:lstStyle/>
            <a:p>
              <a:endParaRPr/>
            </a:p>
          </p:txBody>
        </p:sp>
        <p:sp>
          <p:nvSpPr>
            <p:cNvPr id="27" name="object 27"/>
            <p:cNvSpPr/>
            <p:nvPr/>
          </p:nvSpPr>
          <p:spPr>
            <a:xfrm>
              <a:off x="7296124" y="1422370"/>
              <a:ext cx="120650" cy="174625"/>
            </a:xfrm>
            <a:custGeom>
              <a:avLst/>
              <a:gdLst/>
              <a:ahLst/>
              <a:cxnLst/>
              <a:rect l="l" t="t" r="r" b="b"/>
              <a:pathLst>
                <a:path w="120650" h="174625">
                  <a:moveTo>
                    <a:pt x="77749" y="160921"/>
                  </a:moveTo>
                  <a:lnTo>
                    <a:pt x="77647" y="154800"/>
                  </a:lnTo>
                  <a:lnTo>
                    <a:pt x="77038" y="152641"/>
                  </a:lnTo>
                  <a:lnTo>
                    <a:pt x="75958" y="150114"/>
                  </a:lnTo>
                  <a:lnTo>
                    <a:pt x="75590" y="150114"/>
                  </a:lnTo>
                  <a:lnTo>
                    <a:pt x="75590" y="149402"/>
                  </a:lnTo>
                  <a:lnTo>
                    <a:pt x="74155" y="146875"/>
                  </a:lnTo>
                  <a:lnTo>
                    <a:pt x="71996" y="145072"/>
                  </a:lnTo>
                  <a:lnTo>
                    <a:pt x="69113" y="143637"/>
                  </a:lnTo>
                  <a:lnTo>
                    <a:pt x="66598" y="142201"/>
                  </a:lnTo>
                  <a:lnTo>
                    <a:pt x="63715" y="141122"/>
                  </a:lnTo>
                  <a:lnTo>
                    <a:pt x="57950" y="141122"/>
                  </a:lnTo>
                  <a:lnTo>
                    <a:pt x="55435" y="141833"/>
                  </a:lnTo>
                  <a:lnTo>
                    <a:pt x="52920" y="143281"/>
                  </a:lnTo>
                  <a:lnTo>
                    <a:pt x="52552" y="143281"/>
                  </a:lnTo>
                  <a:lnTo>
                    <a:pt x="52552" y="143637"/>
                  </a:lnTo>
                  <a:lnTo>
                    <a:pt x="49669" y="145072"/>
                  </a:lnTo>
                  <a:lnTo>
                    <a:pt x="47510" y="146875"/>
                  </a:lnTo>
                  <a:lnTo>
                    <a:pt x="44640" y="151917"/>
                  </a:lnTo>
                  <a:lnTo>
                    <a:pt x="43916" y="154800"/>
                  </a:lnTo>
                  <a:lnTo>
                    <a:pt x="44018" y="160921"/>
                  </a:lnTo>
                  <a:lnTo>
                    <a:pt x="44640" y="163080"/>
                  </a:lnTo>
                  <a:lnTo>
                    <a:pt x="45720" y="165595"/>
                  </a:lnTo>
                  <a:lnTo>
                    <a:pt x="46075" y="165595"/>
                  </a:lnTo>
                  <a:lnTo>
                    <a:pt x="46075" y="165963"/>
                  </a:lnTo>
                  <a:lnTo>
                    <a:pt x="47510" y="168478"/>
                  </a:lnTo>
                  <a:lnTo>
                    <a:pt x="49669" y="170637"/>
                  </a:lnTo>
                  <a:lnTo>
                    <a:pt x="52552" y="172072"/>
                  </a:lnTo>
                  <a:lnTo>
                    <a:pt x="55079" y="173520"/>
                  </a:lnTo>
                  <a:lnTo>
                    <a:pt x="57950" y="174244"/>
                  </a:lnTo>
                  <a:lnTo>
                    <a:pt x="63715" y="174244"/>
                  </a:lnTo>
                  <a:lnTo>
                    <a:pt x="66230" y="173875"/>
                  </a:lnTo>
                  <a:lnTo>
                    <a:pt x="68757" y="172440"/>
                  </a:lnTo>
                  <a:lnTo>
                    <a:pt x="69113" y="172440"/>
                  </a:lnTo>
                  <a:lnTo>
                    <a:pt x="69113" y="172072"/>
                  </a:lnTo>
                  <a:lnTo>
                    <a:pt x="71996" y="170637"/>
                  </a:lnTo>
                  <a:lnTo>
                    <a:pt x="74155" y="168478"/>
                  </a:lnTo>
                  <a:lnTo>
                    <a:pt x="77038" y="163436"/>
                  </a:lnTo>
                  <a:lnTo>
                    <a:pt x="77749" y="160921"/>
                  </a:lnTo>
                  <a:close/>
                </a:path>
                <a:path w="120650" h="174625">
                  <a:moveTo>
                    <a:pt x="120599" y="68033"/>
                  </a:moveTo>
                  <a:lnTo>
                    <a:pt x="0" y="68033"/>
                  </a:lnTo>
                  <a:lnTo>
                    <a:pt x="0" y="82804"/>
                  </a:lnTo>
                  <a:lnTo>
                    <a:pt x="60109" y="82804"/>
                  </a:lnTo>
                  <a:lnTo>
                    <a:pt x="120599" y="82804"/>
                  </a:lnTo>
                  <a:lnTo>
                    <a:pt x="120599" y="68033"/>
                  </a:lnTo>
                  <a:close/>
                </a:path>
                <a:path w="120650" h="174625">
                  <a:moveTo>
                    <a:pt x="120599" y="33832"/>
                  </a:moveTo>
                  <a:lnTo>
                    <a:pt x="0" y="33832"/>
                  </a:lnTo>
                  <a:lnTo>
                    <a:pt x="0" y="48602"/>
                  </a:lnTo>
                  <a:lnTo>
                    <a:pt x="60109" y="48602"/>
                  </a:lnTo>
                  <a:lnTo>
                    <a:pt x="120599" y="48602"/>
                  </a:lnTo>
                  <a:lnTo>
                    <a:pt x="120599" y="33832"/>
                  </a:lnTo>
                  <a:close/>
                </a:path>
                <a:path w="120650" h="174625">
                  <a:moveTo>
                    <a:pt x="120599" y="0"/>
                  </a:moveTo>
                  <a:lnTo>
                    <a:pt x="0" y="0"/>
                  </a:lnTo>
                  <a:lnTo>
                    <a:pt x="0" y="14401"/>
                  </a:lnTo>
                  <a:lnTo>
                    <a:pt x="60109" y="14401"/>
                  </a:lnTo>
                  <a:lnTo>
                    <a:pt x="120599" y="14401"/>
                  </a:lnTo>
                  <a:lnTo>
                    <a:pt x="120599" y="0"/>
                  </a:lnTo>
                  <a:close/>
                </a:path>
              </a:pathLst>
            </a:custGeom>
            <a:solidFill>
              <a:srgbClr val="FFFFFF"/>
            </a:solidFill>
          </p:spPr>
          <p:txBody>
            <a:bodyPr wrap="square" lIns="0" tIns="0" rIns="0" bIns="0" rtlCol="0"/>
            <a:lstStyle/>
            <a:p>
              <a:endParaRPr/>
            </a:p>
          </p:txBody>
        </p:sp>
        <p:sp>
          <p:nvSpPr>
            <p:cNvPr id="28" name="object 28"/>
            <p:cNvSpPr/>
            <p:nvPr/>
          </p:nvSpPr>
          <p:spPr>
            <a:xfrm>
              <a:off x="6631558" y="1924211"/>
              <a:ext cx="916940" cy="385445"/>
            </a:xfrm>
            <a:custGeom>
              <a:avLst/>
              <a:gdLst/>
              <a:ahLst/>
              <a:cxnLst/>
              <a:rect l="l" t="t" r="r" b="b"/>
              <a:pathLst>
                <a:path w="916940" h="385444">
                  <a:moveTo>
                    <a:pt x="838796" y="0"/>
                  </a:moveTo>
                  <a:lnTo>
                    <a:pt x="77406" y="0"/>
                  </a:lnTo>
                  <a:lnTo>
                    <a:pt x="47234" y="6074"/>
                  </a:lnTo>
                  <a:lnTo>
                    <a:pt x="22634" y="22679"/>
                  </a:lnTo>
                  <a:lnTo>
                    <a:pt x="6069" y="47384"/>
                  </a:lnTo>
                  <a:lnTo>
                    <a:pt x="0" y="77762"/>
                  </a:lnTo>
                  <a:lnTo>
                    <a:pt x="0" y="307073"/>
                  </a:lnTo>
                  <a:lnTo>
                    <a:pt x="6069" y="337450"/>
                  </a:lnTo>
                  <a:lnTo>
                    <a:pt x="22634" y="362156"/>
                  </a:lnTo>
                  <a:lnTo>
                    <a:pt x="47234" y="378760"/>
                  </a:lnTo>
                  <a:lnTo>
                    <a:pt x="77406" y="384835"/>
                  </a:lnTo>
                  <a:lnTo>
                    <a:pt x="458279" y="384835"/>
                  </a:lnTo>
                  <a:lnTo>
                    <a:pt x="838796" y="384835"/>
                  </a:lnTo>
                  <a:lnTo>
                    <a:pt x="869024" y="378760"/>
                  </a:lnTo>
                  <a:lnTo>
                    <a:pt x="893746" y="362156"/>
                  </a:lnTo>
                  <a:lnTo>
                    <a:pt x="910434" y="337450"/>
                  </a:lnTo>
                  <a:lnTo>
                    <a:pt x="916559" y="307073"/>
                  </a:lnTo>
                  <a:lnTo>
                    <a:pt x="916559" y="77762"/>
                  </a:lnTo>
                  <a:lnTo>
                    <a:pt x="910434" y="47384"/>
                  </a:lnTo>
                  <a:lnTo>
                    <a:pt x="893746" y="22679"/>
                  </a:lnTo>
                  <a:lnTo>
                    <a:pt x="869024" y="6074"/>
                  </a:lnTo>
                  <a:lnTo>
                    <a:pt x="838796" y="0"/>
                  </a:lnTo>
                  <a:close/>
                </a:path>
              </a:pathLst>
            </a:custGeom>
            <a:solidFill>
              <a:srgbClr val="00607E"/>
            </a:solidFill>
          </p:spPr>
          <p:txBody>
            <a:bodyPr wrap="square" lIns="0" tIns="0" rIns="0" bIns="0" rtlCol="0"/>
            <a:lstStyle/>
            <a:p>
              <a:endParaRPr/>
            </a:p>
          </p:txBody>
        </p:sp>
      </p:grpSp>
      <p:sp>
        <p:nvSpPr>
          <p:cNvPr id="29" name="object 29"/>
          <p:cNvSpPr txBox="1"/>
          <p:nvPr/>
        </p:nvSpPr>
        <p:spPr>
          <a:xfrm>
            <a:off x="6741197" y="1972839"/>
            <a:ext cx="440055" cy="272415"/>
          </a:xfrm>
          <a:prstGeom prst="rect">
            <a:avLst/>
          </a:prstGeom>
        </p:spPr>
        <p:txBody>
          <a:bodyPr vert="horz" wrap="square" lIns="0" tIns="15240" rIns="0" bIns="0" rtlCol="0">
            <a:spAutoFit/>
          </a:bodyPr>
          <a:lstStyle/>
          <a:p>
            <a:pPr marL="12700">
              <a:lnSpc>
                <a:spcPct val="100000"/>
              </a:lnSpc>
              <a:spcBef>
                <a:spcPts val="120"/>
              </a:spcBef>
            </a:pPr>
            <a:r>
              <a:rPr sz="1600" spc="-50" dirty="0">
                <a:solidFill>
                  <a:srgbClr val="FFFFFF"/>
                </a:solidFill>
                <a:latin typeface="Lucida Sans Unicode"/>
                <a:cs typeface="Lucida Sans Unicode"/>
              </a:rPr>
              <a:t>PC...</a:t>
            </a:r>
            <a:endParaRPr sz="1600">
              <a:latin typeface="Lucida Sans Unicode"/>
              <a:cs typeface="Lucida Sans Unicode"/>
            </a:endParaRPr>
          </a:p>
        </p:txBody>
      </p:sp>
      <p:grpSp>
        <p:nvGrpSpPr>
          <p:cNvPr id="30" name="object 30"/>
          <p:cNvGrpSpPr/>
          <p:nvPr/>
        </p:nvGrpSpPr>
        <p:grpSpPr>
          <a:xfrm>
            <a:off x="4506836" y="1973423"/>
            <a:ext cx="2937510" cy="2086610"/>
            <a:chOff x="4506836" y="1973423"/>
            <a:chExt cx="2937510" cy="2086610"/>
          </a:xfrm>
        </p:grpSpPr>
        <p:sp>
          <p:nvSpPr>
            <p:cNvPr id="31" name="object 31"/>
            <p:cNvSpPr/>
            <p:nvPr/>
          </p:nvSpPr>
          <p:spPr>
            <a:xfrm>
              <a:off x="7276325" y="1980726"/>
              <a:ext cx="160655" cy="259079"/>
            </a:xfrm>
            <a:custGeom>
              <a:avLst/>
              <a:gdLst/>
              <a:ahLst/>
              <a:cxnLst/>
              <a:rect l="l" t="t" r="r" b="b"/>
              <a:pathLst>
                <a:path w="160654" h="259080">
                  <a:moveTo>
                    <a:pt x="160197" y="0"/>
                  </a:moveTo>
                  <a:lnTo>
                    <a:pt x="0" y="0"/>
                  </a:lnTo>
                  <a:lnTo>
                    <a:pt x="0" y="258838"/>
                  </a:lnTo>
                  <a:lnTo>
                    <a:pt x="80276" y="258838"/>
                  </a:lnTo>
                  <a:lnTo>
                    <a:pt x="160197" y="258838"/>
                  </a:lnTo>
                  <a:lnTo>
                    <a:pt x="160197" y="0"/>
                  </a:lnTo>
                  <a:close/>
                </a:path>
              </a:pathLst>
            </a:custGeom>
            <a:solidFill>
              <a:srgbClr val="00607E"/>
            </a:solidFill>
          </p:spPr>
          <p:txBody>
            <a:bodyPr wrap="square" lIns="0" tIns="0" rIns="0" bIns="0" rtlCol="0"/>
            <a:lstStyle/>
            <a:p>
              <a:endParaRPr/>
            </a:p>
          </p:txBody>
        </p:sp>
        <p:sp>
          <p:nvSpPr>
            <p:cNvPr id="32" name="object 32"/>
            <p:cNvSpPr/>
            <p:nvPr/>
          </p:nvSpPr>
          <p:spPr>
            <a:xfrm>
              <a:off x="7276325" y="1980726"/>
              <a:ext cx="160655" cy="259079"/>
            </a:xfrm>
            <a:custGeom>
              <a:avLst/>
              <a:gdLst/>
              <a:ahLst/>
              <a:cxnLst/>
              <a:rect l="l" t="t" r="r" b="b"/>
              <a:pathLst>
                <a:path w="160654" h="259080">
                  <a:moveTo>
                    <a:pt x="80276" y="258838"/>
                  </a:moveTo>
                  <a:lnTo>
                    <a:pt x="0" y="258838"/>
                  </a:lnTo>
                  <a:lnTo>
                    <a:pt x="0" y="0"/>
                  </a:lnTo>
                  <a:lnTo>
                    <a:pt x="160197" y="0"/>
                  </a:lnTo>
                  <a:lnTo>
                    <a:pt x="160197" y="258838"/>
                  </a:lnTo>
                  <a:lnTo>
                    <a:pt x="80276" y="258838"/>
                  </a:lnTo>
                  <a:close/>
                </a:path>
              </a:pathLst>
            </a:custGeom>
            <a:ln w="14429">
              <a:solidFill>
                <a:srgbClr val="FFFFFF"/>
              </a:solidFill>
            </a:ln>
          </p:spPr>
          <p:txBody>
            <a:bodyPr wrap="square" lIns="0" tIns="0" rIns="0" bIns="0" rtlCol="0"/>
            <a:lstStyle/>
            <a:p>
              <a:endParaRPr/>
            </a:p>
          </p:txBody>
        </p:sp>
        <p:sp>
          <p:nvSpPr>
            <p:cNvPr id="33" name="object 33"/>
            <p:cNvSpPr/>
            <p:nvPr/>
          </p:nvSpPr>
          <p:spPr>
            <a:xfrm>
              <a:off x="7296836" y="2018165"/>
              <a:ext cx="118110" cy="174625"/>
            </a:xfrm>
            <a:custGeom>
              <a:avLst/>
              <a:gdLst/>
              <a:ahLst/>
              <a:cxnLst/>
              <a:rect l="l" t="t" r="r" b="b"/>
              <a:pathLst>
                <a:path w="118109" h="174625">
                  <a:moveTo>
                    <a:pt x="76327" y="160566"/>
                  </a:moveTo>
                  <a:lnTo>
                    <a:pt x="76212" y="154800"/>
                  </a:lnTo>
                  <a:lnTo>
                    <a:pt x="75603" y="152641"/>
                  </a:lnTo>
                  <a:lnTo>
                    <a:pt x="74168" y="150126"/>
                  </a:lnTo>
                  <a:lnTo>
                    <a:pt x="74168" y="149758"/>
                  </a:lnTo>
                  <a:lnTo>
                    <a:pt x="73799" y="149402"/>
                  </a:lnTo>
                  <a:lnTo>
                    <a:pt x="72364" y="146888"/>
                  </a:lnTo>
                  <a:lnTo>
                    <a:pt x="70561" y="145084"/>
                  </a:lnTo>
                  <a:lnTo>
                    <a:pt x="68046" y="143637"/>
                  </a:lnTo>
                  <a:lnTo>
                    <a:pt x="65519" y="141846"/>
                  </a:lnTo>
                  <a:lnTo>
                    <a:pt x="62649" y="141122"/>
                  </a:lnTo>
                  <a:lnTo>
                    <a:pt x="56883" y="141122"/>
                  </a:lnTo>
                  <a:lnTo>
                    <a:pt x="54368" y="141846"/>
                  </a:lnTo>
                  <a:lnTo>
                    <a:pt x="51841" y="143281"/>
                  </a:lnTo>
                  <a:lnTo>
                    <a:pt x="51485" y="143281"/>
                  </a:lnTo>
                  <a:lnTo>
                    <a:pt x="51485" y="143637"/>
                  </a:lnTo>
                  <a:lnTo>
                    <a:pt x="48958" y="145084"/>
                  </a:lnTo>
                  <a:lnTo>
                    <a:pt x="46799" y="146888"/>
                  </a:lnTo>
                  <a:lnTo>
                    <a:pt x="43929" y="151917"/>
                  </a:lnTo>
                  <a:lnTo>
                    <a:pt x="43205" y="154800"/>
                  </a:lnTo>
                  <a:lnTo>
                    <a:pt x="43205" y="160566"/>
                  </a:lnTo>
                  <a:lnTo>
                    <a:pt x="43561" y="163080"/>
                  </a:lnTo>
                  <a:lnTo>
                    <a:pt x="45008" y="165608"/>
                  </a:lnTo>
                  <a:lnTo>
                    <a:pt x="45364" y="165963"/>
                  </a:lnTo>
                  <a:lnTo>
                    <a:pt x="46799" y="168478"/>
                  </a:lnTo>
                  <a:lnTo>
                    <a:pt x="48958" y="170637"/>
                  </a:lnTo>
                  <a:lnTo>
                    <a:pt x="54000" y="173520"/>
                  </a:lnTo>
                  <a:lnTo>
                    <a:pt x="56883" y="174244"/>
                  </a:lnTo>
                  <a:lnTo>
                    <a:pt x="62280" y="174244"/>
                  </a:lnTo>
                  <a:lnTo>
                    <a:pt x="64808" y="173888"/>
                  </a:lnTo>
                  <a:lnTo>
                    <a:pt x="67322" y="172440"/>
                  </a:lnTo>
                  <a:lnTo>
                    <a:pt x="67678" y="172440"/>
                  </a:lnTo>
                  <a:lnTo>
                    <a:pt x="68046" y="172085"/>
                  </a:lnTo>
                  <a:lnTo>
                    <a:pt x="70561" y="170637"/>
                  </a:lnTo>
                  <a:lnTo>
                    <a:pt x="72364" y="168478"/>
                  </a:lnTo>
                  <a:lnTo>
                    <a:pt x="73799" y="165963"/>
                  </a:lnTo>
                  <a:lnTo>
                    <a:pt x="75603" y="163449"/>
                  </a:lnTo>
                  <a:lnTo>
                    <a:pt x="76327" y="160566"/>
                  </a:lnTo>
                  <a:close/>
                </a:path>
                <a:path w="118109" h="174625">
                  <a:moveTo>
                    <a:pt x="118084" y="68046"/>
                  </a:moveTo>
                  <a:lnTo>
                    <a:pt x="0" y="68046"/>
                  </a:lnTo>
                  <a:lnTo>
                    <a:pt x="0" y="82448"/>
                  </a:lnTo>
                  <a:lnTo>
                    <a:pt x="59042" y="82448"/>
                  </a:lnTo>
                  <a:lnTo>
                    <a:pt x="118084" y="82448"/>
                  </a:lnTo>
                  <a:lnTo>
                    <a:pt x="118084" y="68046"/>
                  </a:lnTo>
                  <a:close/>
                </a:path>
                <a:path w="118109" h="174625">
                  <a:moveTo>
                    <a:pt x="118084" y="33845"/>
                  </a:moveTo>
                  <a:lnTo>
                    <a:pt x="0" y="33845"/>
                  </a:lnTo>
                  <a:lnTo>
                    <a:pt x="0" y="48602"/>
                  </a:lnTo>
                  <a:lnTo>
                    <a:pt x="59042" y="48602"/>
                  </a:lnTo>
                  <a:lnTo>
                    <a:pt x="118084" y="48602"/>
                  </a:lnTo>
                  <a:lnTo>
                    <a:pt x="118084" y="33845"/>
                  </a:lnTo>
                  <a:close/>
                </a:path>
                <a:path w="118109" h="174625">
                  <a:moveTo>
                    <a:pt x="118084" y="0"/>
                  </a:moveTo>
                  <a:lnTo>
                    <a:pt x="0" y="0"/>
                  </a:lnTo>
                  <a:lnTo>
                    <a:pt x="0" y="14401"/>
                  </a:lnTo>
                  <a:lnTo>
                    <a:pt x="59042" y="14401"/>
                  </a:lnTo>
                  <a:lnTo>
                    <a:pt x="118084" y="14401"/>
                  </a:lnTo>
                  <a:lnTo>
                    <a:pt x="118084" y="0"/>
                  </a:lnTo>
                  <a:close/>
                </a:path>
              </a:pathLst>
            </a:custGeom>
            <a:solidFill>
              <a:srgbClr val="FFFFFF"/>
            </a:solidFill>
          </p:spPr>
          <p:txBody>
            <a:bodyPr wrap="square" lIns="0" tIns="0" rIns="0" bIns="0" rtlCol="0"/>
            <a:lstStyle/>
            <a:p>
              <a:endParaRPr/>
            </a:p>
          </p:txBody>
        </p:sp>
        <p:sp>
          <p:nvSpPr>
            <p:cNvPr id="34" name="object 34"/>
            <p:cNvSpPr/>
            <p:nvPr/>
          </p:nvSpPr>
          <p:spPr>
            <a:xfrm>
              <a:off x="4506836" y="3632767"/>
              <a:ext cx="1400175" cy="427355"/>
            </a:xfrm>
            <a:custGeom>
              <a:avLst/>
              <a:gdLst/>
              <a:ahLst/>
              <a:cxnLst/>
              <a:rect l="l" t="t" r="r" b="b"/>
              <a:pathLst>
                <a:path w="1400175" h="427354">
                  <a:moveTo>
                    <a:pt x="1314005" y="0"/>
                  </a:moveTo>
                  <a:lnTo>
                    <a:pt x="86042" y="0"/>
                  </a:lnTo>
                  <a:lnTo>
                    <a:pt x="52549" y="6761"/>
                  </a:lnTo>
                  <a:lnTo>
                    <a:pt x="25199" y="25199"/>
                  </a:lnTo>
                  <a:lnTo>
                    <a:pt x="6761" y="52549"/>
                  </a:lnTo>
                  <a:lnTo>
                    <a:pt x="0" y="86042"/>
                  </a:lnTo>
                  <a:lnTo>
                    <a:pt x="0" y="340918"/>
                  </a:lnTo>
                  <a:lnTo>
                    <a:pt x="6761" y="374411"/>
                  </a:lnTo>
                  <a:lnTo>
                    <a:pt x="25199" y="401761"/>
                  </a:lnTo>
                  <a:lnTo>
                    <a:pt x="52549" y="420200"/>
                  </a:lnTo>
                  <a:lnTo>
                    <a:pt x="86042" y="426961"/>
                  </a:lnTo>
                  <a:lnTo>
                    <a:pt x="700201" y="426961"/>
                  </a:lnTo>
                  <a:lnTo>
                    <a:pt x="1314005" y="426961"/>
                  </a:lnTo>
                  <a:lnTo>
                    <a:pt x="1347498" y="420200"/>
                  </a:lnTo>
                  <a:lnTo>
                    <a:pt x="1374848" y="401761"/>
                  </a:lnTo>
                  <a:lnTo>
                    <a:pt x="1393286" y="374411"/>
                  </a:lnTo>
                  <a:lnTo>
                    <a:pt x="1400047" y="340918"/>
                  </a:lnTo>
                  <a:lnTo>
                    <a:pt x="1400047" y="86042"/>
                  </a:lnTo>
                  <a:lnTo>
                    <a:pt x="1393286" y="52549"/>
                  </a:lnTo>
                  <a:lnTo>
                    <a:pt x="1374848" y="25199"/>
                  </a:lnTo>
                  <a:lnTo>
                    <a:pt x="1347498" y="6761"/>
                  </a:lnTo>
                  <a:lnTo>
                    <a:pt x="1314005" y="0"/>
                  </a:lnTo>
                  <a:close/>
                </a:path>
              </a:pathLst>
            </a:custGeom>
            <a:solidFill>
              <a:srgbClr val="00607E"/>
            </a:solidFill>
          </p:spPr>
          <p:txBody>
            <a:bodyPr wrap="square" lIns="0" tIns="0" rIns="0" bIns="0" rtlCol="0"/>
            <a:lstStyle/>
            <a:p>
              <a:endParaRPr/>
            </a:p>
          </p:txBody>
        </p:sp>
      </p:grpSp>
      <p:sp>
        <p:nvSpPr>
          <p:cNvPr id="35" name="object 35"/>
          <p:cNvSpPr txBox="1"/>
          <p:nvPr/>
        </p:nvSpPr>
        <p:spPr>
          <a:xfrm>
            <a:off x="4664163" y="3691543"/>
            <a:ext cx="712470" cy="298450"/>
          </a:xfrm>
          <a:prstGeom prst="rect">
            <a:avLst/>
          </a:prstGeom>
        </p:spPr>
        <p:txBody>
          <a:bodyPr vert="horz" wrap="square" lIns="0" tIns="17780" rIns="0" bIns="0" rtlCol="0">
            <a:spAutoFit/>
          </a:bodyPr>
          <a:lstStyle/>
          <a:p>
            <a:pPr marL="12700">
              <a:lnSpc>
                <a:spcPct val="100000"/>
              </a:lnSpc>
              <a:spcBef>
                <a:spcPts val="140"/>
              </a:spcBef>
            </a:pPr>
            <a:r>
              <a:rPr sz="1750" spc="-10" dirty="0">
                <a:solidFill>
                  <a:srgbClr val="FFFFFF"/>
                </a:solidFill>
                <a:latin typeface="Lucida Sans Unicode"/>
                <a:cs typeface="Lucida Sans Unicode"/>
              </a:rPr>
              <a:t>Switch</a:t>
            </a:r>
            <a:endParaRPr sz="1750">
              <a:latin typeface="Lucida Sans Unicode"/>
              <a:cs typeface="Lucida Sans Unicode"/>
            </a:endParaRPr>
          </a:p>
        </p:txBody>
      </p:sp>
      <p:grpSp>
        <p:nvGrpSpPr>
          <p:cNvPr id="36" name="object 36"/>
          <p:cNvGrpSpPr/>
          <p:nvPr/>
        </p:nvGrpSpPr>
        <p:grpSpPr>
          <a:xfrm>
            <a:off x="4409275" y="1326244"/>
            <a:ext cx="1537335" cy="2656205"/>
            <a:chOff x="4409275" y="1326244"/>
            <a:chExt cx="1537335" cy="2656205"/>
          </a:xfrm>
        </p:grpSpPr>
        <p:pic>
          <p:nvPicPr>
            <p:cNvPr id="37" name="object 37"/>
            <p:cNvPicPr/>
            <p:nvPr/>
          </p:nvPicPr>
          <p:blipFill>
            <a:blip r:embed="rId4" cstate="print"/>
            <a:stretch>
              <a:fillRect/>
            </a:stretch>
          </p:blipFill>
          <p:spPr>
            <a:xfrm>
              <a:off x="5528881" y="3763450"/>
              <a:ext cx="210604" cy="155155"/>
            </a:xfrm>
            <a:prstGeom prst="rect">
              <a:avLst/>
            </a:prstGeom>
          </p:spPr>
        </p:pic>
        <p:sp>
          <p:nvSpPr>
            <p:cNvPr id="38" name="object 38"/>
            <p:cNvSpPr/>
            <p:nvPr/>
          </p:nvSpPr>
          <p:spPr>
            <a:xfrm>
              <a:off x="5500078" y="3706567"/>
              <a:ext cx="268605" cy="268605"/>
            </a:xfrm>
            <a:custGeom>
              <a:avLst/>
              <a:gdLst/>
              <a:ahLst/>
              <a:cxnLst/>
              <a:rect l="l" t="t" r="r" b="b"/>
              <a:pathLst>
                <a:path w="268604" h="268604">
                  <a:moveTo>
                    <a:pt x="268198" y="134277"/>
                  </a:moveTo>
                  <a:lnTo>
                    <a:pt x="258024" y="185763"/>
                  </a:lnTo>
                  <a:lnTo>
                    <a:pt x="228828" y="229188"/>
                  </a:lnTo>
                  <a:lnTo>
                    <a:pt x="185408" y="258387"/>
                  </a:lnTo>
                  <a:lnTo>
                    <a:pt x="133921" y="268566"/>
                  </a:lnTo>
                  <a:lnTo>
                    <a:pt x="116475" y="267424"/>
                  </a:lnTo>
                  <a:lnTo>
                    <a:pt x="66967" y="250558"/>
                  </a:lnTo>
                  <a:lnTo>
                    <a:pt x="27626" y="216087"/>
                  </a:lnTo>
                  <a:lnTo>
                    <a:pt x="4545" y="169152"/>
                  </a:lnTo>
                  <a:lnTo>
                    <a:pt x="0" y="134277"/>
                  </a:lnTo>
                  <a:lnTo>
                    <a:pt x="1142" y="116780"/>
                  </a:lnTo>
                  <a:lnTo>
                    <a:pt x="17995" y="67322"/>
                  </a:lnTo>
                  <a:lnTo>
                    <a:pt x="52278" y="27832"/>
                  </a:lnTo>
                  <a:lnTo>
                    <a:pt x="99363" y="4678"/>
                  </a:lnTo>
                  <a:lnTo>
                    <a:pt x="133921" y="0"/>
                  </a:lnTo>
                  <a:lnTo>
                    <a:pt x="151579" y="1192"/>
                  </a:lnTo>
                  <a:lnTo>
                    <a:pt x="201244" y="17995"/>
                  </a:lnTo>
                  <a:lnTo>
                    <a:pt x="240377" y="52628"/>
                  </a:lnTo>
                  <a:lnTo>
                    <a:pt x="263653" y="99585"/>
                  </a:lnTo>
                  <a:lnTo>
                    <a:pt x="268198" y="134277"/>
                  </a:lnTo>
                  <a:close/>
                </a:path>
              </a:pathLst>
            </a:custGeom>
            <a:ln w="14574">
              <a:solidFill>
                <a:srgbClr val="FFFFFF"/>
              </a:solidFill>
            </a:ln>
          </p:spPr>
          <p:txBody>
            <a:bodyPr wrap="square" lIns="0" tIns="0" rIns="0" bIns="0" rtlCol="0"/>
            <a:lstStyle/>
            <a:p>
              <a:endParaRPr/>
            </a:p>
          </p:txBody>
        </p:sp>
        <p:sp>
          <p:nvSpPr>
            <p:cNvPr id="39" name="object 39"/>
            <p:cNvSpPr/>
            <p:nvPr/>
          </p:nvSpPr>
          <p:spPr>
            <a:xfrm>
              <a:off x="4409275" y="1326244"/>
              <a:ext cx="1537335" cy="1536700"/>
            </a:xfrm>
            <a:custGeom>
              <a:avLst/>
              <a:gdLst/>
              <a:ahLst/>
              <a:cxnLst/>
              <a:rect l="l" t="t" r="r" b="b"/>
              <a:pathLst>
                <a:path w="1537335" h="1536700">
                  <a:moveTo>
                    <a:pt x="1334884" y="0"/>
                  </a:moveTo>
                  <a:lnTo>
                    <a:pt x="201968" y="0"/>
                  </a:lnTo>
                  <a:lnTo>
                    <a:pt x="155638" y="5330"/>
                  </a:lnTo>
                  <a:lnTo>
                    <a:pt x="113119" y="20517"/>
                  </a:lnTo>
                  <a:lnTo>
                    <a:pt x="75620" y="44350"/>
                  </a:lnTo>
                  <a:lnTo>
                    <a:pt x="44350" y="75620"/>
                  </a:lnTo>
                  <a:lnTo>
                    <a:pt x="20517" y="113119"/>
                  </a:lnTo>
                  <a:lnTo>
                    <a:pt x="5330" y="155638"/>
                  </a:lnTo>
                  <a:lnTo>
                    <a:pt x="0" y="201968"/>
                  </a:lnTo>
                  <a:lnTo>
                    <a:pt x="0" y="1334884"/>
                  </a:lnTo>
                  <a:lnTo>
                    <a:pt x="5330" y="1381077"/>
                  </a:lnTo>
                  <a:lnTo>
                    <a:pt x="20517" y="1423498"/>
                  </a:lnTo>
                  <a:lnTo>
                    <a:pt x="44350" y="1460932"/>
                  </a:lnTo>
                  <a:lnTo>
                    <a:pt x="75620" y="1492163"/>
                  </a:lnTo>
                  <a:lnTo>
                    <a:pt x="113119" y="1515975"/>
                  </a:lnTo>
                  <a:lnTo>
                    <a:pt x="155638" y="1531154"/>
                  </a:lnTo>
                  <a:lnTo>
                    <a:pt x="201968" y="1536484"/>
                  </a:lnTo>
                  <a:lnTo>
                    <a:pt x="768248" y="1536484"/>
                  </a:lnTo>
                  <a:lnTo>
                    <a:pt x="1334884" y="1536484"/>
                  </a:lnTo>
                  <a:lnTo>
                    <a:pt x="1381209" y="1531154"/>
                  </a:lnTo>
                  <a:lnTo>
                    <a:pt x="1423724" y="1515975"/>
                  </a:lnTo>
                  <a:lnTo>
                    <a:pt x="1461221" y="1492163"/>
                  </a:lnTo>
                  <a:lnTo>
                    <a:pt x="1492490" y="1460932"/>
                  </a:lnTo>
                  <a:lnTo>
                    <a:pt x="1516322" y="1423498"/>
                  </a:lnTo>
                  <a:lnTo>
                    <a:pt x="1531508" y="1381077"/>
                  </a:lnTo>
                  <a:lnTo>
                    <a:pt x="1536839" y="1334884"/>
                  </a:lnTo>
                  <a:lnTo>
                    <a:pt x="1536839" y="201968"/>
                  </a:lnTo>
                  <a:lnTo>
                    <a:pt x="1531508" y="155638"/>
                  </a:lnTo>
                  <a:lnTo>
                    <a:pt x="1516322" y="113119"/>
                  </a:lnTo>
                  <a:lnTo>
                    <a:pt x="1492490" y="75620"/>
                  </a:lnTo>
                  <a:lnTo>
                    <a:pt x="1461221" y="44350"/>
                  </a:lnTo>
                  <a:lnTo>
                    <a:pt x="1423724" y="20517"/>
                  </a:lnTo>
                  <a:lnTo>
                    <a:pt x="1381209" y="5330"/>
                  </a:lnTo>
                  <a:lnTo>
                    <a:pt x="1334884" y="0"/>
                  </a:lnTo>
                  <a:close/>
                </a:path>
              </a:pathLst>
            </a:custGeom>
            <a:solidFill>
              <a:srgbClr val="00607E"/>
            </a:solidFill>
          </p:spPr>
          <p:txBody>
            <a:bodyPr wrap="square" lIns="0" tIns="0" rIns="0" bIns="0" rtlCol="0"/>
            <a:lstStyle/>
            <a:p>
              <a:endParaRPr/>
            </a:p>
          </p:txBody>
        </p:sp>
        <p:sp>
          <p:nvSpPr>
            <p:cNvPr id="40" name="object 40"/>
            <p:cNvSpPr/>
            <p:nvPr/>
          </p:nvSpPr>
          <p:spPr>
            <a:xfrm>
              <a:off x="4934877" y="1705326"/>
              <a:ext cx="466725" cy="182880"/>
            </a:xfrm>
            <a:custGeom>
              <a:avLst/>
              <a:gdLst/>
              <a:ahLst/>
              <a:cxnLst/>
              <a:rect l="l" t="t" r="r" b="b"/>
              <a:pathLst>
                <a:path w="466725" h="182880">
                  <a:moveTo>
                    <a:pt x="419760" y="0"/>
                  </a:moveTo>
                  <a:lnTo>
                    <a:pt x="46443" y="0"/>
                  </a:lnTo>
                  <a:lnTo>
                    <a:pt x="28401" y="3611"/>
                  </a:lnTo>
                  <a:lnTo>
                    <a:pt x="13635" y="13501"/>
                  </a:lnTo>
                  <a:lnTo>
                    <a:pt x="3661" y="28251"/>
                  </a:lnTo>
                  <a:lnTo>
                    <a:pt x="0" y="46443"/>
                  </a:lnTo>
                  <a:lnTo>
                    <a:pt x="0" y="136080"/>
                  </a:lnTo>
                  <a:lnTo>
                    <a:pt x="3661" y="154272"/>
                  </a:lnTo>
                  <a:lnTo>
                    <a:pt x="13635" y="169022"/>
                  </a:lnTo>
                  <a:lnTo>
                    <a:pt x="28401" y="178912"/>
                  </a:lnTo>
                  <a:lnTo>
                    <a:pt x="46443" y="182524"/>
                  </a:lnTo>
                  <a:lnTo>
                    <a:pt x="233286" y="182524"/>
                  </a:lnTo>
                  <a:lnTo>
                    <a:pt x="419760" y="182524"/>
                  </a:lnTo>
                  <a:lnTo>
                    <a:pt x="437802" y="178912"/>
                  </a:lnTo>
                  <a:lnTo>
                    <a:pt x="452569" y="169022"/>
                  </a:lnTo>
                  <a:lnTo>
                    <a:pt x="462542" y="154272"/>
                  </a:lnTo>
                  <a:lnTo>
                    <a:pt x="466204" y="136080"/>
                  </a:lnTo>
                  <a:lnTo>
                    <a:pt x="466204" y="46443"/>
                  </a:lnTo>
                  <a:lnTo>
                    <a:pt x="462542" y="28251"/>
                  </a:lnTo>
                  <a:lnTo>
                    <a:pt x="452569" y="13501"/>
                  </a:lnTo>
                  <a:lnTo>
                    <a:pt x="437802" y="3611"/>
                  </a:lnTo>
                  <a:lnTo>
                    <a:pt x="419760" y="0"/>
                  </a:lnTo>
                  <a:close/>
                </a:path>
              </a:pathLst>
            </a:custGeom>
            <a:solidFill>
              <a:srgbClr val="FF9000"/>
            </a:solidFill>
          </p:spPr>
          <p:txBody>
            <a:bodyPr wrap="square" lIns="0" tIns="0" rIns="0" bIns="0" rtlCol="0"/>
            <a:lstStyle/>
            <a:p>
              <a:endParaRPr/>
            </a:p>
          </p:txBody>
        </p:sp>
      </p:grpSp>
      <p:sp>
        <p:nvSpPr>
          <p:cNvPr id="41" name="object 41"/>
          <p:cNvSpPr txBox="1"/>
          <p:nvPr/>
        </p:nvSpPr>
        <p:spPr>
          <a:xfrm>
            <a:off x="4568507" y="1379279"/>
            <a:ext cx="1201420" cy="475615"/>
          </a:xfrm>
          <a:prstGeom prst="rect">
            <a:avLst/>
          </a:prstGeom>
        </p:spPr>
        <p:txBody>
          <a:bodyPr vert="horz" wrap="square" lIns="0" tIns="17145" rIns="0" bIns="0" rtlCol="0">
            <a:spAutoFit/>
          </a:bodyPr>
          <a:lstStyle/>
          <a:p>
            <a:pPr algn="ctr">
              <a:lnSpc>
                <a:spcPct val="100000"/>
              </a:lnSpc>
              <a:spcBef>
                <a:spcPts val="135"/>
              </a:spcBef>
            </a:pPr>
            <a:r>
              <a:rPr sz="1150" spc="-25" dirty="0">
                <a:solidFill>
                  <a:srgbClr val="FFFFFF"/>
                </a:solidFill>
                <a:latin typeface="Lucida Sans Unicode"/>
                <a:cs typeface="Lucida Sans Unicode"/>
              </a:rPr>
              <a:t>Linux</a:t>
            </a:r>
            <a:r>
              <a:rPr sz="1150" spc="-50" dirty="0">
                <a:solidFill>
                  <a:srgbClr val="FFFFFF"/>
                </a:solidFill>
                <a:latin typeface="Lucida Sans Unicode"/>
                <a:cs typeface="Lucida Sans Unicode"/>
              </a:rPr>
              <a:t> </a:t>
            </a:r>
            <a:r>
              <a:rPr sz="1150" spc="-10" dirty="0">
                <a:solidFill>
                  <a:srgbClr val="FFFFFF"/>
                </a:solidFill>
                <a:latin typeface="Lucida Sans Unicode"/>
                <a:cs typeface="Lucida Sans Unicode"/>
              </a:rPr>
              <a:t>Webserver</a:t>
            </a:r>
            <a:endParaRPr sz="1150">
              <a:latin typeface="Lucida Sans Unicode"/>
              <a:cs typeface="Lucida Sans Unicode"/>
            </a:endParaRPr>
          </a:p>
          <a:p>
            <a:pPr algn="ctr">
              <a:lnSpc>
                <a:spcPct val="100000"/>
              </a:lnSpc>
              <a:spcBef>
                <a:spcPts val="1400"/>
              </a:spcBef>
            </a:pPr>
            <a:r>
              <a:rPr sz="600" spc="-10" dirty="0">
                <a:solidFill>
                  <a:srgbClr val="FFFFFF"/>
                </a:solidFill>
                <a:latin typeface="Lucida Sans Unicode"/>
                <a:cs typeface="Lucida Sans Unicode"/>
              </a:rPr>
              <a:t>Webserver</a:t>
            </a:r>
            <a:endParaRPr sz="600">
              <a:latin typeface="Lucida Sans Unicode"/>
              <a:cs typeface="Lucida Sans Unicode"/>
            </a:endParaRPr>
          </a:p>
        </p:txBody>
      </p:sp>
      <p:sp>
        <p:nvSpPr>
          <p:cNvPr id="42" name="object 42"/>
          <p:cNvSpPr/>
          <p:nvPr/>
        </p:nvSpPr>
        <p:spPr>
          <a:xfrm>
            <a:off x="4547158" y="1995483"/>
            <a:ext cx="1242060" cy="210185"/>
          </a:xfrm>
          <a:custGeom>
            <a:avLst/>
            <a:gdLst/>
            <a:ahLst/>
            <a:cxnLst/>
            <a:rect l="l" t="t" r="r" b="b"/>
            <a:pathLst>
              <a:path w="1242060" h="210185">
                <a:moveTo>
                  <a:pt x="1188364" y="0"/>
                </a:moveTo>
                <a:lnTo>
                  <a:pt x="53276" y="0"/>
                </a:lnTo>
                <a:lnTo>
                  <a:pt x="32500" y="4174"/>
                </a:lnTo>
                <a:lnTo>
                  <a:pt x="15570" y="15571"/>
                </a:lnTo>
                <a:lnTo>
                  <a:pt x="4173" y="32505"/>
                </a:lnTo>
                <a:lnTo>
                  <a:pt x="0" y="53289"/>
                </a:lnTo>
                <a:lnTo>
                  <a:pt x="0" y="156603"/>
                </a:lnTo>
                <a:lnTo>
                  <a:pt x="4173" y="177385"/>
                </a:lnTo>
                <a:lnTo>
                  <a:pt x="15570" y="194314"/>
                </a:lnTo>
                <a:lnTo>
                  <a:pt x="32500" y="205708"/>
                </a:lnTo>
                <a:lnTo>
                  <a:pt x="53276" y="209880"/>
                </a:lnTo>
                <a:lnTo>
                  <a:pt x="621004" y="209880"/>
                </a:lnTo>
                <a:lnTo>
                  <a:pt x="1188364" y="209880"/>
                </a:lnTo>
                <a:lnTo>
                  <a:pt x="1209140" y="205708"/>
                </a:lnTo>
                <a:lnTo>
                  <a:pt x="1226070" y="194314"/>
                </a:lnTo>
                <a:lnTo>
                  <a:pt x="1237466" y="177385"/>
                </a:lnTo>
                <a:lnTo>
                  <a:pt x="1241640" y="156603"/>
                </a:lnTo>
                <a:lnTo>
                  <a:pt x="1241640" y="53289"/>
                </a:lnTo>
                <a:lnTo>
                  <a:pt x="1237466" y="32505"/>
                </a:lnTo>
                <a:lnTo>
                  <a:pt x="1226070" y="15571"/>
                </a:lnTo>
                <a:lnTo>
                  <a:pt x="1209140" y="4174"/>
                </a:lnTo>
                <a:lnTo>
                  <a:pt x="1188364" y="0"/>
                </a:lnTo>
                <a:close/>
              </a:path>
            </a:pathLst>
          </a:custGeom>
          <a:solidFill>
            <a:srgbClr val="FF9000"/>
          </a:solidFill>
        </p:spPr>
        <p:txBody>
          <a:bodyPr wrap="square" lIns="0" tIns="0" rIns="0" bIns="0" rtlCol="0"/>
          <a:lstStyle/>
          <a:p>
            <a:endParaRPr/>
          </a:p>
        </p:txBody>
      </p:sp>
      <p:sp>
        <p:nvSpPr>
          <p:cNvPr id="43" name="object 43"/>
          <p:cNvSpPr txBox="1"/>
          <p:nvPr/>
        </p:nvSpPr>
        <p:spPr>
          <a:xfrm>
            <a:off x="5021224" y="2022331"/>
            <a:ext cx="285115" cy="149225"/>
          </a:xfrm>
          <a:prstGeom prst="rect">
            <a:avLst/>
          </a:prstGeom>
        </p:spPr>
        <p:txBody>
          <a:bodyPr vert="horz" wrap="square" lIns="0" tIns="13970" rIns="0" bIns="0" rtlCol="0">
            <a:spAutoFit/>
          </a:bodyPr>
          <a:lstStyle/>
          <a:p>
            <a:pPr marL="12700">
              <a:lnSpc>
                <a:spcPct val="100000"/>
              </a:lnSpc>
              <a:spcBef>
                <a:spcPts val="110"/>
              </a:spcBef>
            </a:pPr>
            <a:r>
              <a:rPr sz="800" spc="-20" dirty="0">
                <a:solidFill>
                  <a:srgbClr val="FFFFFF"/>
                </a:solidFill>
                <a:latin typeface="Lucida Sans Unicode"/>
                <a:cs typeface="Lucida Sans Unicode"/>
              </a:rPr>
              <a:t>Linux</a:t>
            </a:r>
            <a:endParaRPr sz="800">
              <a:latin typeface="Lucida Sans Unicode"/>
              <a:cs typeface="Lucida Sans Unicode"/>
            </a:endParaRPr>
          </a:p>
        </p:txBody>
      </p:sp>
      <p:sp>
        <p:nvSpPr>
          <p:cNvPr id="44" name="object 44"/>
          <p:cNvSpPr/>
          <p:nvPr/>
        </p:nvSpPr>
        <p:spPr>
          <a:xfrm>
            <a:off x="4616284" y="2333163"/>
            <a:ext cx="122555" cy="136525"/>
          </a:xfrm>
          <a:custGeom>
            <a:avLst/>
            <a:gdLst/>
            <a:ahLst/>
            <a:cxnLst/>
            <a:rect l="l" t="t" r="r" b="b"/>
            <a:pathLst>
              <a:path w="122554" h="136525">
                <a:moveTo>
                  <a:pt x="61201" y="136080"/>
                </a:moveTo>
                <a:lnTo>
                  <a:pt x="0" y="136080"/>
                </a:lnTo>
                <a:lnTo>
                  <a:pt x="0" y="0"/>
                </a:lnTo>
                <a:lnTo>
                  <a:pt x="122034" y="0"/>
                </a:lnTo>
                <a:lnTo>
                  <a:pt x="122034" y="136080"/>
                </a:lnTo>
                <a:lnTo>
                  <a:pt x="61201" y="136080"/>
                </a:lnTo>
                <a:close/>
              </a:path>
            </a:pathLst>
          </a:custGeom>
          <a:ln w="10809">
            <a:solidFill>
              <a:srgbClr val="FFFFFF"/>
            </a:solidFill>
          </a:ln>
        </p:spPr>
        <p:txBody>
          <a:bodyPr wrap="square" lIns="0" tIns="0" rIns="0" bIns="0" rtlCol="0"/>
          <a:lstStyle/>
          <a:p>
            <a:endParaRPr/>
          </a:p>
        </p:txBody>
      </p:sp>
      <p:sp>
        <p:nvSpPr>
          <p:cNvPr id="45" name="object 45"/>
          <p:cNvSpPr txBox="1"/>
          <p:nvPr/>
        </p:nvSpPr>
        <p:spPr>
          <a:xfrm>
            <a:off x="4579924" y="2297172"/>
            <a:ext cx="198120" cy="464820"/>
          </a:xfrm>
          <a:prstGeom prst="rect">
            <a:avLst/>
          </a:prstGeom>
          <a:ln w="10809">
            <a:solidFill>
              <a:srgbClr val="FFFFFF"/>
            </a:solidFill>
          </a:ln>
        </p:spPr>
        <p:txBody>
          <a:bodyPr vert="vert" wrap="square" lIns="0" tIns="43180" rIns="0" bIns="0" rtlCol="0">
            <a:spAutoFit/>
          </a:bodyPr>
          <a:lstStyle/>
          <a:p>
            <a:pPr marL="251460">
              <a:lnSpc>
                <a:spcPct val="100000"/>
              </a:lnSpc>
              <a:spcBef>
                <a:spcPts val="340"/>
              </a:spcBef>
            </a:pPr>
            <a:r>
              <a:rPr sz="750" spc="-25" dirty="0">
                <a:solidFill>
                  <a:srgbClr val="FFFFFF"/>
                </a:solidFill>
                <a:latin typeface="Lucida Sans Unicode"/>
                <a:cs typeface="Lucida Sans Unicode"/>
              </a:rPr>
              <a:t>NIC</a:t>
            </a:r>
            <a:endParaRPr sz="750">
              <a:latin typeface="Lucida Sans Unicode"/>
              <a:cs typeface="Lucida Sans Unicode"/>
            </a:endParaRPr>
          </a:p>
        </p:txBody>
      </p:sp>
      <p:sp>
        <p:nvSpPr>
          <p:cNvPr id="46" name="object 46"/>
          <p:cNvSpPr/>
          <p:nvPr/>
        </p:nvSpPr>
        <p:spPr>
          <a:xfrm>
            <a:off x="5417642" y="2428566"/>
            <a:ext cx="330200" cy="243204"/>
          </a:xfrm>
          <a:custGeom>
            <a:avLst/>
            <a:gdLst/>
            <a:ahLst/>
            <a:cxnLst/>
            <a:rect l="l" t="t" r="r" b="b"/>
            <a:pathLst>
              <a:path w="330200" h="243205">
                <a:moveTo>
                  <a:pt x="164884" y="243001"/>
                </a:moveTo>
                <a:lnTo>
                  <a:pt x="0" y="243001"/>
                </a:lnTo>
                <a:lnTo>
                  <a:pt x="0" y="0"/>
                </a:lnTo>
                <a:lnTo>
                  <a:pt x="329755" y="0"/>
                </a:lnTo>
                <a:lnTo>
                  <a:pt x="329755" y="243001"/>
                </a:lnTo>
                <a:lnTo>
                  <a:pt x="164884" y="243001"/>
                </a:lnTo>
                <a:close/>
              </a:path>
              <a:path w="330200" h="243205">
                <a:moveTo>
                  <a:pt x="164884" y="204838"/>
                </a:moveTo>
                <a:lnTo>
                  <a:pt x="38163" y="204838"/>
                </a:lnTo>
                <a:lnTo>
                  <a:pt x="38163" y="37807"/>
                </a:lnTo>
                <a:lnTo>
                  <a:pt x="291960" y="37807"/>
                </a:lnTo>
                <a:lnTo>
                  <a:pt x="291960" y="204838"/>
                </a:lnTo>
                <a:lnTo>
                  <a:pt x="164884" y="204838"/>
                </a:lnTo>
                <a:close/>
              </a:path>
            </a:pathLst>
          </a:custGeom>
          <a:ln w="13745">
            <a:solidFill>
              <a:srgbClr val="FFFFFF"/>
            </a:solidFill>
          </a:ln>
        </p:spPr>
        <p:txBody>
          <a:bodyPr wrap="square" lIns="0" tIns="0" rIns="0" bIns="0" rtlCol="0"/>
          <a:lstStyle/>
          <a:p>
            <a:endParaRPr/>
          </a:p>
        </p:txBody>
      </p:sp>
      <p:sp>
        <p:nvSpPr>
          <p:cNvPr id="47" name="object 47"/>
          <p:cNvSpPr txBox="1"/>
          <p:nvPr/>
        </p:nvSpPr>
        <p:spPr>
          <a:xfrm>
            <a:off x="5462840" y="2466958"/>
            <a:ext cx="215900" cy="159385"/>
          </a:xfrm>
          <a:prstGeom prst="rect">
            <a:avLst/>
          </a:prstGeom>
        </p:spPr>
        <p:txBody>
          <a:bodyPr vert="horz" wrap="square" lIns="0" tIns="21590" rIns="0" bIns="0" rtlCol="0">
            <a:spAutoFit/>
          </a:bodyPr>
          <a:lstStyle/>
          <a:p>
            <a:pPr marL="12700">
              <a:lnSpc>
                <a:spcPct val="100000"/>
              </a:lnSpc>
              <a:spcBef>
                <a:spcPts val="170"/>
              </a:spcBef>
            </a:pPr>
            <a:r>
              <a:rPr sz="750" spc="-25" dirty="0">
                <a:solidFill>
                  <a:srgbClr val="FFFFFF"/>
                </a:solidFill>
                <a:latin typeface="Lucida Sans Unicode"/>
                <a:cs typeface="Lucida Sans Unicode"/>
              </a:rPr>
              <a:t>CPU</a:t>
            </a:r>
            <a:endParaRPr sz="750">
              <a:latin typeface="Lucida Sans Unicode"/>
              <a:cs typeface="Lucida Sans Unicode"/>
            </a:endParaRPr>
          </a:p>
        </p:txBody>
      </p:sp>
      <p:pic>
        <p:nvPicPr>
          <p:cNvPr id="48" name="object 48"/>
          <p:cNvPicPr/>
          <p:nvPr/>
        </p:nvPicPr>
        <p:blipFill>
          <a:blip r:embed="rId5" cstate="print"/>
          <a:stretch>
            <a:fillRect/>
          </a:stretch>
        </p:blipFill>
        <p:spPr>
          <a:xfrm>
            <a:off x="5036058" y="2396004"/>
            <a:ext cx="189318" cy="329703"/>
          </a:xfrm>
          <a:prstGeom prst="rect">
            <a:avLst/>
          </a:prstGeom>
        </p:spPr>
      </p:pic>
      <p:sp>
        <p:nvSpPr>
          <p:cNvPr id="49" name="object 49"/>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0" name="object 50"/>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15</a:t>
            </a:fld>
            <a:r>
              <a:rPr spc="-10" dirty="0"/>
              <a:t>/60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 dirty="0"/>
              <a:t>Training</a:t>
            </a:r>
            <a:r>
              <a:rPr spc="-340" dirty="0"/>
              <a:t> </a:t>
            </a:r>
            <a:r>
              <a:rPr spc="-10" dirty="0"/>
              <a:t>Scenario</a:t>
            </a:r>
          </a:p>
        </p:txBody>
      </p:sp>
      <p:pic>
        <p:nvPicPr>
          <p:cNvPr id="3" name="object 3"/>
          <p:cNvPicPr/>
          <p:nvPr/>
        </p:nvPicPr>
        <p:blipFill>
          <a:blip r:embed="rId2" cstate="print"/>
          <a:stretch>
            <a:fillRect/>
          </a:stretch>
        </p:blipFill>
        <p:spPr>
          <a:xfrm>
            <a:off x="1950834" y="1326244"/>
            <a:ext cx="6176530" cy="3288245"/>
          </a:xfrm>
          <a:prstGeom prst="rect">
            <a:avLst/>
          </a:prstGeom>
        </p:spPr>
      </p:pic>
      <p:sp>
        <p:nvSpPr>
          <p:cNvPr id="4" name="object 4"/>
          <p:cNvSpPr txBox="1"/>
          <p:nvPr/>
        </p:nvSpPr>
        <p:spPr>
          <a:xfrm>
            <a:off x="6956488" y="3001222"/>
            <a:ext cx="513715" cy="219710"/>
          </a:xfrm>
          <a:prstGeom prst="rect">
            <a:avLst/>
          </a:prstGeom>
        </p:spPr>
        <p:txBody>
          <a:bodyPr vert="horz" wrap="square" lIns="0" tIns="15240" rIns="0" bIns="0" rtlCol="0">
            <a:spAutoFit/>
          </a:bodyPr>
          <a:lstStyle/>
          <a:p>
            <a:pPr marL="12700">
              <a:lnSpc>
                <a:spcPct val="100000"/>
              </a:lnSpc>
              <a:spcBef>
                <a:spcPts val="120"/>
              </a:spcBef>
            </a:pPr>
            <a:r>
              <a:rPr sz="1250" spc="-10" dirty="0">
                <a:solidFill>
                  <a:srgbClr val="FFFFFF"/>
                </a:solidFill>
                <a:latin typeface="Lucida Sans Unicode"/>
                <a:cs typeface="Lucida Sans Unicode"/>
              </a:rPr>
              <a:t>Switch</a:t>
            </a:r>
            <a:endParaRPr sz="1250">
              <a:latin typeface="Lucida Sans Unicode"/>
              <a:cs typeface="Lucida Sans Unicode"/>
            </a:endParaRPr>
          </a:p>
        </p:txBody>
      </p:sp>
      <p:sp>
        <p:nvSpPr>
          <p:cNvPr id="30" name="object 3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1" name="object 31"/>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16</a:t>
            </a:fld>
            <a:r>
              <a:rPr spc="-10" dirty="0"/>
              <a:t>/60</a:t>
            </a:r>
          </a:p>
        </p:txBody>
      </p:sp>
      <p:sp>
        <p:nvSpPr>
          <p:cNvPr id="5" name="object 5"/>
          <p:cNvSpPr txBox="1"/>
          <p:nvPr/>
        </p:nvSpPr>
        <p:spPr>
          <a:xfrm>
            <a:off x="6703936" y="3490587"/>
            <a:ext cx="1335405" cy="442595"/>
          </a:xfrm>
          <a:prstGeom prst="rect">
            <a:avLst/>
          </a:prstGeom>
        </p:spPr>
        <p:txBody>
          <a:bodyPr vert="horz" wrap="square" lIns="0" tIns="40005" rIns="0" bIns="0" rtlCol="0">
            <a:spAutoFit/>
          </a:bodyPr>
          <a:lstStyle/>
          <a:p>
            <a:pPr marL="959485">
              <a:lnSpc>
                <a:spcPct val="100000"/>
              </a:lnSpc>
              <a:spcBef>
                <a:spcPts val="315"/>
              </a:spcBef>
            </a:pPr>
            <a:r>
              <a:rPr sz="1200" spc="-25" dirty="0">
                <a:solidFill>
                  <a:srgbClr val="FFFFFF"/>
                </a:solidFill>
                <a:latin typeface="Lucida Sans Unicode"/>
                <a:cs typeface="Lucida Sans Unicode"/>
              </a:rPr>
              <a:t>WAN</a:t>
            </a:r>
            <a:endParaRPr sz="1200">
              <a:latin typeface="Lucida Sans Unicode"/>
              <a:cs typeface="Lucida Sans Unicode"/>
            </a:endParaRPr>
          </a:p>
          <a:p>
            <a:pPr marL="12700">
              <a:lnSpc>
                <a:spcPct val="100000"/>
              </a:lnSpc>
              <a:spcBef>
                <a:spcPts val="185"/>
              </a:spcBef>
            </a:pPr>
            <a:r>
              <a:rPr sz="1200" dirty="0">
                <a:solidFill>
                  <a:srgbClr val="FFFFFF"/>
                </a:solidFill>
                <a:latin typeface="Lucida Sans Unicode"/>
                <a:cs typeface="Lucida Sans Unicode"/>
              </a:rPr>
              <a:t>PC</a:t>
            </a:r>
            <a:r>
              <a:rPr sz="1200" spc="-60" dirty="0">
                <a:solidFill>
                  <a:srgbClr val="FFFFFF"/>
                </a:solidFill>
                <a:latin typeface="Lucida Sans Unicode"/>
                <a:cs typeface="Lucida Sans Unicode"/>
              </a:rPr>
              <a:t> </a:t>
            </a:r>
            <a:r>
              <a:rPr sz="1200" spc="-50" dirty="0">
                <a:solidFill>
                  <a:srgbClr val="FFFFFF"/>
                </a:solidFill>
                <a:latin typeface="Lucida Sans Unicode"/>
                <a:cs typeface="Lucida Sans Unicode"/>
              </a:rPr>
              <a:t>1</a:t>
            </a:r>
            <a:endParaRPr sz="1200">
              <a:latin typeface="Lucida Sans Unicode"/>
              <a:cs typeface="Lucida Sans Unicode"/>
            </a:endParaRPr>
          </a:p>
        </p:txBody>
      </p:sp>
      <p:sp>
        <p:nvSpPr>
          <p:cNvPr id="6" name="object 6"/>
          <p:cNvSpPr txBox="1"/>
          <p:nvPr/>
        </p:nvSpPr>
        <p:spPr>
          <a:xfrm>
            <a:off x="6711848" y="4141758"/>
            <a:ext cx="334010" cy="208915"/>
          </a:xfrm>
          <a:prstGeom prst="rect">
            <a:avLst/>
          </a:prstGeom>
        </p:spPr>
        <p:txBody>
          <a:bodyPr vert="horz" wrap="square" lIns="0" tIns="12700" rIns="0" bIns="0" rtlCol="0">
            <a:spAutoFit/>
          </a:bodyPr>
          <a:lstStyle/>
          <a:p>
            <a:pPr marL="12700">
              <a:lnSpc>
                <a:spcPct val="100000"/>
              </a:lnSpc>
              <a:spcBef>
                <a:spcPts val="100"/>
              </a:spcBef>
            </a:pPr>
            <a:r>
              <a:rPr sz="1200" spc="-35" dirty="0">
                <a:solidFill>
                  <a:srgbClr val="FFFFFF"/>
                </a:solidFill>
                <a:latin typeface="Lucida Sans Unicode"/>
                <a:cs typeface="Lucida Sans Unicode"/>
              </a:rPr>
              <a:t>PC...</a:t>
            </a:r>
            <a:endParaRPr sz="1200">
              <a:latin typeface="Lucida Sans Unicode"/>
              <a:cs typeface="Lucida Sans Unicode"/>
            </a:endParaRPr>
          </a:p>
        </p:txBody>
      </p:sp>
      <p:sp>
        <p:nvSpPr>
          <p:cNvPr id="7" name="object 7"/>
          <p:cNvSpPr txBox="1"/>
          <p:nvPr/>
        </p:nvSpPr>
        <p:spPr>
          <a:xfrm>
            <a:off x="6915366" y="1371265"/>
            <a:ext cx="765810" cy="695325"/>
          </a:xfrm>
          <a:prstGeom prst="rect">
            <a:avLst/>
          </a:prstGeom>
        </p:spPr>
        <p:txBody>
          <a:bodyPr vert="horz" wrap="square" lIns="0" tIns="11430" rIns="0" bIns="0" rtlCol="0">
            <a:spAutoFit/>
          </a:bodyPr>
          <a:lstStyle/>
          <a:p>
            <a:pPr algn="ctr">
              <a:lnSpc>
                <a:spcPct val="100000"/>
              </a:lnSpc>
              <a:spcBef>
                <a:spcPts val="90"/>
              </a:spcBef>
            </a:pPr>
            <a:r>
              <a:rPr sz="1050" spc="-30" dirty="0">
                <a:solidFill>
                  <a:srgbClr val="FFFFFF"/>
                </a:solidFill>
                <a:latin typeface="Lucida Sans Unicode"/>
                <a:cs typeface="Lucida Sans Unicode"/>
              </a:rPr>
              <a:t>Storage</a:t>
            </a:r>
            <a:r>
              <a:rPr sz="1050" spc="-40" dirty="0">
                <a:solidFill>
                  <a:srgbClr val="FFFFFF"/>
                </a:solidFill>
                <a:latin typeface="Lucida Sans Unicode"/>
                <a:cs typeface="Lucida Sans Unicode"/>
              </a:rPr>
              <a:t> </a:t>
            </a:r>
            <a:r>
              <a:rPr sz="1050" spc="-25" dirty="0">
                <a:solidFill>
                  <a:srgbClr val="FFFFFF"/>
                </a:solidFill>
                <a:latin typeface="Lucida Sans Unicode"/>
                <a:cs typeface="Lucida Sans Unicode"/>
              </a:rPr>
              <a:t>Box</a:t>
            </a:r>
            <a:endParaRPr sz="1050">
              <a:latin typeface="Lucida Sans Unicode"/>
              <a:cs typeface="Lucida Sans Unicode"/>
            </a:endParaRPr>
          </a:p>
          <a:p>
            <a:pPr marL="31750" algn="ctr">
              <a:lnSpc>
                <a:spcPct val="100000"/>
              </a:lnSpc>
              <a:spcBef>
                <a:spcPts val="1125"/>
              </a:spcBef>
              <a:tabLst>
                <a:tab pos="505459" algn="l"/>
              </a:tabLst>
            </a:pPr>
            <a:r>
              <a:rPr sz="650" spc="-25" dirty="0">
                <a:solidFill>
                  <a:srgbClr val="FFFFFF"/>
                </a:solidFill>
                <a:latin typeface="Lucida Sans Unicode"/>
                <a:cs typeface="Lucida Sans Unicode"/>
              </a:rPr>
              <a:t>NFS</a:t>
            </a:r>
            <a:r>
              <a:rPr sz="650" dirty="0">
                <a:solidFill>
                  <a:srgbClr val="FFFFFF"/>
                </a:solidFill>
                <a:latin typeface="Lucida Sans Unicode"/>
                <a:cs typeface="Lucida Sans Unicode"/>
              </a:rPr>
              <a:t>	</a:t>
            </a:r>
            <a:r>
              <a:rPr sz="650" spc="-20" dirty="0">
                <a:solidFill>
                  <a:srgbClr val="FFFFFF"/>
                </a:solidFill>
                <a:latin typeface="Lucida Sans Unicode"/>
                <a:cs typeface="Lucida Sans Unicode"/>
              </a:rPr>
              <a:t>CIFS</a:t>
            </a:r>
            <a:endParaRPr sz="650">
              <a:latin typeface="Lucida Sans Unicode"/>
              <a:cs typeface="Lucida Sans Unicode"/>
            </a:endParaRPr>
          </a:p>
          <a:p>
            <a:pPr>
              <a:lnSpc>
                <a:spcPct val="100000"/>
              </a:lnSpc>
              <a:spcBef>
                <a:spcPts val="275"/>
              </a:spcBef>
            </a:pPr>
            <a:endParaRPr sz="650">
              <a:latin typeface="Lucida Sans Unicode"/>
              <a:cs typeface="Lucida Sans Unicode"/>
            </a:endParaRPr>
          </a:p>
          <a:p>
            <a:pPr marR="8255" algn="ctr">
              <a:lnSpc>
                <a:spcPct val="100000"/>
              </a:lnSpc>
            </a:pPr>
            <a:r>
              <a:rPr sz="700" spc="-25" dirty="0">
                <a:solidFill>
                  <a:srgbClr val="FFFFFF"/>
                </a:solidFill>
                <a:latin typeface="Lucida Sans Unicode"/>
                <a:cs typeface="Lucida Sans Unicode"/>
              </a:rPr>
              <a:t>Linux</a:t>
            </a:r>
            <a:r>
              <a:rPr sz="700" spc="-30" dirty="0">
                <a:solidFill>
                  <a:srgbClr val="FFFFFF"/>
                </a:solidFill>
                <a:latin typeface="Lucida Sans Unicode"/>
                <a:cs typeface="Lucida Sans Unicode"/>
              </a:rPr>
              <a:t> </a:t>
            </a:r>
            <a:r>
              <a:rPr sz="700" spc="-25" dirty="0">
                <a:solidFill>
                  <a:srgbClr val="FFFFFF"/>
                </a:solidFill>
                <a:latin typeface="Lucida Sans Unicode"/>
                <a:cs typeface="Lucida Sans Unicode"/>
              </a:rPr>
              <a:t>NAS</a:t>
            </a:r>
            <a:endParaRPr sz="700">
              <a:latin typeface="Lucida Sans Unicode"/>
              <a:cs typeface="Lucida Sans Unicode"/>
            </a:endParaRPr>
          </a:p>
        </p:txBody>
      </p:sp>
      <p:sp>
        <p:nvSpPr>
          <p:cNvPr id="8" name="object 8"/>
          <p:cNvSpPr txBox="1"/>
          <p:nvPr/>
        </p:nvSpPr>
        <p:spPr>
          <a:xfrm>
            <a:off x="6762261" y="2375672"/>
            <a:ext cx="142875" cy="168275"/>
          </a:xfrm>
          <a:prstGeom prst="rect">
            <a:avLst/>
          </a:prstGeom>
        </p:spPr>
        <p:txBody>
          <a:bodyPr vert="vert" wrap="square" lIns="0" tIns="22225" rIns="0" bIns="0" rtlCol="0">
            <a:spAutoFit/>
          </a:bodyPr>
          <a:lstStyle/>
          <a:p>
            <a:pPr marL="12700">
              <a:lnSpc>
                <a:spcPct val="100000"/>
              </a:lnSpc>
              <a:spcBef>
                <a:spcPts val="175"/>
              </a:spcBef>
            </a:pPr>
            <a:r>
              <a:rPr sz="650" spc="-25" dirty="0">
                <a:solidFill>
                  <a:srgbClr val="FFFFFF"/>
                </a:solidFill>
                <a:latin typeface="Lucida Sans Unicode"/>
                <a:cs typeface="Lucida Sans Unicode"/>
              </a:rPr>
              <a:t>NIC</a:t>
            </a:r>
            <a:endParaRPr sz="650">
              <a:latin typeface="Lucida Sans Unicode"/>
              <a:cs typeface="Lucida Sans Unicode"/>
            </a:endParaRPr>
          </a:p>
        </p:txBody>
      </p:sp>
      <p:sp>
        <p:nvSpPr>
          <p:cNvPr id="9" name="object 9"/>
          <p:cNvSpPr txBox="1"/>
          <p:nvPr/>
        </p:nvSpPr>
        <p:spPr>
          <a:xfrm>
            <a:off x="7619802" y="2322709"/>
            <a:ext cx="191135" cy="141605"/>
          </a:xfrm>
          <a:prstGeom prst="rect">
            <a:avLst/>
          </a:prstGeom>
        </p:spPr>
        <p:txBody>
          <a:bodyPr vert="horz" wrap="square" lIns="0" tIns="20320" rIns="0" bIns="0" rtlCol="0">
            <a:spAutoFit/>
          </a:bodyPr>
          <a:lstStyle/>
          <a:p>
            <a:pPr marL="12700">
              <a:lnSpc>
                <a:spcPct val="100000"/>
              </a:lnSpc>
              <a:spcBef>
                <a:spcPts val="160"/>
              </a:spcBef>
            </a:pPr>
            <a:r>
              <a:rPr sz="650" spc="-25" dirty="0">
                <a:solidFill>
                  <a:srgbClr val="FFFFFF"/>
                </a:solidFill>
                <a:latin typeface="Lucida Sans Unicode"/>
                <a:cs typeface="Lucida Sans Unicode"/>
              </a:rPr>
              <a:t>CPU</a:t>
            </a:r>
            <a:endParaRPr sz="650">
              <a:latin typeface="Lucida Sans Unicode"/>
              <a:cs typeface="Lucida Sans Unicode"/>
            </a:endParaRPr>
          </a:p>
        </p:txBody>
      </p:sp>
      <p:sp>
        <p:nvSpPr>
          <p:cNvPr id="10" name="object 10"/>
          <p:cNvSpPr txBox="1"/>
          <p:nvPr/>
        </p:nvSpPr>
        <p:spPr>
          <a:xfrm>
            <a:off x="3063671" y="1389007"/>
            <a:ext cx="2266950" cy="276860"/>
          </a:xfrm>
          <a:prstGeom prst="rect">
            <a:avLst/>
          </a:prstGeom>
        </p:spPr>
        <p:txBody>
          <a:bodyPr vert="horz" wrap="square" lIns="0" tIns="12065" rIns="0" bIns="0" rtlCol="0">
            <a:spAutoFit/>
          </a:bodyPr>
          <a:lstStyle/>
          <a:p>
            <a:pPr marL="12700">
              <a:lnSpc>
                <a:spcPct val="100000"/>
              </a:lnSpc>
              <a:spcBef>
                <a:spcPts val="95"/>
              </a:spcBef>
            </a:pPr>
            <a:r>
              <a:rPr sz="1650" spc="-20" dirty="0">
                <a:solidFill>
                  <a:srgbClr val="FFFFFF"/>
                </a:solidFill>
                <a:latin typeface="Lucida Sans Unicode"/>
                <a:cs typeface="Lucida Sans Unicode"/>
              </a:rPr>
              <a:t>Virtual</a:t>
            </a:r>
            <a:r>
              <a:rPr sz="1650" spc="-75" dirty="0">
                <a:solidFill>
                  <a:srgbClr val="FFFFFF"/>
                </a:solidFill>
                <a:latin typeface="Lucida Sans Unicode"/>
                <a:cs typeface="Lucida Sans Unicode"/>
              </a:rPr>
              <a:t> </a:t>
            </a:r>
            <a:r>
              <a:rPr sz="1650" spc="-30" dirty="0">
                <a:solidFill>
                  <a:srgbClr val="FFFFFF"/>
                </a:solidFill>
                <a:latin typeface="Lucida Sans Unicode"/>
                <a:cs typeface="Lucida Sans Unicode"/>
              </a:rPr>
              <a:t>Training</a:t>
            </a:r>
            <a:r>
              <a:rPr sz="1650" spc="-80" dirty="0">
                <a:solidFill>
                  <a:srgbClr val="FFFFFF"/>
                </a:solidFill>
                <a:latin typeface="Lucida Sans Unicode"/>
                <a:cs typeface="Lucida Sans Unicode"/>
              </a:rPr>
              <a:t> </a:t>
            </a:r>
            <a:r>
              <a:rPr sz="1650" spc="-10" dirty="0">
                <a:solidFill>
                  <a:srgbClr val="FFFFFF"/>
                </a:solidFill>
                <a:latin typeface="Lucida Sans Unicode"/>
                <a:cs typeface="Lucida Sans Unicode"/>
              </a:rPr>
              <a:t>Server</a:t>
            </a:r>
            <a:endParaRPr sz="1650">
              <a:latin typeface="Lucida Sans Unicode"/>
              <a:cs typeface="Lucida Sans Unicode"/>
            </a:endParaRPr>
          </a:p>
        </p:txBody>
      </p:sp>
      <p:sp>
        <p:nvSpPr>
          <p:cNvPr id="11" name="object 11"/>
          <p:cNvSpPr txBox="1"/>
          <p:nvPr/>
        </p:nvSpPr>
        <p:spPr>
          <a:xfrm>
            <a:off x="2189149" y="1885285"/>
            <a:ext cx="732790" cy="520065"/>
          </a:xfrm>
          <a:prstGeom prst="rect">
            <a:avLst/>
          </a:prstGeom>
        </p:spPr>
        <p:txBody>
          <a:bodyPr vert="horz" wrap="square" lIns="0" tIns="11430" rIns="0" bIns="0" rtlCol="0">
            <a:spAutoFit/>
          </a:bodyPr>
          <a:lstStyle/>
          <a:p>
            <a:pPr marL="14604">
              <a:lnSpc>
                <a:spcPct val="100000"/>
              </a:lnSpc>
              <a:spcBef>
                <a:spcPts val="90"/>
              </a:spcBef>
            </a:pPr>
            <a:r>
              <a:rPr sz="750" spc="-20" dirty="0">
                <a:solidFill>
                  <a:srgbClr val="FFFFFF"/>
                </a:solidFill>
                <a:latin typeface="Lucida Sans Unicode"/>
                <a:cs typeface="Lucida Sans Unicode"/>
              </a:rPr>
              <a:t>Windows</a:t>
            </a:r>
            <a:r>
              <a:rPr sz="750" spc="-5" dirty="0">
                <a:solidFill>
                  <a:srgbClr val="FFFFFF"/>
                </a:solidFill>
                <a:latin typeface="Lucida Sans Unicode"/>
                <a:cs typeface="Lucida Sans Unicode"/>
              </a:rPr>
              <a:t> </a:t>
            </a:r>
            <a:r>
              <a:rPr sz="750" spc="-10" dirty="0">
                <a:solidFill>
                  <a:srgbClr val="FFFFFF"/>
                </a:solidFill>
                <a:latin typeface="Lucida Sans Unicode"/>
                <a:cs typeface="Lucida Sans Unicode"/>
              </a:rPr>
              <a:t>Server</a:t>
            </a:r>
            <a:endParaRPr sz="750">
              <a:latin typeface="Lucida Sans Unicode"/>
              <a:cs typeface="Lucida Sans Unicode"/>
            </a:endParaRPr>
          </a:p>
          <a:p>
            <a:pPr marL="12700">
              <a:lnSpc>
                <a:spcPct val="100000"/>
              </a:lnSpc>
              <a:spcBef>
                <a:spcPts val="819"/>
              </a:spcBef>
              <a:tabLst>
                <a:tab pos="315595" algn="l"/>
                <a:tab pos="604520" algn="l"/>
              </a:tabLst>
            </a:pPr>
            <a:r>
              <a:rPr sz="450" spc="-25" dirty="0">
                <a:solidFill>
                  <a:srgbClr val="FFFFFF"/>
                </a:solidFill>
                <a:latin typeface="Lucida Sans Unicode"/>
                <a:cs typeface="Lucida Sans Unicode"/>
              </a:rPr>
              <a:t>APP</a:t>
            </a:r>
            <a:r>
              <a:rPr sz="450" dirty="0">
                <a:solidFill>
                  <a:srgbClr val="FFFFFF"/>
                </a:solidFill>
                <a:latin typeface="Lucida Sans Unicode"/>
                <a:cs typeface="Lucida Sans Unicode"/>
              </a:rPr>
              <a:t>	</a:t>
            </a:r>
            <a:r>
              <a:rPr sz="450" spc="-25" dirty="0">
                <a:solidFill>
                  <a:srgbClr val="FFFFFF"/>
                </a:solidFill>
                <a:latin typeface="Lucida Sans Unicode"/>
                <a:cs typeface="Lucida Sans Unicode"/>
              </a:rPr>
              <a:t>APP</a:t>
            </a:r>
            <a:r>
              <a:rPr sz="450" dirty="0">
                <a:solidFill>
                  <a:srgbClr val="FFFFFF"/>
                </a:solidFill>
                <a:latin typeface="Lucida Sans Unicode"/>
                <a:cs typeface="Lucida Sans Unicode"/>
              </a:rPr>
              <a:t>	</a:t>
            </a:r>
            <a:r>
              <a:rPr sz="450" spc="-25" dirty="0">
                <a:solidFill>
                  <a:srgbClr val="FFFFFF"/>
                </a:solidFill>
                <a:latin typeface="Lucida Sans Unicode"/>
                <a:cs typeface="Lucida Sans Unicode"/>
              </a:rPr>
              <a:t>APP</a:t>
            </a:r>
            <a:endParaRPr sz="450">
              <a:latin typeface="Lucida Sans Unicode"/>
              <a:cs typeface="Lucida Sans Unicode"/>
            </a:endParaRPr>
          </a:p>
          <a:p>
            <a:pPr>
              <a:lnSpc>
                <a:spcPct val="100000"/>
              </a:lnSpc>
              <a:spcBef>
                <a:spcPts val="105"/>
              </a:spcBef>
            </a:pPr>
            <a:endParaRPr sz="450">
              <a:latin typeface="Lucida Sans Unicode"/>
              <a:cs typeface="Lucida Sans Unicode"/>
            </a:endParaRPr>
          </a:p>
          <a:p>
            <a:pPr marL="20320">
              <a:lnSpc>
                <a:spcPct val="100000"/>
              </a:lnSpc>
            </a:pPr>
            <a:r>
              <a:rPr sz="700" dirty="0">
                <a:solidFill>
                  <a:srgbClr val="FFFFFF"/>
                </a:solidFill>
                <a:latin typeface="Lucida Sans Unicode"/>
                <a:cs typeface="Lucida Sans Unicode"/>
              </a:rPr>
              <a:t>Windows</a:t>
            </a:r>
            <a:r>
              <a:rPr sz="700" spc="-40" dirty="0">
                <a:solidFill>
                  <a:srgbClr val="FFFFFF"/>
                </a:solidFill>
                <a:latin typeface="Lucida Sans Unicode"/>
                <a:cs typeface="Lucida Sans Unicode"/>
              </a:rPr>
              <a:t> </a:t>
            </a:r>
            <a:r>
              <a:rPr sz="700" spc="-10" dirty="0">
                <a:solidFill>
                  <a:srgbClr val="FFFFFF"/>
                </a:solidFill>
                <a:latin typeface="Lucida Sans Unicode"/>
                <a:cs typeface="Lucida Sans Unicode"/>
              </a:rPr>
              <a:t>Kernel</a:t>
            </a:r>
            <a:endParaRPr sz="700">
              <a:latin typeface="Lucida Sans Unicode"/>
              <a:cs typeface="Lucida Sans Unicode"/>
            </a:endParaRPr>
          </a:p>
        </p:txBody>
      </p:sp>
      <p:sp>
        <p:nvSpPr>
          <p:cNvPr id="12" name="object 12"/>
          <p:cNvSpPr txBox="1"/>
          <p:nvPr/>
        </p:nvSpPr>
        <p:spPr>
          <a:xfrm>
            <a:off x="2191595" y="2606436"/>
            <a:ext cx="109855" cy="128270"/>
          </a:xfrm>
          <a:prstGeom prst="rect">
            <a:avLst/>
          </a:prstGeom>
        </p:spPr>
        <p:txBody>
          <a:bodyPr vert="vert" wrap="square" lIns="0" tIns="21590" rIns="0" bIns="0" rtlCol="0">
            <a:spAutoFit/>
          </a:bodyPr>
          <a:lstStyle/>
          <a:p>
            <a:pPr marL="12700">
              <a:lnSpc>
                <a:spcPct val="100000"/>
              </a:lnSpc>
              <a:spcBef>
                <a:spcPts val="170"/>
              </a:spcBef>
            </a:pPr>
            <a:r>
              <a:rPr sz="450" spc="-25" dirty="0">
                <a:solidFill>
                  <a:srgbClr val="FFFFFF"/>
                </a:solidFill>
                <a:latin typeface="Lucida Sans Unicode"/>
                <a:cs typeface="Lucida Sans Unicode"/>
              </a:rPr>
              <a:t>NIC</a:t>
            </a:r>
            <a:endParaRPr sz="450">
              <a:latin typeface="Lucida Sans Unicode"/>
              <a:cs typeface="Lucida Sans Unicode"/>
            </a:endParaRPr>
          </a:p>
        </p:txBody>
      </p:sp>
      <p:sp>
        <p:nvSpPr>
          <p:cNvPr id="13" name="object 13"/>
          <p:cNvSpPr txBox="1"/>
          <p:nvPr/>
        </p:nvSpPr>
        <p:spPr>
          <a:xfrm>
            <a:off x="2731199" y="2563339"/>
            <a:ext cx="144145" cy="109220"/>
          </a:xfrm>
          <a:prstGeom prst="rect">
            <a:avLst/>
          </a:prstGeom>
        </p:spPr>
        <p:txBody>
          <a:bodyPr vert="horz" wrap="square" lIns="0" tIns="20320" rIns="0" bIns="0" rtlCol="0">
            <a:spAutoFit/>
          </a:bodyPr>
          <a:lstStyle/>
          <a:p>
            <a:pPr marL="12700">
              <a:lnSpc>
                <a:spcPct val="100000"/>
              </a:lnSpc>
              <a:spcBef>
                <a:spcPts val="160"/>
              </a:spcBef>
            </a:pPr>
            <a:r>
              <a:rPr sz="450" spc="-25" dirty="0">
                <a:solidFill>
                  <a:srgbClr val="FFFFFF"/>
                </a:solidFill>
                <a:latin typeface="Lucida Sans Unicode"/>
                <a:cs typeface="Lucida Sans Unicode"/>
              </a:rPr>
              <a:t>CPU</a:t>
            </a:r>
            <a:endParaRPr sz="450">
              <a:latin typeface="Lucida Sans Unicode"/>
              <a:cs typeface="Lucida Sans Unicode"/>
            </a:endParaRPr>
          </a:p>
        </p:txBody>
      </p:sp>
      <p:sp>
        <p:nvSpPr>
          <p:cNvPr id="14" name="object 14"/>
          <p:cNvSpPr txBox="1"/>
          <p:nvPr/>
        </p:nvSpPr>
        <p:spPr>
          <a:xfrm>
            <a:off x="3267087" y="1885285"/>
            <a:ext cx="758190" cy="307340"/>
          </a:xfrm>
          <a:prstGeom prst="rect">
            <a:avLst/>
          </a:prstGeom>
        </p:spPr>
        <p:txBody>
          <a:bodyPr vert="horz" wrap="square" lIns="0" tIns="11430" rIns="0" bIns="0" rtlCol="0">
            <a:spAutoFit/>
          </a:bodyPr>
          <a:lstStyle/>
          <a:p>
            <a:pPr algn="ctr">
              <a:lnSpc>
                <a:spcPct val="100000"/>
              </a:lnSpc>
              <a:spcBef>
                <a:spcPts val="90"/>
              </a:spcBef>
            </a:pPr>
            <a:r>
              <a:rPr sz="750" spc="-40" dirty="0">
                <a:solidFill>
                  <a:srgbClr val="FFFFFF"/>
                </a:solidFill>
                <a:latin typeface="Lucida Sans Unicode"/>
                <a:cs typeface="Lucida Sans Unicode"/>
              </a:rPr>
              <a:t>Linux</a:t>
            </a:r>
            <a:r>
              <a:rPr sz="750" spc="-10" dirty="0">
                <a:solidFill>
                  <a:srgbClr val="FFFFFF"/>
                </a:solidFill>
                <a:latin typeface="Lucida Sans Unicode"/>
                <a:cs typeface="Lucida Sans Unicode"/>
              </a:rPr>
              <a:t> Webserver</a:t>
            </a:r>
            <a:endParaRPr sz="750">
              <a:latin typeface="Lucida Sans Unicode"/>
              <a:cs typeface="Lucida Sans Unicode"/>
            </a:endParaRPr>
          </a:p>
          <a:p>
            <a:pPr marL="11430" algn="ctr">
              <a:lnSpc>
                <a:spcPct val="100000"/>
              </a:lnSpc>
              <a:spcBef>
                <a:spcPts val="844"/>
              </a:spcBef>
            </a:pPr>
            <a:r>
              <a:rPr sz="400" spc="-10" dirty="0">
                <a:solidFill>
                  <a:srgbClr val="FFFFFF"/>
                </a:solidFill>
                <a:latin typeface="Lucida Sans Unicode"/>
                <a:cs typeface="Lucida Sans Unicode"/>
              </a:rPr>
              <a:t>Webserver</a:t>
            </a:r>
            <a:endParaRPr sz="400">
              <a:latin typeface="Lucida Sans Unicode"/>
              <a:cs typeface="Lucida Sans Unicode"/>
            </a:endParaRPr>
          </a:p>
        </p:txBody>
      </p:sp>
      <p:sp>
        <p:nvSpPr>
          <p:cNvPr id="15" name="object 15"/>
          <p:cNvSpPr txBox="1"/>
          <p:nvPr/>
        </p:nvSpPr>
        <p:spPr>
          <a:xfrm>
            <a:off x="3513544" y="2267860"/>
            <a:ext cx="257810" cy="135890"/>
          </a:xfrm>
          <a:prstGeom prst="rect">
            <a:avLst/>
          </a:prstGeom>
        </p:spPr>
        <p:txBody>
          <a:bodyPr vert="horz" wrap="square" lIns="0" tIns="15875" rIns="0" bIns="0" rtlCol="0">
            <a:spAutoFit/>
          </a:bodyPr>
          <a:lstStyle/>
          <a:p>
            <a:pPr marL="12700">
              <a:lnSpc>
                <a:spcPct val="100000"/>
              </a:lnSpc>
              <a:spcBef>
                <a:spcPts val="125"/>
              </a:spcBef>
            </a:pPr>
            <a:r>
              <a:rPr sz="700" spc="-10" dirty="0">
                <a:solidFill>
                  <a:srgbClr val="FFFFFF"/>
                </a:solidFill>
                <a:latin typeface="Lucida Sans Unicode"/>
                <a:cs typeface="Lucida Sans Unicode"/>
              </a:rPr>
              <a:t>Linux</a:t>
            </a:r>
            <a:endParaRPr sz="700">
              <a:latin typeface="Lucida Sans Unicode"/>
              <a:cs typeface="Lucida Sans Unicode"/>
            </a:endParaRPr>
          </a:p>
        </p:txBody>
      </p:sp>
      <p:sp>
        <p:nvSpPr>
          <p:cNvPr id="16" name="object 16"/>
          <p:cNvSpPr txBox="1"/>
          <p:nvPr/>
        </p:nvSpPr>
        <p:spPr>
          <a:xfrm>
            <a:off x="3285357" y="2606436"/>
            <a:ext cx="109855" cy="128270"/>
          </a:xfrm>
          <a:prstGeom prst="rect">
            <a:avLst/>
          </a:prstGeom>
        </p:spPr>
        <p:txBody>
          <a:bodyPr vert="vert" wrap="square" lIns="0" tIns="21590" rIns="0" bIns="0" rtlCol="0">
            <a:spAutoFit/>
          </a:bodyPr>
          <a:lstStyle/>
          <a:p>
            <a:pPr marL="12700">
              <a:lnSpc>
                <a:spcPct val="100000"/>
              </a:lnSpc>
              <a:spcBef>
                <a:spcPts val="170"/>
              </a:spcBef>
            </a:pPr>
            <a:r>
              <a:rPr sz="450" spc="-25" dirty="0">
                <a:solidFill>
                  <a:srgbClr val="FFFFFF"/>
                </a:solidFill>
                <a:latin typeface="Lucida Sans Unicode"/>
                <a:cs typeface="Lucida Sans Unicode"/>
              </a:rPr>
              <a:t>NIC</a:t>
            </a:r>
            <a:endParaRPr sz="450">
              <a:latin typeface="Lucida Sans Unicode"/>
              <a:cs typeface="Lucida Sans Unicode"/>
            </a:endParaRPr>
          </a:p>
        </p:txBody>
      </p:sp>
      <p:sp>
        <p:nvSpPr>
          <p:cNvPr id="17" name="object 17"/>
          <p:cNvSpPr txBox="1"/>
          <p:nvPr/>
        </p:nvSpPr>
        <p:spPr>
          <a:xfrm>
            <a:off x="3825202" y="2563339"/>
            <a:ext cx="144145" cy="109220"/>
          </a:xfrm>
          <a:prstGeom prst="rect">
            <a:avLst/>
          </a:prstGeom>
        </p:spPr>
        <p:txBody>
          <a:bodyPr vert="horz" wrap="square" lIns="0" tIns="20320" rIns="0" bIns="0" rtlCol="0">
            <a:spAutoFit/>
          </a:bodyPr>
          <a:lstStyle/>
          <a:p>
            <a:pPr marL="12700">
              <a:lnSpc>
                <a:spcPct val="100000"/>
              </a:lnSpc>
              <a:spcBef>
                <a:spcPts val="160"/>
              </a:spcBef>
            </a:pPr>
            <a:r>
              <a:rPr sz="450" spc="-25" dirty="0">
                <a:solidFill>
                  <a:srgbClr val="FFFFFF"/>
                </a:solidFill>
                <a:latin typeface="Lucida Sans Unicode"/>
                <a:cs typeface="Lucida Sans Unicode"/>
              </a:rPr>
              <a:t>CPU</a:t>
            </a:r>
            <a:endParaRPr sz="450">
              <a:latin typeface="Lucida Sans Unicode"/>
              <a:cs typeface="Lucida Sans Unicode"/>
            </a:endParaRPr>
          </a:p>
        </p:txBody>
      </p:sp>
      <p:sp>
        <p:nvSpPr>
          <p:cNvPr id="18" name="object 18"/>
          <p:cNvSpPr txBox="1"/>
          <p:nvPr/>
        </p:nvSpPr>
        <p:spPr>
          <a:xfrm>
            <a:off x="4378268" y="2606436"/>
            <a:ext cx="109855" cy="128270"/>
          </a:xfrm>
          <a:prstGeom prst="rect">
            <a:avLst/>
          </a:prstGeom>
        </p:spPr>
        <p:txBody>
          <a:bodyPr vert="vert" wrap="square" lIns="0" tIns="21590" rIns="0" bIns="0" rtlCol="0">
            <a:spAutoFit/>
          </a:bodyPr>
          <a:lstStyle/>
          <a:p>
            <a:pPr marL="12700">
              <a:lnSpc>
                <a:spcPct val="100000"/>
              </a:lnSpc>
              <a:spcBef>
                <a:spcPts val="170"/>
              </a:spcBef>
            </a:pPr>
            <a:r>
              <a:rPr sz="450" spc="-25" dirty="0">
                <a:solidFill>
                  <a:srgbClr val="FFFFFF"/>
                </a:solidFill>
                <a:latin typeface="Lucida Sans Unicode"/>
                <a:cs typeface="Lucida Sans Unicode"/>
              </a:rPr>
              <a:t>NIC</a:t>
            </a:r>
            <a:endParaRPr sz="450">
              <a:latin typeface="Lucida Sans Unicode"/>
              <a:cs typeface="Lucida Sans Unicode"/>
            </a:endParaRPr>
          </a:p>
        </p:txBody>
      </p:sp>
      <p:sp>
        <p:nvSpPr>
          <p:cNvPr id="19" name="object 19"/>
          <p:cNvSpPr txBox="1"/>
          <p:nvPr/>
        </p:nvSpPr>
        <p:spPr>
          <a:xfrm>
            <a:off x="4918139" y="2563339"/>
            <a:ext cx="144145" cy="109220"/>
          </a:xfrm>
          <a:prstGeom prst="rect">
            <a:avLst/>
          </a:prstGeom>
        </p:spPr>
        <p:txBody>
          <a:bodyPr vert="horz" wrap="square" lIns="0" tIns="20320" rIns="0" bIns="0" rtlCol="0">
            <a:spAutoFit/>
          </a:bodyPr>
          <a:lstStyle/>
          <a:p>
            <a:pPr marL="12700">
              <a:lnSpc>
                <a:spcPct val="100000"/>
              </a:lnSpc>
              <a:spcBef>
                <a:spcPts val="160"/>
              </a:spcBef>
            </a:pPr>
            <a:r>
              <a:rPr sz="450" spc="-25" dirty="0">
                <a:solidFill>
                  <a:srgbClr val="FFFFFF"/>
                </a:solidFill>
                <a:latin typeface="Lucida Sans Unicode"/>
                <a:cs typeface="Lucida Sans Unicode"/>
              </a:rPr>
              <a:t>CPU</a:t>
            </a:r>
            <a:endParaRPr sz="450">
              <a:latin typeface="Lucida Sans Unicode"/>
              <a:cs typeface="Lucida Sans Unicode"/>
            </a:endParaRPr>
          </a:p>
        </p:txBody>
      </p:sp>
      <p:sp>
        <p:nvSpPr>
          <p:cNvPr id="20" name="object 20"/>
          <p:cNvSpPr txBox="1"/>
          <p:nvPr/>
        </p:nvSpPr>
        <p:spPr>
          <a:xfrm>
            <a:off x="4621238" y="2267860"/>
            <a:ext cx="257810" cy="135890"/>
          </a:xfrm>
          <a:prstGeom prst="rect">
            <a:avLst/>
          </a:prstGeom>
        </p:spPr>
        <p:txBody>
          <a:bodyPr vert="horz" wrap="square" lIns="0" tIns="15875" rIns="0" bIns="0" rtlCol="0">
            <a:spAutoFit/>
          </a:bodyPr>
          <a:lstStyle/>
          <a:p>
            <a:pPr marL="12700">
              <a:lnSpc>
                <a:spcPct val="100000"/>
              </a:lnSpc>
              <a:spcBef>
                <a:spcPts val="125"/>
              </a:spcBef>
            </a:pPr>
            <a:r>
              <a:rPr sz="700" spc="-10" dirty="0">
                <a:solidFill>
                  <a:srgbClr val="FFFFFF"/>
                </a:solidFill>
                <a:latin typeface="Lucida Sans Unicode"/>
                <a:cs typeface="Lucida Sans Unicode"/>
              </a:rPr>
              <a:t>Linux</a:t>
            </a:r>
            <a:endParaRPr sz="700">
              <a:latin typeface="Lucida Sans Unicode"/>
              <a:cs typeface="Lucida Sans Unicode"/>
            </a:endParaRPr>
          </a:p>
        </p:txBody>
      </p:sp>
      <p:sp>
        <p:nvSpPr>
          <p:cNvPr id="21" name="object 21"/>
          <p:cNvSpPr txBox="1"/>
          <p:nvPr/>
        </p:nvSpPr>
        <p:spPr>
          <a:xfrm>
            <a:off x="5672632" y="1885285"/>
            <a:ext cx="322580" cy="138430"/>
          </a:xfrm>
          <a:prstGeom prst="rect">
            <a:avLst/>
          </a:prstGeom>
        </p:spPr>
        <p:txBody>
          <a:bodyPr vert="horz" wrap="square" lIns="0" tIns="11430" rIns="0" bIns="0" rtlCol="0">
            <a:spAutoFit/>
          </a:bodyPr>
          <a:lstStyle/>
          <a:p>
            <a:pPr marL="12700">
              <a:lnSpc>
                <a:spcPct val="100000"/>
              </a:lnSpc>
              <a:spcBef>
                <a:spcPts val="90"/>
              </a:spcBef>
            </a:pPr>
            <a:r>
              <a:rPr sz="750" spc="-10" dirty="0">
                <a:solidFill>
                  <a:srgbClr val="FFFFFF"/>
                </a:solidFill>
                <a:latin typeface="Lucida Sans Unicode"/>
                <a:cs typeface="Lucida Sans Unicode"/>
              </a:rPr>
              <a:t>Router</a:t>
            </a:r>
            <a:endParaRPr sz="750">
              <a:latin typeface="Lucida Sans Unicode"/>
              <a:cs typeface="Lucida Sans Unicode"/>
            </a:endParaRPr>
          </a:p>
        </p:txBody>
      </p:sp>
      <p:sp>
        <p:nvSpPr>
          <p:cNvPr id="22" name="object 22"/>
          <p:cNvSpPr txBox="1"/>
          <p:nvPr/>
        </p:nvSpPr>
        <p:spPr>
          <a:xfrm>
            <a:off x="5729414" y="2268330"/>
            <a:ext cx="200660" cy="135255"/>
          </a:xfrm>
          <a:prstGeom prst="rect">
            <a:avLst/>
          </a:prstGeom>
        </p:spPr>
        <p:txBody>
          <a:bodyPr vert="horz" wrap="square" lIns="0" tIns="14604" rIns="0" bIns="0" rtlCol="0">
            <a:spAutoFit/>
          </a:bodyPr>
          <a:lstStyle/>
          <a:p>
            <a:pPr marL="12700">
              <a:lnSpc>
                <a:spcPct val="100000"/>
              </a:lnSpc>
              <a:spcBef>
                <a:spcPts val="114"/>
              </a:spcBef>
            </a:pPr>
            <a:r>
              <a:rPr sz="700" spc="-25" dirty="0">
                <a:solidFill>
                  <a:srgbClr val="FFFFFF"/>
                </a:solidFill>
                <a:latin typeface="Lucida Sans Unicode"/>
                <a:cs typeface="Lucida Sans Unicode"/>
              </a:rPr>
              <a:t>BSD</a:t>
            </a:r>
            <a:endParaRPr sz="700">
              <a:latin typeface="Lucida Sans Unicode"/>
              <a:cs typeface="Lucida Sans Unicode"/>
            </a:endParaRPr>
          </a:p>
        </p:txBody>
      </p:sp>
      <p:sp>
        <p:nvSpPr>
          <p:cNvPr id="23" name="object 23"/>
          <p:cNvSpPr txBox="1"/>
          <p:nvPr/>
        </p:nvSpPr>
        <p:spPr>
          <a:xfrm>
            <a:off x="6011076" y="2563339"/>
            <a:ext cx="144145" cy="109220"/>
          </a:xfrm>
          <a:prstGeom prst="rect">
            <a:avLst/>
          </a:prstGeom>
        </p:spPr>
        <p:txBody>
          <a:bodyPr vert="horz" wrap="square" lIns="0" tIns="20320" rIns="0" bIns="0" rtlCol="0">
            <a:spAutoFit/>
          </a:bodyPr>
          <a:lstStyle/>
          <a:p>
            <a:pPr marL="12700">
              <a:lnSpc>
                <a:spcPct val="100000"/>
              </a:lnSpc>
              <a:spcBef>
                <a:spcPts val="160"/>
              </a:spcBef>
            </a:pPr>
            <a:r>
              <a:rPr sz="450" spc="-25" dirty="0">
                <a:solidFill>
                  <a:srgbClr val="FFFFFF"/>
                </a:solidFill>
                <a:latin typeface="Lucida Sans Unicode"/>
                <a:cs typeface="Lucida Sans Unicode"/>
              </a:rPr>
              <a:t>CPU</a:t>
            </a:r>
            <a:endParaRPr sz="450">
              <a:latin typeface="Lucida Sans Unicode"/>
              <a:cs typeface="Lucida Sans Unicode"/>
            </a:endParaRPr>
          </a:p>
        </p:txBody>
      </p:sp>
      <p:sp>
        <p:nvSpPr>
          <p:cNvPr id="24" name="object 24"/>
          <p:cNvSpPr txBox="1"/>
          <p:nvPr/>
        </p:nvSpPr>
        <p:spPr>
          <a:xfrm>
            <a:off x="5472030" y="2606436"/>
            <a:ext cx="254635" cy="128270"/>
          </a:xfrm>
          <a:prstGeom prst="rect">
            <a:avLst/>
          </a:prstGeom>
        </p:spPr>
        <p:txBody>
          <a:bodyPr vert="vert" wrap="square" lIns="0" tIns="21590" rIns="0" bIns="0" rtlCol="0">
            <a:spAutoFit/>
          </a:bodyPr>
          <a:lstStyle/>
          <a:p>
            <a:pPr marL="12700">
              <a:lnSpc>
                <a:spcPct val="100000"/>
              </a:lnSpc>
              <a:spcBef>
                <a:spcPts val="170"/>
              </a:spcBef>
            </a:pPr>
            <a:r>
              <a:rPr sz="450" spc="-25" dirty="0">
                <a:solidFill>
                  <a:srgbClr val="FFFFFF"/>
                </a:solidFill>
                <a:latin typeface="Lucida Sans Unicode"/>
                <a:cs typeface="Lucida Sans Unicode"/>
              </a:rPr>
              <a:t>NIC</a:t>
            </a:r>
            <a:endParaRPr sz="450">
              <a:latin typeface="Lucida Sans Unicode"/>
              <a:cs typeface="Lucida Sans Unicode"/>
            </a:endParaRPr>
          </a:p>
          <a:p>
            <a:pPr marL="12700">
              <a:lnSpc>
                <a:spcPct val="100000"/>
              </a:lnSpc>
              <a:spcBef>
                <a:spcPts val="600"/>
              </a:spcBef>
            </a:pPr>
            <a:r>
              <a:rPr sz="450" spc="-25" dirty="0">
                <a:solidFill>
                  <a:srgbClr val="FFFFFF"/>
                </a:solidFill>
                <a:latin typeface="Lucida Sans Unicode"/>
                <a:cs typeface="Lucida Sans Unicode"/>
              </a:rPr>
              <a:t>NIC</a:t>
            </a:r>
            <a:endParaRPr sz="450">
              <a:latin typeface="Lucida Sans Unicode"/>
              <a:cs typeface="Lucida Sans Unicode"/>
            </a:endParaRPr>
          </a:p>
        </p:txBody>
      </p:sp>
      <p:sp>
        <p:nvSpPr>
          <p:cNvPr id="25" name="object 25"/>
          <p:cNvSpPr txBox="1"/>
          <p:nvPr/>
        </p:nvSpPr>
        <p:spPr>
          <a:xfrm>
            <a:off x="4380522" y="1885285"/>
            <a:ext cx="718185" cy="307340"/>
          </a:xfrm>
          <a:prstGeom prst="rect">
            <a:avLst/>
          </a:prstGeom>
        </p:spPr>
        <p:txBody>
          <a:bodyPr vert="horz" wrap="square" lIns="0" tIns="11430" rIns="0" bIns="0" rtlCol="0">
            <a:spAutoFit/>
          </a:bodyPr>
          <a:lstStyle/>
          <a:p>
            <a:pPr algn="ctr">
              <a:lnSpc>
                <a:spcPct val="100000"/>
              </a:lnSpc>
              <a:spcBef>
                <a:spcPts val="90"/>
              </a:spcBef>
            </a:pPr>
            <a:r>
              <a:rPr sz="750" spc="-40" dirty="0">
                <a:solidFill>
                  <a:srgbClr val="FFFFFF"/>
                </a:solidFill>
                <a:latin typeface="Lucida Sans Unicode"/>
                <a:cs typeface="Lucida Sans Unicode"/>
              </a:rPr>
              <a:t>Linux</a:t>
            </a:r>
            <a:r>
              <a:rPr sz="750" spc="-10" dirty="0">
                <a:solidFill>
                  <a:srgbClr val="FFFFFF"/>
                </a:solidFill>
                <a:latin typeface="Lucida Sans Unicode"/>
                <a:cs typeface="Lucida Sans Unicode"/>
              </a:rPr>
              <a:t> Container</a:t>
            </a:r>
            <a:endParaRPr sz="750">
              <a:latin typeface="Lucida Sans Unicode"/>
              <a:cs typeface="Lucida Sans Unicode"/>
            </a:endParaRPr>
          </a:p>
          <a:p>
            <a:pPr marL="10795" algn="ctr">
              <a:lnSpc>
                <a:spcPct val="100000"/>
              </a:lnSpc>
              <a:spcBef>
                <a:spcPts val="844"/>
              </a:spcBef>
            </a:pPr>
            <a:r>
              <a:rPr sz="400" spc="-10" dirty="0">
                <a:solidFill>
                  <a:srgbClr val="FFFFFF"/>
                </a:solidFill>
                <a:latin typeface="Lucida Sans Unicode"/>
                <a:cs typeface="Lucida Sans Unicode"/>
              </a:rPr>
              <a:t>Webserver</a:t>
            </a:r>
            <a:endParaRPr sz="400">
              <a:latin typeface="Lucida Sans Unicode"/>
              <a:cs typeface="Lucida Sans Unicode"/>
            </a:endParaRPr>
          </a:p>
        </p:txBody>
      </p:sp>
      <p:sp>
        <p:nvSpPr>
          <p:cNvPr id="26" name="object 26"/>
          <p:cNvSpPr txBox="1"/>
          <p:nvPr/>
        </p:nvSpPr>
        <p:spPr>
          <a:xfrm>
            <a:off x="3721899" y="2990541"/>
            <a:ext cx="835660" cy="199390"/>
          </a:xfrm>
          <a:prstGeom prst="rect">
            <a:avLst/>
          </a:prstGeom>
        </p:spPr>
        <p:txBody>
          <a:bodyPr vert="horz" wrap="square" lIns="0" tIns="11430" rIns="0" bIns="0" rtlCol="0">
            <a:spAutoFit/>
          </a:bodyPr>
          <a:lstStyle/>
          <a:p>
            <a:pPr marL="12700">
              <a:lnSpc>
                <a:spcPct val="100000"/>
              </a:lnSpc>
              <a:spcBef>
                <a:spcPts val="90"/>
              </a:spcBef>
            </a:pPr>
            <a:r>
              <a:rPr sz="1150" spc="-45" dirty="0">
                <a:solidFill>
                  <a:srgbClr val="FFFFFF"/>
                </a:solidFill>
                <a:latin typeface="Lucida Sans Unicode"/>
                <a:cs typeface="Lucida Sans Unicode"/>
              </a:rPr>
              <a:t>Proxmox</a:t>
            </a:r>
            <a:r>
              <a:rPr sz="1150" spc="-40" dirty="0">
                <a:solidFill>
                  <a:srgbClr val="FFFFFF"/>
                </a:solidFill>
                <a:latin typeface="Lucida Sans Unicode"/>
                <a:cs typeface="Lucida Sans Unicode"/>
              </a:rPr>
              <a:t> </a:t>
            </a:r>
            <a:r>
              <a:rPr sz="1150" spc="-35" dirty="0">
                <a:solidFill>
                  <a:srgbClr val="FFFFFF"/>
                </a:solidFill>
                <a:latin typeface="Lucida Sans Unicode"/>
                <a:cs typeface="Lucida Sans Unicode"/>
              </a:rPr>
              <a:t>VE</a:t>
            </a:r>
            <a:endParaRPr sz="1150">
              <a:latin typeface="Lucida Sans Unicode"/>
              <a:cs typeface="Lucida Sans Unicode"/>
            </a:endParaRPr>
          </a:p>
        </p:txBody>
      </p:sp>
      <p:sp>
        <p:nvSpPr>
          <p:cNvPr id="27" name="object 27"/>
          <p:cNvSpPr txBox="1"/>
          <p:nvPr/>
        </p:nvSpPr>
        <p:spPr>
          <a:xfrm>
            <a:off x="3529020" y="3900033"/>
            <a:ext cx="193675" cy="229870"/>
          </a:xfrm>
          <a:prstGeom prst="rect">
            <a:avLst/>
          </a:prstGeom>
        </p:spPr>
        <p:txBody>
          <a:bodyPr vert="vert" wrap="square" lIns="0" tIns="24130" rIns="0" bIns="0" rtlCol="0">
            <a:spAutoFit/>
          </a:bodyPr>
          <a:lstStyle/>
          <a:p>
            <a:pPr marL="12700">
              <a:lnSpc>
                <a:spcPct val="100000"/>
              </a:lnSpc>
              <a:spcBef>
                <a:spcPts val="190"/>
              </a:spcBef>
            </a:pPr>
            <a:r>
              <a:rPr sz="950" spc="-25" dirty="0">
                <a:solidFill>
                  <a:srgbClr val="FFFFFF"/>
                </a:solidFill>
                <a:latin typeface="Lucida Sans Unicode"/>
                <a:cs typeface="Lucida Sans Unicode"/>
              </a:rPr>
              <a:t>NIC</a:t>
            </a:r>
            <a:endParaRPr sz="950">
              <a:latin typeface="Lucida Sans Unicode"/>
              <a:cs typeface="Lucida Sans Unicode"/>
            </a:endParaRPr>
          </a:p>
        </p:txBody>
      </p:sp>
      <p:sp>
        <p:nvSpPr>
          <p:cNvPr id="28" name="object 28"/>
          <p:cNvSpPr txBox="1"/>
          <p:nvPr/>
        </p:nvSpPr>
        <p:spPr>
          <a:xfrm>
            <a:off x="2690681" y="3900033"/>
            <a:ext cx="753110" cy="229870"/>
          </a:xfrm>
          <a:prstGeom prst="rect">
            <a:avLst/>
          </a:prstGeom>
        </p:spPr>
        <p:txBody>
          <a:bodyPr vert="vert" wrap="square" lIns="0" tIns="24130" rIns="0" bIns="0" rtlCol="0">
            <a:spAutoFit/>
          </a:bodyPr>
          <a:lstStyle/>
          <a:p>
            <a:pPr marL="12700">
              <a:lnSpc>
                <a:spcPct val="100000"/>
              </a:lnSpc>
              <a:spcBef>
                <a:spcPts val="190"/>
              </a:spcBef>
            </a:pPr>
            <a:r>
              <a:rPr sz="950" spc="-25" dirty="0">
                <a:solidFill>
                  <a:srgbClr val="FFFFFF"/>
                </a:solidFill>
                <a:latin typeface="Lucida Sans Unicode"/>
                <a:cs typeface="Lucida Sans Unicode"/>
              </a:rPr>
              <a:t>NIC</a:t>
            </a:r>
            <a:endParaRPr sz="950">
              <a:latin typeface="Lucida Sans Unicode"/>
              <a:cs typeface="Lucida Sans Unicode"/>
            </a:endParaRPr>
          </a:p>
          <a:p>
            <a:pPr marL="12700" marR="5080">
              <a:lnSpc>
                <a:spcPct val="193000"/>
              </a:lnSpc>
            </a:pPr>
            <a:r>
              <a:rPr sz="950" spc="-30" dirty="0">
                <a:solidFill>
                  <a:srgbClr val="FFFFFF"/>
                </a:solidFill>
                <a:latin typeface="Lucida Sans Unicode"/>
                <a:cs typeface="Lucida Sans Unicode"/>
              </a:rPr>
              <a:t>NIC NIC</a:t>
            </a:r>
            <a:endParaRPr sz="950">
              <a:latin typeface="Lucida Sans Unicode"/>
              <a:cs typeface="Lucida Sans Unicode"/>
            </a:endParaRPr>
          </a:p>
        </p:txBody>
      </p:sp>
      <p:sp>
        <p:nvSpPr>
          <p:cNvPr id="29" name="object 29"/>
          <p:cNvSpPr txBox="1"/>
          <p:nvPr/>
        </p:nvSpPr>
        <p:spPr>
          <a:xfrm>
            <a:off x="5490679" y="3882665"/>
            <a:ext cx="146050" cy="208915"/>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FFFFF"/>
                </a:solidFill>
                <a:latin typeface="Lucida Sans Unicode"/>
                <a:cs typeface="Lucida Sans Unicode"/>
              </a:rPr>
              <a:t>...</a:t>
            </a:r>
            <a:endParaRPr sz="1200">
              <a:latin typeface="Lucida Sans Unicode"/>
              <a:cs typeface="Lucida Sans Unicod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Guests</a:t>
            </a:r>
            <a:r>
              <a:rPr spc="-335" dirty="0"/>
              <a:t> </a:t>
            </a:r>
            <a:r>
              <a:rPr dirty="0"/>
              <a:t>in</a:t>
            </a:r>
            <a:r>
              <a:rPr spc="-330" dirty="0"/>
              <a:t> </a:t>
            </a:r>
            <a:r>
              <a:rPr spc="75" dirty="0"/>
              <a:t>Virtual</a:t>
            </a:r>
            <a:r>
              <a:rPr spc="-335" dirty="0"/>
              <a:t> </a:t>
            </a:r>
            <a:r>
              <a:rPr spc="100" dirty="0"/>
              <a:t>Network</a:t>
            </a:r>
            <a:r>
              <a:rPr spc="-330" dirty="0"/>
              <a:t> </a:t>
            </a:r>
            <a:r>
              <a:rPr dirty="0"/>
              <a:t>behind</a:t>
            </a:r>
            <a:r>
              <a:rPr spc="-330" dirty="0"/>
              <a:t> </a:t>
            </a:r>
            <a:r>
              <a:rPr spc="-10" dirty="0"/>
              <a:t>Router</a:t>
            </a:r>
          </a:p>
        </p:txBody>
      </p:sp>
      <p:sp>
        <p:nvSpPr>
          <p:cNvPr id="3" name="object 3"/>
          <p:cNvSpPr/>
          <p:nvPr/>
        </p:nvSpPr>
        <p:spPr>
          <a:xfrm>
            <a:off x="1080363" y="1261093"/>
            <a:ext cx="2372360" cy="3073400"/>
          </a:xfrm>
          <a:custGeom>
            <a:avLst/>
            <a:gdLst/>
            <a:ahLst/>
            <a:cxnLst/>
            <a:rect l="l" t="t" r="r" b="b"/>
            <a:pathLst>
              <a:path w="2372360" h="3073400">
                <a:moveTo>
                  <a:pt x="2111756" y="0"/>
                </a:moveTo>
                <a:lnTo>
                  <a:pt x="259918" y="0"/>
                </a:lnTo>
                <a:lnTo>
                  <a:pt x="213174" y="4184"/>
                </a:lnTo>
                <a:lnTo>
                  <a:pt x="169188" y="16250"/>
                </a:lnTo>
                <a:lnTo>
                  <a:pt x="128693" y="35466"/>
                </a:lnTo>
                <a:lnTo>
                  <a:pt x="92419" y="61100"/>
                </a:lnTo>
                <a:lnTo>
                  <a:pt x="61100" y="92419"/>
                </a:lnTo>
                <a:lnTo>
                  <a:pt x="35466" y="128693"/>
                </a:lnTo>
                <a:lnTo>
                  <a:pt x="16250" y="169188"/>
                </a:lnTo>
                <a:lnTo>
                  <a:pt x="4184" y="213174"/>
                </a:lnTo>
                <a:lnTo>
                  <a:pt x="0" y="259918"/>
                </a:lnTo>
                <a:lnTo>
                  <a:pt x="0" y="2813037"/>
                </a:lnTo>
                <a:lnTo>
                  <a:pt x="4184" y="2859781"/>
                </a:lnTo>
                <a:lnTo>
                  <a:pt x="16250" y="2903766"/>
                </a:lnTo>
                <a:lnTo>
                  <a:pt x="35466" y="2944262"/>
                </a:lnTo>
                <a:lnTo>
                  <a:pt x="61100" y="2980535"/>
                </a:lnTo>
                <a:lnTo>
                  <a:pt x="92419" y="3011855"/>
                </a:lnTo>
                <a:lnTo>
                  <a:pt x="128693" y="3037488"/>
                </a:lnTo>
                <a:lnTo>
                  <a:pt x="169188" y="3056704"/>
                </a:lnTo>
                <a:lnTo>
                  <a:pt x="213174" y="3068770"/>
                </a:lnTo>
                <a:lnTo>
                  <a:pt x="259918" y="3072955"/>
                </a:lnTo>
                <a:lnTo>
                  <a:pt x="1185837" y="3072955"/>
                </a:lnTo>
                <a:lnTo>
                  <a:pt x="2111756" y="3072955"/>
                </a:lnTo>
                <a:lnTo>
                  <a:pt x="2158512" y="3068770"/>
                </a:lnTo>
                <a:lnTo>
                  <a:pt x="2202531" y="3056704"/>
                </a:lnTo>
                <a:lnTo>
                  <a:pt x="2243076" y="3037488"/>
                </a:lnTo>
                <a:lnTo>
                  <a:pt x="2279407" y="3011855"/>
                </a:lnTo>
                <a:lnTo>
                  <a:pt x="2310788" y="2980535"/>
                </a:lnTo>
                <a:lnTo>
                  <a:pt x="2336480" y="2944262"/>
                </a:lnTo>
                <a:lnTo>
                  <a:pt x="2355745" y="2903766"/>
                </a:lnTo>
                <a:lnTo>
                  <a:pt x="2367845" y="2859781"/>
                </a:lnTo>
                <a:lnTo>
                  <a:pt x="2372042" y="2813037"/>
                </a:lnTo>
                <a:lnTo>
                  <a:pt x="2372042" y="259918"/>
                </a:lnTo>
                <a:lnTo>
                  <a:pt x="2367845" y="213174"/>
                </a:lnTo>
                <a:lnTo>
                  <a:pt x="2355745" y="169188"/>
                </a:lnTo>
                <a:lnTo>
                  <a:pt x="2336480" y="128693"/>
                </a:lnTo>
                <a:lnTo>
                  <a:pt x="2310788" y="92419"/>
                </a:lnTo>
                <a:lnTo>
                  <a:pt x="2279407" y="61100"/>
                </a:lnTo>
                <a:lnTo>
                  <a:pt x="2243076" y="35466"/>
                </a:lnTo>
                <a:lnTo>
                  <a:pt x="2202531" y="16250"/>
                </a:lnTo>
                <a:lnTo>
                  <a:pt x="2158512" y="4184"/>
                </a:lnTo>
                <a:lnTo>
                  <a:pt x="2111756" y="0"/>
                </a:lnTo>
                <a:close/>
              </a:path>
            </a:pathLst>
          </a:custGeom>
          <a:solidFill>
            <a:srgbClr val="00607E"/>
          </a:solidFill>
        </p:spPr>
        <p:txBody>
          <a:bodyPr wrap="square" lIns="0" tIns="0" rIns="0" bIns="0" rtlCol="0"/>
          <a:lstStyle/>
          <a:p>
            <a:endParaRPr/>
          </a:p>
        </p:txBody>
      </p:sp>
      <p:sp>
        <p:nvSpPr>
          <p:cNvPr id="4" name="object 4"/>
          <p:cNvSpPr txBox="1"/>
          <p:nvPr/>
        </p:nvSpPr>
        <p:spPr>
          <a:xfrm>
            <a:off x="1330731" y="1451593"/>
            <a:ext cx="1862455" cy="274320"/>
          </a:xfrm>
          <a:prstGeom prst="rect">
            <a:avLst/>
          </a:prstGeom>
        </p:spPr>
        <p:txBody>
          <a:bodyPr vert="horz" wrap="square" lIns="0" tIns="16510" rIns="0" bIns="0" rtlCol="0">
            <a:spAutoFit/>
          </a:bodyPr>
          <a:lstStyle/>
          <a:p>
            <a:pPr marL="12700">
              <a:lnSpc>
                <a:spcPct val="100000"/>
              </a:lnSpc>
              <a:spcBef>
                <a:spcPts val="130"/>
              </a:spcBef>
            </a:pPr>
            <a:r>
              <a:rPr sz="1600" spc="-20" dirty="0">
                <a:solidFill>
                  <a:srgbClr val="FFFFFF"/>
                </a:solidFill>
                <a:latin typeface="Lucida Sans Unicode"/>
                <a:cs typeface="Lucida Sans Unicode"/>
              </a:rPr>
              <a:t>Default</a:t>
            </a:r>
            <a:r>
              <a:rPr sz="1600" spc="-95" dirty="0">
                <a:solidFill>
                  <a:srgbClr val="FFFFFF"/>
                </a:solidFill>
                <a:latin typeface="Lucida Sans Unicode"/>
                <a:cs typeface="Lucida Sans Unicode"/>
              </a:rPr>
              <a:t> </a:t>
            </a:r>
            <a:r>
              <a:rPr sz="1600" spc="-10" dirty="0">
                <a:solidFill>
                  <a:srgbClr val="FFFFFF"/>
                </a:solidFill>
                <a:latin typeface="Lucida Sans Unicode"/>
                <a:cs typeface="Lucida Sans Unicode"/>
              </a:rPr>
              <a:t>base</a:t>
            </a:r>
            <a:r>
              <a:rPr sz="1600" spc="-95" dirty="0">
                <a:solidFill>
                  <a:srgbClr val="FFFFFF"/>
                </a:solidFill>
                <a:latin typeface="Lucida Sans Unicode"/>
                <a:cs typeface="Lucida Sans Unicode"/>
              </a:rPr>
              <a:t> </a:t>
            </a:r>
            <a:r>
              <a:rPr sz="1600" spc="-10" dirty="0">
                <a:solidFill>
                  <a:srgbClr val="FFFFFF"/>
                </a:solidFill>
                <a:latin typeface="Lucida Sans Unicode"/>
                <a:cs typeface="Lucida Sans Unicode"/>
              </a:rPr>
              <a:t>install</a:t>
            </a:r>
            <a:endParaRPr sz="1600">
              <a:latin typeface="Lucida Sans Unicode"/>
              <a:cs typeface="Lucida Sans Unicode"/>
            </a:endParaRPr>
          </a:p>
        </p:txBody>
      </p:sp>
      <p:grpSp>
        <p:nvGrpSpPr>
          <p:cNvPr id="5" name="object 5"/>
          <p:cNvGrpSpPr/>
          <p:nvPr/>
        </p:nvGrpSpPr>
        <p:grpSpPr>
          <a:xfrm>
            <a:off x="1574279" y="2213085"/>
            <a:ext cx="675640" cy="1245870"/>
            <a:chOff x="1574279" y="2213085"/>
            <a:chExt cx="675640" cy="1245870"/>
          </a:xfrm>
        </p:grpSpPr>
        <p:sp>
          <p:nvSpPr>
            <p:cNvPr id="6" name="object 6"/>
            <p:cNvSpPr/>
            <p:nvPr/>
          </p:nvSpPr>
          <p:spPr>
            <a:xfrm>
              <a:off x="1724037" y="2222292"/>
              <a:ext cx="516890" cy="683895"/>
            </a:xfrm>
            <a:custGeom>
              <a:avLst/>
              <a:gdLst/>
              <a:ahLst/>
              <a:cxnLst/>
              <a:rect l="l" t="t" r="r" b="b"/>
              <a:pathLst>
                <a:path w="516889" h="683894">
                  <a:moveTo>
                    <a:pt x="0" y="0"/>
                  </a:moveTo>
                  <a:lnTo>
                    <a:pt x="0" y="295910"/>
                  </a:lnTo>
                </a:path>
                <a:path w="516889" h="683894">
                  <a:moveTo>
                    <a:pt x="0" y="387718"/>
                  </a:moveTo>
                  <a:lnTo>
                    <a:pt x="0" y="683641"/>
                  </a:lnTo>
                </a:path>
                <a:path w="516889" h="683894">
                  <a:moveTo>
                    <a:pt x="516597" y="17272"/>
                  </a:moveTo>
                  <a:lnTo>
                    <a:pt x="321843" y="283679"/>
                  </a:lnTo>
                </a:path>
              </a:pathLst>
            </a:custGeom>
            <a:ln w="18191">
              <a:solidFill>
                <a:srgbClr val="FFFFFF"/>
              </a:solidFill>
            </a:ln>
          </p:spPr>
          <p:txBody>
            <a:bodyPr wrap="square" lIns="0" tIns="0" rIns="0" bIns="0" rtlCol="0"/>
            <a:lstStyle/>
            <a:p>
              <a:endParaRPr/>
            </a:p>
          </p:txBody>
        </p:sp>
        <p:sp>
          <p:nvSpPr>
            <p:cNvPr id="7" name="object 7"/>
            <p:cNvSpPr/>
            <p:nvPr/>
          </p:nvSpPr>
          <p:spPr>
            <a:xfrm>
              <a:off x="1574279" y="2893691"/>
              <a:ext cx="330200" cy="565785"/>
            </a:xfrm>
            <a:custGeom>
              <a:avLst/>
              <a:gdLst/>
              <a:ahLst/>
              <a:cxnLst/>
              <a:rect l="l" t="t" r="r" b="b"/>
              <a:pathLst>
                <a:path w="330200" h="565785">
                  <a:moveTo>
                    <a:pt x="284035" y="0"/>
                  </a:moveTo>
                  <a:lnTo>
                    <a:pt x="45719" y="0"/>
                  </a:lnTo>
                  <a:lnTo>
                    <a:pt x="27946" y="3600"/>
                  </a:lnTo>
                  <a:lnTo>
                    <a:pt x="13411" y="13411"/>
                  </a:lnTo>
                  <a:lnTo>
                    <a:pt x="3600" y="27946"/>
                  </a:lnTo>
                  <a:lnTo>
                    <a:pt x="0" y="45719"/>
                  </a:lnTo>
                  <a:lnTo>
                    <a:pt x="0" y="519480"/>
                  </a:lnTo>
                  <a:lnTo>
                    <a:pt x="3600" y="537254"/>
                  </a:lnTo>
                  <a:lnTo>
                    <a:pt x="13411" y="551789"/>
                  </a:lnTo>
                  <a:lnTo>
                    <a:pt x="27946" y="561600"/>
                  </a:lnTo>
                  <a:lnTo>
                    <a:pt x="45719" y="565200"/>
                  </a:lnTo>
                  <a:lnTo>
                    <a:pt x="284035" y="565200"/>
                  </a:lnTo>
                  <a:lnTo>
                    <a:pt x="301814" y="561600"/>
                  </a:lnTo>
                  <a:lnTo>
                    <a:pt x="316349" y="551789"/>
                  </a:lnTo>
                  <a:lnTo>
                    <a:pt x="326156" y="537254"/>
                  </a:lnTo>
                  <a:lnTo>
                    <a:pt x="329755" y="519480"/>
                  </a:lnTo>
                  <a:lnTo>
                    <a:pt x="329755" y="282600"/>
                  </a:lnTo>
                  <a:lnTo>
                    <a:pt x="329755" y="45719"/>
                  </a:lnTo>
                  <a:lnTo>
                    <a:pt x="326156" y="27946"/>
                  </a:lnTo>
                  <a:lnTo>
                    <a:pt x="316349" y="13411"/>
                  </a:lnTo>
                  <a:lnTo>
                    <a:pt x="301814" y="3600"/>
                  </a:lnTo>
                  <a:lnTo>
                    <a:pt x="284035" y="0"/>
                  </a:lnTo>
                  <a:close/>
                </a:path>
              </a:pathLst>
            </a:custGeom>
            <a:solidFill>
              <a:srgbClr val="FF9000"/>
            </a:solidFill>
          </p:spPr>
          <p:txBody>
            <a:bodyPr wrap="square" lIns="0" tIns="0" rIns="0" bIns="0" rtlCol="0"/>
            <a:lstStyle/>
            <a:p>
              <a:endParaRPr/>
            </a:p>
          </p:txBody>
        </p:sp>
        <p:sp>
          <p:nvSpPr>
            <p:cNvPr id="8" name="object 8"/>
            <p:cNvSpPr/>
            <p:nvPr/>
          </p:nvSpPr>
          <p:spPr>
            <a:xfrm>
              <a:off x="1653844" y="3093487"/>
              <a:ext cx="168910" cy="294005"/>
            </a:xfrm>
            <a:custGeom>
              <a:avLst/>
              <a:gdLst/>
              <a:ahLst/>
              <a:cxnLst/>
              <a:rect l="l" t="t" r="r" b="b"/>
              <a:pathLst>
                <a:path w="168910" h="294004">
                  <a:moveTo>
                    <a:pt x="84239" y="293395"/>
                  </a:moveTo>
                  <a:lnTo>
                    <a:pt x="0" y="293395"/>
                  </a:lnTo>
                  <a:lnTo>
                    <a:pt x="0" y="0"/>
                  </a:lnTo>
                  <a:lnTo>
                    <a:pt x="168833" y="0"/>
                  </a:lnTo>
                  <a:lnTo>
                    <a:pt x="168833" y="293395"/>
                  </a:lnTo>
                  <a:lnTo>
                    <a:pt x="84239" y="293395"/>
                  </a:lnTo>
                  <a:close/>
                </a:path>
              </a:pathLst>
            </a:custGeom>
            <a:ln w="14527">
              <a:solidFill>
                <a:srgbClr val="FFFFFF"/>
              </a:solidFill>
            </a:ln>
          </p:spPr>
          <p:txBody>
            <a:bodyPr wrap="square" lIns="0" tIns="0" rIns="0" bIns="0" rtlCol="0"/>
            <a:lstStyle/>
            <a:p>
              <a:endParaRPr/>
            </a:p>
          </p:txBody>
        </p:sp>
        <p:sp>
          <p:nvSpPr>
            <p:cNvPr id="9" name="object 9"/>
            <p:cNvSpPr/>
            <p:nvPr/>
          </p:nvSpPr>
          <p:spPr>
            <a:xfrm>
              <a:off x="1700644" y="3137404"/>
              <a:ext cx="76835" cy="85725"/>
            </a:xfrm>
            <a:custGeom>
              <a:avLst/>
              <a:gdLst/>
              <a:ahLst/>
              <a:cxnLst/>
              <a:rect l="l" t="t" r="r" b="b"/>
              <a:pathLst>
                <a:path w="76835" h="85725">
                  <a:moveTo>
                    <a:pt x="38150" y="85318"/>
                  </a:moveTo>
                  <a:lnTo>
                    <a:pt x="0" y="85318"/>
                  </a:lnTo>
                  <a:lnTo>
                    <a:pt x="0" y="0"/>
                  </a:lnTo>
                  <a:lnTo>
                    <a:pt x="76669" y="0"/>
                  </a:lnTo>
                  <a:lnTo>
                    <a:pt x="76669" y="85318"/>
                  </a:lnTo>
                  <a:lnTo>
                    <a:pt x="38150" y="85318"/>
                  </a:lnTo>
                  <a:close/>
                </a:path>
              </a:pathLst>
            </a:custGeom>
            <a:ln w="12404">
              <a:solidFill>
                <a:srgbClr val="FFFFFF"/>
              </a:solidFill>
            </a:ln>
          </p:spPr>
          <p:txBody>
            <a:bodyPr wrap="square" lIns="0" tIns="0" rIns="0" bIns="0" rtlCol="0"/>
            <a:lstStyle/>
            <a:p>
              <a:endParaRPr/>
            </a:p>
          </p:txBody>
        </p:sp>
      </p:grpSp>
      <p:sp>
        <p:nvSpPr>
          <p:cNvPr id="10" name="object 10"/>
          <p:cNvSpPr txBox="1"/>
          <p:nvPr/>
        </p:nvSpPr>
        <p:spPr>
          <a:xfrm>
            <a:off x="1605076" y="2906937"/>
            <a:ext cx="283210" cy="164465"/>
          </a:xfrm>
          <a:prstGeom prst="rect">
            <a:avLst/>
          </a:prstGeom>
        </p:spPr>
        <p:txBody>
          <a:bodyPr vert="horz" wrap="square" lIns="0" tIns="13970" rIns="0" bIns="0" rtlCol="0">
            <a:spAutoFit/>
          </a:bodyPr>
          <a:lstStyle/>
          <a:p>
            <a:pPr marL="12700">
              <a:lnSpc>
                <a:spcPct val="100000"/>
              </a:lnSpc>
              <a:spcBef>
                <a:spcPts val="110"/>
              </a:spcBef>
            </a:pPr>
            <a:r>
              <a:rPr sz="900" spc="-20" dirty="0">
                <a:solidFill>
                  <a:srgbClr val="FFFFFF"/>
                </a:solidFill>
                <a:latin typeface="Lucida Sans Unicode"/>
                <a:cs typeface="Lucida Sans Unicode"/>
              </a:rPr>
              <a:t>NIC1</a:t>
            </a:r>
            <a:endParaRPr sz="900">
              <a:latin typeface="Lucida Sans Unicode"/>
              <a:cs typeface="Lucida Sans Unicode"/>
            </a:endParaRPr>
          </a:p>
        </p:txBody>
      </p:sp>
      <p:grpSp>
        <p:nvGrpSpPr>
          <p:cNvPr id="11" name="object 11"/>
          <p:cNvGrpSpPr/>
          <p:nvPr/>
        </p:nvGrpSpPr>
        <p:grpSpPr>
          <a:xfrm>
            <a:off x="2000885" y="2893691"/>
            <a:ext cx="330200" cy="565785"/>
            <a:chOff x="2000885" y="2893691"/>
            <a:chExt cx="330200" cy="565785"/>
          </a:xfrm>
        </p:grpSpPr>
        <p:sp>
          <p:nvSpPr>
            <p:cNvPr id="12" name="object 12"/>
            <p:cNvSpPr/>
            <p:nvPr/>
          </p:nvSpPr>
          <p:spPr>
            <a:xfrm>
              <a:off x="2000885" y="2893691"/>
              <a:ext cx="330200" cy="565785"/>
            </a:xfrm>
            <a:custGeom>
              <a:avLst/>
              <a:gdLst/>
              <a:ahLst/>
              <a:cxnLst/>
              <a:rect l="l" t="t" r="r" b="b"/>
              <a:pathLst>
                <a:path w="330200" h="565785">
                  <a:moveTo>
                    <a:pt x="284035" y="0"/>
                  </a:moveTo>
                  <a:lnTo>
                    <a:pt x="45719" y="0"/>
                  </a:lnTo>
                  <a:lnTo>
                    <a:pt x="27940" y="3600"/>
                  </a:lnTo>
                  <a:lnTo>
                    <a:pt x="13406" y="13411"/>
                  </a:lnTo>
                  <a:lnTo>
                    <a:pt x="3598" y="27946"/>
                  </a:lnTo>
                  <a:lnTo>
                    <a:pt x="0" y="45719"/>
                  </a:lnTo>
                  <a:lnTo>
                    <a:pt x="0" y="519480"/>
                  </a:lnTo>
                  <a:lnTo>
                    <a:pt x="3598" y="537254"/>
                  </a:lnTo>
                  <a:lnTo>
                    <a:pt x="13406" y="551789"/>
                  </a:lnTo>
                  <a:lnTo>
                    <a:pt x="27940" y="561600"/>
                  </a:lnTo>
                  <a:lnTo>
                    <a:pt x="45719" y="565200"/>
                  </a:lnTo>
                  <a:lnTo>
                    <a:pt x="284035" y="565200"/>
                  </a:lnTo>
                  <a:lnTo>
                    <a:pt x="301809" y="561600"/>
                  </a:lnTo>
                  <a:lnTo>
                    <a:pt x="316344" y="551789"/>
                  </a:lnTo>
                  <a:lnTo>
                    <a:pt x="326155" y="537254"/>
                  </a:lnTo>
                  <a:lnTo>
                    <a:pt x="329755" y="519480"/>
                  </a:lnTo>
                  <a:lnTo>
                    <a:pt x="329755" y="282600"/>
                  </a:lnTo>
                  <a:lnTo>
                    <a:pt x="329755" y="45719"/>
                  </a:lnTo>
                  <a:lnTo>
                    <a:pt x="326155" y="27946"/>
                  </a:lnTo>
                  <a:lnTo>
                    <a:pt x="316344" y="13411"/>
                  </a:lnTo>
                  <a:lnTo>
                    <a:pt x="301809" y="3600"/>
                  </a:lnTo>
                  <a:lnTo>
                    <a:pt x="284035" y="0"/>
                  </a:lnTo>
                  <a:close/>
                </a:path>
              </a:pathLst>
            </a:custGeom>
            <a:solidFill>
              <a:srgbClr val="FF9000"/>
            </a:solidFill>
          </p:spPr>
          <p:txBody>
            <a:bodyPr wrap="square" lIns="0" tIns="0" rIns="0" bIns="0" rtlCol="0"/>
            <a:lstStyle/>
            <a:p>
              <a:endParaRPr/>
            </a:p>
          </p:txBody>
        </p:sp>
        <p:sp>
          <p:nvSpPr>
            <p:cNvPr id="13" name="object 13"/>
            <p:cNvSpPr/>
            <p:nvPr/>
          </p:nvSpPr>
          <p:spPr>
            <a:xfrm>
              <a:off x="2081161" y="3090604"/>
              <a:ext cx="168910" cy="294005"/>
            </a:xfrm>
            <a:custGeom>
              <a:avLst/>
              <a:gdLst/>
              <a:ahLst/>
              <a:cxnLst/>
              <a:rect l="l" t="t" r="r" b="b"/>
              <a:pathLst>
                <a:path w="168910" h="294004">
                  <a:moveTo>
                    <a:pt x="84594" y="293763"/>
                  </a:moveTo>
                  <a:lnTo>
                    <a:pt x="0" y="293763"/>
                  </a:lnTo>
                  <a:lnTo>
                    <a:pt x="0" y="0"/>
                  </a:lnTo>
                  <a:lnTo>
                    <a:pt x="168833" y="0"/>
                  </a:lnTo>
                  <a:lnTo>
                    <a:pt x="168833" y="293763"/>
                  </a:lnTo>
                  <a:lnTo>
                    <a:pt x="84594" y="293763"/>
                  </a:lnTo>
                  <a:close/>
                </a:path>
              </a:pathLst>
            </a:custGeom>
            <a:ln w="14520">
              <a:solidFill>
                <a:srgbClr val="FFFFFF"/>
              </a:solidFill>
            </a:ln>
          </p:spPr>
          <p:txBody>
            <a:bodyPr wrap="square" lIns="0" tIns="0" rIns="0" bIns="0" rtlCol="0"/>
            <a:lstStyle/>
            <a:p>
              <a:endParaRPr/>
            </a:p>
          </p:txBody>
        </p:sp>
        <p:sp>
          <p:nvSpPr>
            <p:cNvPr id="14" name="object 14"/>
            <p:cNvSpPr/>
            <p:nvPr/>
          </p:nvSpPr>
          <p:spPr>
            <a:xfrm>
              <a:off x="2127605" y="3134165"/>
              <a:ext cx="76835" cy="85090"/>
            </a:xfrm>
            <a:custGeom>
              <a:avLst/>
              <a:gdLst/>
              <a:ahLst/>
              <a:cxnLst/>
              <a:rect l="l" t="t" r="r" b="b"/>
              <a:pathLst>
                <a:path w="76835" h="85089">
                  <a:moveTo>
                    <a:pt x="38519" y="84962"/>
                  </a:moveTo>
                  <a:lnTo>
                    <a:pt x="0" y="84962"/>
                  </a:lnTo>
                  <a:lnTo>
                    <a:pt x="0" y="0"/>
                  </a:lnTo>
                  <a:lnTo>
                    <a:pt x="76669" y="0"/>
                  </a:lnTo>
                  <a:lnTo>
                    <a:pt x="76669" y="84962"/>
                  </a:lnTo>
                  <a:lnTo>
                    <a:pt x="38519" y="84962"/>
                  </a:lnTo>
                  <a:close/>
                </a:path>
              </a:pathLst>
            </a:custGeom>
            <a:ln w="12395">
              <a:solidFill>
                <a:srgbClr val="FFFFFF"/>
              </a:solidFill>
            </a:ln>
          </p:spPr>
          <p:txBody>
            <a:bodyPr wrap="square" lIns="0" tIns="0" rIns="0" bIns="0" rtlCol="0"/>
            <a:lstStyle/>
            <a:p>
              <a:endParaRPr/>
            </a:p>
          </p:txBody>
        </p:sp>
      </p:grpSp>
      <p:sp>
        <p:nvSpPr>
          <p:cNvPr id="15" name="object 15"/>
          <p:cNvSpPr txBox="1"/>
          <p:nvPr/>
        </p:nvSpPr>
        <p:spPr>
          <a:xfrm>
            <a:off x="2021928" y="2906937"/>
            <a:ext cx="283210" cy="164465"/>
          </a:xfrm>
          <a:prstGeom prst="rect">
            <a:avLst/>
          </a:prstGeom>
        </p:spPr>
        <p:txBody>
          <a:bodyPr vert="horz" wrap="square" lIns="0" tIns="13970" rIns="0" bIns="0" rtlCol="0">
            <a:spAutoFit/>
          </a:bodyPr>
          <a:lstStyle/>
          <a:p>
            <a:pPr marL="12700">
              <a:lnSpc>
                <a:spcPct val="100000"/>
              </a:lnSpc>
              <a:spcBef>
                <a:spcPts val="110"/>
              </a:spcBef>
            </a:pPr>
            <a:r>
              <a:rPr sz="900" spc="-20" dirty="0">
                <a:solidFill>
                  <a:srgbClr val="FFFFFF"/>
                </a:solidFill>
                <a:latin typeface="Lucida Sans Unicode"/>
                <a:cs typeface="Lucida Sans Unicode"/>
              </a:rPr>
              <a:t>NIC2</a:t>
            </a:r>
            <a:endParaRPr sz="900">
              <a:latin typeface="Lucida Sans Unicode"/>
              <a:cs typeface="Lucida Sans Unicode"/>
            </a:endParaRPr>
          </a:p>
        </p:txBody>
      </p:sp>
      <p:grpSp>
        <p:nvGrpSpPr>
          <p:cNvPr id="16" name="object 16"/>
          <p:cNvGrpSpPr/>
          <p:nvPr/>
        </p:nvGrpSpPr>
        <p:grpSpPr>
          <a:xfrm>
            <a:off x="1490395" y="2201566"/>
            <a:ext cx="1327150" cy="468630"/>
            <a:chOff x="1490395" y="2201566"/>
            <a:chExt cx="1327150" cy="468630"/>
          </a:xfrm>
        </p:grpSpPr>
        <p:sp>
          <p:nvSpPr>
            <p:cNvPr id="17" name="object 17"/>
            <p:cNvSpPr/>
            <p:nvPr/>
          </p:nvSpPr>
          <p:spPr>
            <a:xfrm>
              <a:off x="2343594" y="2210774"/>
              <a:ext cx="464820" cy="288925"/>
            </a:xfrm>
            <a:custGeom>
              <a:avLst/>
              <a:gdLst/>
              <a:ahLst/>
              <a:cxnLst/>
              <a:rect l="l" t="t" r="r" b="b"/>
              <a:pathLst>
                <a:path w="464819" h="288925">
                  <a:moveTo>
                    <a:pt x="464400" y="0"/>
                  </a:moveTo>
                  <a:lnTo>
                    <a:pt x="0" y="288709"/>
                  </a:lnTo>
                </a:path>
              </a:pathLst>
            </a:custGeom>
            <a:ln w="18191">
              <a:solidFill>
                <a:srgbClr val="FFFFFF"/>
              </a:solidFill>
            </a:ln>
          </p:spPr>
          <p:txBody>
            <a:bodyPr wrap="square" lIns="0" tIns="0" rIns="0" bIns="0" rtlCol="0"/>
            <a:lstStyle/>
            <a:p>
              <a:endParaRPr/>
            </a:p>
          </p:txBody>
        </p:sp>
        <p:sp>
          <p:nvSpPr>
            <p:cNvPr id="18" name="object 18"/>
            <p:cNvSpPr/>
            <p:nvPr/>
          </p:nvSpPr>
          <p:spPr>
            <a:xfrm>
              <a:off x="1490395" y="2432173"/>
              <a:ext cx="974090" cy="238125"/>
            </a:xfrm>
            <a:custGeom>
              <a:avLst/>
              <a:gdLst/>
              <a:ahLst/>
              <a:cxnLst/>
              <a:rect l="l" t="t" r="r" b="b"/>
              <a:pathLst>
                <a:path w="974089" h="238125">
                  <a:moveTo>
                    <a:pt x="928077" y="0"/>
                  </a:moveTo>
                  <a:lnTo>
                    <a:pt x="45719" y="0"/>
                  </a:lnTo>
                  <a:lnTo>
                    <a:pt x="27946" y="3598"/>
                  </a:lnTo>
                  <a:lnTo>
                    <a:pt x="13411" y="13406"/>
                  </a:lnTo>
                  <a:lnTo>
                    <a:pt x="3600" y="27940"/>
                  </a:lnTo>
                  <a:lnTo>
                    <a:pt x="0" y="45719"/>
                  </a:lnTo>
                  <a:lnTo>
                    <a:pt x="0" y="192595"/>
                  </a:lnTo>
                  <a:lnTo>
                    <a:pt x="3600" y="210313"/>
                  </a:lnTo>
                  <a:lnTo>
                    <a:pt x="13411" y="224726"/>
                  </a:lnTo>
                  <a:lnTo>
                    <a:pt x="27946" y="234415"/>
                  </a:lnTo>
                  <a:lnTo>
                    <a:pt x="45719" y="237959"/>
                  </a:lnTo>
                  <a:lnTo>
                    <a:pt x="486727" y="237959"/>
                  </a:lnTo>
                  <a:lnTo>
                    <a:pt x="928077" y="237959"/>
                  </a:lnTo>
                  <a:lnTo>
                    <a:pt x="945856" y="234415"/>
                  </a:lnTo>
                  <a:lnTo>
                    <a:pt x="960391" y="224726"/>
                  </a:lnTo>
                  <a:lnTo>
                    <a:pt x="970199" y="210313"/>
                  </a:lnTo>
                  <a:lnTo>
                    <a:pt x="973797" y="192595"/>
                  </a:lnTo>
                  <a:lnTo>
                    <a:pt x="973797" y="45719"/>
                  </a:lnTo>
                  <a:lnTo>
                    <a:pt x="970199" y="27940"/>
                  </a:lnTo>
                  <a:lnTo>
                    <a:pt x="960391" y="13406"/>
                  </a:lnTo>
                  <a:lnTo>
                    <a:pt x="945856" y="3598"/>
                  </a:lnTo>
                  <a:lnTo>
                    <a:pt x="928077" y="0"/>
                  </a:lnTo>
                  <a:close/>
                </a:path>
              </a:pathLst>
            </a:custGeom>
            <a:solidFill>
              <a:srgbClr val="FF9000"/>
            </a:solidFill>
          </p:spPr>
          <p:txBody>
            <a:bodyPr wrap="square" lIns="0" tIns="0" rIns="0" bIns="0" rtlCol="0"/>
            <a:lstStyle/>
            <a:p>
              <a:endParaRPr/>
            </a:p>
          </p:txBody>
        </p:sp>
      </p:grpSp>
      <p:sp>
        <p:nvSpPr>
          <p:cNvPr id="19" name="object 19"/>
          <p:cNvSpPr txBox="1"/>
          <p:nvPr/>
        </p:nvSpPr>
        <p:spPr>
          <a:xfrm>
            <a:off x="1770926" y="2458233"/>
            <a:ext cx="415925" cy="180975"/>
          </a:xfrm>
          <a:prstGeom prst="rect">
            <a:avLst/>
          </a:prstGeom>
        </p:spPr>
        <p:txBody>
          <a:bodyPr vert="horz" wrap="square" lIns="0" tIns="15240" rIns="0" bIns="0" rtlCol="0">
            <a:spAutoFit/>
          </a:bodyPr>
          <a:lstStyle/>
          <a:p>
            <a:pPr marL="12700">
              <a:lnSpc>
                <a:spcPct val="100000"/>
              </a:lnSpc>
              <a:spcBef>
                <a:spcPts val="120"/>
              </a:spcBef>
            </a:pPr>
            <a:r>
              <a:rPr sz="1000" spc="-10" dirty="0">
                <a:solidFill>
                  <a:srgbClr val="FFFFFF"/>
                </a:solidFill>
                <a:latin typeface="Lucida Sans Unicode"/>
                <a:cs typeface="Lucida Sans Unicode"/>
              </a:rPr>
              <a:t>vmbr0</a:t>
            </a:r>
            <a:endParaRPr sz="1000">
              <a:latin typeface="Lucida Sans Unicode"/>
              <a:cs typeface="Lucida Sans Unicode"/>
            </a:endParaRPr>
          </a:p>
        </p:txBody>
      </p:sp>
      <p:sp>
        <p:nvSpPr>
          <p:cNvPr id="20" name="object 20"/>
          <p:cNvSpPr/>
          <p:nvPr/>
        </p:nvSpPr>
        <p:spPr>
          <a:xfrm>
            <a:off x="1490764" y="1971734"/>
            <a:ext cx="468630" cy="273050"/>
          </a:xfrm>
          <a:custGeom>
            <a:avLst/>
            <a:gdLst/>
            <a:ahLst/>
            <a:cxnLst/>
            <a:rect l="l" t="t" r="r" b="b"/>
            <a:pathLst>
              <a:path w="468630" h="273050">
                <a:moveTo>
                  <a:pt x="399237" y="0"/>
                </a:moveTo>
                <a:lnTo>
                  <a:pt x="69113" y="0"/>
                </a:lnTo>
                <a:lnTo>
                  <a:pt x="42214" y="5432"/>
                </a:lnTo>
                <a:lnTo>
                  <a:pt x="20245" y="20245"/>
                </a:lnTo>
                <a:lnTo>
                  <a:pt x="5432" y="42214"/>
                </a:lnTo>
                <a:lnTo>
                  <a:pt x="0" y="69113"/>
                </a:lnTo>
                <a:lnTo>
                  <a:pt x="0" y="203390"/>
                </a:lnTo>
                <a:lnTo>
                  <a:pt x="5432" y="230291"/>
                </a:lnTo>
                <a:lnTo>
                  <a:pt x="20245" y="252264"/>
                </a:lnTo>
                <a:lnTo>
                  <a:pt x="42214" y="267082"/>
                </a:lnTo>
                <a:lnTo>
                  <a:pt x="69113" y="272516"/>
                </a:lnTo>
                <a:lnTo>
                  <a:pt x="233997" y="272516"/>
                </a:lnTo>
                <a:lnTo>
                  <a:pt x="399237" y="272516"/>
                </a:lnTo>
                <a:lnTo>
                  <a:pt x="426136" y="267082"/>
                </a:lnTo>
                <a:lnTo>
                  <a:pt x="448105" y="252264"/>
                </a:lnTo>
                <a:lnTo>
                  <a:pt x="462918" y="230291"/>
                </a:lnTo>
                <a:lnTo>
                  <a:pt x="468350" y="203390"/>
                </a:lnTo>
                <a:lnTo>
                  <a:pt x="468350" y="69113"/>
                </a:lnTo>
                <a:lnTo>
                  <a:pt x="462918" y="42214"/>
                </a:lnTo>
                <a:lnTo>
                  <a:pt x="448105" y="20245"/>
                </a:lnTo>
                <a:lnTo>
                  <a:pt x="426136" y="5432"/>
                </a:lnTo>
                <a:lnTo>
                  <a:pt x="399237" y="0"/>
                </a:lnTo>
                <a:close/>
              </a:path>
            </a:pathLst>
          </a:custGeom>
          <a:solidFill>
            <a:srgbClr val="FF9000"/>
          </a:solidFill>
        </p:spPr>
        <p:txBody>
          <a:bodyPr wrap="square" lIns="0" tIns="0" rIns="0" bIns="0" rtlCol="0"/>
          <a:lstStyle/>
          <a:p>
            <a:endParaRPr/>
          </a:p>
        </p:txBody>
      </p:sp>
      <p:sp>
        <p:nvSpPr>
          <p:cNvPr id="21" name="object 21"/>
          <p:cNvSpPr txBox="1"/>
          <p:nvPr/>
        </p:nvSpPr>
        <p:spPr>
          <a:xfrm>
            <a:off x="1605788" y="2020756"/>
            <a:ext cx="264160" cy="164465"/>
          </a:xfrm>
          <a:prstGeom prst="rect">
            <a:avLst/>
          </a:prstGeom>
        </p:spPr>
        <p:txBody>
          <a:bodyPr vert="horz" wrap="square" lIns="0" tIns="13335" rIns="0" bIns="0" rtlCol="0">
            <a:spAutoFit/>
          </a:bodyPr>
          <a:lstStyle/>
          <a:p>
            <a:pPr marL="12700">
              <a:lnSpc>
                <a:spcPct val="100000"/>
              </a:lnSpc>
              <a:spcBef>
                <a:spcPts val="105"/>
              </a:spcBef>
            </a:pPr>
            <a:r>
              <a:rPr sz="900" spc="-25" dirty="0">
                <a:solidFill>
                  <a:srgbClr val="FFFFFF"/>
                </a:solidFill>
                <a:latin typeface="Lucida Sans Unicode"/>
                <a:cs typeface="Lucida Sans Unicode"/>
              </a:rPr>
              <a:t>VM1</a:t>
            </a:r>
            <a:endParaRPr sz="900">
              <a:latin typeface="Lucida Sans Unicode"/>
              <a:cs typeface="Lucida Sans Unicode"/>
            </a:endParaRPr>
          </a:p>
        </p:txBody>
      </p:sp>
      <p:sp>
        <p:nvSpPr>
          <p:cNvPr id="22" name="object 22"/>
          <p:cNvSpPr/>
          <p:nvPr/>
        </p:nvSpPr>
        <p:spPr>
          <a:xfrm>
            <a:off x="2032203" y="1971734"/>
            <a:ext cx="468630" cy="273050"/>
          </a:xfrm>
          <a:custGeom>
            <a:avLst/>
            <a:gdLst/>
            <a:ahLst/>
            <a:cxnLst/>
            <a:rect l="l" t="t" r="r" b="b"/>
            <a:pathLst>
              <a:path w="468630" h="273050">
                <a:moveTo>
                  <a:pt x="399237" y="0"/>
                </a:moveTo>
                <a:lnTo>
                  <a:pt x="69113" y="0"/>
                </a:lnTo>
                <a:lnTo>
                  <a:pt x="42219" y="5432"/>
                </a:lnTo>
                <a:lnTo>
                  <a:pt x="20250" y="20245"/>
                </a:lnTo>
                <a:lnTo>
                  <a:pt x="5434" y="42214"/>
                </a:lnTo>
                <a:lnTo>
                  <a:pt x="0" y="69113"/>
                </a:lnTo>
                <a:lnTo>
                  <a:pt x="0" y="203390"/>
                </a:lnTo>
                <a:lnTo>
                  <a:pt x="5434" y="230291"/>
                </a:lnTo>
                <a:lnTo>
                  <a:pt x="20250" y="252264"/>
                </a:lnTo>
                <a:lnTo>
                  <a:pt x="42219" y="267082"/>
                </a:lnTo>
                <a:lnTo>
                  <a:pt x="69113" y="272516"/>
                </a:lnTo>
                <a:lnTo>
                  <a:pt x="233997" y="272516"/>
                </a:lnTo>
                <a:lnTo>
                  <a:pt x="399237" y="272516"/>
                </a:lnTo>
                <a:lnTo>
                  <a:pt x="426136" y="267082"/>
                </a:lnTo>
                <a:lnTo>
                  <a:pt x="448105" y="252264"/>
                </a:lnTo>
                <a:lnTo>
                  <a:pt x="462918" y="230291"/>
                </a:lnTo>
                <a:lnTo>
                  <a:pt x="468350" y="203390"/>
                </a:lnTo>
                <a:lnTo>
                  <a:pt x="468350" y="69113"/>
                </a:lnTo>
                <a:lnTo>
                  <a:pt x="462918" y="42214"/>
                </a:lnTo>
                <a:lnTo>
                  <a:pt x="448105" y="20245"/>
                </a:lnTo>
                <a:lnTo>
                  <a:pt x="426136" y="5432"/>
                </a:lnTo>
                <a:lnTo>
                  <a:pt x="399237" y="0"/>
                </a:lnTo>
                <a:close/>
              </a:path>
            </a:pathLst>
          </a:custGeom>
          <a:solidFill>
            <a:srgbClr val="FF9000"/>
          </a:solidFill>
        </p:spPr>
        <p:txBody>
          <a:bodyPr wrap="square" lIns="0" tIns="0" rIns="0" bIns="0" rtlCol="0"/>
          <a:lstStyle/>
          <a:p>
            <a:endParaRPr/>
          </a:p>
        </p:txBody>
      </p:sp>
      <p:sp>
        <p:nvSpPr>
          <p:cNvPr id="23" name="object 23"/>
          <p:cNvSpPr txBox="1"/>
          <p:nvPr/>
        </p:nvSpPr>
        <p:spPr>
          <a:xfrm>
            <a:off x="2137371" y="2021125"/>
            <a:ext cx="264160" cy="164465"/>
          </a:xfrm>
          <a:prstGeom prst="rect">
            <a:avLst/>
          </a:prstGeom>
        </p:spPr>
        <p:txBody>
          <a:bodyPr vert="horz" wrap="square" lIns="0" tIns="13335" rIns="0" bIns="0" rtlCol="0">
            <a:spAutoFit/>
          </a:bodyPr>
          <a:lstStyle/>
          <a:p>
            <a:pPr marL="12700">
              <a:lnSpc>
                <a:spcPct val="100000"/>
              </a:lnSpc>
              <a:spcBef>
                <a:spcPts val="105"/>
              </a:spcBef>
            </a:pPr>
            <a:r>
              <a:rPr sz="900" spc="-25" dirty="0">
                <a:solidFill>
                  <a:srgbClr val="FFFFFF"/>
                </a:solidFill>
                <a:latin typeface="Lucida Sans Unicode"/>
                <a:cs typeface="Lucida Sans Unicode"/>
              </a:rPr>
              <a:t>VM2</a:t>
            </a:r>
            <a:endParaRPr sz="900">
              <a:latin typeface="Lucida Sans Unicode"/>
              <a:cs typeface="Lucida Sans Unicode"/>
            </a:endParaRPr>
          </a:p>
        </p:txBody>
      </p:sp>
      <p:sp>
        <p:nvSpPr>
          <p:cNvPr id="24" name="object 24"/>
          <p:cNvSpPr/>
          <p:nvPr/>
        </p:nvSpPr>
        <p:spPr>
          <a:xfrm>
            <a:off x="2572918" y="1971734"/>
            <a:ext cx="469265" cy="273050"/>
          </a:xfrm>
          <a:custGeom>
            <a:avLst/>
            <a:gdLst/>
            <a:ahLst/>
            <a:cxnLst/>
            <a:rect l="l" t="t" r="r" b="b"/>
            <a:pathLst>
              <a:path w="469264" h="273050">
                <a:moveTo>
                  <a:pt x="399605" y="0"/>
                </a:moveTo>
                <a:lnTo>
                  <a:pt x="69126" y="0"/>
                </a:lnTo>
                <a:lnTo>
                  <a:pt x="42224" y="5432"/>
                </a:lnTo>
                <a:lnTo>
                  <a:pt x="20251" y="20245"/>
                </a:lnTo>
                <a:lnTo>
                  <a:pt x="5434" y="42214"/>
                </a:lnTo>
                <a:lnTo>
                  <a:pt x="0" y="69113"/>
                </a:lnTo>
                <a:lnTo>
                  <a:pt x="0" y="203390"/>
                </a:lnTo>
                <a:lnTo>
                  <a:pt x="5434" y="230291"/>
                </a:lnTo>
                <a:lnTo>
                  <a:pt x="20251" y="252264"/>
                </a:lnTo>
                <a:lnTo>
                  <a:pt x="42224" y="267082"/>
                </a:lnTo>
                <a:lnTo>
                  <a:pt x="69126" y="272516"/>
                </a:lnTo>
                <a:lnTo>
                  <a:pt x="234365" y="272516"/>
                </a:lnTo>
                <a:lnTo>
                  <a:pt x="399605" y="272516"/>
                </a:lnTo>
                <a:lnTo>
                  <a:pt x="426499" y="267082"/>
                </a:lnTo>
                <a:lnTo>
                  <a:pt x="448468" y="252264"/>
                </a:lnTo>
                <a:lnTo>
                  <a:pt x="463284" y="230291"/>
                </a:lnTo>
                <a:lnTo>
                  <a:pt x="468718" y="203390"/>
                </a:lnTo>
                <a:lnTo>
                  <a:pt x="468718" y="69113"/>
                </a:lnTo>
                <a:lnTo>
                  <a:pt x="463284" y="42214"/>
                </a:lnTo>
                <a:lnTo>
                  <a:pt x="448468" y="20245"/>
                </a:lnTo>
                <a:lnTo>
                  <a:pt x="426499" y="5432"/>
                </a:lnTo>
                <a:lnTo>
                  <a:pt x="399605" y="0"/>
                </a:lnTo>
                <a:close/>
              </a:path>
            </a:pathLst>
          </a:custGeom>
          <a:solidFill>
            <a:srgbClr val="FF9000"/>
          </a:solidFill>
        </p:spPr>
        <p:txBody>
          <a:bodyPr wrap="square" lIns="0" tIns="0" rIns="0" bIns="0" rtlCol="0"/>
          <a:lstStyle/>
          <a:p>
            <a:endParaRPr/>
          </a:p>
        </p:txBody>
      </p:sp>
      <p:sp>
        <p:nvSpPr>
          <p:cNvPr id="25" name="object 25"/>
          <p:cNvSpPr txBox="1"/>
          <p:nvPr/>
        </p:nvSpPr>
        <p:spPr>
          <a:xfrm>
            <a:off x="2670759" y="2020756"/>
            <a:ext cx="290830" cy="164465"/>
          </a:xfrm>
          <a:prstGeom prst="rect">
            <a:avLst/>
          </a:prstGeom>
        </p:spPr>
        <p:txBody>
          <a:bodyPr vert="horz" wrap="square" lIns="0" tIns="13335" rIns="0" bIns="0" rtlCol="0">
            <a:spAutoFit/>
          </a:bodyPr>
          <a:lstStyle/>
          <a:p>
            <a:pPr marL="12700">
              <a:lnSpc>
                <a:spcPct val="100000"/>
              </a:lnSpc>
              <a:spcBef>
                <a:spcPts val="105"/>
              </a:spcBef>
            </a:pPr>
            <a:r>
              <a:rPr sz="900" spc="-30" dirty="0">
                <a:solidFill>
                  <a:srgbClr val="FFFFFF"/>
                </a:solidFill>
                <a:latin typeface="Lucida Sans Unicode"/>
                <a:cs typeface="Lucida Sans Unicode"/>
              </a:rPr>
              <a:t>LXC1</a:t>
            </a:r>
            <a:endParaRPr sz="900">
              <a:latin typeface="Lucida Sans Unicode"/>
              <a:cs typeface="Lucida Sans Unicode"/>
            </a:endParaRPr>
          </a:p>
        </p:txBody>
      </p:sp>
      <p:sp>
        <p:nvSpPr>
          <p:cNvPr id="26" name="object 26"/>
          <p:cNvSpPr/>
          <p:nvPr/>
        </p:nvSpPr>
        <p:spPr>
          <a:xfrm>
            <a:off x="3853802" y="1261093"/>
            <a:ext cx="2372360" cy="3567429"/>
          </a:xfrm>
          <a:custGeom>
            <a:avLst/>
            <a:gdLst/>
            <a:ahLst/>
            <a:cxnLst/>
            <a:rect l="l" t="t" r="r" b="b"/>
            <a:pathLst>
              <a:path w="2372360" h="3567429">
                <a:moveTo>
                  <a:pt x="2112111" y="0"/>
                </a:moveTo>
                <a:lnTo>
                  <a:pt x="260273" y="0"/>
                </a:lnTo>
                <a:lnTo>
                  <a:pt x="213517" y="4184"/>
                </a:lnTo>
                <a:lnTo>
                  <a:pt x="169499" y="16250"/>
                </a:lnTo>
                <a:lnTo>
                  <a:pt x="128956" y="35466"/>
                </a:lnTo>
                <a:lnTo>
                  <a:pt x="92627" y="61100"/>
                </a:lnTo>
                <a:lnTo>
                  <a:pt x="61248" y="92419"/>
                </a:lnTo>
                <a:lnTo>
                  <a:pt x="35559" y="128693"/>
                </a:lnTo>
                <a:lnTo>
                  <a:pt x="16295" y="169188"/>
                </a:lnTo>
                <a:lnTo>
                  <a:pt x="4196" y="213174"/>
                </a:lnTo>
                <a:lnTo>
                  <a:pt x="0" y="259918"/>
                </a:lnTo>
                <a:lnTo>
                  <a:pt x="0" y="3307321"/>
                </a:lnTo>
                <a:lnTo>
                  <a:pt x="4196" y="3354065"/>
                </a:lnTo>
                <a:lnTo>
                  <a:pt x="16295" y="3398050"/>
                </a:lnTo>
                <a:lnTo>
                  <a:pt x="35559" y="3438546"/>
                </a:lnTo>
                <a:lnTo>
                  <a:pt x="61248" y="3474819"/>
                </a:lnTo>
                <a:lnTo>
                  <a:pt x="92627" y="3506139"/>
                </a:lnTo>
                <a:lnTo>
                  <a:pt x="128956" y="3531772"/>
                </a:lnTo>
                <a:lnTo>
                  <a:pt x="169499" y="3550988"/>
                </a:lnTo>
                <a:lnTo>
                  <a:pt x="213517" y="3563054"/>
                </a:lnTo>
                <a:lnTo>
                  <a:pt x="260273" y="3567239"/>
                </a:lnTo>
                <a:lnTo>
                  <a:pt x="1186192" y="3567239"/>
                </a:lnTo>
                <a:lnTo>
                  <a:pt x="2112111" y="3567239"/>
                </a:lnTo>
                <a:lnTo>
                  <a:pt x="2158859" y="3563054"/>
                </a:lnTo>
                <a:lnTo>
                  <a:pt x="2202847" y="3550988"/>
                </a:lnTo>
                <a:lnTo>
                  <a:pt x="2243345" y="3531772"/>
                </a:lnTo>
                <a:lnTo>
                  <a:pt x="2279620" y="3506139"/>
                </a:lnTo>
                <a:lnTo>
                  <a:pt x="2310940" y="3474819"/>
                </a:lnTo>
                <a:lnTo>
                  <a:pt x="2336575" y="3438546"/>
                </a:lnTo>
                <a:lnTo>
                  <a:pt x="2355791" y="3398050"/>
                </a:lnTo>
                <a:lnTo>
                  <a:pt x="2367857" y="3354065"/>
                </a:lnTo>
                <a:lnTo>
                  <a:pt x="2372042" y="3307321"/>
                </a:lnTo>
                <a:lnTo>
                  <a:pt x="2372042" y="259918"/>
                </a:lnTo>
                <a:lnTo>
                  <a:pt x="2367857" y="213174"/>
                </a:lnTo>
                <a:lnTo>
                  <a:pt x="2355791" y="169188"/>
                </a:lnTo>
                <a:lnTo>
                  <a:pt x="2336575" y="128693"/>
                </a:lnTo>
                <a:lnTo>
                  <a:pt x="2310940" y="92419"/>
                </a:lnTo>
                <a:lnTo>
                  <a:pt x="2279620" y="61100"/>
                </a:lnTo>
                <a:lnTo>
                  <a:pt x="2243345" y="35466"/>
                </a:lnTo>
                <a:lnTo>
                  <a:pt x="2202847" y="16250"/>
                </a:lnTo>
                <a:lnTo>
                  <a:pt x="2158859" y="4184"/>
                </a:lnTo>
                <a:lnTo>
                  <a:pt x="2112111" y="0"/>
                </a:lnTo>
                <a:close/>
              </a:path>
            </a:pathLst>
          </a:custGeom>
          <a:solidFill>
            <a:srgbClr val="00607E"/>
          </a:solidFill>
        </p:spPr>
        <p:txBody>
          <a:bodyPr wrap="square" lIns="0" tIns="0" rIns="0" bIns="0" rtlCol="0"/>
          <a:lstStyle/>
          <a:p>
            <a:endParaRPr/>
          </a:p>
        </p:txBody>
      </p:sp>
      <p:sp>
        <p:nvSpPr>
          <p:cNvPr id="27" name="object 27"/>
          <p:cNvSpPr txBox="1"/>
          <p:nvPr/>
        </p:nvSpPr>
        <p:spPr>
          <a:xfrm>
            <a:off x="4238206" y="1441611"/>
            <a:ext cx="1598930" cy="263525"/>
          </a:xfrm>
          <a:prstGeom prst="rect">
            <a:avLst/>
          </a:prstGeom>
        </p:spPr>
        <p:txBody>
          <a:bodyPr vert="horz" wrap="square" lIns="0" tIns="13335" rIns="0" bIns="0" rtlCol="0">
            <a:spAutoFit/>
          </a:bodyPr>
          <a:lstStyle/>
          <a:p>
            <a:pPr marL="12700">
              <a:lnSpc>
                <a:spcPct val="100000"/>
              </a:lnSpc>
              <a:spcBef>
                <a:spcPts val="105"/>
              </a:spcBef>
            </a:pPr>
            <a:r>
              <a:rPr sz="1550" dirty="0">
                <a:solidFill>
                  <a:srgbClr val="FFFFFF"/>
                </a:solidFill>
                <a:latin typeface="Lucida Sans Unicode"/>
                <a:cs typeface="Lucida Sans Unicode"/>
              </a:rPr>
              <a:t>SDN</a:t>
            </a:r>
            <a:r>
              <a:rPr sz="1550" spc="45" dirty="0">
                <a:solidFill>
                  <a:srgbClr val="FFFFFF"/>
                </a:solidFill>
                <a:latin typeface="Lucida Sans Unicode"/>
                <a:cs typeface="Lucida Sans Unicode"/>
              </a:rPr>
              <a:t> </a:t>
            </a:r>
            <a:r>
              <a:rPr sz="1550" spc="-10" dirty="0">
                <a:solidFill>
                  <a:srgbClr val="FFFFFF"/>
                </a:solidFill>
                <a:latin typeface="Lucida Sans Unicode"/>
                <a:cs typeface="Lucida Sans Unicode"/>
              </a:rPr>
              <a:t>simplezone</a:t>
            </a:r>
            <a:endParaRPr sz="1550">
              <a:latin typeface="Lucida Sans Unicode"/>
              <a:cs typeface="Lucida Sans Unicode"/>
            </a:endParaRPr>
          </a:p>
        </p:txBody>
      </p:sp>
      <p:grpSp>
        <p:nvGrpSpPr>
          <p:cNvPr id="28" name="object 28"/>
          <p:cNvGrpSpPr/>
          <p:nvPr/>
        </p:nvGrpSpPr>
        <p:grpSpPr>
          <a:xfrm>
            <a:off x="4263834" y="2144683"/>
            <a:ext cx="1330960" cy="1553210"/>
            <a:chOff x="4263834" y="2144683"/>
            <a:chExt cx="1330960" cy="1553210"/>
          </a:xfrm>
        </p:grpSpPr>
        <p:sp>
          <p:nvSpPr>
            <p:cNvPr id="29" name="object 29"/>
            <p:cNvSpPr/>
            <p:nvPr/>
          </p:nvSpPr>
          <p:spPr>
            <a:xfrm>
              <a:off x="4521593" y="2153890"/>
              <a:ext cx="1063625" cy="307340"/>
            </a:xfrm>
            <a:custGeom>
              <a:avLst/>
              <a:gdLst/>
              <a:ahLst/>
              <a:cxnLst/>
              <a:rect l="l" t="t" r="r" b="b"/>
              <a:pathLst>
                <a:path w="1063625" h="307339">
                  <a:moveTo>
                    <a:pt x="0" y="10439"/>
                  </a:moveTo>
                  <a:lnTo>
                    <a:pt x="0" y="306717"/>
                  </a:lnTo>
                </a:path>
                <a:path w="1063625" h="307339">
                  <a:moveTo>
                    <a:pt x="516610" y="28079"/>
                  </a:moveTo>
                  <a:lnTo>
                    <a:pt x="321843" y="294474"/>
                  </a:lnTo>
                </a:path>
                <a:path w="1063625" h="307339">
                  <a:moveTo>
                    <a:pt x="1063447" y="0"/>
                  </a:moveTo>
                  <a:lnTo>
                    <a:pt x="551522" y="259194"/>
                  </a:lnTo>
                </a:path>
              </a:pathLst>
            </a:custGeom>
            <a:ln w="18191">
              <a:solidFill>
                <a:srgbClr val="FFFFFF"/>
              </a:solidFill>
            </a:ln>
          </p:spPr>
          <p:txBody>
            <a:bodyPr wrap="square" lIns="0" tIns="0" rIns="0" bIns="0" rtlCol="0"/>
            <a:lstStyle/>
            <a:p>
              <a:endParaRPr/>
            </a:p>
          </p:txBody>
        </p:sp>
        <p:sp>
          <p:nvSpPr>
            <p:cNvPr id="30" name="object 30"/>
            <p:cNvSpPr/>
            <p:nvPr/>
          </p:nvSpPr>
          <p:spPr>
            <a:xfrm>
              <a:off x="4521593" y="2621174"/>
              <a:ext cx="0" cy="753110"/>
            </a:xfrm>
            <a:custGeom>
              <a:avLst/>
              <a:gdLst/>
              <a:ahLst/>
              <a:cxnLst/>
              <a:rect l="l" t="t" r="r" b="b"/>
              <a:pathLst>
                <a:path h="753110">
                  <a:moveTo>
                    <a:pt x="0" y="0"/>
                  </a:moveTo>
                  <a:lnTo>
                    <a:pt x="0" y="753110"/>
                  </a:lnTo>
                </a:path>
              </a:pathLst>
            </a:custGeom>
            <a:ln w="26999">
              <a:solidFill>
                <a:srgbClr val="FFFFFF"/>
              </a:solidFill>
              <a:prstDash val="dash"/>
            </a:ln>
          </p:spPr>
          <p:txBody>
            <a:bodyPr wrap="square" lIns="0" tIns="0" rIns="0" bIns="0" rtlCol="0"/>
            <a:lstStyle/>
            <a:p>
              <a:endParaRPr/>
            </a:p>
          </p:txBody>
        </p:sp>
        <p:sp>
          <p:nvSpPr>
            <p:cNvPr id="31" name="object 31"/>
            <p:cNvSpPr/>
            <p:nvPr/>
          </p:nvSpPr>
          <p:spPr>
            <a:xfrm>
              <a:off x="4750561" y="3392648"/>
              <a:ext cx="0" cy="296545"/>
            </a:xfrm>
            <a:custGeom>
              <a:avLst/>
              <a:gdLst/>
              <a:ahLst/>
              <a:cxnLst/>
              <a:rect l="l" t="t" r="r" b="b"/>
              <a:pathLst>
                <a:path h="296545">
                  <a:moveTo>
                    <a:pt x="0" y="0"/>
                  </a:moveTo>
                  <a:lnTo>
                    <a:pt x="0" y="295922"/>
                  </a:lnTo>
                </a:path>
              </a:pathLst>
            </a:custGeom>
            <a:ln w="18191">
              <a:solidFill>
                <a:srgbClr val="FFFFFF"/>
              </a:solidFill>
            </a:ln>
          </p:spPr>
          <p:txBody>
            <a:bodyPr wrap="square" lIns="0" tIns="0" rIns="0" bIns="0" rtlCol="0"/>
            <a:lstStyle/>
            <a:p>
              <a:endParaRPr/>
            </a:p>
          </p:txBody>
        </p:sp>
        <p:sp>
          <p:nvSpPr>
            <p:cNvPr id="32" name="object 32"/>
            <p:cNvSpPr/>
            <p:nvPr/>
          </p:nvSpPr>
          <p:spPr>
            <a:xfrm>
              <a:off x="4263834" y="3205806"/>
              <a:ext cx="974090" cy="238125"/>
            </a:xfrm>
            <a:custGeom>
              <a:avLst/>
              <a:gdLst/>
              <a:ahLst/>
              <a:cxnLst/>
              <a:rect l="l" t="t" r="r" b="b"/>
              <a:pathLst>
                <a:path w="974089" h="238125">
                  <a:moveTo>
                    <a:pt x="928090" y="0"/>
                  </a:moveTo>
                  <a:lnTo>
                    <a:pt x="45719" y="0"/>
                  </a:lnTo>
                  <a:lnTo>
                    <a:pt x="27946" y="3600"/>
                  </a:lnTo>
                  <a:lnTo>
                    <a:pt x="13411" y="13411"/>
                  </a:lnTo>
                  <a:lnTo>
                    <a:pt x="3600" y="27946"/>
                  </a:lnTo>
                  <a:lnTo>
                    <a:pt x="0" y="45719"/>
                  </a:lnTo>
                  <a:lnTo>
                    <a:pt x="0" y="192239"/>
                  </a:lnTo>
                  <a:lnTo>
                    <a:pt x="3600" y="210013"/>
                  </a:lnTo>
                  <a:lnTo>
                    <a:pt x="13411" y="224548"/>
                  </a:lnTo>
                  <a:lnTo>
                    <a:pt x="27946" y="234359"/>
                  </a:lnTo>
                  <a:lnTo>
                    <a:pt x="45719" y="237959"/>
                  </a:lnTo>
                  <a:lnTo>
                    <a:pt x="486727" y="237959"/>
                  </a:lnTo>
                  <a:lnTo>
                    <a:pt x="928090" y="237959"/>
                  </a:lnTo>
                  <a:lnTo>
                    <a:pt x="945864" y="234359"/>
                  </a:lnTo>
                  <a:lnTo>
                    <a:pt x="960399" y="224548"/>
                  </a:lnTo>
                  <a:lnTo>
                    <a:pt x="970210" y="210013"/>
                  </a:lnTo>
                  <a:lnTo>
                    <a:pt x="973810" y="192239"/>
                  </a:lnTo>
                  <a:lnTo>
                    <a:pt x="973810" y="45719"/>
                  </a:lnTo>
                  <a:lnTo>
                    <a:pt x="970210" y="27946"/>
                  </a:lnTo>
                  <a:lnTo>
                    <a:pt x="960399" y="13411"/>
                  </a:lnTo>
                  <a:lnTo>
                    <a:pt x="945864" y="3600"/>
                  </a:lnTo>
                  <a:lnTo>
                    <a:pt x="928090" y="0"/>
                  </a:lnTo>
                  <a:close/>
                </a:path>
              </a:pathLst>
            </a:custGeom>
            <a:solidFill>
              <a:srgbClr val="FF9000"/>
            </a:solidFill>
          </p:spPr>
          <p:txBody>
            <a:bodyPr wrap="square" lIns="0" tIns="0" rIns="0" bIns="0" rtlCol="0"/>
            <a:lstStyle/>
            <a:p>
              <a:endParaRPr/>
            </a:p>
          </p:txBody>
        </p:sp>
      </p:grpSp>
      <p:sp>
        <p:nvSpPr>
          <p:cNvPr id="33" name="object 33"/>
          <p:cNvSpPr txBox="1"/>
          <p:nvPr/>
        </p:nvSpPr>
        <p:spPr>
          <a:xfrm>
            <a:off x="4544339" y="2668190"/>
            <a:ext cx="538480" cy="744855"/>
          </a:xfrm>
          <a:prstGeom prst="rect">
            <a:avLst/>
          </a:prstGeom>
        </p:spPr>
        <p:txBody>
          <a:bodyPr vert="horz" wrap="square" lIns="0" tIns="5080" rIns="0" bIns="0" rtlCol="0">
            <a:spAutoFit/>
          </a:bodyPr>
          <a:lstStyle/>
          <a:p>
            <a:pPr marL="117475" marR="5080" algn="ctr">
              <a:lnSpc>
                <a:spcPct val="106600"/>
              </a:lnSpc>
              <a:spcBef>
                <a:spcPts val="40"/>
              </a:spcBef>
            </a:pPr>
            <a:r>
              <a:rPr sz="1000" spc="-10" dirty="0">
                <a:solidFill>
                  <a:srgbClr val="FFFFFF"/>
                </a:solidFill>
                <a:latin typeface="Lucida Sans Unicode"/>
                <a:cs typeface="Lucida Sans Unicode"/>
              </a:rPr>
              <a:t>routed </a:t>
            </a:r>
            <a:r>
              <a:rPr sz="1000" spc="-25" dirty="0">
                <a:solidFill>
                  <a:srgbClr val="FFFFFF"/>
                </a:solidFill>
                <a:latin typeface="Lucida Sans Unicode"/>
                <a:cs typeface="Lucida Sans Unicode"/>
              </a:rPr>
              <a:t>or </a:t>
            </a:r>
            <a:r>
              <a:rPr sz="1000" spc="-10" dirty="0">
                <a:solidFill>
                  <a:srgbClr val="FFFFFF"/>
                </a:solidFill>
                <a:latin typeface="Lucida Sans Unicode"/>
                <a:cs typeface="Lucida Sans Unicode"/>
              </a:rPr>
              <a:t>natted</a:t>
            </a:r>
            <a:endParaRPr sz="1000">
              <a:latin typeface="Lucida Sans Unicode"/>
              <a:cs typeface="Lucida Sans Unicode"/>
            </a:endParaRPr>
          </a:p>
          <a:p>
            <a:pPr marL="12700">
              <a:lnSpc>
                <a:spcPct val="100000"/>
              </a:lnSpc>
              <a:spcBef>
                <a:spcPts val="680"/>
              </a:spcBef>
            </a:pPr>
            <a:r>
              <a:rPr sz="1000" spc="-10" dirty="0">
                <a:solidFill>
                  <a:srgbClr val="FFFFFF"/>
                </a:solidFill>
                <a:latin typeface="Lucida Sans Unicode"/>
                <a:cs typeface="Lucida Sans Unicode"/>
              </a:rPr>
              <a:t>vmbr0</a:t>
            </a:r>
            <a:endParaRPr sz="1000">
              <a:latin typeface="Lucida Sans Unicode"/>
              <a:cs typeface="Lucida Sans Unicode"/>
            </a:endParaRPr>
          </a:p>
        </p:txBody>
      </p:sp>
      <p:sp>
        <p:nvSpPr>
          <p:cNvPr id="34" name="object 34"/>
          <p:cNvSpPr/>
          <p:nvPr/>
        </p:nvSpPr>
        <p:spPr>
          <a:xfrm>
            <a:off x="4263834" y="2370247"/>
            <a:ext cx="974090" cy="238125"/>
          </a:xfrm>
          <a:custGeom>
            <a:avLst/>
            <a:gdLst/>
            <a:ahLst/>
            <a:cxnLst/>
            <a:rect l="l" t="t" r="r" b="b"/>
            <a:pathLst>
              <a:path w="974089" h="238125">
                <a:moveTo>
                  <a:pt x="928090" y="0"/>
                </a:moveTo>
                <a:lnTo>
                  <a:pt x="45719" y="0"/>
                </a:lnTo>
                <a:lnTo>
                  <a:pt x="27946" y="3600"/>
                </a:lnTo>
                <a:lnTo>
                  <a:pt x="13411" y="13411"/>
                </a:lnTo>
                <a:lnTo>
                  <a:pt x="3600" y="27946"/>
                </a:lnTo>
                <a:lnTo>
                  <a:pt x="0" y="45719"/>
                </a:lnTo>
                <a:lnTo>
                  <a:pt x="0" y="192595"/>
                </a:lnTo>
                <a:lnTo>
                  <a:pt x="3600" y="210318"/>
                </a:lnTo>
                <a:lnTo>
                  <a:pt x="13411" y="224731"/>
                </a:lnTo>
                <a:lnTo>
                  <a:pt x="27946" y="234416"/>
                </a:lnTo>
                <a:lnTo>
                  <a:pt x="45719" y="237959"/>
                </a:lnTo>
                <a:lnTo>
                  <a:pt x="486727" y="237959"/>
                </a:lnTo>
                <a:lnTo>
                  <a:pt x="928090" y="237959"/>
                </a:lnTo>
                <a:lnTo>
                  <a:pt x="945864" y="234416"/>
                </a:lnTo>
                <a:lnTo>
                  <a:pt x="960399" y="224731"/>
                </a:lnTo>
                <a:lnTo>
                  <a:pt x="970210" y="210318"/>
                </a:lnTo>
                <a:lnTo>
                  <a:pt x="973810" y="192595"/>
                </a:lnTo>
                <a:lnTo>
                  <a:pt x="973810" y="45719"/>
                </a:lnTo>
                <a:lnTo>
                  <a:pt x="970210" y="27946"/>
                </a:lnTo>
                <a:lnTo>
                  <a:pt x="960399" y="13411"/>
                </a:lnTo>
                <a:lnTo>
                  <a:pt x="945864" y="3600"/>
                </a:lnTo>
                <a:lnTo>
                  <a:pt x="928090" y="0"/>
                </a:lnTo>
                <a:close/>
              </a:path>
            </a:pathLst>
          </a:custGeom>
          <a:solidFill>
            <a:srgbClr val="FF9000"/>
          </a:solidFill>
        </p:spPr>
        <p:txBody>
          <a:bodyPr wrap="square" lIns="0" tIns="0" rIns="0" bIns="0" rtlCol="0"/>
          <a:lstStyle/>
          <a:p>
            <a:endParaRPr/>
          </a:p>
        </p:txBody>
      </p:sp>
      <p:sp>
        <p:nvSpPr>
          <p:cNvPr id="35" name="object 35"/>
          <p:cNvSpPr txBox="1"/>
          <p:nvPr/>
        </p:nvSpPr>
        <p:spPr>
          <a:xfrm>
            <a:off x="4373918" y="2381297"/>
            <a:ext cx="743585" cy="180975"/>
          </a:xfrm>
          <a:prstGeom prst="rect">
            <a:avLst/>
          </a:prstGeom>
        </p:spPr>
        <p:txBody>
          <a:bodyPr vert="horz" wrap="square" lIns="0" tIns="15240" rIns="0" bIns="0" rtlCol="0">
            <a:spAutoFit/>
          </a:bodyPr>
          <a:lstStyle/>
          <a:p>
            <a:pPr marL="12700">
              <a:lnSpc>
                <a:spcPct val="100000"/>
              </a:lnSpc>
              <a:spcBef>
                <a:spcPts val="120"/>
              </a:spcBef>
            </a:pPr>
            <a:r>
              <a:rPr sz="1000" spc="-10" dirty="0">
                <a:solidFill>
                  <a:srgbClr val="FFFFFF"/>
                </a:solidFill>
                <a:latin typeface="Lucida Sans Unicode"/>
                <a:cs typeface="Lucida Sans Unicode"/>
              </a:rPr>
              <a:t>simple_vnet</a:t>
            </a:r>
            <a:endParaRPr sz="1000">
              <a:latin typeface="Lucida Sans Unicode"/>
              <a:cs typeface="Lucida Sans Unicode"/>
            </a:endParaRPr>
          </a:p>
        </p:txBody>
      </p:sp>
      <p:sp>
        <p:nvSpPr>
          <p:cNvPr id="36" name="object 36"/>
          <p:cNvSpPr/>
          <p:nvPr/>
        </p:nvSpPr>
        <p:spPr>
          <a:xfrm>
            <a:off x="4264914" y="1913771"/>
            <a:ext cx="469265" cy="273050"/>
          </a:xfrm>
          <a:custGeom>
            <a:avLst/>
            <a:gdLst/>
            <a:ahLst/>
            <a:cxnLst/>
            <a:rect l="l" t="t" r="r" b="b"/>
            <a:pathLst>
              <a:path w="469264" h="273050">
                <a:moveTo>
                  <a:pt x="399249" y="0"/>
                </a:moveTo>
                <a:lnTo>
                  <a:pt x="69126" y="0"/>
                </a:lnTo>
                <a:lnTo>
                  <a:pt x="42224" y="5434"/>
                </a:lnTo>
                <a:lnTo>
                  <a:pt x="20251" y="20250"/>
                </a:lnTo>
                <a:lnTo>
                  <a:pt x="5434" y="42219"/>
                </a:lnTo>
                <a:lnTo>
                  <a:pt x="0" y="69113"/>
                </a:lnTo>
                <a:lnTo>
                  <a:pt x="0" y="203403"/>
                </a:lnTo>
                <a:lnTo>
                  <a:pt x="5434" y="230297"/>
                </a:lnTo>
                <a:lnTo>
                  <a:pt x="20251" y="252266"/>
                </a:lnTo>
                <a:lnTo>
                  <a:pt x="42224" y="267082"/>
                </a:lnTo>
                <a:lnTo>
                  <a:pt x="69126" y="272516"/>
                </a:lnTo>
                <a:lnTo>
                  <a:pt x="234365" y="272516"/>
                </a:lnTo>
                <a:lnTo>
                  <a:pt x="399249" y="272516"/>
                </a:lnTo>
                <a:lnTo>
                  <a:pt x="426356" y="267082"/>
                </a:lnTo>
                <a:lnTo>
                  <a:pt x="448435" y="252266"/>
                </a:lnTo>
                <a:lnTo>
                  <a:pt x="463291" y="230297"/>
                </a:lnTo>
                <a:lnTo>
                  <a:pt x="468731" y="203403"/>
                </a:lnTo>
                <a:lnTo>
                  <a:pt x="468731" y="69113"/>
                </a:lnTo>
                <a:lnTo>
                  <a:pt x="463291" y="42219"/>
                </a:lnTo>
                <a:lnTo>
                  <a:pt x="448435" y="20250"/>
                </a:lnTo>
                <a:lnTo>
                  <a:pt x="426356" y="5434"/>
                </a:lnTo>
                <a:lnTo>
                  <a:pt x="399249" y="0"/>
                </a:lnTo>
                <a:close/>
              </a:path>
            </a:pathLst>
          </a:custGeom>
          <a:solidFill>
            <a:srgbClr val="FF9000"/>
          </a:solidFill>
        </p:spPr>
        <p:txBody>
          <a:bodyPr wrap="square" lIns="0" tIns="0" rIns="0" bIns="0" rtlCol="0"/>
          <a:lstStyle/>
          <a:p>
            <a:endParaRPr/>
          </a:p>
        </p:txBody>
      </p:sp>
      <p:sp>
        <p:nvSpPr>
          <p:cNvPr id="37" name="object 37"/>
          <p:cNvSpPr txBox="1"/>
          <p:nvPr/>
        </p:nvSpPr>
        <p:spPr>
          <a:xfrm>
            <a:off x="4379886" y="1962501"/>
            <a:ext cx="264160" cy="164465"/>
          </a:xfrm>
          <a:prstGeom prst="rect">
            <a:avLst/>
          </a:prstGeom>
        </p:spPr>
        <p:txBody>
          <a:bodyPr vert="horz" wrap="square" lIns="0" tIns="13335" rIns="0" bIns="0" rtlCol="0">
            <a:spAutoFit/>
          </a:bodyPr>
          <a:lstStyle/>
          <a:p>
            <a:pPr marL="12700">
              <a:lnSpc>
                <a:spcPct val="100000"/>
              </a:lnSpc>
              <a:spcBef>
                <a:spcPts val="105"/>
              </a:spcBef>
            </a:pPr>
            <a:r>
              <a:rPr sz="900" spc="-25" dirty="0">
                <a:solidFill>
                  <a:srgbClr val="FFFFFF"/>
                </a:solidFill>
                <a:latin typeface="Lucida Sans Unicode"/>
                <a:cs typeface="Lucida Sans Unicode"/>
              </a:rPr>
              <a:t>VM1</a:t>
            </a:r>
            <a:endParaRPr sz="900">
              <a:latin typeface="Lucida Sans Unicode"/>
              <a:cs typeface="Lucida Sans Unicode"/>
            </a:endParaRPr>
          </a:p>
        </p:txBody>
      </p:sp>
      <p:sp>
        <p:nvSpPr>
          <p:cNvPr id="38" name="object 38"/>
          <p:cNvSpPr/>
          <p:nvPr/>
        </p:nvSpPr>
        <p:spPr>
          <a:xfrm>
            <a:off x="4806365" y="1913771"/>
            <a:ext cx="469265" cy="273050"/>
          </a:xfrm>
          <a:custGeom>
            <a:avLst/>
            <a:gdLst/>
            <a:ahLst/>
            <a:cxnLst/>
            <a:rect l="l" t="t" r="r" b="b"/>
            <a:pathLst>
              <a:path w="469264" h="273050">
                <a:moveTo>
                  <a:pt x="399237" y="0"/>
                </a:moveTo>
                <a:lnTo>
                  <a:pt x="69113" y="0"/>
                </a:lnTo>
                <a:lnTo>
                  <a:pt x="42214" y="5434"/>
                </a:lnTo>
                <a:lnTo>
                  <a:pt x="20245" y="20250"/>
                </a:lnTo>
                <a:lnTo>
                  <a:pt x="5432" y="42219"/>
                </a:lnTo>
                <a:lnTo>
                  <a:pt x="0" y="69113"/>
                </a:lnTo>
                <a:lnTo>
                  <a:pt x="0" y="203403"/>
                </a:lnTo>
                <a:lnTo>
                  <a:pt x="5432" y="230297"/>
                </a:lnTo>
                <a:lnTo>
                  <a:pt x="20245" y="252266"/>
                </a:lnTo>
                <a:lnTo>
                  <a:pt x="42214" y="267082"/>
                </a:lnTo>
                <a:lnTo>
                  <a:pt x="69113" y="272516"/>
                </a:lnTo>
                <a:lnTo>
                  <a:pt x="234353" y="272516"/>
                </a:lnTo>
                <a:lnTo>
                  <a:pt x="399237" y="272516"/>
                </a:lnTo>
                <a:lnTo>
                  <a:pt x="426343" y="267082"/>
                </a:lnTo>
                <a:lnTo>
                  <a:pt x="448422" y="252266"/>
                </a:lnTo>
                <a:lnTo>
                  <a:pt x="463279" y="230297"/>
                </a:lnTo>
                <a:lnTo>
                  <a:pt x="468718" y="203403"/>
                </a:lnTo>
                <a:lnTo>
                  <a:pt x="468718" y="69113"/>
                </a:lnTo>
                <a:lnTo>
                  <a:pt x="463279" y="42219"/>
                </a:lnTo>
                <a:lnTo>
                  <a:pt x="448422" y="20250"/>
                </a:lnTo>
                <a:lnTo>
                  <a:pt x="426343" y="5434"/>
                </a:lnTo>
                <a:lnTo>
                  <a:pt x="399237" y="0"/>
                </a:lnTo>
                <a:close/>
              </a:path>
            </a:pathLst>
          </a:custGeom>
          <a:solidFill>
            <a:srgbClr val="FF9000"/>
          </a:solidFill>
        </p:spPr>
        <p:txBody>
          <a:bodyPr wrap="square" lIns="0" tIns="0" rIns="0" bIns="0" rtlCol="0"/>
          <a:lstStyle/>
          <a:p>
            <a:endParaRPr/>
          </a:p>
        </p:txBody>
      </p:sp>
      <p:sp>
        <p:nvSpPr>
          <p:cNvPr id="39" name="object 39"/>
          <p:cNvSpPr txBox="1"/>
          <p:nvPr/>
        </p:nvSpPr>
        <p:spPr>
          <a:xfrm>
            <a:off x="4911471" y="1963213"/>
            <a:ext cx="264160" cy="164465"/>
          </a:xfrm>
          <a:prstGeom prst="rect">
            <a:avLst/>
          </a:prstGeom>
        </p:spPr>
        <p:txBody>
          <a:bodyPr vert="horz" wrap="square" lIns="0" tIns="13335" rIns="0" bIns="0" rtlCol="0">
            <a:spAutoFit/>
          </a:bodyPr>
          <a:lstStyle/>
          <a:p>
            <a:pPr marL="12700">
              <a:lnSpc>
                <a:spcPct val="100000"/>
              </a:lnSpc>
              <a:spcBef>
                <a:spcPts val="105"/>
              </a:spcBef>
            </a:pPr>
            <a:r>
              <a:rPr sz="900" spc="-25" dirty="0">
                <a:solidFill>
                  <a:srgbClr val="FFFFFF"/>
                </a:solidFill>
                <a:latin typeface="Lucida Sans Unicode"/>
                <a:cs typeface="Lucida Sans Unicode"/>
              </a:rPr>
              <a:t>VM2</a:t>
            </a:r>
            <a:endParaRPr sz="900">
              <a:latin typeface="Lucida Sans Unicode"/>
              <a:cs typeface="Lucida Sans Unicode"/>
            </a:endParaRPr>
          </a:p>
        </p:txBody>
      </p:sp>
      <p:sp>
        <p:nvSpPr>
          <p:cNvPr id="40" name="object 40"/>
          <p:cNvSpPr/>
          <p:nvPr/>
        </p:nvSpPr>
        <p:spPr>
          <a:xfrm>
            <a:off x="5347436" y="1913771"/>
            <a:ext cx="468630" cy="273050"/>
          </a:xfrm>
          <a:custGeom>
            <a:avLst/>
            <a:gdLst/>
            <a:ahLst/>
            <a:cxnLst/>
            <a:rect l="l" t="t" r="r" b="b"/>
            <a:pathLst>
              <a:path w="468629" h="273050">
                <a:moveTo>
                  <a:pt x="399237" y="0"/>
                </a:moveTo>
                <a:lnTo>
                  <a:pt x="69126" y="0"/>
                </a:lnTo>
                <a:lnTo>
                  <a:pt x="42224" y="5434"/>
                </a:lnTo>
                <a:lnTo>
                  <a:pt x="20251" y="20250"/>
                </a:lnTo>
                <a:lnTo>
                  <a:pt x="5434" y="42219"/>
                </a:lnTo>
                <a:lnTo>
                  <a:pt x="0" y="69113"/>
                </a:lnTo>
                <a:lnTo>
                  <a:pt x="0" y="203403"/>
                </a:lnTo>
                <a:lnTo>
                  <a:pt x="5434" y="230297"/>
                </a:lnTo>
                <a:lnTo>
                  <a:pt x="20251" y="252266"/>
                </a:lnTo>
                <a:lnTo>
                  <a:pt x="42224" y="267082"/>
                </a:lnTo>
                <a:lnTo>
                  <a:pt x="69126" y="272516"/>
                </a:lnTo>
                <a:lnTo>
                  <a:pt x="233997" y="272516"/>
                </a:lnTo>
                <a:lnTo>
                  <a:pt x="399237" y="272516"/>
                </a:lnTo>
                <a:lnTo>
                  <a:pt x="426138" y="267082"/>
                </a:lnTo>
                <a:lnTo>
                  <a:pt x="448111" y="252266"/>
                </a:lnTo>
                <a:lnTo>
                  <a:pt x="462929" y="230297"/>
                </a:lnTo>
                <a:lnTo>
                  <a:pt x="468363" y="203403"/>
                </a:lnTo>
                <a:lnTo>
                  <a:pt x="468363" y="69113"/>
                </a:lnTo>
                <a:lnTo>
                  <a:pt x="462929" y="42219"/>
                </a:lnTo>
                <a:lnTo>
                  <a:pt x="448111" y="20250"/>
                </a:lnTo>
                <a:lnTo>
                  <a:pt x="426138" y="5434"/>
                </a:lnTo>
                <a:lnTo>
                  <a:pt x="399237" y="0"/>
                </a:lnTo>
                <a:close/>
              </a:path>
            </a:pathLst>
          </a:custGeom>
          <a:solidFill>
            <a:srgbClr val="FF9000"/>
          </a:solidFill>
        </p:spPr>
        <p:txBody>
          <a:bodyPr wrap="square" lIns="0" tIns="0" rIns="0" bIns="0" rtlCol="0"/>
          <a:lstStyle/>
          <a:p>
            <a:endParaRPr/>
          </a:p>
        </p:txBody>
      </p:sp>
      <p:sp>
        <p:nvSpPr>
          <p:cNvPr id="41" name="object 41"/>
          <p:cNvSpPr txBox="1"/>
          <p:nvPr/>
        </p:nvSpPr>
        <p:spPr>
          <a:xfrm>
            <a:off x="5444858" y="1962857"/>
            <a:ext cx="290830" cy="164465"/>
          </a:xfrm>
          <a:prstGeom prst="rect">
            <a:avLst/>
          </a:prstGeom>
        </p:spPr>
        <p:txBody>
          <a:bodyPr vert="horz" wrap="square" lIns="0" tIns="13335" rIns="0" bIns="0" rtlCol="0">
            <a:spAutoFit/>
          </a:bodyPr>
          <a:lstStyle/>
          <a:p>
            <a:pPr marL="12700">
              <a:lnSpc>
                <a:spcPct val="100000"/>
              </a:lnSpc>
              <a:spcBef>
                <a:spcPts val="105"/>
              </a:spcBef>
            </a:pPr>
            <a:r>
              <a:rPr sz="900" spc="-30" dirty="0">
                <a:solidFill>
                  <a:srgbClr val="FFFFFF"/>
                </a:solidFill>
                <a:latin typeface="Lucida Sans Unicode"/>
                <a:cs typeface="Lucida Sans Unicode"/>
              </a:rPr>
              <a:t>LXC1</a:t>
            </a:r>
            <a:endParaRPr sz="900">
              <a:latin typeface="Lucida Sans Unicode"/>
              <a:cs typeface="Lucida Sans Unicode"/>
            </a:endParaRPr>
          </a:p>
        </p:txBody>
      </p:sp>
      <p:grpSp>
        <p:nvGrpSpPr>
          <p:cNvPr id="42" name="object 42"/>
          <p:cNvGrpSpPr/>
          <p:nvPr/>
        </p:nvGrpSpPr>
        <p:grpSpPr>
          <a:xfrm>
            <a:off x="4263834" y="3652566"/>
            <a:ext cx="974090" cy="475615"/>
            <a:chOff x="4263834" y="3652566"/>
            <a:chExt cx="974090" cy="475615"/>
          </a:xfrm>
        </p:grpSpPr>
        <p:sp>
          <p:nvSpPr>
            <p:cNvPr id="43" name="object 43"/>
            <p:cNvSpPr/>
            <p:nvPr/>
          </p:nvSpPr>
          <p:spPr>
            <a:xfrm>
              <a:off x="4503597" y="3852363"/>
              <a:ext cx="495934" cy="266700"/>
            </a:xfrm>
            <a:custGeom>
              <a:avLst/>
              <a:gdLst/>
              <a:ahLst/>
              <a:cxnLst/>
              <a:rect l="l" t="t" r="r" b="b"/>
              <a:pathLst>
                <a:path w="495935" h="266700">
                  <a:moveTo>
                    <a:pt x="195122" y="0"/>
                  </a:moveTo>
                  <a:lnTo>
                    <a:pt x="0" y="266407"/>
                  </a:lnTo>
                </a:path>
                <a:path w="495935" h="266700">
                  <a:moveTo>
                    <a:pt x="300240" y="0"/>
                  </a:moveTo>
                  <a:lnTo>
                    <a:pt x="495363" y="266407"/>
                  </a:lnTo>
                </a:path>
              </a:pathLst>
            </a:custGeom>
            <a:ln w="18191">
              <a:solidFill>
                <a:srgbClr val="FFFFFF"/>
              </a:solidFill>
            </a:ln>
          </p:spPr>
          <p:txBody>
            <a:bodyPr wrap="square" lIns="0" tIns="0" rIns="0" bIns="0" rtlCol="0"/>
            <a:lstStyle/>
            <a:p>
              <a:endParaRPr/>
            </a:p>
          </p:txBody>
        </p:sp>
        <p:sp>
          <p:nvSpPr>
            <p:cNvPr id="44" name="object 44"/>
            <p:cNvSpPr/>
            <p:nvPr/>
          </p:nvSpPr>
          <p:spPr>
            <a:xfrm>
              <a:off x="4263834" y="3652566"/>
              <a:ext cx="974090" cy="238125"/>
            </a:xfrm>
            <a:custGeom>
              <a:avLst/>
              <a:gdLst/>
              <a:ahLst/>
              <a:cxnLst/>
              <a:rect l="l" t="t" r="r" b="b"/>
              <a:pathLst>
                <a:path w="974089" h="238125">
                  <a:moveTo>
                    <a:pt x="928090" y="0"/>
                  </a:moveTo>
                  <a:lnTo>
                    <a:pt x="45719" y="0"/>
                  </a:lnTo>
                  <a:lnTo>
                    <a:pt x="27946" y="3544"/>
                  </a:lnTo>
                  <a:lnTo>
                    <a:pt x="13411" y="13233"/>
                  </a:lnTo>
                  <a:lnTo>
                    <a:pt x="3600" y="27646"/>
                  </a:lnTo>
                  <a:lnTo>
                    <a:pt x="0" y="45364"/>
                  </a:lnTo>
                  <a:lnTo>
                    <a:pt x="0" y="192239"/>
                  </a:lnTo>
                  <a:lnTo>
                    <a:pt x="3600" y="210013"/>
                  </a:lnTo>
                  <a:lnTo>
                    <a:pt x="13411" y="224548"/>
                  </a:lnTo>
                  <a:lnTo>
                    <a:pt x="27946" y="234359"/>
                  </a:lnTo>
                  <a:lnTo>
                    <a:pt x="45719" y="237959"/>
                  </a:lnTo>
                  <a:lnTo>
                    <a:pt x="486727" y="237959"/>
                  </a:lnTo>
                  <a:lnTo>
                    <a:pt x="928090" y="237959"/>
                  </a:lnTo>
                  <a:lnTo>
                    <a:pt x="945864" y="234359"/>
                  </a:lnTo>
                  <a:lnTo>
                    <a:pt x="960399" y="224548"/>
                  </a:lnTo>
                  <a:lnTo>
                    <a:pt x="970210" y="210013"/>
                  </a:lnTo>
                  <a:lnTo>
                    <a:pt x="973810" y="192239"/>
                  </a:lnTo>
                  <a:lnTo>
                    <a:pt x="973810" y="45364"/>
                  </a:lnTo>
                  <a:lnTo>
                    <a:pt x="970210" y="27646"/>
                  </a:lnTo>
                  <a:lnTo>
                    <a:pt x="960399" y="13233"/>
                  </a:lnTo>
                  <a:lnTo>
                    <a:pt x="945864" y="3544"/>
                  </a:lnTo>
                  <a:lnTo>
                    <a:pt x="928090" y="0"/>
                  </a:lnTo>
                  <a:close/>
                </a:path>
              </a:pathLst>
            </a:custGeom>
            <a:solidFill>
              <a:srgbClr val="FF9000"/>
            </a:solidFill>
          </p:spPr>
          <p:txBody>
            <a:bodyPr wrap="square" lIns="0" tIns="0" rIns="0" bIns="0" rtlCol="0"/>
            <a:lstStyle/>
            <a:p>
              <a:endParaRPr/>
            </a:p>
          </p:txBody>
        </p:sp>
      </p:grpSp>
      <p:sp>
        <p:nvSpPr>
          <p:cNvPr id="45" name="object 45"/>
          <p:cNvSpPr txBox="1"/>
          <p:nvPr/>
        </p:nvSpPr>
        <p:spPr>
          <a:xfrm>
            <a:off x="4544339" y="3678423"/>
            <a:ext cx="414655" cy="180975"/>
          </a:xfrm>
          <a:prstGeom prst="rect">
            <a:avLst/>
          </a:prstGeom>
        </p:spPr>
        <p:txBody>
          <a:bodyPr vert="horz" wrap="square" lIns="0" tIns="15240" rIns="0" bIns="0" rtlCol="0">
            <a:spAutoFit/>
          </a:bodyPr>
          <a:lstStyle/>
          <a:p>
            <a:pPr marL="12700">
              <a:lnSpc>
                <a:spcPct val="100000"/>
              </a:lnSpc>
              <a:spcBef>
                <a:spcPts val="120"/>
              </a:spcBef>
            </a:pPr>
            <a:r>
              <a:rPr sz="1000" spc="-10" dirty="0">
                <a:solidFill>
                  <a:srgbClr val="FFFFFF"/>
                </a:solidFill>
                <a:latin typeface="Lucida Sans Unicode"/>
                <a:cs typeface="Lucida Sans Unicode"/>
              </a:rPr>
              <a:t>bond0</a:t>
            </a:r>
            <a:endParaRPr sz="1000">
              <a:latin typeface="Lucida Sans Unicode"/>
              <a:cs typeface="Lucida Sans Unicode"/>
            </a:endParaRPr>
          </a:p>
        </p:txBody>
      </p:sp>
      <p:grpSp>
        <p:nvGrpSpPr>
          <p:cNvPr id="46" name="object 46"/>
          <p:cNvGrpSpPr/>
          <p:nvPr/>
        </p:nvGrpSpPr>
        <p:grpSpPr>
          <a:xfrm>
            <a:off x="4372914" y="4102210"/>
            <a:ext cx="330200" cy="565150"/>
            <a:chOff x="4372914" y="4102210"/>
            <a:chExt cx="330200" cy="565150"/>
          </a:xfrm>
        </p:grpSpPr>
        <p:sp>
          <p:nvSpPr>
            <p:cNvPr id="47" name="object 47"/>
            <p:cNvSpPr/>
            <p:nvPr/>
          </p:nvSpPr>
          <p:spPr>
            <a:xfrm>
              <a:off x="4372914" y="4102210"/>
              <a:ext cx="330200" cy="565150"/>
            </a:xfrm>
            <a:custGeom>
              <a:avLst/>
              <a:gdLst/>
              <a:ahLst/>
              <a:cxnLst/>
              <a:rect l="l" t="t" r="r" b="b"/>
              <a:pathLst>
                <a:path w="330200" h="565150">
                  <a:moveTo>
                    <a:pt x="284048" y="0"/>
                  </a:moveTo>
                  <a:lnTo>
                    <a:pt x="45719" y="0"/>
                  </a:lnTo>
                  <a:lnTo>
                    <a:pt x="27946" y="3543"/>
                  </a:lnTo>
                  <a:lnTo>
                    <a:pt x="13411" y="13228"/>
                  </a:lnTo>
                  <a:lnTo>
                    <a:pt x="3600" y="27640"/>
                  </a:lnTo>
                  <a:lnTo>
                    <a:pt x="0" y="45364"/>
                  </a:lnTo>
                  <a:lnTo>
                    <a:pt x="0" y="519480"/>
                  </a:lnTo>
                  <a:lnTo>
                    <a:pt x="3600" y="537196"/>
                  </a:lnTo>
                  <a:lnTo>
                    <a:pt x="13411" y="551605"/>
                  </a:lnTo>
                  <a:lnTo>
                    <a:pt x="27946" y="561289"/>
                  </a:lnTo>
                  <a:lnTo>
                    <a:pt x="45719" y="564832"/>
                  </a:lnTo>
                  <a:lnTo>
                    <a:pt x="284048" y="564832"/>
                  </a:lnTo>
                  <a:lnTo>
                    <a:pt x="301821" y="561289"/>
                  </a:lnTo>
                  <a:lnTo>
                    <a:pt x="316356" y="551605"/>
                  </a:lnTo>
                  <a:lnTo>
                    <a:pt x="326167" y="537196"/>
                  </a:lnTo>
                  <a:lnTo>
                    <a:pt x="329768" y="519480"/>
                  </a:lnTo>
                  <a:lnTo>
                    <a:pt x="329768" y="282600"/>
                  </a:lnTo>
                  <a:lnTo>
                    <a:pt x="329768" y="45364"/>
                  </a:lnTo>
                  <a:lnTo>
                    <a:pt x="326167" y="27640"/>
                  </a:lnTo>
                  <a:lnTo>
                    <a:pt x="316356" y="13228"/>
                  </a:lnTo>
                  <a:lnTo>
                    <a:pt x="301821" y="3543"/>
                  </a:lnTo>
                  <a:lnTo>
                    <a:pt x="284048" y="0"/>
                  </a:lnTo>
                  <a:close/>
                </a:path>
              </a:pathLst>
            </a:custGeom>
            <a:solidFill>
              <a:srgbClr val="FF9000"/>
            </a:solidFill>
          </p:spPr>
          <p:txBody>
            <a:bodyPr wrap="square" lIns="0" tIns="0" rIns="0" bIns="0" rtlCol="0"/>
            <a:lstStyle/>
            <a:p>
              <a:endParaRPr/>
            </a:p>
          </p:txBody>
        </p:sp>
        <p:sp>
          <p:nvSpPr>
            <p:cNvPr id="48" name="object 48"/>
            <p:cNvSpPr/>
            <p:nvPr/>
          </p:nvSpPr>
          <p:spPr>
            <a:xfrm>
              <a:off x="4452124" y="4301651"/>
              <a:ext cx="168910" cy="294005"/>
            </a:xfrm>
            <a:custGeom>
              <a:avLst/>
              <a:gdLst/>
              <a:ahLst/>
              <a:cxnLst/>
              <a:rect l="l" t="t" r="r" b="b"/>
              <a:pathLst>
                <a:path w="168910" h="294004">
                  <a:moveTo>
                    <a:pt x="84594" y="293763"/>
                  </a:moveTo>
                  <a:lnTo>
                    <a:pt x="0" y="293763"/>
                  </a:lnTo>
                  <a:lnTo>
                    <a:pt x="0" y="0"/>
                  </a:lnTo>
                  <a:lnTo>
                    <a:pt x="168833" y="0"/>
                  </a:lnTo>
                  <a:lnTo>
                    <a:pt x="168833" y="293763"/>
                  </a:lnTo>
                  <a:lnTo>
                    <a:pt x="84594" y="293763"/>
                  </a:lnTo>
                  <a:close/>
                </a:path>
              </a:pathLst>
            </a:custGeom>
            <a:ln w="14527">
              <a:solidFill>
                <a:srgbClr val="FFFFFF"/>
              </a:solidFill>
            </a:ln>
          </p:spPr>
          <p:txBody>
            <a:bodyPr wrap="square" lIns="0" tIns="0" rIns="0" bIns="0" rtlCol="0"/>
            <a:lstStyle/>
            <a:p>
              <a:endParaRPr/>
            </a:p>
          </p:txBody>
        </p:sp>
        <p:sp>
          <p:nvSpPr>
            <p:cNvPr id="49" name="object 49"/>
            <p:cNvSpPr/>
            <p:nvPr/>
          </p:nvSpPr>
          <p:spPr>
            <a:xfrm>
              <a:off x="4499279" y="4345567"/>
              <a:ext cx="76835" cy="85725"/>
            </a:xfrm>
            <a:custGeom>
              <a:avLst/>
              <a:gdLst/>
              <a:ahLst/>
              <a:cxnLst/>
              <a:rect l="l" t="t" r="r" b="b"/>
              <a:pathLst>
                <a:path w="76835" h="85725">
                  <a:moveTo>
                    <a:pt x="38163" y="85318"/>
                  </a:moveTo>
                  <a:lnTo>
                    <a:pt x="0" y="85318"/>
                  </a:lnTo>
                  <a:lnTo>
                    <a:pt x="0" y="0"/>
                  </a:lnTo>
                  <a:lnTo>
                    <a:pt x="76682" y="0"/>
                  </a:lnTo>
                  <a:lnTo>
                    <a:pt x="76682" y="85318"/>
                  </a:lnTo>
                  <a:lnTo>
                    <a:pt x="38163" y="85318"/>
                  </a:lnTo>
                  <a:close/>
                </a:path>
              </a:pathLst>
            </a:custGeom>
            <a:ln w="12404">
              <a:solidFill>
                <a:srgbClr val="FFFFFF"/>
              </a:solidFill>
            </a:ln>
          </p:spPr>
          <p:txBody>
            <a:bodyPr wrap="square" lIns="0" tIns="0" rIns="0" bIns="0" rtlCol="0"/>
            <a:lstStyle/>
            <a:p>
              <a:endParaRPr/>
            </a:p>
          </p:txBody>
        </p:sp>
      </p:grpSp>
      <p:sp>
        <p:nvSpPr>
          <p:cNvPr id="50" name="object 50"/>
          <p:cNvSpPr txBox="1"/>
          <p:nvPr/>
        </p:nvSpPr>
        <p:spPr>
          <a:xfrm>
            <a:off x="4403623" y="4115342"/>
            <a:ext cx="283210" cy="164465"/>
          </a:xfrm>
          <a:prstGeom prst="rect">
            <a:avLst/>
          </a:prstGeom>
        </p:spPr>
        <p:txBody>
          <a:bodyPr vert="horz" wrap="square" lIns="0" tIns="13970" rIns="0" bIns="0" rtlCol="0">
            <a:spAutoFit/>
          </a:bodyPr>
          <a:lstStyle/>
          <a:p>
            <a:pPr marL="12700">
              <a:lnSpc>
                <a:spcPct val="100000"/>
              </a:lnSpc>
              <a:spcBef>
                <a:spcPts val="110"/>
              </a:spcBef>
            </a:pPr>
            <a:r>
              <a:rPr sz="900" spc="-20" dirty="0">
                <a:solidFill>
                  <a:srgbClr val="FFFFFF"/>
                </a:solidFill>
                <a:latin typeface="Lucida Sans Unicode"/>
                <a:cs typeface="Lucida Sans Unicode"/>
              </a:rPr>
              <a:t>NIC1</a:t>
            </a:r>
            <a:endParaRPr sz="900">
              <a:latin typeface="Lucida Sans Unicode"/>
              <a:cs typeface="Lucida Sans Unicode"/>
            </a:endParaRPr>
          </a:p>
        </p:txBody>
      </p:sp>
      <p:grpSp>
        <p:nvGrpSpPr>
          <p:cNvPr id="51" name="object 51"/>
          <p:cNvGrpSpPr/>
          <p:nvPr/>
        </p:nvGrpSpPr>
        <p:grpSpPr>
          <a:xfrm>
            <a:off x="4799520" y="4102210"/>
            <a:ext cx="330200" cy="565150"/>
            <a:chOff x="4799520" y="4102210"/>
            <a:chExt cx="330200" cy="565150"/>
          </a:xfrm>
        </p:grpSpPr>
        <p:sp>
          <p:nvSpPr>
            <p:cNvPr id="52" name="object 52"/>
            <p:cNvSpPr/>
            <p:nvPr/>
          </p:nvSpPr>
          <p:spPr>
            <a:xfrm>
              <a:off x="4799520" y="4102210"/>
              <a:ext cx="330200" cy="565150"/>
            </a:xfrm>
            <a:custGeom>
              <a:avLst/>
              <a:gdLst/>
              <a:ahLst/>
              <a:cxnLst/>
              <a:rect l="l" t="t" r="r" b="b"/>
              <a:pathLst>
                <a:path w="330200" h="565150">
                  <a:moveTo>
                    <a:pt x="284035" y="0"/>
                  </a:moveTo>
                  <a:lnTo>
                    <a:pt x="45719" y="0"/>
                  </a:lnTo>
                  <a:lnTo>
                    <a:pt x="27946" y="3543"/>
                  </a:lnTo>
                  <a:lnTo>
                    <a:pt x="13411" y="13228"/>
                  </a:lnTo>
                  <a:lnTo>
                    <a:pt x="3600" y="27640"/>
                  </a:lnTo>
                  <a:lnTo>
                    <a:pt x="0" y="45364"/>
                  </a:lnTo>
                  <a:lnTo>
                    <a:pt x="0" y="519480"/>
                  </a:lnTo>
                  <a:lnTo>
                    <a:pt x="3600" y="537196"/>
                  </a:lnTo>
                  <a:lnTo>
                    <a:pt x="13411" y="551605"/>
                  </a:lnTo>
                  <a:lnTo>
                    <a:pt x="27946" y="561289"/>
                  </a:lnTo>
                  <a:lnTo>
                    <a:pt x="45719" y="564832"/>
                  </a:lnTo>
                  <a:lnTo>
                    <a:pt x="284035" y="564832"/>
                  </a:lnTo>
                  <a:lnTo>
                    <a:pt x="301814" y="561289"/>
                  </a:lnTo>
                  <a:lnTo>
                    <a:pt x="316349" y="551605"/>
                  </a:lnTo>
                  <a:lnTo>
                    <a:pt x="326156" y="537196"/>
                  </a:lnTo>
                  <a:lnTo>
                    <a:pt x="329755" y="519480"/>
                  </a:lnTo>
                  <a:lnTo>
                    <a:pt x="329755" y="282600"/>
                  </a:lnTo>
                  <a:lnTo>
                    <a:pt x="329755" y="45364"/>
                  </a:lnTo>
                  <a:lnTo>
                    <a:pt x="326156" y="27640"/>
                  </a:lnTo>
                  <a:lnTo>
                    <a:pt x="316349" y="13228"/>
                  </a:lnTo>
                  <a:lnTo>
                    <a:pt x="301814" y="3543"/>
                  </a:lnTo>
                  <a:lnTo>
                    <a:pt x="284035" y="0"/>
                  </a:lnTo>
                  <a:close/>
                </a:path>
              </a:pathLst>
            </a:custGeom>
            <a:solidFill>
              <a:srgbClr val="FF9000"/>
            </a:solidFill>
          </p:spPr>
          <p:txBody>
            <a:bodyPr wrap="square" lIns="0" tIns="0" rIns="0" bIns="0" rtlCol="0"/>
            <a:lstStyle/>
            <a:p>
              <a:endParaRPr/>
            </a:p>
          </p:txBody>
        </p:sp>
        <p:sp>
          <p:nvSpPr>
            <p:cNvPr id="53" name="object 53"/>
            <p:cNvSpPr/>
            <p:nvPr/>
          </p:nvSpPr>
          <p:spPr>
            <a:xfrm>
              <a:off x="4879797" y="4299123"/>
              <a:ext cx="168910" cy="294005"/>
            </a:xfrm>
            <a:custGeom>
              <a:avLst/>
              <a:gdLst/>
              <a:ahLst/>
              <a:cxnLst/>
              <a:rect l="l" t="t" r="r" b="b"/>
              <a:pathLst>
                <a:path w="168910" h="294004">
                  <a:moveTo>
                    <a:pt x="84607" y="293408"/>
                  </a:moveTo>
                  <a:lnTo>
                    <a:pt x="0" y="293408"/>
                  </a:lnTo>
                  <a:lnTo>
                    <a:pt x="0" y="0"/>
                  </a:lnTo>
                  <a:lnTo>
                    <a:pt x="168846" y="0"/>
                  </a:lnTo>
                  <a:lnTo>
                    <a:pt x="168846" y="293408"/>
                  </a:lnTo>
                  <a:lnTo>
                    <a:pt x="84607" y="293408"/>
                  </a:lnTo>
                  <a:close/>
                </a:path>
              </a:pathLst>
            </a:custGeom>
            <a:ln w="14520">
              <a:solidFill>
                <a:srgbClr val="FFFFFF"/>
              </a:solidFill>
            </a:ln>
          </p:spPr>
          <p:txBody>
            <a:bodyPr wrap="square" lIns="0" tIns="0" rIns="0" bIns="0" rtlCol="0"/>
            <a:lstStyle/>
            <a:p>
              <a:endParaRPr/>
            </a:p>
          </p:txBody>
        </p:sp>
        <p:sp>
          <p:nvSpPr>
            <p:cNvPr id="54" name="object 54"/>
            <p:cNvSpPr/>
            <p:nvPr/>
          </p:nvSpPr>
          <p:spPr>
            <a:xfrm>
              <a:off x="4926241" y="4342329"/>
              <a:ext cx="76835" cy="85725"/>
            </a:xfrm>
            <a:custGeom>
              <a:avLst/>
              <a:gdLst/>
              <a:ahLst/>
              <a:cxnLst/>
              <a:rect l="l" t="t" r="r" b="b"/>
              <a:pathLst>
                <a:path w="76835" h="85725">
                  <a:moveTo>
                    <a:pt x="38519" y="85318"/>
                  </a:moveTo>
                  <a:lnTo>
                    <a:pt x="0" y="85318"/>
                  </a:lnTo>
                  <a:lnTo>
                    <a:pt x="0" y="0"/>
                  </a:lnTo>
                  <a:lnTo>
                    <a:pt x="76682" y="0"/>
                  </a:lnTo>
                  <a:lnTo>
                    <a:pt x="76682" y="85318"/>
                  </a:lnTo>
                  <a:lnTo>
                    <a:pt x="38519" y="85318"/>
                  </a:lnTo>
                  <a:close/>
                </a:path>
              </a:pathLst>
            </a:custGeom>
            <a:ln w="12395">
              <a:solidFill>
                <a:srgbClr val="FFFFFF"/>
              </a:solidFill>
            </a:ln>
          </p:spPr>
          <p:txBody>
            <a:bodyPr wrap="square" lIns="0" tIns="0" rIns="0" bIns="0" rtlCol="0"/>
            <a:lstStyle/>
            <a:p>
              <a:endParaRPr/>
            </a:p>
          </p:txBody>
        </p:sp>
      </p:grpSp>
      <p:sp>
        <p:nvSpPr>
          <p:cNvPr id="55" name="object 55"/>
          <p:cNvSpPr txBox="1"/>
          <p:nvPr/>
        </p:nvSpPr>
        <p:spPr>
          <a:xfrm>
            <a:off x="4820475" y="4115342"/>
            <a:ext cx="283210" cy="164465"/>
          </a:xfrm>
          <a:prstGeom prst="rect">
            <a:avLst/>
          </a:prstGeom>
        </p:spPr>
        <p:txBody>
          <a:bodyPr vert="horz" wrap="square" lIns="0" tIns="13970" rIns="0" bIns="0" rtlCol="0">
            <a:spAutoFit/>
          </a:bodyPr>
          <a:lstStyle/>
          <a:p>
            <a:pPr marL="12700">
              <a:lnSpc>
                <a:spcPct val="100000"/>
              </a:lnSpc>
              <a:spcBef>
                <a:spcPts val="110"/>
              </a:spcBef>
            </a:pPr>
            <a:r>
              <a:rPr sz="900" spc="-20" dirty="0">
                <a:solidFill>
                  <a:srgbClr val="FFFFFF"/>
                </a:solidFill>
                <a:latin typeface="Lucida Sans Unicode"/>
                <a:cs typeface="Lucida Sans Unicode"/>
              </a:rPr>
              <a:t>NIC2</a:t>
            </a:r>
            <a:endParaRPr sz="900">
              <a:latin typeface="Lucida Sans Unicode"/>
              <a:cs typeface="Lucida Sans Unicode"/>
            </a:endParaRPr>
          </a:p>
        </p:txBody>
      </p:sp>
      <p:sp>
        <p:nvSpPr>
          <p:cNvPr id="56" name="object 56"/>
          <p:cNvSpPr/>
          <p:nvPr/>
        </p:nvSpPr>
        <p:spPr>
          <a:xfrm>
            <a:off x="6627596" y="1261093"/>
            <a:ext cx="2371725" cy="3073400"/>
          </a:xfrm>
          <a:custGeom>
            <a:avLst/>
            <a:gdLst/>
            <a:ahLst/>
            <a:cxnLst/>
            <a:rect l="l" t="t" r="r" b="b"/>
            <a:pathLst>
              <a:path w="2371725" h="3073400">
                <a:moveTo>
                  <a:pt x="2371686" y="0"/>
                </a:moveTo>
                <a:lnTo>
                  <a:pt x="0" y="0"/>
                </a:lnTo>
                <a:lnTo>
                  <a:pt x="0" y="3072955"/>
                </a:lnTo>
                <a:lnTo>
                  <a:pt x="1185837" y="3072955"/>
                </a:lnTo>
                <a:lnTo>
                  <a:pt x="2371686" y="3072955"/>
                </a:lnTo>
                <a:lnTo>
                  <a:pt x="2371686" y="0"/>
                </a:lnTo>
                <a:close/>
              </a:path>
            </a:pathLst>
          </a:custGeom>
          <a:solidFill>
            <a:srgbClr val="00607E"/>
          </a:solidFill>
        </p:spPr>
        <p:txBody>
          <a:bodyPr wrap="square" lIns="0" tIns="0" rIns="0" bIns="0" rtlCol="0"/>
          <a:lstStyle/>
          <a:p>
            <a:endParaRPr/>
          </a:p>
        </p:txBody>
      </p:sp>
      <p:sp>
        <p:nvSpPr>
          <p:cNvPr id="57" name="object 57"/>
          <p:cNvSpPr txBox="1"/>
          <p:nvPr/>
        </p:nvSpPr>
        <p:spPr>
          <a:xfrm>
            <a:off x="7291057" y="1440798"/>
            <a:ext cx="1041400" cy="274320"/>
          </a:xfrm>
          <a:prstGeom prst="rect">
            <a:avLst/>
          </a:prstGeom>
        </p:spPr>
        <p:txBody>
          <a:bodyPr vert="horz" wrap="square" lIns="0" tIns="16510" rIns="0" bIns="0" rtlCol="0">
            <a:spAutoFit/>
          </a:bodyPr>
          <a:lstStyle/>
          <a:p>
            <a:pPr marL="12700">
              <a:lnSpc>
                <a:spcPct val="100000"/>
              </a:lnSpc>
              <a:spcBef>
                <a:spcPts val="130"/>
              </a:spcBef>
            </a:pPr>
            <a:r>
              <a:rPr sz="1600" dirty="0">
                <a:solidFill>
                  <a:srgbClr val="FFFFFF"/>
                </a:solidFill>
                <a:latin typeface="Lucida Sans Unicode"/>
                <a:cs typeface="Lucida Sans Unicode"/>
              </a:rPr>
              <a:t>Router</a:t>
            </a:r>
            <a:r>
              <a:rPr sz="1600" spc="-114" dirty="0">
                <a:solidFill>
                  <a:srgbClr val="FFFFFF"/>
                </a:solidFill>
                <a:latin typeface="Lucida Sans Unicode"/>
                <a:cs typeface="Lucida Sans Unicode"/>
              </a:rPr>
              <a:t> </a:t>
            </a:r>
            <a:r>
              <a:rPr sz="1600" spc="-25" dirty="0">
                <a:solidFill>
                  <a:srgbClr val="FFFFFF"/>
                </a:solidFill>
                <a:latin typeface="Lucida Sans Unicode"/>
                <a:cs typeface="Lucida Sans Unicode"/>
              </a:rPr>
              <a:t>VM</a:t>
            </a:r>
            <a:endParaRPr sz="1600">
              <a:latin typeface="Lucida Sans Unicode"/>
              <a:cs typeface="Lucida Sans Unicode"/>
            </a:endParaRPr>
          </a:p>
        </p:txBody>
      </p:sp>
      <p:grpSp>
        <p:nvGrpSpPr>
          <p:cNvPr id="58" name="object 58"/>
          <p:cNvGrpSpPr/>
          <p:nvPr/>
        </p:nvGrpSpPr>
        <p:grpSpPr>
          <a:xfrm>
            <a:off x="7257389" y="1913771"/>
            <a:ext cx="1564640" cy="994410"/>
            <a:chOff x="7257389" y="1913771"/>
            <a:chExt cx="1564640" cy="994410"/>
          </a:xfrm>
        </p:grpSpPr>
        <p:sp>
          <p:nvSpPr>
            <p:cNvPr id="59" name="object 59"/>
            <p:cNvSpPr/>
            <p:nvPr/>
          </p:nvSpPr>
          <p:spPr>
            <a:xfrm>
              <a:off x="7266597" y="2094492"/>
              <a:ext cx="1332865" cy="804545"/>
            </a:xfrm>
            <a:custGeom>
              <a:avLst/>
              <a:gdLst/>
              <a:ahLst/>
              <a:cxnLst/>
              <a:rect l="l" t="t" r="r" b="b"/>
              <a:pathLst>
                <a:path w="1332865" h="804544">
                  <a:moveTo>
                    <a:pt x="0" y="508317"/>
                  </a:moveTo>
                  <a:lnTo>
                    <a:pt x="0" y="804240"/>
                  </a:lnTo>
                </a:path>
                <a:path w="1332865" h="804544">
                  <a:moveTo>
                    <a:pt x="1332356" y="59042"/>
                  </a:moveTo>
                  <a:lnTo>
                    <a:pt x="1293837" y="322910"/>
                  </a:lnTo>
                </a:path>
                <a:path w="1332865" h="804544">
                  <a:moveTo>
                    <a:pt x="846721" y="53632"/>
                  </a:moveTo>
                  <a:lnTo>
                    <a:pt x="1041488" y="320395"/>
                  </a:lnTo>
                </a:path>
                <a:path w="1332865" h="804544">
                  <a:moveTo>
                    <a:pt x="196926" y="0"/>
                  </a:moveTo>
                  <a:lnTo>
                    <a:pt x="844207" y="323278"/>
                  </a:lnTo>
                </a:path>
              </a:pathLst>
            </a:custGeom>
            <a:ln w="18191">
              <a:solidFill>
                <a:srgbClr val="FFFFFF"/>
              </a:solidFill>
            </a:ln>
          </p:spPr>
          <p:txBody>
            <a:bodyPr wrap="square" lIns="0" tIns="0" rIns="0" bIns="0" rtlCol="0"/>
            <a:lstStyle/>
            <a:p>
              <a:endParaRPr/>
            </a:p>
          </p:txBody>
        </p:sp>
        <p:sp>
          <p:nvSpPr>
            <p:cNvPr id="60" name="object 60"/>
            <p:cNvSpPr/>
            <p:nvPr/>
          </p:nvSpPr>
          <p:spPr>
            <a:xfrm>
              <a:off x="7365961" y="2163250"/>
              <a:ext cx="38735" cy="264795"/>
            </a:xfrm>
            <a:custGeom>
              <a:avLst/>
              <a:gdLst/>
              <a:ahLst/>
              <a:cxnLst/>
              <a:rect l="l" t="t" r="r" b="b"/>
              <a:pathLst>
                <a:path w="38734" h="264794">
                  <a:moveTo>
                    <a:pt x="38519" y="0"/>
                  </a:moveTo>
                  <a:lnTo>
                    <a:pt x="0" y="264236"/>
                  </a:lnTo>
                </a:path>
              </a:pathLst>
            </a:custGeom>
            <a:ln w="18191">
              <a:solidFill>
                <a:srgbClr val="EB0053"/>
              </a:solidFill>
            </a:ln>
          </p:spPr>
          <p:txBody>
            <a:bodyPr wrap="square" lIns="0" tIns="0" rIns="0" bIns="0" rtlCol="0"/>
            <a:lstStyle/>
            <a:p>
              <a:endParaRPr/>
            </a:p>
          </p:txBody>
        </p:sp>
        <p:sp>
          <p:nvSpPr>
            <p:cNvPr id="61" name="object 61"/>
            <p:cNvSpPr/>
            <p:nvPr/>
          </p:nvSpPr>
          <p:spPr>
            <a:xfrm>
              <a:off x="8353437" y="1913771"/>
              <a:ext cx="468630" cy="273050"/>
            </a:xfrm>
            <a:custGeom>
              <a:avLst/>
              <a:gdLst/>
              <a:ahLst/>
              <a:cxnLst/>
              <a:rect l="l" t="t" r="r" b="b"/>
              <a:pathLst>
                <a:path w="468629" h="273050">
                  <a:moveTo>
                    <a:pt x="399237" y="0"/>
                  </a:moveTo>
                  <a:lnTo>
                    <a:pt x="69126" y="0"/>
                  </a:lnTo>
                  <a:lnTo>
                    <a:pt x="42224" y="5434"/>
                  </a:lnTo>
                  <a:lnTo>
                    <a:pt x="20251" y="20250"/>
                  </a:lnTo>
                  <a:lnTo>
                    <a:pt x="5434" y="42219"/>
                  </a:lnTo>
                  <a:lnTo>
                    <a:pt x="0" y="69113"/>
                  </a:lnTo>
                  <a:lnTo>
                    <a:pt x="0" y="203403"/>
                  </a:lnTo>
                  <a:lnTo>
                    <a:pt x="5434" y="230297"/>
                  </a:lnTo>
                  <a:lnTo>
                    <a:pt x="20251" y="252266"/>
                  </a:lnTo>
                  <a:lnTo>
                    <a:pt x="42224" y="267082"/>
                  </a:lnTo>
                  <a:lnTo>
                    <a:pt x="69126" y="272516"/>
                  </a:lnTo>
                  <a:lnTo>
                    <a:pt x="234365" y="272516"/>
                  </a:lnTo>
                  <a:lnTo>
                    <a:pt x="399237" y="272516"/>
                  </a:lnTo>
                  <a:lnTo>
                    <a:pt x="426138" y="267082"/>
                  </a:lnTo>
                  <a:lnTo>
                    <a:pt x="448111" y="252266"/>
                  </a:lnTo>
                  <a:lnTo>
                    <a:pt x="462929" y="230297"/>
                  </a:lnTo>
                  <a:lnTo>
                    <a:pt x="468363" y="203403"/>
                  </a:lnTo>
                  <a:lnTo>
                    <a:pt x="468363" y="69113"/>
                  </a:lnTo>
                  <a:lnTo>
                    <a:pt x="462929" y="42219"/>
                  </a:lnTo>
                  <a:lnTo>
                    <a:pt x="448111" y="20250"/>
                  </a:lnTo>
                  <a:lnTo>
                    <a:pt x="426138" y="5434"/>
                  </a:lnTo>
                  <a:lnTo>
                    <a:pt x="399237" y="0"/>
                  </a:lnTo>
                  <a:close/>
                </a:path>
              </a:pathLst>
            </a:custGeom>
            <a:solidFill>
              <a:srgbClr val="FF9000"/>
            </a:solidFill>
          </p:spPr>
          <p:txBody>
            <a:bodyPr wrap="square" lIns="0" tIns="0" rIns="0" bIns="0" rtlCol="0"/>
            <a:lstStyle/>
            <a:p>
              <a:endParaRPr/>
            </a:p>
          </p:txBody>
        </p:sp>
      </p:grpSp>
      <p:sp>
        <p:nvSpPr>
          <p:cNvPr id="62" name="object 62"/>
          <p:cNvSpPr txBox="1"/>
          <p:nvPr/>
        </p:nvSpPr>
        <p:spPr>
          <a:xfrm>
            <a:off x="8451659" y="1962857"/>
            <a:ext cx="290830" cy="164465"/>
          </a:xfrm>
          <a:prstGeom prst="rect">
            <a:avLst/>
          </a:prstGeom>
        </p:spPr>
        <p:txBody>
          <a:bodyPr vert="horz" wrap="square" lIns="0" tIns="13335" rIns="0" bIns="0" rtlCol="0">
            <a:spAutoFit/>
          </a:bodyPr>
          <a:lstStyle/>
          <a:p>
            <a:pPr marL="12700">
              <a:lnSpc>
                <a:spcPct val="100000"/>
              </a:lnSpc>
              <a:spcBef>
                <a:spcPts val="105"/>
              </a:spcBef>
            </a:pPr>
            <a:r>
              <a:rPr sz="900" spc="-30" dirty="0">
                <a:solidFill>
                  <a:srgbClr val="FFFFFF"/>
                </a:solidFill>
                <a:latin typeface="Lucida Sans Unicode"/>
                <a:cs typeface="Lucida Sans Unicode"/>
              </a:rPr>
              <a:t>LXC1</a:t>
            </a:r>
            <a:endParaRPr sz="900">
              <a:latin typeface="Lucida Sans Unicode"/>
              <a:cs typeface="Lucida Sans Unicode"/>
            </a:endParaRPr>
          </a:p>
        </p:txBody>
      </p:sp>
      <p:sp>
        <p:nvSpPr>
          <p:cNvPr id="63" name="object 63"/>
          <p:cNvSpPr/>
          <p:nvPr/>
        </p:nvSpPr>
        <p:spPr>
          <a:xfrm>
            <a:off x="7839354" y="1913771"/>
            <a:ext cx="469265" cy="273050"/>
          </a:xfrm>
          <a:custGeom>
            <a:avLst/>
            <a:gdLst/>
            <a:ahLst/>
            <a:cxnLst/>
            <a:rect l="l" t="t" r="r" b="b"/>
            <a:pathLst>
              <a:path w="469265" h="273050">
                <a:moveTo>
                  <a:pt x="399249" y="0"/>
                </a:moveTo>
                <a:lnTo>
                  <a:pt x="69126" y="0"/>
                </a:lnTo>
                <a:lnTo>
                  <a:pt x="42224" y="5434"/>
                </a:lnTo>
                <a:lnTo>
                  <a:pt x="20251" y="20250"/>
                </a:lnTo>
                <a:lnTo>
                  <a:pt x="5434" y="42219"/>
                </a:lnTo>
                <a:lnTo>
                  <a:pt x="0" y="69113"/>
                </a:lnTo>
                <a:lnTo>
                  <a:pt x="0" y="203403"/>
                </a:lnTo>
                <a:lnTo>
                  <a:pt x="5434" y="230297"/>
                </a:lnTo>
                <a:lnTo>
                  <a:pt x="20251" y="252266"/>
                </a:lnTo>
                <a:lnTo>
                  <a:pt x="42224" y="267082"/>
                </a:lnTo>
                <a:lnTo>
                  <a:pt x="69126" y="272516"/>
                </a:lnTo>
                <a:lnTo>
                  <a:pt x="234365" y="272516"/>
                </a:lnTo>
                <a:lnTo>
                  <a:pt x="399249" y="272516"/>
                </a:lnTo>
                <a:lnTo>
                  <a:pt x="426356" y="267082"/>
                </a:lnTo>
                <a:lnTo>
                  <a:pt x="448435" y="252266"/>
                </a:lnTo>
                <a:lnTo>
                  <a:pt x="463291" y="230297"/>
                </a:lnTo>
                <a:lnTo>
                  <a:pt x="468731" y="203403"/>
                </a:lnTo>
                <a:lnTo>
                  <a:pt x="468731" y="69113"/>
                </a:lnTo>
                <a:lnTo>
                  <a:pt x="463291" y="42219"/>
                </a:lnTo>
                <a:lnTo>
                  <a:pt x="448435" y="20250"/>
                </a:lnTo>
                <a:lnTo>
                  <a:pt x="426356" y="5434"/>
                </a:lnTo>
                <a:lnTo>
                  <a:pt x="399249" y="0"/>
                </a:lnTo>
                <a:close/>
              </a:path>
            </a:pathLst>
          </a:custGeom>
          <a:solidFill>
            <a:srgbClr val="FF9000"/>
          </a:solidFill>
        </p:spPr>
        <p:txBody>
          <a:bodyPr wrap="square" lIns="0" tIns="0" rIns="0" bIns="0" rtlCol="0"/>
          <a:lstStyle/>
          <a:p>
            <a:endParaRPr/>
          </a:p>
        </p:txBody>
      </p:sp>
      <p:sp>
        <p:nvSpPr>
          <p:cNvPr id="64" name="object 64"/>
          <p:cNvSpPr txBox="1"/>
          <p:nvPr/>
        </p:nvSpPr>
        <p:spPr>
          <a:xfrm>
            <a:off x="7944522" y="1963213"/>
            <a:ext cx="264160" cy="164465"/>
          </a:xfrm>
          <a:prstGeom prst="rect">
            <a:avLst/>
          </a:prstGeom>
        </p:spPr>
        <p:txBody>
          <a:bodyPr vert="horz" wrap="square" lIns="0" tIns="13335" rIns="0" bIns="0" rtlCol="0">
            <a:spAutoFit/>
          </a:bodyPr>
          <a:lstStyle/>
          <a:p>
            <a:pPr marL="12700">
              <a:lnSpc>
                <a:spcPct val="100000"/>
              </a:lnSpc>
              <a:spcBef>
                <a:spcPts val="105"/>
              </a:spcBef>
            </a:pPr>
            <a:r>
              <a:rPr sz="900" spc="-25" dirty="0">
                <a:solidFill>
                  <a:srgbClr val="FFFFFF"/>
                </a:solidFill>
                <a:latin typeface="Lucida Sans Unicode"/>
                <a:cs typeface="Lucida Sans Unicode"/>
              </a:rPr>
              <a:t>VM2</a:t>
            </a:r>
            <a:endParaRPr sz="900">
              <a:latin typeface="Lucida Sans Unicode"/>
              <a:cs typeface="Lucida Sans Unicode"/>
            </a:endParaRPr>
          </a:p>
        </p:txBody>
      </p:sp>
      <p:sp>
        <p:nvSpPr>
          <p:cNvPr id="65" name="object 65"/>
          <p:cNvSpPr/>
          <p:nvPr/>
        </p:nvSpPr>
        <p:spPr>
          <a:xfrm>
            <a:off x="6793204" y="1913047"/>
            <a:ext cx="973455" cy="273050"/>
          </a:xfrm>
          <a:custGeom>
            <a:avLst/>
            <a:gdLst/>
            <a:ahLst/>
            <a:cxnLst/>
            <a:rect l="l" t="t" r="r" b="b"/>
            <a:pathLst>
              <a:path w="973454" h="273050">
                <a:moveTo>
                  <a:pt x="928077" y="0"/>
                </a:moveTo>
                <a:lnTo>
                  <a:pt x="45720" y="0"/>
                </a:lnTo>
                <a:lnTo>
                  <a:pt x="27790" y="3600"/>
                </a:lnTo>
                <a:lnTo>
                  <a:pt x="13273" y="13411"/>
                </a:lnTo>
                <a:lnTo>
                  <a:pt x="3548" y="27946"/>
                </a:lnTo>
                <a:lnTo>
                  <a:pt x="0" y="45719"/>
                </a:lnTo>
                <a:lnTo>
                  <a:pt x="0" y="227164"/>
                </a:lnTo>
                <a:lnTo>
                  <a:pt x="3548" y="244938"/>
                </a:lnTo>
                <a:lnTo>
                  <a:pt x="13273" y="259473"/>
                </a:lnTo>
                <a:lnTo>
                  <a:pt x="27790" y="269284"/>
                </a:lnTo>
                <a:lnTo>
                  <a:pt x="45720" y="272884"/>
                </a:lnTo>
                <a:lnTo>
                  <a:pt x="486714" y="272884"/>
                </a:lnTo>
                <a:lnTo>
                  <a:pt x="928077" y="272884"/>
                </a:lnTo>
                <a:lnTo>
                  <a:pt x="945794" y="269284"/>
                </a:lnTo>
                <a:lnTo>
                  <a:pt x="960202" y="259473"/>
                </a:lnTo>
                <a:lnTo>
                  <a:pt x="969886" y="244938"/>
                </a:lnTo>
                <a:lnTo>
                  <a:pt x="973429" y="227164"/>
                </a:lnTo>
                <a:lnTo>
                  <a:pt x="973429" y="45719"/>
                </a:lnTo>
                <a:lnTo>
                  <a:pt x="969886" y="27946"/>
                </a:lnTo>
                <a:lnTo>
                  <a:pt x="960202" y="13411"/>
                </a:lnTo>
                <a:lnTo>
                  <a:pt x="945794" y="3600"/>
                </a:lnTo>
                <a:lnTo>
                  <a:pt x="928077" y="0"/>
                </a:lnTo>
                <a:close/>
              </a:path>
            </a:pathLst>
          </a:custGeom>
          <a:solidFill>
            <a:srgbClr val="FF9000"/>
          </a:solidFill>
        </p:spPr>
        <p:txBody>
          <a:bodyPr wrap="square" lIns="0" tIns="0" rIns="0" bIns="0" rtlCol="0"/>
          <a:lstStyle/>
          <a:p>
            <a:endParaRPr/>
          </a:p>
        </p:txBody>
      </p:sp>
      <p:sp>
        <p:nvSpPr>
          <p:cNvPr id="66" name="object 66"/>
          <p:cNvSpPr txBox="1"/>
          <p:nvPr/>
        </p:nvSpPr>
        <p:spPr>
          <a:xfrm>
            <a:off x="6984580" y="1962133"/>
            <a:ext cx="592455" cy="164465"/>
          </a:xfrm>
          <a:prstGeom prst="rect">
            <a:avLst/>
          </a:prstGeom>
        </p:spPr>
        <p:txBody>
          <a:bodyPr vert="horz" wrap="square" lIns="0" tIns="13335" rIns="0" bIns="0" rtlCol="0">
            <a:spAutoFit/>
          </a:bodyPr>
          <a:lstStyle/>
          <a:p>
            <a:pPr marL="12700">
              <a:lnSpc>
                <a:spcPct val="100000"/>
              </a:lnSpc>
              <a:spcBef>
                <a:spcPts val="105"/>
              </a:spcBef>
            </a:pPr>
            <a:r>
              <a:rPr sz="900" spc="-10" dirty="0">
                <a:solidFill>
                  <a:srgbClr val="FFFFFF"/>
                </a:solidFill>
                <a:latin typeface="Lucida Sans Unicode"/>
                <a:cs typeface="Lucida Sans Unicode"/>
              </a:rPr>
              <a:t>Router</a:t>
            </a:r>
            <a:r>
              <a:rPr sz="900" spc="-45" dirty="0">
                <a:solidFill>
                  <a:srgbClr val="FFFFFF"/>
                </a:solidFill>
                <a:latin typeface="Lucida Sans Unicode"/>
                <a:cs typeface="Lucida Sans Unicode"/>
              </a:rPr>
              <a:t> </a:t>
            </a:r>
            <a:r>
              <a:rPr sz="900" spc="-25" dirty="0">
                <a:solidFill>
                  <a:srgbClr val="FFFFFF"/>
                </a:solidFill>
                <a:latin typeface="Lucida Sans Unicode"/>
                <a:cs typeface="Lucida Sans Unicode"/>
              </a:rPr>
              <a:t>VM</a:t>
            </a:r>
            <a:endParaRPr sz="900">
              <a:latin typeface="Lucida Sans Unicode"/>
              <a:cs typeface="Lucida Sans Unicode"/>
            </a:endParaRPr>
          </a:p>
        </p:txBody>
      </p:sp>
      <p:sp>
        <p:nvSpPr>
          <p:cNvPr id="67" name="object 67"/>
          <p:cNvSpPr/>
          <p:nvPr/>
        </p:nvSpPr>
        <p:spPr>
          <a:xfrm>
            <a:off x="6793204" y="2370247"/>
            <a:ext cx="973455" cy="238125"/>
          </a:xfrm>
          <a:custGeom>
            <a:avLst/>
            <a:gdLst/>
            <a:ahLst/>
            <a:cxnLst/>
            <a:rect l="l" t="t" r="r" b="b"/>
            <a:pathLst>
              <a:path w="973454" h="238125">
                <a:moveTo>
                  <a:pt x="928077" y="0"/>
                </a:moveTo>
                <a:lnTo>
                  <a:pt x="45720" y="0"/>
                </a:lnTo>
                <a:lnTo>
                  <a:pt x="27790" y="3600"/>
                </a:lnTo>
                <a:lnTo>
                  <a:pt x="13273" y="13411"/>
                </a:lnTo>
                <a:lnTo>
                  <a:pt x="3548" y="27946"/>
                </a:lnTo>
                <a:lnTo>
                  <a:pt x="0" y="45719"/>
                </a:lnTo>
                <a:lnTo>
                  <a:pt x="0" y="192595"/>
                </a:lnTo>
                <a:lnTo>
                  <a:pt x="3548" y="210318"/>
                </a:lnTo>
                <a:lnTo>
                  <a:pt x="13273" y="224731"/>
                </a:lnTo>
                <a:lnTo>
                  <a:pt x="27790" y="234416"/>
                </a:lnTo>
                <a:lnTo>
                  <a:pt x="45720" y="237959"/>
                </a:lnTo>
                <a:lnTo>
                  <a:pt x="486714" y="237959"/>
                </a:lnTo>
                <a:lnTo>
                  <a:pt x="928077" y="237959"/>
                </a:lnTo>
                <a:lnTo>
                  <a:pt x="945794" y="234416"/>
                </a:lnTo>
                <a:lnTo>
                  <a:pt x="960202" y="224731"/>
                </a:lnTo>
                <a:lnTo>
                  <a:pt x="969886" y="210318"/>
                </a:lnTo>
                <a:lnTo>
                  <a:pt x="973429" y="192595"/>
                </a:lnTo>
                <a:lnTo>
                  <a:pt x="973429" y="45719"/>
                </a:lnTo>
                <a:lnTo>
                  <a:pt x="969886" y="27946"/>
                </a:lnTo>
                <a:lnTo>
                  <a:pt x="960202" y="13411"/>
                </a:lnTo>
                <a:lnTo>
                  <a:pt x="945794" y="3600"/>
                </a:lnTo>
                <a:lnTo>
                  <a:pt x="928077" y="0"/>
                </a:lnTo>
                <a:close/>
              </a:path>
            </a:pathLst>
          </a:custGeom>
          <a:solidFill>
            <a:srgbClr val="FF9000"/>
          </a:solidFill>
        </p:spPr>
        <p:txBody>
          <a:bodyPr wrap="square" lIns="0" tIns="0" rIns="0" bIns="0" rtlCol="0"/>
          <a:lstStyle/>
          <a:p>
            <a:endParaRPr/>
          </a:p>
        </p:txBody>
      </p:sp>
      <p:sp>
        <p:nvSpPr>
          <p:cNvPr id="68" name="object 68"/>
          <p:cNvSpPr txBox="1"/>
          <p:nvPr/>
        </p:nvSpPr>
        <p:spPr>
          <a:xfrm>
            <a:off x="7073633" y="2396397"/>
            <a:ext cx="415925" cy="180975"/>
          </a:xfrm>
          <a:prstGeom prst="rect">
            <a:avLst/>
          </a:prstGeom>
        </p:spPr>
        <p:txBody>
          <a:bodyPr vert="horz" wrap="square" lIns="0" tIns="15240" rIns="0" bIns="0" rtlCol="0">
            <a:spAutoFit/>
          </a:bodyPr>
          <a:lstStyle/>
          <a:p>
            <a:pPr marL="12700">
              <a:lnSpc>
                <a:spcPct val="100000"/>
              </a:lnSpc>
              <a:spcBef>
                <a:spcPts val="120"/>
              </a:spcBef>
            </a:pPr>
            <a:r>
              <a:rPr sz="1000" spc="-10" dirty="0">
                <a:solidFill>
                  <a:srgbClr val="FFFFFF"/>
                </a:solidFill>
                <a:latin typeface="Lucida Sans Unicode"/>
                <a:cs typeface="Lucida Sans Unicode"/>
              </a:rPr>
              <a:t>vmbr0</a:t>
            </a:r>
            <a:endParaRPr sz="1000">
              <a:latin typeface="Lucida Sans Unicode"/>
              <a:cs typeface="Lucida Sans Unicode"/>
            </a:endParaRPr>
          </a:p>
        </p:txBody>
      </p:sp>
      <p:sp>
        <p:nvSpPr>
          <p:cNvPr id="69" name="object 69"/>
          <p:cNvSpPr/>
          <p:nvPr/>
        </p:nvSpPr>
        <p:spPr>
          <a:xfrm>
            <a:off x="7859521" y="2370247"/>
            <a:ext cx="973455" cy="238125"/>
          </a:xfrm>
          <a:custGeom>
            <a:avLst/>
            <a:gdLst/>
            <a:ahLst/>
            <a:cxnLst/>
            <a:rect l="l" t="t" r="r" b="b"/>
            <a:pathLst>
              <a:path w="973454" h="238125">
                <a:moveTo>
                  <a:pt x="928077" y="0"/>
                </a:moveTo>
                <a:lnTo>
                  <a:pt x="45720" y="0"/>
                </a:lnTo>
                <a:lnTo>
                  <a:pt x="27946" y="3600"/>
                </a:lnTo>
                <a:lnTo>
                  <a:pt x="13411" y="13411"/>
                </a:lnTo>
                <a:lnTo>
                  <a:pt x="3600" y="27946"/>
                </a:lnTo>
                <a:lnTo>
                  <a:pt x="0" y="45719"/>
                </a:lnTo>
                <a:lnTo>
                  <a:pt x="0" y="192595"/>
                </a:lnTo>
                <a:lnTo>
                  <a:pt x="3600" y="210318"/>
                </a:lnTo>
                <a:lnTo>
                  <a:pt x="13411" y="224731"/>
                </a:lnTo>
                <a:lnTo>
                  <a:pt x="27946" y="234416"/>
                </a:lnTo>
                <a:lnTo>
                  <a:pt x="45720" y="237959"/>
                </a:lnTo>
                <a:lnTo>
                  <a:pt x="486714" y="237959"/>
                </a:lnTo>
                <a:lnTo>
                  <a:pt x="928077" y="237959"/>
                </a:lnTo>
                <a:lnTo>
                  <a:pt x="945795" y="234416"/>
                </a:lnTo>
                <a:lnTo>
                  <a:pt x="960208" y="224731"/>
                </a:lnTo>
                <a:lnTo>
                  <a:pt x="969897" y="210318"/>
                </a:lnTo>
                <a:lnTo>
                  <a:pt x="973442" y="192595"/>
                </a:lnTo>
                <a:lnTo>
                  <a:pt x="973442" y="45719"/>
                </a:lnTo>
                <a:lnTo>
                  <a:pt x="969897" y="27946"/>
                </a:lnTo>
                <a:lnTo>
                  <a:pt x="960208" y="13411"/>
                </a:lnTo>
                <a:lnTo>
                  <a:pt x="945795" y="3600"/>
                </a:lnTo>
                <a:lnTo>
                  <a:pt x="928077" y="0"/>
                </a:lnTo>
                <a:close/>
              </a:path>
            </a:pathLst>
          </a:custGeom>
          <a:solidFill>
            <a:srgbClr val="FF9000"/>
          </a:solidFill>
        </p:spPr>
        <p:txBody>
          <a:bodyPr wrap="square" lIns="0" tIns="0" rIns="0" bIns="0" rtlCol="0"/>
          <a:lstStyle/>
          <a:p>
            <a:endParaRPr/>
          </a:p>
        </p:txBody>
      </p:sp>
      <p:sp>
        <p:nvSpPr>
          <p:cNvPr id="70" name="object 70"/>
          <p:cNvSpPr txBox="1"/>
          <p:nvPr/>
        </p:nvSpPr>
        <p:spPr>
          <a:xfrm>
            <a:off x="8139988" y="2396397"/>
            <a:ext cx="415925" cy="180975"/>
          </a:xfrm>
          <a:prstGeom prst="rect">
            <a:avLst/>
          </a:prstGeom>
        </p:spPr>
        <p:txBody>
          <a:bodyPr vert="horz" wrap="square" lIns="0" tIns="15240" rIns="0" bIns="0" rtlCol="0">
            <a:spAutoFit/>
          </a:bodyPr>
          <a:lstStyle/>
          <a:p>
            <a:pPr marL="12700">
              <a:lnSpc>
                <a:spcPct val="100000"/>
              </a:lnSpc>
              <a:spcBef>
                <a:spcPts val="120"/>
              </a:spcBef>
            </a:pPr>
            <a:r>
              <a:rPr sz="1000" spc="-10" dirty="0">
                <a:solidFill>
                  <a:srgbClr val="FFFFFF"/>
                </a:solidFill>
                <a:latin typeface="Lucida Sans Unicode"/>
                <a:cs typeface="Lucida Sans Unicode"/>
              </a:rPr>
              <a:t>vmbr1</a:t>
            </a:r>
            <a:endParaRPr sz="1000">
              <a:latin typeface="Lucida Sans Unicode"/>
              <a:cs typeface="Lucida Sans Unicode"/>
            </a:endParaRPr>
          </a:p>
        </p:txBody>
      </p:sp>
      <p:grpSp>
        <p:nvGrpSpPr>
          <p:cNvPr id="71" name="object 71"/>
          <p:cNvGrpSpPr/>
          <p:nvPr/>
        </p:nvGrpSpPr>
        <p:grpSpPr>
          <a:xfrm>
            <a:off x="6793204" y="2893691"/>
            <a:ext cx="973455" cy="475615"/>
            <a:chOff x="6793204" y="2893691"/>
            <a:chExt cx="973455" cy="475615"/>
          </a:xfrm>
        </p:grpSpPr>
        <p:sp>
          <p:nvSpPr>
            <p:cNvPr id="72" name="object 72"/>
            <p:cNvSpPr/>
            <p:nvPr/>
          </p:nvSpPr>
          <p:spPr>
            <a:xfrm>
              <a:off x="7032955" y="3093487"/>
              <a:ext cx="495934" cy="266700"/>
            </a:xfrm>
            <a:custGeom>
              <a:avLst/>
              <a:gdLst/>
              <a:ahLst/>
              <a:cxnLst/>
              <a:rect l="l" t="t" r="r" b="b"/>
              <a:pathLst>
                <a:path w="495934" h="266700">
                  <a:moveTo>
                    <a:pt x="195122" y="0"/>
                  </a:moveTo>
                  <a:lnTo>
                    <a:pt x="0" y="266395"/>
                  </a:lnTo>
                </a:path>
                <a:path w="495934" h="266700">
                  <a:moveTo>
                    <a:pt x="300240" y="0"/>
                  </a:moveTo>
                  <a:lnTo>
                    <a:pt x="495363" y="266395"/>
                  </a:lnTo>
                </a:path>
              </a:pathLst>
            </a:custGeom>
            <a:ln w="18191">
              <a:solidFill>
                <a:srgbClr val="FFFFFF"/>
              </a:solidFill>
            </a:ln>
          </p:spPr>
          <p:txBody>
            <a:bodyPr wrap="square" lIns="0" tIns="0" rIns="0" bIns="0" rtlCol="0"/>
            <a:lstStyle/>
            <a:p>
              <a:endParaRPr/>
            </a:p>
          </p:txBody>
        </p:sp>
        <p:sp>
          <p:nvSpPr>
            <p:cNvPr id="73" name="object 73"/>
            <p:cNvSpPr/>
            <p:nvPr/>
          </p:nvSpPr>
          <p:spPr>
            <a:xfrm>
              <a:off x="6793204" y="2893691"/>
              <a:ext cx="973455" cy="238125"/>
            </a:xfrm>
            <a:custGeom>
              <a:avLst/>
              <a:gdLst/>
              <a:ahLst/>
              <a:cxnLst/>
              <a:rect l="l" t="t" r="r" b="b"/>
              <a:pathLst>
                <a:path w="973454" h="238125">
                  <a:moveTo>
                    <a:pt x="928077" y="0"/>
                  </a:moveTo>
                  <a:lnTo>
                    <a:pt x="45720" y="0"/>
                  </a:lnTo>
                  <a:lnTo>
                    <a:pt x="27790" y="3542"/>
                  </a:lnTo>
                  <a:lnTo>
                    <a:pt x="13273" y="13227"/>
                  </a:lnTo>
                  <a:lnTo>
                    <a:pt x="3548" y="27635"/>
                  </a:lnTo>
                  <a:lnTo>
                    <a:pt x="0" y="45351"/>
                  </a:lnTo>
                  <a:lnTo>
                    <a:pt x="0" y="192239"/>
                  </a:lnTo>
                  <a:lnTo>
                    <a:pt x="3548" y="210013"/>
                  </a:lnTo>
                  <a:lnTo>
                    <a:pt x="13273" y="224548"/>
                  </a:lnTo>
                  <a:lnTo>
                    <a:pt x="27790" y="234359"/>
                  </a:lnTo>
                  <a:lnTo>
                    <a:pt x="45720" y="237959"/>
                  </a:lnTo>
                  <a:lnTo>
                    <a:pt x="486714" y="237959"/>
                  </a:lnTo>
                  <a:lnTo>
                    <a:pt x="928077" y="237959"/>
                  </a:lnTo>
                  <a:lnTo>
                    <a:pt x="945794" y="234359"/>
                  </a:lnTo>
                  <a:lnTo>
                    <a:pt x="960202" y="224548"/>
                  </a:lnTo>
                  <a:lnTo>
                    <a:pt x="969886" y="210013"/>
                  </a:lnTo>
                  <a:lnTo>
                    <a:pt x="973429" y="192239"/>
                  </a:lnTo>
                  <a:lnTo>
                    <a:pt x="973429" y="45351"/>
                  </a:lnTo>
                  <a:lnTo>
                    <a:pt x="969886" y="27635"/>
                  </a:lnTo>
                  <a:lnTo>
                    <a:pt x="960202" y="13227"/>
                  </a:lnTo>
                  <a:lnTo>
                    <a:pt x="945794" y="3542"/>
                  </a:lnTo>
                  <a:lnTo>
                    <a:pt x="928077" y="0"/>
                  </a:lnTo>
                  <a:close/>
                </a:path>
              </a:pathLst>
            </a:custGeom>
            <a:solidFill>
              <a:srgbClr val="FF9000"/>
            </a:solidFill>
          </p:spPr>
          <p:txBody>
            <a:bodyPr wrap="square" lIns="0" tIns="0" rIns="0" bIns="0" rtlCol="0"/>
            <a:lstStyle/>
            <a:p>
              <a:endParaRPr/>
            </a:p>
          </p:txBody>
        </p:sp>
      </p:grpSp>
      <p:sp>
        <p:nvSpPr>
          <p:cNvPr id="74" name="object 74"/>
          <p:cNvSpPr txBox="1"/>
          <p:nvPr/>
        </p:nvSpPr>
        <p:spPr>
          <a:xfrm>
            <a:off x="7073633" y="2919497"/>
            <a:ext cx="414655" cy="180975"/>
          </a:xfrm>
          <a:prstGeom prst="rect">
            <a:avLst/>
          </a:prstGeom>
        </p:spPr>
        <p:txBody>
          <a:bodyPr vert="horz" wrap="square" lIns="0" tIns="15240" rIns="0" bIns="0" rtlCol="0">
            <a:spAutoFit/>
          </a:bodyPr>
          <a:lstStyle/>
          <a:p>
            <a:pPr marL="12700">
              <a:lnSpc>
                <a:spcPct val="100000"/>
              </a:lnSpc>
              <a:spcBef>
                <a:spcPts val="120"/>
              </a:spcBef>
            </a:pPr>
            <a:r>
              <a:rPr sz="1000" spc="-10" dirty="0">
                <a:solidFill>
                  <a:srgbClr val="FFFFFF"/>
                </a:solidFill>
                <a:latin typeface="Lucida Sans Unicode"/>
                <a:cs typeface="Lucida Sans Unicode"/>
              </a:rPr>
              <a:t>bond0</a:t>
            </a:r>
            <a:endParaRPr sz="1000">
              <a:latin typeface="Lucida Sans Unicode"/>
              <a:cs typeface="Lucida Sans Unicode"/>
            </a:endParaRPr>
          </a:p>
        </p:txBody>
      </p:sp>
      <p:grpSp>
        <p:nvGrpSpPr>
          <p:cNvPr id="75" name="object 75"/>
          <p:cNvGrpSpPr/>
          <p:nvPr/>
        </p:nvGrpSpPr>
        <p:grpSpPr>
          <a:xfrm>
            <a:off x="6902284" y="3343334"/>
            <a:ext cx="329565" cy="565150"/>
            <a:chOff x="6902284" y="3343334"/>
            <a:chExt cx="329565" cy="565150"/>
          </a:xfrm>
        </p:grpSpPr>
        <p:sp>
          <p:nvSpPr>
            <p:cNvPr id="76" name="object 76"/>
            <p:cNvSpPr/>
            <p:nvPr/>
          </p:nvSpPr>
          <p:spPr>
            <a:xfrm>
              <a:off x="6902284" y="3343334"/>
              <a:ext cx="329565" cy="565150"/>
            </a:xfrm>
            <a:custGeom>
              <a:avLst/>
              <a:gdLst/>
              <a:ahLst/>
              <a:cxnLst/>
              <a:rect l="l" t="t" r="r" b="b"/>
              <a:pathLst>
                <a:path w="329565" h="565150">
                  <a:moveTo>
                    <a:pt x="284035" y="0"/>
                  </a:moveTo>
                  <a:lnTo>
                    <a:pt x="45351" y="0"/>
                  </a:lnTo>
                  <a:lnTo>
                    <a:pt x="27635" y="3542"/>
                  </a:lnTo>
                  <a:lnTo>
                    <a:pt x="13227" y="13227"/>
                  </a:lnTo>
                  <a:lnTo>
                    <a:pt x="3542" y="27635"/>
                  </a:lnTo>
                  <a:lnTo>
                    <a:pt x="0" y="45351"/>
                  </a:lnTo>
                  <a:lnTo>
                    <a:pt x="0" y="519468"/>
                  </a:lnTo>
                  <a:lnTo>
                    <a:pt x="3542" y="537191"/>
                  </a:lnTo>
                  <a:lnTo>
                    <a:pt x="13227" y="551603"/>
                  </a:lnTo>
                  <a:lnTo>
                    <a:pt x="27635" y="561289"/>
                  </a:lnTo>
                  <a:lnTo>
                    <a:pt x="45351" y="564832"/>
                  </a:lnTo>
                  <a:lnTo>
                    <a:pt x="284035" y="564832"/>
                  </a:lnTo>
                  <a:lnTo>
                    <a:pt x="301753" y="561289"/>
                  </a:lnTo>
                  <a:lnTo>
                    <a:pt x="316166" y="551603"/>
                  </a:lnTo>
                  <a:lnTo>
                    <a:pt x="325855" y="537191"/>
                  </a:lnTo>
                  <a:lnTo>
                    <a:pt x="329399" y="519468"/>
                  </a:lnTo>
                  <a:lnTo>
                    <a:pt x="329399" y="282600"/>
                  </a:lnTo>
                  <a:lnTo>
                    <a:pt x="329399" y="45351"/>
                  </a:lnTo>
                  <a:lnTo>
                    <a:pt x="325855" y="27635"/>
                  </a:lnTo>
                  <a:lnTo>
                    <a:pt x="316166" y="13227"/>
                  </a:lnTo>
                  <a:lnTo>
                    <a:pt x="301753" y="3542"/>
                  </a:lnTo>
                  <a:lnTo>
                    <a:pt x="284035" y="0"/>
                  </a:lnTo>
                  <a:close/>
                </a:path>
              </a:pathLst>
            </a:custGeom>
            <a:solidFill>
              <a:srgbClr val="FF9000"/>
            </a:solidFill>
          </p:spPr>
          <p:txBody>
            <a:bodyPr wrap="square" lIns="0" tIns="0" rIns="0" bIns="0" rtlCol="0"/>
            <a:lstStyle/>
            <a:p>
              <a:endParaRPr/>
            </a:p>
          </p:txBody>
        </p:sp>
        <p:sp>
          <p:nvSpPr>
            <p:cNvPr id="77" name="object 77"/>
            <p:cNvSpPr/>
            <p:nvPr/>
          </p:nvSpPr>
          <p:spPr>
            <a:xfrm>
              <a:off x="6981482" y="3542762"/>
              <a:ext cx="168910" cy="294005"/>
            </a:xfrm>
            <a:custGeom>
              <a:avLst/>
              <a:gdLst/>
              <a:ahLst/>
              <a:cxnLst/>
              <a:rect l="l" t="t" r="r" b="b"/>
              <a:pathLst>
                <a:path w="168909" h="294004">
                  <a:moveTo>
                    <a:pt x="84594" y="293763"/>
                  </a:moveTo>
                  <a:lnTo>
                    <a:pt x="0" y="293763"/>
                  </a:lnTo>
                  <a:lnTo>
                    <a:pt x="0" y="0"/>
                  </a:lnTo>
                  <a:lnTo>
                    <a:pt x="168833" y="0"/>
                  </a:lnTo>
                  <a:lnTo>
                    <a:pt x="168833" y="293763"/>
                  </a:lnTo>
                  <a:lnTo>
                    <a:pt x="84594" y="293763"/>
                  </a:lnTo>
                  <a:close/>
                </a:path>
              </a:pathLst>
            </a:custGeom>
            <a:ln w="14527">
              <a:solidFill>
                <a:srgbClr val="FFFFFF"/>
              </a:solidFill>
            </a:ln>
          </p:spPr>
          <p:txBody>
            <a:bodyPr wrap="square" lIns="0" tIns="0" rIns="0" bIns="0" rtlCol="0"/>
            <a:lstStyle/>
            <a:p>
              <a:endParaRPr/>
            </a:p>
          </p:txBody>
        </p:sp>
        <p:sp>
          <p:nvSpPr>
            <p:cNvPr id="78" name="object 78"/>
            <p:cNvSpPr/>
            <p:nvPr/>
          </p:nvSpPr>
          <p:spPr>
            <a:xfrm>
              <a:off x="7028281" y="3586692"/>
              <a:ext cx="76835" cy="85725"/>
            </a:xfrm>
            <a:custGeom>
              <a:avLst/>
              <a:gdLst/>
              <a:ahLst/>
              <a:cxnLst/>
              <a:rect l="l" t="t" r="r" b="b"/>
              <a:pathLst>
                <a:path w="76834" h="85725">
                  <a:moveTo>
                    <a:pt x="38519" y="85318"/>
                  </a:moveTo>
                  <a:lnTo>
                    <a:pt x="0" y="85318"/>
                  </a:lnTo>
                  <a:lnTo>
                    <a:pt x="0" y="0"/>
                  </a:lnTo>
                  <a:lnTo>
                    <a:pt x="76682" y="0"/>
                  </a:lnTo>
                  <a:lnTo>
                    <a:pt x="76682" y="85318"/>
                  </a:lnTo>
                  <a:lnTo>
                    <a:pt x="38519" y="85318"/>
                  </a:lnTo>
                  <a:close/>
                </a:path>
              </a:pathLst>
            </a:custGeom>
            <a:ln w="12404">
              <a:solidFill>
                <a:srgbClr val="FFFFFF"/>
              </a:solidFill>
            </a:ln>
          </p:spPr>
          <p:txBody>
            <a:bodyPr wrap="square" lIns="0" tIns="0" rIns="0" bIns="0" rtlCol="0"/>
            <a:lstStyle/>
            <a:p>
              <a:endParaRPr/>
            </a:p>
          </p:txBody>
        </p:sp>
      </p:grpSp>
      <p:sp>
        <p:nvSpPr>
          <p:cNvPr id="79" name="object 79"/>
          <p:cNvSpPr txBox="1"/>
          <p:nvPr/>
        </p:nvSpPr>
        <p:spPr>
          <a:xfrm>
            <a:off x="6932790" y="3356491"/>
            <a:ext cx="283210" cy="164465"/>
          </a:xfrm>
          <a:prstGeom prst="rect">
            <a:avLst/>
          </a:prstGeom>
        </p:spPr>
        <p:txBody>
          <a:bodyPr vert="horz" wrap="square" lIns="0" tIns="13970" rIns="0" bIns="0" rtlCol="0">
            <a:spAutoFit/>
          </a:bodyPr>
          <a:lstStyle/>
          <a:p>
            <a:pPr marL="12700">
              <a:lnSpc>
                <a:spcPct val="100000"/>
              </a:lnSpc>
              <a:spcBef>
                <a:spcPts val="110"/>
              </a:spcBef>
            </a:pPr>
            <a:r>
              <a:rPr sz="900" spc="-20" dirty="0">
                <a:solidFill>
                  <a:srgbClr val="FFFFFF"/>
                </a:solidFill>
                <a:latin typeface="Lucida Sans Unicode"/>
                <a:cs typeface="Lucida Sans Unicode"/>
              </a:rPr>
              <a:t>NIC1</a:t>
            </a:r>
            <a:endParaRPr sz="900">
              <a:latin typeface="Lucida Sans Unicode"/>
              <a:cs typeface="Lucida Sans Unicode"/>
            </a:endParaRPr>
          </a:p>
        </p:txBody>
      </p:sp>
      <p:grpSp>
        <p:nvGrpSpPr>
          <p:cNvPr id="80" name="object 80"/>
          <p:cNvGrpSpPr/>
          <p:nvPr/>
        </p:nvGrpSpPr>
        <p:grpSpPr>
          <a:xfrm>
            <a:off x="7328878" y="3343334"/>
            <a:ext cx="330200" cy="565150"/>
            <a:chOff x="7328878" y="3343334"/>
            <a:chExt cx="330200" cy="565150"/>
          </a:xfrm>
        </p:grpSpPr>
        <p:sp>
          <p:nvSpPr>
            <p:cNvPr id="81" name="object 81"/>
            <p:cNvSpPr/>
            <p:nvPr/>
          </p:nvSpPr>
          <p:spPr>
            <a:xfrm>
              <a:off x="7328878" y="3343334"/>
              <a:ext cx="330200" cy="565150"/>
            </a:xfrm>
            <a:custGeom>
              <a:avLst/>
              <a:gdLst/>
              <a:ahLst/>
              <a:cxnLst/>
              <a:rect l="l" t="t" r="r" b="b"/>
              <a:pathLst>
                <a:path w="330200" h="565150">
                  <a:moveTo>
                    <a:pt x="284048" y="0"/>
                  </a:moveTo>
                  <a:lnTo>
                    <a:pt x="45364" y="0"/>
                  </a:lnTo>
                  <a:lnTo>
                    <a:pt x="27646" y="3542"/>
                  </a:lnTo>
                  <a:lnTo>
                    <a:pt x="13233" y="13227"/>
                  </a:lnTo>
                  <a:lnTo>
                    <a:pt x="3544" y="27635"/>
                  </a:lnTo>
                  <a:lnTo>
                    <a:pt x="0" y="45351"/>
                  </a:lnTo>
                  <a:lnTo>
                    <a:pt x="0" y="519468"/>
                  </a:lnTo>
                  <a:lnTo>
                    <a:pt x="3544" y="537191"/>
                  </a:lnTo>
                  <a:lnTo>
                    <a:pt x="13233" y="551603"/>
                  </a:lnTo>
                  <a:lnTo>
                    <a:pt x="27646" y="561289"/>
                  </a:lnTo>
                  <a:lnTo>
                    <a:pt x="45364" y="564832"/>
                  </a:lnTo>
                  <a:lnTo>
                    <a:pt x="284048" y="564832"/>
                  </a:lnTo>
                  <a:lnTo>
                    <a:pt x="301821" y="561289"/>
                  </a:lnTo>
                  <a:lnTo>
                    <a:pt x="316356" y="551603"/>
                  </a:lnTo>
                  <a:lnTo>
                    <a:pt x="326167" y="537191"/>
                  </a:lnTo>
                  <a:lnTo>
                    <a:pt x="329768" y="519468"/>
                  </a:lnTo>
                  <a:lnTo>
                    <a:pt x="329768" y="282600"/>
                  </a:lnTo>
                  <a:lnTo>
                    <a:pt x="329768" y="45351"/>
                  </a:lnTo>
                  <a:lnTo>
                    <a:pt x="326167" y="27635"/>
                  </a:lnTo>
                  <a:lnTo>
                    <a:pt x="316356" y="13227"/>
                  </a:lnTo>
                  <a:lnTo>
                    <a:pt x="301821" y="3542"/>
                  </a:lnTo>
                  <a:lnTo>
                    <a:pt x="284048" y="0"/>
                  </a:lnTo>
                  <a:close/>
                </a:path>
              </a:pathLst>
            </a:custGeom>
            <a:solidFill>
              <a:srgbClr val="FF9000"/>
            </a:solidFill>
          </p:spPr>
          <p:txBody>
            <a:bodyPr wrap="square" lIns="0" tIns="0" rIns="0" bIns="0" rtlCol="0"/>
            <a:lstStyle/>
            <a:p>
              <a:endParaRPr/>
            </a:p>
          </p:txBody>
        </p:sp>
        <p:sp>
          <p:nvSpPr>
            <p:cNvPr id="82" name="object 82"/>
            <p:cNvSpPr/>
            <p:nvPr/>
          </p:nvSpPr>
          <p:spPr>
            <a:xfrm>
              <a:off x="7409154" y="3540248"/>
              <a:ext cx="168910" cy="294005"/>
            </a:xfrm>
            <a:custGeom>
              <a:avLst/>
              <a:gdLst/>
              <a:ahLst/>
              <a:cxnLst/>
              <a:rect l="l" t="t" r="r" b="b"/>
              <a:pathLst>
                <a:path w="168909" h="294004">
                  <a:moveTo>
                    <a:pt x="84607" y="293395"/>
                  </a:moveTo>
                  <a:lnTo>
                    <a:pt x="0" y="293395"/>
                  </a:lnTo>
                  <a:lnTo>
                    <a:pt x="0" y="0"/>
                  </a:lnTo>
                  <a:lnTo>
                    <a:pt x="168846" y="0"/>
                  </a:lnTo>
                  <a:lnTo>
                    <a:pt x="168846" y="293395"/>
                  </a:lnTo>
                  <a:lnTo>
                    <a:pt x="84607" y="293395"/>
                  </a:lnTo>
                  <a:close/>
                </a:path>
              </a:pathLst>
            </a:custGeom>
            <a:ln w="14520">
              <a:solidFill>
                <a:srgbClr val="FFFFFF"/>
              </a:solidFill>
            </a:ln>
          </p:spPr>
          <p:txBody>
            <a:bodyPr wrap="square" lIns="0" tIns="0" rIns="0" bIns="0" rtlCol="0"/>
            <a:lstStyle/>
            <a:p>
              <a:endParaRPr/>
            </a:p>
          </p:txBody>
        </p:sp>
        <p:sp>
          <p:nvSpPr>
            <p:cNvPr id="83" name="object 83"/>
            <p:cNvSpPr/>
            <p:nvPr/>
          </p:nvSpPr>
          <p:spPr>
            <a:xfrm>
              <a:off x="7455598" y="3583453"/>
              <a:ext cx="76835" cy="85725"/>
            </a:xfrm>
            <a:custGeom>
              <a:avLst/>
              <a:gdLst/>
              <a:ahLst/>
              <a:cxnLst/>
              <a:rect l="l" t="t" r="r" b="b"/>
              <a:pathLst>
                <a:path w="76834" h="85725">
                  <a:moveTo>
                    <a:pt x="38163" y="85318"/>
                  </a:moveTo>
                  <a:lnTo>
                    <a:pt x="0" y="85318"/>
                  </a:lnTo>
                  <a:lnTo>
                    <a:pt x="0" y="0"/>
                  </a:lnTo>
                  <a:lnTo>
                    <a:pt x="76682" y="0"/>
                  </a:lnTo>
                  <a:lnTo>
                    <a:pt x="76682" y="85318"/>
                  </a:lnTo>
                  <a:lnTo>
                    <a:pt x="38163" y="85318"/>
                  </a:lnTo>
                  <a:close/>
                </a:path>
              </a:pathLst>
            </a:custGeom>
            <a:ln w="12395">
              <a:solidFill>
                <a:srgbClr val="FFFFFF"/>
              </a:solidFill>
            </a:ln>
          </p:spPr>
          <p:txBody>
            <a:bodyPr wrap="square" lIns="0" tIns="0" rIns="0" bIns="0" rtlCol="0"/>
            <a:lstStyle/>
            <a:p>
              <a:endParaRPr/>
            </a:p>
          </p:txBody>
        </p:sp>
      </p:grpSp>
      <p:sp>
        <p:nvSpPr>
          <p:cNvPr id="84" name="object 84"/>
          <p:cNvSpPr txBox="1"/>
          <p:nvPr/>
        </p:nvSpPr>
        <p:spPr>
          <a:xfrm>
            <a:off x="7349642" y="3356491"/>
            <a:ext cx="283210" cy="164465"/>
          </a:xfrm>
          <a:prstGeom prst="rect">
            <a:avLst/>
          </a:prstGeom>
        </p:spPr>
        <p:txBody>
          <a:bodyPr vert="horz" wrap="square" lIns="0" tIns="13970" rIns="0" bIns="0" rtlCol="0">
            <a:spAutoFit/>
          </a:bodyPr>
          <a:lstStyle/>
          <a:p>
            <a:pPr marL="12700">
              <a:lnSpc>
                <a:spcPct val="100000"/>
              </a:lnSpc>
              <a:spcBef>
                <a:spcPts val="110"/>
              </a:spcBef>
            </a:pPr>
            <a:r>
              <a:rPr sz="900" spc="-20" dirty="0">
                <a:solidFill>
                  <a:srgbClr val="FFFFFF"/>
                </a:solidFill>
                <a:latin typeface="Lucida Sans Unicode"/>
                <a:cs typeface="Lucida Sans Unicode"/>
              </a:rPr>
              <a:t>NIC2</a:t>
            </a:r>
            <a:endParaRPr sz="900">
              <a:latin typeface="Lucida Sans Unicode"/>
              <a:cs typeface="Lucida Sans Unicode"/>
            </a:endParaRPr>
          </a:p>
        </p:txBody>
      </p:sp>
      <p:sp>
        <p:nvSpPr>
          <p:cNvPr id="85" name="object 8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86" name="object 86"/>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17</a:t>
            </a:fld>
            <a:r>
              <a:rPr spc="-10" dirty="0"/>
              <a:t>/60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358" y="1061652"/>
            <a:ext cx="9431642" cy="4025519"/>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Available</a:t>
            </a:r>
            <a:r>
              <a:rPr spc="-254" dirty="0"/>
              <a:t> </a:t>
            </a:r>
            <a:r>
              <a:rPr spc="-20" dirty="0"/>
              <a:t>Storage</a:t>
            </a:r>
            <a:r>
              <a:rPr spc="-250" dirty="0"/>
              <a:t> </a:t>
            </a:r>
            <a:r>
              <a:rPr dirty="0"/>
              <a:t>in</a:t>
            </a:r>
            <a:r>
              <a:rPr spc="-254" dirty="0"/>
              <a:t> </a:t>
            </a:r>
            <a:r>
              <a:rPr dirty="0"/>
              <a:t>Proxmox</a:t>
            </a:r>
            <a:r>
              <a:rPr spc="-250" dirty="0"/>
              <a:t> </a:t>
            </a:r>
            <a:r>
              <a:rPr spc="120" dirty="0"/>
              <a:t>VE</a:t>
            </a:r>
          </a:p>
        </p:txBody>
      </p:sp>
      <p:sp>
        <p:nvSpPr>
          <p:cNvPr id="4" name="object 4"/>
          <p:cNvSpPr txBox="1"/>
          <p:nvPr/>
        </p:nvSpPr>
        <p:spPr>
          <a:xfrm>
            <a:off x="7231938" y="4910072"/>
            <a:ext cx="1511300" cy="173355"/>
          </a:xfrm>
          <a:prstGeom prst="rect">
            <a:avLst/>
          </a:prstGeom>
        </p:spPr>
        <p:txBody>
          <a:bodyPr vert="horz" wrap="square" lIns="0" tIns="0" rIns="0" bIns="0" rtlCol="0">
            <a:spAutoFit/>
          </a:bodyPr>
          <a:lstStyle/>
          <a:p>
            <a:pPr marL="12700">
              <a:lnSpc>
                <a:spcPts val="1260"/>
              </a:lnSpc>
            </a:pPr>
            <a:r>
              <a:rPr sz="1150" spc="-85" dirty="0">
                <a:solidFill>
                  <a:srgbClr val="287FB8"/>
                </a:solidFill>
                <a:latin typeface="Tahoma"/>
                <a:cs typeface="Tahoma"/>
                <a:hlinkClick r:id="rId3"/>
              </a:rPr>
              <a:t>Read </a:t>
            </a:r>
            <a:r>
              <a:rPr sz="1150" spc="-65" dirty="0">
                <a:solidFill>
                  <a:srgbClr val="287FB8"/>
                </a:solidFill>
                <a:latin typeface="Tahoma"/>
                <a:cs typeface="Tahoma"/>
                <a:hlinkClick r:id="rId3"/>
              </a:rPr>
              <a:t>more</a:t>
            </a:r>
            <a:r>
              <a:rPr sz="1150" spc="-85" dirty="0">
                <a:solidFill>
                  <a:srgbClr val="287FB8"/>
                </a:solidFill>
                <a:latin typeface="Tahoma"/>
                <a:cs typeface="Tahoma"/>
                <a:hlinkClick r:id="rId3"/>
              </a:rPr>
              <a:t> </a:t>
            </a:r>
            <a:r>
              <a:rPr sz="1150" spc="-45" dirty="0">
                <a:solidFill>
                  <a:srgbClr val="287FB8"/>
                </a:solidFill>
                <a:latin typeface="Tahoma"/>
                <a:cs typeface="Tahoma"/>
                <a:hlinkClick r:id="rId3"/>
              </a:rPr>
              <a:t>in</a:t>
            </a:r>
            <a:r>
              <a:rPr sz="1150" spc="-80" dirty="0">
                <a:solidFill>
                  <a:srgbClr val="287FB8"/>
                </a:solidFill>
                <a:latin typeface="Tahoma"/>
                <a:cs typeface="Tahoma"/>
                <a:hlinkClick r:id="rId3"/>
              </a:rPr>
              <a:t> </a:t>
            </a:r>
            <a:r>
              <a:rPr sz="1150" spc="-65" dirty="0">
                <a:solidFill>
                  <a:srgbClr val="287FB8"/>
                </a:solidFill>
                <a:latin typeface="Tahoma"/>
                <a:cs typeface="Tahoma"/>
                <a:hlinkClick r:id="rId3"/>
              </a:rPr>
              <a:t>the</a:t>
            </a:r>
            <a:r>
              <a:rPr sz="1150" spc="-85" dirty="0">
                <a:solidFill>
                  <a:srgbClr val="287FB8"/>
                </a:solidFill>
                <a:latin typeface="Tahoma"/>
                <a:cs typeface="Tahoma"/>
                <a:hlinkClick r:id="rId3"/>
              </a:rPr>
              <a:t> DOCS</a:t>
            </a:r>
            <a:r>
              <a:rPr sz="1150" spc="-100" dirty="0">
                <a:solidFill>
                  <a:srgbClr val="287FB8"/>
                </a:solidFill>
                <a:latin typeface="Tahoma"/>
                <a:cs typeface="Tahoma"/>
                <a:hlinkClick r:id="rId3"/>
              </a:rPr>
              <a:t> </a:t>
            </a:r>
            <a:r>
              <a:rPr sz="1000" spc="-50" dirty="0">
                <a:solidFill>
                  <a:srgbClr val="287FB8"/>
                </a:solidFill>
                <a:latin typeface="Microsoft Sans Serif"/>
                <a:cs typeface="Microsoft Sans Serif"/>
                <a:hlinkClick r:id="rId3"/>
              </a:rPr>
              <a:t>→</a:t>
            </a:r>
            <a:endParaRPr sz="1000">
              <a:latin typeface="Microsoft Sans Serif"/>
              <a:cs typeface="Microsoft Sans Serif"/>
            </a:endParaRPr>
          </a:p>
        </p:txBody>
      </p:sp>
      <p:sp>
        <p:nvSpPr>
          <p:cNvPr id="5" name="object 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6" name="object 6"/>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18</a:t>
            </a:fld>
            <a:r>
              <a:rPr spc="-10" dirty="0"/>
              <a:t>/60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21802" y="1411563"/>
            <a:ext cx="3250565" cy="3239135"/>
          </a:xfrm>
          <a:custGeom>
            <a:avLst/>
            <a:gdLst/>
            <a:ahLst/>
            <a:cxnLst/>
            <a:rect l="l" t="t" r="r" b="b"/>
            <a:pathLst>
              <a:path w="3250565" h="3239135">
                <a:moveTo>
                  <a:pt x="3148203" y="0"/>
                </a:moveTo>
                <a:lnTo>
                  <a:pt x="102235" y="0"/>
                </a:lnTo>
                <a:lnTo>
                  <a:pt x="62418" y="8026"/>
                </a:lnTo>
                <a:lnTo>
                  <a:pt x="29924" y="29925"/>
                </a:lnTo>
                <a:lnTo>
                  <a:pt x="8026" y="62423"/>
                </a:lnTo>
                <a:lnTo>
                  <a:pt x="0" y="102247"/>
                </a:lnTo>
                <a:lnTo>
                  <a:pt x="0" y="3136328"/>
                </a:lnTo>
                <a:lnTo>
                  <a:pt x="8026" y="3176144"/>
                </a:lnTo>
                <a:lnTo>
                  <a:pt x="29924" y="3208639"/>
                </a:lnTo>
                <a:lnTo>
                  <a:pt x="62418" y="3230536"/>
                </a:lnTo>
                <a:lnTo>
                  <a:pt x="102235" y="3238563"/>
                </a:lnTo>
                <a:lnTo>
                  <a:pt x="1625041" y="3238563"/>
                </a:lnTo>
                <a:lnTo>
                  <a:pt x="3148203" y="3238563"/>
                </a:lnTo>
                <a:lnTo>
                  <a:pt x="3188019" y="3230536"/>
                </a:lnTo>
                <a:lnTo>
                  <a:pt x="3220513" y="3208639"/>
                </a:lnTo>
                <a:lnTo>
                  <a:pt x="3242411" y="3176144"/>
                </a:lnTo>
                <a:lnTo>
                  <a:pt x="3250438" y="3136328"/>
                </a:lnTo>
                <a:lnTo>
                  <a:pt x="3250438" y="102247"/>
                </a:lnTo>
                <a:lnTo>
                  <a:pt x="3242411" y="62423"/>
                </a:lnTo>
                <a:lnTo>
                  <a:pt x="3220513" y="29925"/>
                </a:lnTo>
                <a:lnTo>
                  <a:pt x="3188019" y="8026"/>
                </a:lnTo>
                <a:lnTo>
                  <a:pt x="3148203" y="0"/>
                </a:lnTo>
                <a:close/>
              </a:path>
            </a:pathLst>
          </a:custGeom>
          <a:solidFill>
            <a:srgbClr val="00607E"/>
          </a:solidFill>
        </p:spPr>
        <p:txBody>
          <a:bodyPr wrap="square" lIns="0" tIns="0" rIns="0" bIns="0" rtlCol="0"/>
          <a:lstStyle/>
          <a:p>
            <a:endParaRPr/>
          </a:p>
        </p:txBody>
      </p:sp>
      <p:sp>
        <p:nvSpPr>
          <p:cNvPr id="3" name="object 3"/>
          <p:cNvSpPr txBox="1"/>
          <p:nvPr/>
        </p:nvSpPr>
        <p:spPr>
          <a:xfrm>
            <a:off x="1765795" y="1833634"/>
            <a:ext cx="2927350" cy="334010"/>
          </a:xfrm>
          <a:prstGeom prst="rect">
            <a:avLst/>
          </a:prstGeom>
        </p:spPr>
        <p:txBody>
          <a:bodyPr vert="horz" wrap="square" lIns="0" tIns="15240" rIns="0" bIns="0" rtlCol="0">
            <a:spAutoFit/>
          </a:bodyPr>
          <a:lstStyle/>
          <a:p>
            <a:pPr marL="12700">
              <a:lnSpc>
                <a:spcPct val="100000"/>
              </a:lnSpc>
              <a:spcBef>
                <a:spcPts val="120"/>
              </a:spcBef>
            </a:pPr>
            <a:r>
              <a:rPr sz="2000" spc="-10" dirty="0">
                <a:solidFill>
                  <a:srgbClr val="FFFFFF"/>
                </a:solidFill>
                <a:latin typeface="Lucida Sans Unicode"/>
                <a:cs typeface="Lucida Sans Unicode"/>
              </a:rPr>
              <a:t>Proxmox</a:t>
            </a:r>
            <a:r>
              <a:rPr sz="2000" spc="-80" dirty="0">
                <a:solidFill>
                  <a:srgbClr val="FFFFFF"/>
                </a:solidFill>
                <a:latin typeface="Lucida Sans Unicode"/>
                <a:cs typeface="Lucida Sans Unicode"/>
              </a:rPr>
              <a:t> </a:t>
            </a:r>
            <a:r>
              <a:rPr sz="2000" dirty="0">
                <a:solidFill>
                  <a:srgbClr val="FFFFFF"/>
                </a:solidFill>
                <a:latin typeface="Lucida Sans Unicode"/>
                <a:cs typeface="Lucida Sans Unicode"/>
              </a:rPr>
              <a:t>VE</a:t>
            </a:r>
            <a:r>
              <a:rPr sz="2000" spc="-80" dirty="0">
                <a:solidFill>
                  <a:srgbClr val="FFFFFF"/>
                </a:solidFill>
                <a:latin typeface="Lucida Sans Unicode"/>
                <a:cs typeface="Lucida Sans Unicode"/>
              </a:rPr>
              <a:t> </a:t>
            </a:r>
            <a:r>
              <a:rPr sz="2000" dirty="0">
                <a:solidFill>
                  <a:srgbClr val="FFFFFF"/>
                </a:solidFill>
                <a:latin typeface="Lucida Sans Unicode"/>
                <a:cs typeface="Lucida Sans Unicode"/>
              </a:rPr>
              <a:t>Node</a:t>
            </a:r>
            <a:r>
              <a:rPr sz="2000" spc="-80" dirty="0">
                <a:solidFill>
                  <a:srgbClr val="FFFFFF"/>
                </a:solidFill>
                <a:latin typeface="Lucida Sans Unicode"/>
                <a:cs typeface="Lucida Sans Unicode"/>
              </a:rPr>
              <a:t> </a:t>
            </a:r>
            <a:r>
              <a:rPr sz="2000" spc="-10" dirty="0">
                <a:solidFill>
                  <a:srgbClr val="FFFFFF"/>
                </a:solidFill>
                <a:latin typeface="Lucida Sans Unicode"/>
                <a:cs typeface="Lucida Sans Unicode"/>
              </a:rPr>
              <a:t>Level</a:t>
            </a:r>
            <a:endParaRPr sz="2000">
              <a:latin typeface="Lucida Sans Unicode"/>
              <a:cs typeface="Lucida Sans Unicode"/>
            </a:endParaRPr>
          </a:p>
        </p:txBody>
      </p:sp>
      <p:grpSp>
        <p:nvGrpSpPr>
          <p:cNvPr id="4" name="object 4"/>
          <p:cNvGrpSpPr/>
          <p:nvPr/>
        </p:nvGrpSpPr>
        <p:grpSpPr>
          <a:xfrm>
            <a:off x="1776234" y="2428566"/>
            <a:ext cx="2939415" cy="1885950"/>
            <a:chOff x="1776234" y="2428566"/>
            <a:chExt cx="2939415" cy="1885950"/>
          </a:xfrm>
        </p:grpSpPr>
        <p:sp>
          <p:nvSpPr>
            <p:cNvPr id="5" name="object 5"/>
            <p:cNvSpPr/>
            <p:nvPr/>
          </p:nvSpPr>
          <p:spPr>
            <a:xfrm>
              <a:off x="1776234" y="2428566"/>
              <a:ext cx="2939415" cy="1885950"/>
            </a:xfrm>
            <a:custGeom>
              <a:avLst/>
              <a:gdLst/>
              <a:ahLst/>
              <a:cxnLst/>
              <a:rect l="l" t="t" r="r" b="b"/>
              <a:pathLst>
                <a:path w="2939415" h="1885950">
                  <a:moveTo>
                    <a:pt x="2738526" y="0"/>
                  </a:moveTo>
                  <a:lnTo>
                    <a:pt x="200520" y="0"/>
                  </a:lnTo>
                  <a:lnTo>
                    <a:pt x="154502" y="5287"/>
                  </a:lnTo>
                  <a:lnTo>
                    <a:pt x="112281" y="20348"/>
                  </a:lnTo>
                  <a:lnTo>
                    <a:pt x="75051" y="43980"/>
                  </a:lnTo>
                  <a:lnTo>
                    <a:pt x="44012" y="74980"/>
                  </a:lnTo>
                  <a:lnTo>
                    <a:pt x="20358" y="112145"/>
                  </a:lnTo>
                  <a:lnTo>
                    <a:pt x="5289" y="154275"/>
                  </a:lnTo>
                  <a:lnTo>
                    <a:pt x="0" y="200164"/>
                  </a:lnTo>
                  <a:lnTo>
                    <a:pt x="0" y="1685163"/>
                  </a:lnTo>
                  <a:lnTo>
                    <a:pt x="5289" y="1731048"/>
                  </a:lnTo>
                  <a:lnTo>
                    <a:pt x="20358" y="1773176"/>
                  </a:lnTo>
                  <a:lnTo>
                    <a:pt x="44012" y="1810342"/>
                  </a:lnTo>
                  <a:lnTo>
                    <a:pt x="75051" y="1841343"/>
                  </a:lnTo>
                  <a:lnTo>
                    <a:pt x="112281" y="1864977"/>
                  </a:lnTo>
                  <a:lnTo>
                    <a:pt x="154502" y="1880039"/>
                  </a:lnTo>
                  <a:lnTo>
                    <a:pt x="200520" y="1885327"/>
                  </a:lnTo>
                  <a:lnTo>
                    <a:pt x="1469529" y="1885327"/>
                  </a:lnTo>
                  <a:lnTo>
                    <a:pt x="2738526" y="1885327"/>
                  </a:lnTo>
                  <a:lnTo>
                    <a:pt x="2784547" y="1880039"/>
                  </a:lnTo>
                  <a:lnTo>
                    <a:pt x="2826771" y="1864977"/>
                  </a:lnTo>
                  <a:lnTo>
                    <a:pt x="2864000" y="1841343"/>
                  </a:lnTo>
                  <a:lnTo>
                    <a:pt x="2895038" y="1810342"/>
                  </a:lnTo>
                  <a:lnTo>
                    <a:pt x="2918689" y="1773176"/>
                  </a:lnTo>
                  <a:lnTo>
                    <a:pt x="2933758" y="1731048"/>
                  </a:lnTo>
                  <a:lnTo>
                    <a:pt x="2939046" y="1685163"/>
                  </a:lnTo>
                  <a:lnTo>
                    <a:pt x="2939046" y="200164"/>
                  </a:lnTo>
                  <a:lnTo>
                    <a:pt x="2933758" y="154275"/>
                  </a:lnTo>
                  <a:lnTo>
                    <a:pt x="2918689" y="112145"/>
                  </a:lnTo>
                  <a:lnTo>
                    <a:pt x="2895038" y="74980"/>
                  </a:lnTo>
                  <a:lnTo>
                    <a:pt x="2864000" y="43980"/>
                  </a:lnTo>
                  <a:lnTo>
                    <a:pt x="2826771" y="20348"/>
                  </a:lnTo>
                  <a:lnTo>
                    <a:pt x="2784547" y="5287"/>
                  </a:lnTo>
                  <a:lnTo>
                    <a:pt x="2738526" y="0"/>
                  </a:lnTo>
                  <a:close/>
                </a:path>
              </a:pathLst>
            </a:custGeom>
            <a:solidFill>
              <a:srgbClr val="F2EEEC"/>
            </a:solidFill>
          </p:spPr>
          <p:txBody>
            <a:bodyPr wrap="square" lIns="0" tIns="0" rIns="0" bIns="0" rtlCol="0"/>
            <a:lstStyle/>
            <a:p>
              <a:endParaRPr/>
            </a:p>
          </p:txBody>
        </p:sp>
        <p:sp>
          <p:nvSpPr>
            <p:cNvPr id="6" name="object 6"/>
            <p:cNvSpPr/>
            <p:nvPr/>
          </p:nvSpPr>
          <p:spPr>
            <a:xfrm>
              <a:off x="1894674" y="2922494"/>
              <a:ext cx="1268730" cy="1279525"/>
            </a:xfrm>
            <a:custGeom>
              <a:avLst/>
              <a:gdLst/>
              <a:ahLst/>
              <a:cxnLst/>
              <a:rect l="l" t="t" r="r" b="b"/>
              <a:pathLst>
                <a:path w="1268730" h="1279525">
                  <a:moveTo>
                    <a:pt x="1075689" y="0"/>
                  </a:moveTo>
                  <a:lnTo>
                    <a:pt x="192963" y="0"/>
                  </a:lnTo>
                  <a:lnTo>
                    <a:pt x="148724" y="5096"/>
                  </a:lnTo>
                  <a:lnTo>
                    <a:pt x="108111" y="19613"/>
                  </a:lnTo>
                  <a:lnTo>
                    <a:pt x="72282" y="42392"/>
                  </a:lnTo>
                  <a:lnTo>
                    <a:pt x="42397" y="72274"/>
                  </a:lnTo>
                  <a:lnTo>
                    <a:pt x="19616" y="108100"/>
                  </a:lnTo>
                  <a:lnTo>
                    <a:pt x="5097" y="148712"/>
                  </a:lnTo>
                  <a:lnTo>
                    <a:pt x="0" y="192951"/>
                  </a:lnTo>
                  <a:lnTo>
                    <a:pt x="0" y="1086472"/>
                  </a:lnTo>
                  <a:lnTo>
                    <a:pt x="5097" y="1130715"/>
                  </a:lnTo>
                  <a:lnTo>
                    <a:pt x="19616" y="1171330"/>
                  </a:lnTo>
                  <a:lnTo>
                    <a:pt x="42397" y="1207159"/>
                  </a:lnTo>
                  <a:lnTo>
                    <a:pt x="72282" y="1237042"/>
                  </a:lnTo>
                  <a:lnTo>
                    <a:pt x="108111" y="1259822"/>
                  </a:lnTo>
                  <a:lnTo>
                    <a:pt x="148724" y="1274339"/>
                  </a:lnTo>
                  <a:lnTo>
                    <a:pt x="192963" y="1279436"/>
                  </a:lnTo>
                  <a:lnTo>
                    <a:pt x="634326" y="1279436"/>
                  </a:lnTo>
                  <a:lnTo>
                    <a:pt x="1075689" y="1279436"/>
                  </a:lnTo>
                  <a:lnTo>
                    <a:pt x="1119928" y="1274339"/>
                  </a:lnTo>
                  <a:lnTo>
                    <a:pt x="1160540" y="1259822"/>
                  </a:lnTo>
                  <a:lnTo>
                    <a:pt x="1196366" y="1237042"/>
                  </a:lnTo>
                  <a:lnTo>
                    <a:pt x="1226248" y="1207159"/>
                  </a:lnTo>
                  <a:lnTo>
                    <a:pt x="1249027" y="1171330"/>
                  </a:lnTo>
                  <a:lnTo>
                    <a:pt x="1263544" y="1130715"/>
                  </a:lnTo>
                  <a:lnTo>
                    <a:pt x="1268641" y="1086472"/>
                  </a:lnTo>
                  <a:lnTo>
                    <a:pt x="1268641" y="192951"/>
                  </a:lnTo>
                  <a:lnTo>
                    <a:pt x="1263544" y="148712"/>
                  </a:lnTo>
                  <a:lnTo>
                    <a:pt x="1249027" y="108100"/>
                  </a:lnTo>
                  <a:lnTo>
                    <a:pt x="1226248" y="72274"/>
                  </a:lnTo>
                  <a:lnTo>
                    <a:pt x="1196366" y="42392"/>
                  </a:lnTo>
                  <a:lnTo>
                    <a:pt x="1160540" y="19613"/>
                  </a:lnTo>
                  <a:lnTo>
                    <a:pt x="1119928" y="5096"/>
                  </a:lnTo>
                  <a:lnTo>
                    <a:pt x="1075689" y="0"/>
                  </a:lnTo>
                  <a:close/>
                </a:path>
              </a:pathLst>
            </a:custGeom>
            <a:solidFill>
              <a:srgbClr val="FF9000"/>
            </a:solidFill>
          </p:spPr>
          <p:txBody>
            <a:bodyPr wrap="square" lIns="0" tIns="0" rIns="0" bIns="0" rtlCol="0"/>
            <a:lstStyle/>
            <a:p>
              <a:endParaRPr/>
            </a:p>
          </p:txBody>
        </p:sp>
        <p:sp>
          <p:nvSpPr>
            <p:cNvPr id="7" name="object 7"/>
            <p:cNvSpPr/>
            <p:nvPr/>
          </p:nvSpPr>
          <p:spPr>
            <a:xfrm>
              <a:off x="2147760" y="3483009"/>
              <a:ext cx="189230" cy="210185"/>
            </a:xfrm>
            <a:custGeom>
              <a:avLst/>
              <a:gdLst/>
              <a:ahLst/>
              <a:cxnLst/>
              <a:rect l="l" t="t" r="r" b="b"/>
              <a:pathLst>
                <a:path w="189230" h="210185">
                  <a:moveTo>
                    <a:pt x="94678" y="209880"/>
                  </a:moveTo>
                  <a:lnTo>
                    <a:pt x="0" y="209880"/>
                  </a:lnTo>
                  <a:lnTo>
                    <a:pt x="0" y="0"/>
                  </a:lnTo>
                  <a:lnTo>
                    <a:pt x="189001" y="0"/>
                  </a:lnTo>
                  <a:lnTo>
                    <a:pt x="189001" y="209880"/>
                  </a:lnTo>
                  <a:lnTo>
                    <a:pt x="94678" y="209880"/>
                  </a:lnTo>
                  <a:close/>
                </a:path>
              </a:pathLst>
            </a:custGeom>
            <a:ln w="19303">
              <a:solidFill>
                <a:srgbClr val="FFFFFF"/>
              </a:solidFill>
            </a:ln>
          </p:spPr>
          <p:txBody>
            <a:bodyPr wrap="square" lIns="0" tIns="0" rIns="0" bIns="0" rtlCol="0"/>
            <a:lstStyle/>
            <a:p>
              <a:endParaRPr/>
            </a:p>
          </p:txBody>
        </p:sp>
      </p:grpSp>
      <p:sp>
        <p:nvSpPr>
          <p:cNvPr id="8" name="object 8"/>
          <p:cNvSpPr txBox="1"/>
          <p:nvPr/>
        </p:nvSpPr>
        <p:spPr>
          <a:xfrm>
            <a:off x="2092325" y="3426849"/>
            <a:ext cx="305435" cy="719455"/>
          </a:xfrm>
          <a:prstGeom prst="rect">
            <a:avLst/>
          </a:prstGeom>
          <a:ln w="19303">
            <a:solidFill>
              <a:srgbClr val="FFFFFF"/>
            </a:solidFill>
          </a:ln>
        </p:spPr>
        <p:txBody>
          <a:bodyPr vert="vert" wrap="square" lIns="0" tIns="68580" rIns="0" bIns="0" rtlCol="0">
            <a:spAutoFit/>
          </a:bodyPr>
          <a:lstStyle/>
          <a:p>
            <a:pPr marL="356235">
              <a:lnSpc>
                <a:spcPct val="100000"/>
              </a:lnSpc>
              <a:spcBef>
                <a:spcPts val="540"/>
              </a:spcBef>
            </a:pPr>
            <a:r>
              <a:rPr sz="1150" spc="-20" dirty="0">
                <a:solidFill>
                  <a:srgbClr val="FFFFFF"/>
                </a:solidFill>
                <a:latin typeface="Lucida Sans Unicode"/>
                <a:cs typeface="Lucida Sans Unicode"/>
              </a:rPr>
              <a:t>vNIC</a:t>
            </a:r>
            <a:endParaRPr sz="1150">
              <a:latin typeface="Lucida Sans Unicode"/>
              <a:cs typeface="Lucida Sans Unicode"/>
            </a:endParaRPr>
          </a:p>
        </p:txBody>
      </p:sp>
      <p:sp>
        <p:nvSpPr>
          <p:cNvPr id="9" name="object 9"/>
          <p:cNvSpPr/>
          <p:nvPr/>
        </p:nvSpPr>
        <p:spPr>
          <a:xfrm>
            <a:off x="3332518" y="2922494"/>
            <a:ext cx="1269365" cy="1279525"/>
          </a:xfrm>
          <a:custGeom>
            <a:avLst/>
            <a:gdLst/>
            <a:ahLst/>
            <a:cxnLst/>
            <a:rect l="l" t="t" r="r" b="b"/>
            <a:pathLst>
              <a:path w="1269364" h="1279525">
                <a:moveTo>
                  <a:pt x="1075677" y="0"/>
                </a:moveTo>
                <a:lnTo>
                  <a:pt x="193319" y="0"/>
                </a:lnTo>
                <a:lnTo>
                  <a:pt x="148944" y="5096"/>
                </a:lnTo>
                <a:lnTo>
                  <a:pt x="108235" y="19613"/>
                </a:lnTo>
                <a:lnTo>
                  <a:pt x="72343" y="42392"/>
                </a:lnTo>
                <a:lnTo>
                  <a:pt x="42421" y="72274"/>
                </a:lnTo>
                <a:lnTo>
                  <a:pt x="19622" y="108100"/>
                </a:lnTo>
                <a:lnTo>
                  <a:pt x="5097" y="148712"/>
                </a:lnTo>
                <a:lnTo>
                  <a:pt x="0" y="192951"/>
                </a:lnTo>
                <a:lnTo>
                  <a:pt x="0" y="1086472"/>
                </a:lnTo>
                <a:lnTo>
                  <a:pt x="5097" y="1130715"/>
                </a:lnTo>
                <a:lnTo>
                  <a:pt x="19622" y="1171330"/>
                </a:lnTo>
                <a:lnTo>
                  <a:pt x="42421" y="1207159"/>
                </a:lnTo>
                <a:lnTo>
                  <a:pt x="72343" y="1237042"/>
                </a:lnTo>
                <a:lnTo>
                  <a:pt x="108235" y="1259822"/>
                </a:lnTo>
                <a:lnTo>
                  <a:pt x="148944" y="1274339"/>
                </a:lnTo>
                <a:lnTo>
                  <a:pt x="193319" y="1279436"/>
                </a:lnTo>
                <a:lnTo>
                  <a:pt x="634682" y="1279436"/>
                </a:lnTo>
                <a:lnTo>
                  <a:pt x="1075677" y="1279436"/>
                </a:lnTo>
                <a:lnTo>
                  <a:pt x="1120052" y="1274339"/>
                </a:lnTo>
                <a:lnTo>
                  <a:pt x="1160761" y="1259822"/>
                </a:lnTo>
                <a:lnTo>
                  <a:pt x="1196653" y="1237042"/>
                </a:lnTo>
                <a:lnTo>
                  <a:pt x="1226575" y="1207159"/>
                </a:lnTo>
                <a:lnTo>
                  <a:pt x="1249374" y="1171330"/>
                </a:lnTo>
                <a:lnTo>
                  <a:pt x="1263899" y="1130715"/>
                </a:lnTo>
                <a:lnTo>
                  <a:pt x="1268996" y="1086472"/>
                </a:lnTo>
                <a:lnTo>
                  <a:pt x="1268996" y="192951"/>
                </a:lnTo>
                <a:lnTo>
                  <a:pt x="1263899" y="148712"/>
                </a:lnTo>
                <a:lnTo>
                  <a:pt x="1249374" y="108100"/>
                </a:lnTo>
                <a:lnTo>
                  <a:pt x="1226575" y="72274"/>
                </a:lnTo>
                <a:lnTo>
                  <a:pt x="1196653" y="42392"/>
                </a:lnTo>
                <a:lnTo>
                  <a:pt x="1160761" y="19613"/>
                </a:lnTo>
                <a:lnTo>
                  <a:pt x="1120052" y="5096"/>
                </a:lnTo>
                <a:lnTo>
                  <a:pt x="1075677" y="0"/>
                </a:lnTo>
                <a:close/>
              </a:path>
            </a:pathLst>
          </a:custGeom>
          <a:solidFill>
            <a:srgbClr val="FF9000"/>
          </a:solidFill>
        </p:spPr>
        <p:txBody>
          <a:bodyPr wrap="square" lIns="0" tIns="0" rIns="0" bIns="0" rtlCol="0"/>
          <a:lstStyle/>
          <a:p>
            <a:endParaRPr/>
          </a:p>
        </p:txBody>
      </p:sp>
      <p:sp>
        <p:nvSpPr>
          <p:cNvPr id="10" name="object 10"/>
          <p:cNvSpPr txBox="1"/>
          <p:nvPr/>
        </p:nvSpPr>
        <p:spPr>
          <a:xfrm>
            <a:off x="2108542" y="2987315"/>
            <a:ext cx="2196465" cy="313690"/>
          </a:xfrm>
          <a:prstGeom prst="rect">
            <a:avLst/>
          </a:prstGeom>
        </p:spPr>
        <p:txBody>
          <a:bodyPr vert="horz" wrap="square" lIns="0" tIns="11430" rIns="0" bIns="0" rtlCol="0">
            <a:spAutoFit/>
          </a:bodyPr>
          <a:lstStyle/>
          <a:p>
            <a:pPr marL="12700">
              <a:lnSpc>
                <a:spcPct val="100000"/>
              </a:lnSpc>
              <a:spcBef>
                <a:spcPts val="90"/>
              </a:spcBef>
              <a:tabLst>
                <a:tab pos="1488440" algn="l"/>
              </a:tabLst>
            </a:pPr>
            <a:r>
              <a:rPr sz="1900" spc="-10" dirty="0">
                <a:solidFill>
                  <a:srgbClr val="FFFFFF"/>
                </a:solidFill>
                <a:latin typeface="Lucida Sans Unicode"/>
                <a:cs typeface="Lucida Sans Unicode"/>
              </a:rPr>
              <a:t>VM100</a:t>
            </a:r>
            <a:r>
              <a:rPr sz="1900" dirty="0">
                <a:solidFill>
                  <a:srgbClr val="FFFFFF"/>
                </a:solidFill>
                <a:latin typeface="Lucida Sans Unicode"/>
                <a:cs typeface="Lucida Sans Unicode"/>
              </a:rPr>
              <a:t>	</a:t>
            </a:r>
            <a:r>
              <a:rPr sz="1900" spc="-125" dirty="0">
                <a:solidFill>
                  <a:srgbClr val="FFFFFF"/>
                </a:solidFill>
                <a:latin typeface="Lucida Sans Unicode"/>
                <a:cs typeface="Lucida Sans Unicode"/>
              </a:rPr>
              <a:t>CT102</a:t>
            </a:r>
            <a:endParaRPr sz="1900">
              <a:latin typeface="Lucida Sans Unicode"/>
              <a:cs typeface="Lucida Sans Unicode"/>
            </a:endParaRPr>
          </a:p>
        </p:txBody>
      </p:sp>
      <p:sp>
        <p:nvSpPr>
          <p:cNvPr id="11" name="object 11"/>
          <p:cNvSpPr/>
          <p:nvPr/>
        </p:nvSpPr>
        <p:spPr>
          <a:xfrm>
            <a:off x="3606837" y="3483009"/>
            <a:ext cx="189230" cy="210185"/>
          </a:xfrm>
          <a:custGeom>
            <a:avLst/>
            <a:gdLst/>
            <a:ahLst/>
            <a:cxnLst/>
            <a:rect l="l" t="t" r="r" b="b"/>
            <a:pathLst>
              <a:path w="189229" h="210185">
                <a:moveTo>
                  <a:pt x="94678" y="209880"/>
                </a:moveTo>
                <a:lnTo>
                  <a:pt x="0" y="209880"/>
                </a:lnTo>
                <a:lnTo>
                  <a:pt x="0" y="0"/>
                </a:lnTo>
                <a:lnTo>
                  <a:pt x="189001" y="0"/>
                </a:lnTo>
                <a:lnTo>
                  <a:pt x="189001" y="209880"/>
                </a:lnTo>
                <a:lnTo>
                  <a:pt x="94678" y="209880"/>
                </a:lnTo>
                <a:close/>
              </a:path>
            </a:pathLst>
          </a:custGeom>
          <a:ln w="19303">
            <a:solidFill>
              <a:srgbClr val="FFFFFF"/>
            </a:solidFill>
          </a:ln>
        </p:spPr>
        <p:txBody>
          <a:bodyPr wrap="square" lIns="0" tIns="0" rIns="0" bIns="0" rtlCol="0"/>
          <a:lstStyle/>
          <a:p>
            <a:endParaRPr/>
          </a:p>
        </p:txBody>
      </p:sp>
      <p:sp>
        <p:nvSpPr>
          <p:cNvPr id="12" name="object 12"/>
          <p:cNvSpPr txBox="1"/>
          <p:nvPr/>
        </p:nvSpPr>
        <p:spPr>
          <a:xfrm>
            <a:off x="3550678" y="3426849"/>
            <a:ext cx="305435" cy="719455"/>
          </a:xfrm>
          <a:prstGeom prst="rect">
            <a:avLst/>
          </a:prstGeom>
          <a:ln w="19303">
            <a:solidFill>
              <a:srgbClr val="FFFFFF"/>
            </a:solidFill>
          </a:ln>
        </p:spPr>
        <p:txBody>
          <a:bodyPr vert="vert" wrap="square" lIns="0" tIns="67945" rIns="0" bIns="0" rtlCol="0">
            <a:spAutoFit/>
          </a:bodyPr>
          <a:lstStyle/>
          <a:p>
            <a:pPr marL="356235">
              <a:lnSpc>
                <a:spcPct val="100000"/>
              </a:lnSpc>
              <a:spcBef>
                <a:spcPts val="535"/>
              </a:spcBef>
            </a:pPr>
            <a:r>
              <a:rPr sz="1150" spc="-20" dirty="0">
                <a:solidFill>
                  <a:srgbClr val="FFFFFF"/>
                </a:solidFill>
                <a:latin typeface="Lucida Sans Unicode"/>
                <a:cs typeface="Lucida Sans Unicode"/>
              </a:rPr>
              <a:t>vNIC</a:t>
            </a:r>
            <a:endParaRPr sz="1150">
              <a:latin typeface="Lucida Sans Unicode"/>
              <a:cs typeface="Lucida Sans Unicode"/>
            </a:endParaRPr>
          </a:p>
        </p:txBody>
      </p:sp>
      <p:sp>
        <p:nvSpPr>
          <p:cNvPr id="13" name="object 13"/>
          <p:cNvSpPr txBox="1"/>
          <p:nvPr/>
        </p:nvSpPr>
        <p:spPr>
          <a:xfrm>
            <a:off x="2572892" y="2498784"/>
            <a:ext cx="1318895" cy="313690"/>
          </a:xfrm>
          <a:prstGeom prst="rect">
            <a:avLst/>
          </a:prstGeom>
        </p:spPr>
        <p:txBody>
          <a:bodyPr vert="horz" wrap="square" lIns="0" tIns="11430" rIns="0" bIns="0" rtlCol="0">
            <a:spAutoFit/>
          </a:bodyPr>
          <a:lstStyle/>
          <a:p>
            <a:pPr marL="12700">
              <a:lnSpc>
                <a:spcPct val="100000"/>
              </a:lnSpc>
              <a:spcBef>
                <a:spcPts val="90"/>
              </a:spcBef>
            </a:pPr>
            <a:r>
              <a:rPr sz="1900" spc="-45" dirty="0">
                <a:latin typeface="Lucida Sans Unicode"/>
                <a:cs typeface="Lucida Sans Unicode"/>
              </a:rPr>
              <a:t>Guest</a:t>
            </a:r>
            <a:r>
              <a:rPr sz="1900" spc="-70" dirty="0">
                <a:latin typeface="Lucida Sans Unicode"/>
                <a:cs typeface="Lucida Sans Unicode"/>
              </a:rPr>
              <a:t> </a:t>
            </a:r>
            <a:r>
              <a:rPr sz="1900" spc="-10" dirty="0">
                <a:latin typeface="Lucida Sans Unicode"/>
                <a:cs typeface="Lucida Sans Unicode"/>
              </a:rPr>
              <a:t>Level</a:t>
            </a:r>
            <a:endParaRPr sz="1900">
              <a:latin typeface="Lucida Sans Unicode"/>
              <a:cs typeface="Lucida Sans Unicode"/>
            </a:endParaRPr>
          </a:p>
        </p:txBody>
      </p:sp>
      <p:sp>
        <p:nvSpPr>
          <p:cNvPr id="14" name="object 14"/>
          <p:cNvSpPr/>
          <p:nvPr/>
        </p:nvSpPr>
        <p:spPr>
          <a:xfrm>
            <a:off x="5209921" y="1411563"/>
            <a:ext cx="3250565" cy="3239135"/>
          </a:xfrm>
          <a:custGeom>
            <a:avLst/>
            <a:gdLst/>
            <a:ahLst/>
            <a:cxnLst/>
            <a:rect l="l" t="t" r="r" b="b"/>
            <a:pathLst>
              <a:path w="3250565" h="3239135">
                <a:moveTo>
                  <a:pt x="3148203" y="0"/>
                </a:moveTo>
                <a:lnTo>
                  <a:pt x="102234" y="0"/>
                </a:lnTo>
                <a:lnTo>
                  <a:pt x="62418" y="8026"/>
                </a:lnTo>
                <a:lnTo>
                  <a:pt x="29924" y="29925"/>
                </a:lnTo>
                <a:lnTo>
                  <a:pt x="8026" y="62423"/>
                </a:lnTo>
                <a:lnTo>
                  <a:pt x="0" y="102247"/>
                </a:lnTo>
                <a:lnTo>
                  <a:pt x="0" y="3136328"/>
                </a:lnTo>
                <a:lnTo>
                  <a:pt x="8026" y="3176144"/>
                </a:lnTo>
                <a:lnTo>
                  <a:pt x="29924" y="3208639"/>
                </a:lnTo>
                <a:lnTo>
                  <a:pt x="62418" y="3230536"/>
                </a:lnTo>
                <a:lnTo>
                  <a:pt x="102234" y="3238563"/>
                </a:lnTo>
                <a:lnTo>
                  <a:pt x="1625041" y="3238563"/>
                </a:lnTo>
                <a:lnTo>
                  <a:pt x="3148203" y="3238563"/>
                </a:lnTo>
                <a:lnTo>
                  <a:pt x="3188019" y="3230536"/>
                </a:lnTo>
                <a:lnTo>
                  <a:pt x="3220513" y="3208639"/>
                </a:lnTo>
                <a:lnTo>
                  <a:pt x="3242411" y="3176144"/>
                </a:lnTo>
                <a:lnTo>
                  <a:pt x="3250437" y="3136328"/>
                </a:lnTo>
                <a:lnTo>
                  <a:pt x="3250437" y="102247"/>
                </a:lnTo>
                <a:lnTo>
                  <a:pt x="3242411" y="62423"/>
                </a:lnTo>
                <a:lnTo>
                  <a:pt x="3220513" y="29925"/>
                </a:lnTo>
                <a:lnTo>
                  <a:pt x="3188019" y="8026"/>
                </a:lnTo>
                <a:lnTo>
                  <a:pt x="3148203" y="0"/>
                </a:lnTo>
                <a:close/>
              </a:path>
            </a:pathLst>
          </a:custGeom>
          <a:solidFill>
            <a:srgbClr val="00607E"/>
          </a:solidFill>
        </p:spPr>
        <p:txBody>
          <a:bodyPr wrap="square" lIns="0" tIns="0" rIns="0" bIns="0" rtlCol="0"/>
          <a:lstStyle/>
          <a:p>
            <a:endParaRPr/>
          </a:p>
        </p:txBody>
      </p:sp>
      <p:sp>
        <p:nvSpPr>
          <p:cNvPr id="15" name="object 15"/>
          <p:cNvSpPr txBox="1"/>
          <p:nvPr/>
        </p:nvSpPr>
        <p:spPr>
          <a:xfrm>
            <a:off x="5354078" y="1833634"/>
            <a:ext cx="2927350" cy="334010"/>
          </a:xfrm>
          <a:prstGeom prst="rect">
            <a:avLst/>
          </a:prstGeom>
        </p:spPr>
        <p:txBody>
          <a:bodyPr vert="horz" wrap="square" lIns="0" tIns="15240" rIns="0" bIns="0" rtlCol="0">
            <a:spAutoFit/>
          </a:bodyPr>
          <a:lstStyle/>
          <a:p>
            <a:pPr marL="12700">
              <a:lnSpc>
                <a:spcPct val="100000"/>
              </a:lnSpc>
              <a:spcBef>
                <a:spcPts val="120"/>
              </a:spcBef>
            </a:pPr>
            <a:r>
              <a:rPr sz="2000" spc="-10" dirty="0">
                <a:solidFill>
                  <a:srgbClr val="FFFFFF"/>
                </a:solidFill>
                <a:latin typeface="Lucida Sans Unicode"/>
                <a:cs typeface="Lucida Sans Unicode"/>
              </a:rPr>
              <a:t>Proxmox</a:t>
            </a:r>
            <a:r>
              <a:rPr sz="2000" spc="-80" dirty="0">
                <a:solidFill>
                  <a:srgbClr val="FFFFFF"/>
                </a:solidFill>
                <a:latin typeface="Lucida Sans Unicode"/>
                <a:cs typeface="Lucida Sans Unicode"/>
              </a:rPr>
              <a:t> </a:t>
            </a:r>
            <a:r>
              <a:rPr sz="2000" dirty="0">
                <a:solidFill>
                  <a:srgbClr val="FFFFFF"/>
                </a:solidFill>
                <a:latin typeface="Lucida Sans Unicode"/>
                <a:cs typeface="Lucida Sans Unicode"/>
              </a:rPr>
              <a:t>VE</a:t>
            </a:r>
            <a:r>
              <a:rPr sz="2000" spc="-80" dirty="0">
                <a:solidFill>
                  <a:srgbClr val="FFFFFF"/>
                </a:solidFill>
                <a:latin typeface="Lucida Sans Unicode"/>
                <a:cs typeface="Lucida Sans Unicode"/>
              </a:rPr>
              <a:t> </a:t>
            </a:r>
            <a:r>
              <a:rPr sz="2000" dirty="0">
                <a:solidFill>
                  <a:srgbClr val="FFFFFF"/>
                </a:solidFill>
                <a:latin typeface="Lucida Sans Unicode"/>
                <a:cs typeface="Lucida Sans Unicode"/>
              </a:rPr>
              <a:t>Node</a:t>
            </a:r>
            <a:r>
              <a:rPr sz="2000" spc="-80" dirty="0">
                <a:solidFill>
                  <a:srgbClr val="FFFFFF"/>
                </a:solidFill>
                <a:latin typeface="Lucida Sans Unicode"/>
                <a:cs typeface="Lucida Sans Unicode"/>
              </a:rPr>
              <a:t> </a:t>
            </a:r>
            <a:r>
              <a:rPr sz="2000" spc="-10" dirty="0">
                <a:solidFill>
                  <a:srgbClr val="FFFFFF"/>
                </a:solidFill>
                <a:latin typeface="Lucida Sans Unicode"/>
                <a:cs typeface="Lucida Sans Unicode"/>
              </a:rPr>
              <a:t>Level</a:t>
            </a:r>
            <a:endParaRPr sz="2000">
              <a:latin typeface="Lucida Sans Unicode"/>
              <a:cs typeface="Lucida Sans Unicode"/>
            </a:endParaRPr>
          </a:p>
        </p:txBody>
      </p:sp>
      <p:grpSp>
        <p:nvGrpSpPr>
          <p:cNvPr id="16" name="object 16"/>
          <p:cNvGrpSpPr/>
          <p:nvPr/>
        </p:nvGrpSpPr>
        <p:grpSpPr>
          <a:xfrm>
            <a:off x="5364365" y="2428566"/>
            <a:ext cx="2939415" cy="1885950"/>
            <a:chOff x="5364365" y="2428566"/>
            <a:chExt cx="2939415" cy="1885950"/>
          </a:xfrm>
        </p:grpSpPr>
        <p:sp>
          <p:nvSpPr>
            <p:cNvPr id="17" name="object 17"/>
            <p:cNvSpPr/>
            <p:nvPr/>
          </p:nvSpPr>
          <p:spPr>
            <a:xfrm>
              <a:off x="5364365" y="2428566"/>
              <a:ext cx="2939415" cy="1885950"/>
            </a:xfrm>
            <a:custGeom>
              <a:avLst/>
              <a:gdLst/>
              <a:ahLst/>
              <a:cxnLst/>
              <a:rect l="l" t="t" r="r" b="b"/>
              <a:pathLst>
                <a:path w="2939415" h="1885950">
                  <a:moveTo>
                    <a:pt x="2738513" y="0"/>
                  </a:moveTo>
                  <a:lnTo>
                    <a:pt x="200520" y="0"/>
                  </a:lnTo>
                  <a:lnTo>
                    <a:pt x="154498" y="5287"/>
                  </a:lnTo>
                  <a:lnTo>
                    <a:pt x="112275" y="20348"/>
                  </a:lnTo>
                  <a:lnTo>
                    <a:pt x="75046" y="43980"/>
                  </a:lnTo>
                  <a:lnTo>
                    <a:pt x="44008" y="74980"/>
                  </a:lnTo>
                  <a:lnTo>
                    <a:pt x="20356" y="112145"/>
                  </a:lnTo>
                  <a:lnTo>
                    <a:pt x="5288" y="154275"/>
                  </a:lnTo>
                  <a:lnTo>
                    <a:pt x="0" y="200164"/>
                  </a:lnTo>
                  <a:lnTo>
                    <a:pt x="0" y="1685163"/>
                  </a:lnTo>
                  <a:lnTo>
                    <a:pt x="5288" y="1731048"/>
                  </a:lnTo>
                  <a:lnTo>
                    <a:pt x="20356" y="1773176"/>
                  </a:lnTo>
                  <a:lnTo>
                    <a:pt x="44008" y="1810342"/>
                  </a:lnTo>
                  <a:lnTo>
                    <a:pt x="75046" y="1841343"/>
                  </a:lnTo>
                  <a:lnTo>
                    <a:pt x="112275" y="1864977"/>
                  </a:lnTo>
                  <a:lnTo>
                    <a:pt x="154498" y="1880039"/>
                  </a:lnTo>
                  <a:lnTo>
                    <a:pt x="200520" y="1885327"/>
                  </a:lnTo>
                  <a:lnTo>
                    <a:pt x="1469516" y="1885327"/>
                  </a:lnTo>
                  <a:lnTo>
                    <a:pt x="2738513" y="1885327"/>
                  </a:lnTo>
                  <a:lnTo>
                    <a:pt x="2784535" y="1880039"/>
                  </a:lnTo>
                  <a:lnTo>
                    <a:pt x="2826758" y="1864977"/>
                  </a:lnTo>
                  <a:lnTo>
                    <a:pt x="2863987" y="1841343"/>
                  </a:lnTo>
                  <a:lnTo>
                    <a:pt x="2895025" y="1810342"/>
                  </a:lnTo>
                  <a:lnTo>
                    <a:pt x="2918677" y="1773176"/>
                  </a:lnTo>
                  <a:lnTo>
                    <a:pt x="2933745" y="1731048"/>
                  </a:lnTo>
                  <a:lnTo>
                    <a:pt x="2939034" y="1685163"/>
                  </a:lnTo>
                  <a:lnTo>
                    <a:pt x="2939034" y="200164"/>
                  </a:lnTo>
                  <a:lnTo>
                    <a:pt x="2933745" y="154275"/>
                  </a:lnTo>
                  <a:lnTo>
                    <a:pt x="2918677" y="112145"/>
                  </a:lnTo>
                  <a:lnTo>
                    <a:pt x="2895025" y="74980"/>
                  </a:lnTo>
                  <a:lnTo>
                    <a:pt x="2863987" y="43980"/>
                  </a:lnTo>
                  <a:lnTo>
                    <a:pt x="2826758" y="20348"/>
                  </a:lnTo>
                  <a:lnTo>
                    <a:pt x="2784535" y="5287"/>
                  </a:lnTo>
                  <a:lnTo>
                    <a:pt x="2738513" y="0"/>
                  </a:lnTo>
                  <a:close/>
                </a:path>
              </a:pathLst>
            </a:custGeom>
            <a:solidFill>
              <a:srgbClr val="F2EEEC"/>
            </a:solidFill>
          </p:spPr>
          <p:txBody>
            <a:bodyPr wrap="square" lIns="0" tIns="0" rIns="0" bIns="0" rtlCol="0"/>
            <a:lstStyle/>
            <a:p>
              <a:endParaRPr/>
            </a:p>
          </p:txBody>
        </p:sp>
        <p:sp>
          <p:nvSpPr>
            <p:cNvPr id="18" name="object 18"/>
            <p:cNvSpPr/>
            <p:nvPr/>
          </p:nvSpPr>
          <p:spPr>
            <a:xfrm>
              <a:off x="5482805" y="2922494"/>
              <a:ext cx="1268730" cy="1279525"/>
            </a:xfrm>
            <a:custGeom>
              <a:avLst/>
              <a:gdLst/>
              <a:ahLst/>
              <a:cxnLst/>
              <a:rect l="l" t="t" r="r" b="b"/>
              <a:pathLst>
                <a:path w="1268729" h="1279525">
                  <a:moveTo>
                    <a:pt x="1075677" y="0"/>
                  </a:moveTo>
                  <a:lnTo>
                    <a:pt x="192951" y="0"/>
                  </a:lnTo>
                  <a:lnTo>
                    <a:pt x="148712" y="5096"/>
                  </a:lnTo>
                  <a:lnTo>
                    <a:pt x="108100" y="19613"/>
                  </a:lnTo>
                  <a:lnTo>
                    <a:pt x="72274" y="42392"/>
                  </a:lnTo>
                  <a:lnTo>
                    <a:pt x="42392" y="72274"/>
                  </a:lnTo>
                  <a:lnTo>
                    <a:pt x="19613" y="108100"/>
                  </a:lnTo>
                  <a:lnTo>
                    <a:pt x="5096" y="148712"/>
                  </a:lnTo>
                  <a:lnTo>
                    <a:pt x="0" y="192951"/>
                  </a:lnTo>
                  <a:lnTo>
                    <a:pt x="0" y="1086472"/>
                  </a:lnTo>
                  <a:lnTo>
                    <a:pt x="5096" y="1130715"/>
                  </a:lnTo>
                  <a:lnTo>
                    <a:pt x="19613" y="1171330"/>
                  </a:lnTo>
                  <a:lnTo>
                    <a:pt x="42392" y="1207159"/>
                  </a:lnTo>
                  <a:lnTo>
                    <a:pt x="72274" y="1237042"/>
                  </a:lnTo>
                  <a:lnTo>
                    <a:pt x="108100" y="1259822"/>
                  </a:lnTo>
                  <a:lnTo>
                    <a:pt x="148712" y="1274339"/>
                  </a:lnTo>
                  <a:lnTo>
                    <a:pt x="192951" y="1279436"/>
                  </a:lnTo>
                  <a:lnTo>
                    <a:pt x="634314" y="1279436"/>
                  </a:lnTo>
                  <a:lnTo>
                    <a:pt x="1075677" y="1279436"/>
                  </a:lnTo>
                  <a:lnTo>
                    <a:pt x="1119915" y="1274339"/>
                  </a:lnTo>
                  <a:lnTo>
                    <a:pt x="1160527" y="1259822"/>
                  </a:lnTo>
                  <a:lnTo>
                    <a:pt x="1196353" y="1237042"/>
                  </a:lnTo>
                  <a:lnTo>
                    <a:pt x="1226235" y="1207159"/>
                  </a:lnTo>
                  <a:lnTo>
                    <a:pt x="1249014" y="1171330"/>
                  </a:lnTo>
                  <a:lnTo>
                    <a:pt x="1263531" y="1130715"/>
                  </a:lnTo>
                  <a:lnTo>
                    <a:pt x="1268628" y="1086472"/>
                  </a:lnTo>
                  <a:lnTo>
                    <a:pt x="1268628" y="192951"/>
                  </a:lnTo>
                  <a:lnTo>
                    <a:pt x="1263531" y="148712"/>
                  </a:lnTo>
                  <a:lnTo>
                    <a:pt x="1249014" y="108100"/>
                  </a:lnTo>
                  <a:lnTo>
                    <a:pt x="1226235" y="72274"/>
                  </a:lnTo>
                  <a:lnTo>
                    <a:pt x="1196353" y="42392"/>
                  </a:lnTo>
                  <a:lnTo>
                    <a:pt x="1160527" y="19613"/>
                  </a:lnTo>
                  <a:lnTo>
                    <a:pt x="1119915" y="5096"/>
                  </a:lnTo>
                  <a:lnTo>
                    <a:pt x="1075677" y="0"/>
                  </a:lnTo>
                  <a:close/>
                </a:path>
              </a:pathLst>
            </a:custGeom>
            <a:solidFill>
              <a:srgbClr val="FF9000"/>
            </a:solidFill>
          </p:spPr>
          <p:txBody>
            <a:bodyPr wrap="square" lIns="0" tIns="0" rIns="0" bIns="0" rtlCol="0"/>
            <a:lstStyle/>
            <a:p>
              <a:endParaRPr/>
            </a:p>
          </p:txBody>
        </p:sp>
        <p:sp>
          <p:nvSpPr>
            <p:cNvPr id="19" name="object 19"/>
            <p:cNvSpPr/>
            <p:nvPr/>
          </p:nvSpPr>
          <p:spPr>
            <a:xfrm>
              <a:off x="5735878" y="3483009"/>
              <a:ext cx="189230" cy="210185"/>
            </a:xfrm>
            <a:custGeom>
              <a:avLst/>
              <a:gdLst/>
              <a:ahLst/>
              <a:cxnLst/>
              <a:rect l="l" t="t" r="r" b="b"/>
              <a:pathLst>
                <a:path w="189229" h="210185">
                  <a:moveTo>
                    <a:pt x="94678" y="209880"/>
                  </a:moveTo>
                  <a:lnTo>
                    <a:pt x="0" y="209880"/>
                  </a:lnTo>
                  <a:lnTo>
                    <a:pt x="0" y="0"/>
                  </a:lnTo>
                  <a:lnTo>
                    <a:pt x="189001" y="0"/>
                  </a:lnTo>
                  <a:lnTo>
                    <a:pt x="189001" y="209880"/>
                  </a:lnTo>
                  <a:lnTo>
                    <a:pt x="94678" y="209880"/>
                  </a:lnTo>
                  <a:close/>
                </a:path>
              </a:pathLst>
            </a:custGeom>
            <a:ln w="19303">
              <a:solidFill>
                <a:srgbClr val="FFFFFF"/>
              </a:solidFill>
            </a:ln>
          </p:spPr>
          <p:txBody>
            <a:bodyPr wrap="square" lIns="0" tIns="0" rIns="0" bIns="0" rtlCol="0"/>
            <a:lstStyle/>
            <a:p>
              <a:endParaRPr/>
            </a:p>
          </p:txBody>
        </p:sp>
      </p:grpSp>
      <p:sp>
        <p:nvSpPr>
          <p:cNvPr id="20" name="object 20"/>
          <p:cNvSpPr txBox="1"/>
          <p:nvPr/>
        </p:nvSpPr>
        <p:spPr>
          <a:xfrm>
            <a:off x="5680443" y="3426849"/>
            <a:ext cx="305435" cy="719455"/>
          </a:xfrm>
          <a:prstGeom prst="rect">
            <a:avLst/>
          </a:prstGeom>
          <a:ln w="19303">
            <a:solidFill>
              <a:srgbClr val="FFFFFF"/>
            </a:solidFill>
          </a:ln>
        </p:spPr>
        <p:txBody>
          <a:bodyPr vert="vert" wrap="square" lIns="0" tIns="67945" rIns="0" bIns="0" rtlCol="0">
            <a:spAutoFit/>
          </a:bodyPr>
          <a:lstStyle/>
          <a:p>
            <a:pPr marL="356235">
              <a:lnSpc>
                <a:spcPct val="100000"/>
              </a:lnSpc>
              <a:spcBef>
                <a:spcPts val="535"/>
              </a:spcBef>
            </a:pPr>
            <a:r>
              <a:rPr sz="1150" spc="-20" dirty="0">
                <a:solidFill>
                  <a:srgbClr val="FFFFFF"/>
                </a:solidFill>
                <a:latin typeface="Lucida Sans Unicode"/>
                <a:cs typeface="Lucida Sans Unicode"/>
              </a:rPr>
              <a:t>vNIC</a:t>
            </a:r>
            <a:endParaRPr sz="1150">
              <a:latin typeface="Lucida Sans Unicode"/>
              <a:cs typeface="Lucida Sans Unicode"/>
            </a:endParaRPr>
          </a:p>
        </p:txBody>
      </p:sp>
      <p:grpSp>
        <p:nvGrpSpPr>
          <p:cNvPr id="21" name="object 21"/>
          <p:cNvGrpSpPr/>
          <p:nvPr/>
        </p:nvGrpSpPr>
        <p:grpSpPr>
          <a:xfrm>
            <a:off x="6920636" y="2922494"/>
            <a:ext cx="1269365" cy="1279525"/>
            <a:chOff x="6920636" y="2922494"/>
            <a:chExt cx="1269365" cy="1279525"/>
          </a:xfrm>
        </p:grpSpPr>
        <p:sp>
          <p:nvSpPr>
            <p:cNvPr id="22" name="object 22"/>
            <p:cNvSpPr/>
            <p:nvPr/>
          </p:nvSpPr>
          <p:spPr>
            <a:xfrm>
              <a:off x="6920636" y="2922494"/>
              <a:ext cx="1269365" cy="1279525"/>
            </a:xfrm>
            <a:custGeom>
              <a:avLst/>
              <a:gdLst/>
              <a:ahLst/>
              <a:cxnLst/>
              <a:rect l="l" t="t" r="r" b="b"/>
              <a:pathLst>
                <a:path w="1269365" h="1279525">
                  <a:moveTo>
                    <a:pt x="1075677" y="0"/>
                  </a:moveTo>
                  <a:lnTo>
                    <a:pt x="193319" y="0"/>
                  </a:lnTo>
                  <a:lnTo>
                    <a:pt x="148944" y="5096"/>
                  </a:lnTo>
                  <a:lnTo>
                    <a:pt x="108235" y="19613"/>
                  </a:lnTo>
                  <a:lnTo>
                    <a:pt x="72343" y="42392"/>
                  </a:lnTo>
                  <a:lnTo>
                    <a:pt x="42421" y="72274"/>
                  </a:lnTo>
                  <a:lnTo>
                    <a:pt x="19622" y="108100"/>
                  </a:lnTo>
                  <a:lnTo>
                    <a:pt x="5097" y="148712"/>
                  </a:lnTo>
                  <a:lnTo>
                    <a:pt x="0" y="192951"/>
                  </a:lnTo>
                  <a:lnTo>
                    <a:pt x="0" y="1086472"/>
                  </a:lnTo>
                  <a:lnTo>
                    <a:pt x="5097" y="1130715"/>
                  </a:lnTo>
                  <a:lnTo>
                    <a:pt x="19622" y="1171330"/>
                  </a:lnTo>
                  <a:lnTo>
                    <a:pt x="42421" y="1207159"/>
                  </a:lnTo>
                  <a:lnTo>
                    <a:pt x="72343" y="1237042"/>
                  </a:lnTo>
                  <a:lnTo>
                    <a:pt x="108235" y="1259822"/>
                  </a:lnTo>
                  <a:lnTo>
                    <a:pt x="148944" y="1274339"/>
                  </a:lnTo>
                  <a:lnTo>
                    <a:pt x="193319" y="1279436"/>
                  </a:lnTo>
                  <a:lnTo>
                    <a:pt x="634682" y="1279436"/>
                  </a:lnTo>
                  <a:lnTo>
                    <a:pt x="1075677" y="1279436"/>
                  </a:lnTo>
                  <a:lnTo>
                    <a:pt x="1120052" y="1274339"/>
                  </a:lnTo>
                  <a:lnTo>
                    <a:pt x="1160764" y="1259822"/>
                  </a:lnTo>
                  <a:lnTo>
                    <a:pt x="1196658" y="1237042"/>
                  </a:lnTo>
                  <a:lnTo>
                    <a:pt x="1226582" y="1207159"/>
                  </a:lnTo>
                  <a:lnTo>
                    <a:pt x="1249384" y="1171330"/>
                  </a:lnTo>
                  <a:lnTo>
                    <a:pt x="1263911" y="1130715"/>
                  </a:lnTo>
                  <a:lnTo>
                    <a:pt x="1269009" y="1086472"/>
                  </a:lnTo>
                  <a:lnTo>
                    <a:pt x="1269009" y="192951"/>
                  </a:lnTo>
                  <a:lnTo>
                    <a:pt x="1263911" y="148712"/>
                  </a:lnTo>
                  <a:lnTo>
                    <a:pt x="1249384" y="108100"/>
                  </a:lnTo>
                  <a:lnTo>
                    <a:pt x="1226582" y="72274"/>
                  </a:lnTo>
                  <a:lnTo>
                    <a:pt x="1196658" y="42392"/>
                  </a:lnTo>
                  <a:lnTo>
                    <a:pt x="1160764" y="19613"/>
                  </a:lnTo>
                  <a:lnTo>
                    <a:pt x="1120052" y="5096"/>
                  </a:lnTo>
                  <a:lnTo>
                    <a:pt x="1075677" y="0"/>
                  </a:lnTo>
                  <a:close/>
                </a:path>
              </a:pathLst>
            </a:custGeom>
            <a:solidFill>
              <a:srgbClr val="FF9000"/>
            </a:solidFill>
          </p:spPr>
          <p:txBody>
            <a:bodyPr wrap="square" lIns="0" tIns="0" rIns="0" bIns="0" rtlCol="0"/>
            <a:lstStyle/>
            <a:p>
              <a:endParaRPr/>
            </a:p>
          </p:txBody>
        </p:sp>
        <p:sp>
          <p:nvSpPr>
            <p:cNvPr id="23" name="object 23"/>
            <p:cNvSpPr/>
            <p:nvPr/>
          </p:nvSpPr>
          <p:spPr>
            <a:xfrm>
              <a:off x="7195324" y="3483009"/>
              <a:ext cx="189230" cy="210185"/>
            </a:xfrm>
            <a:custGeom>
              <a:avLst/>
              <a:gdLst/>
              <a:ahLst/>
              <a:cxnLst/>
              <a:rect l="l" t="t" r="r" b="b"/>
              <a:pathLst>
                <a:path w="189229" h="210185">
                  <a:moveTo>
                    <a:pt x="94310" y="209880"/>
                  </a:moveTo>
                  <a:lnTo>
                    <a:pt x="0" y="209880"/>
                  </a:lnTo>
                  <a:lnTo>
                    <a:pt x="0" y="0"/>
                  </a:lnTo>
                  <a:lnTo>
                    <a:pt x="188633" y="0"/>
                  </a:lnTo>
                  <a:lnTo>
                    <a:pt x="188633" y="209880"/>
                  </a:lnTo>
                  <a:lnTo>
                    <a:pt x="94310" y="209880"/>
                  </a:lnTo>
                  <a:close/>
                </a:path>
              </a:pathLst>
            </a:custGeom>
            <a:ln w="19303">
              <a:solidFill>
                <a:srgbClr val="FFFFFF"/>
              </a:solidFill>
            </a:ln>
          </p:spPr>
          <p:txBody>
            <a:bodyPr wrap="square" lIns="0" tIns="0" rIns="0" bIns="0" rtlCol="0"/>
            <a:lstStyle/>
            <a:p>
              <a:endParaRPr/>
            </a:p>
          </p:txBody>
        </p:sp>
      </p:grpSp>
      <p:sp>
        <p:nvSpPr>
          <p:cNvPr id="24" name="object 24"/>
          <p:cNvSpPr txBox="1"/>
          <p:nvPr/>
        </p:nvSpPr>
        <p:spPr>
          <a:xfrm>
            <a:off x="7138796" y="3426849"/>
            <a:ext cx="305435" cy="719455"/>
          </a:xfrm>
          <a:prstGeom prst="rect">
            <a:avLst/>
          </a:prstGeom>
          <a:ln w="19303">
            <a:solidFill>
              <a:srgbClr val="FFFFFF"/>
            </a:solidFill>
          </a:ln>
        </p:spPr>
        <p:txBody>
          <a:bodyPr vert="vert" wrap="square" lIns="0" tIns="68580" rIns="0" bIns="0" rtlCol="0">
            <a:spAutoFit/>
          </a:bodyPr>
          <a:lstStyle/>
          <a:p>
            <a:pPr marL="356235">
              <a:lnSpc>
                <a:spcPct val="100000"/>
              </a:lnSpc>
              <a:spcBef>
                <a:spcPts val="540"/>
              </a:spcBef>
            </a:pPr>
            <a:r>
              <a:rPr sz="1150" spc="-20" dirty="0">
                <a:solidFill>
                  <a:srgbClr val="FFFFFF"/>
                </a:solidFill>
                <a:latin typeface="Lucida Sans Unicode"/>
                <a:cs typeface="Lucida Sans Unicode"/>
              </a:rPr>
              <a:t>vNIC</a:t>
            </a:r>
            <a:endParaRPr sz="1150">
              <a:latin typeface="Lucida Sans Unicode"/>
              <a:cs typeface="Lucida Sans Unicode"/>
            </a:endParaRPr>
          </a:p>
        </p:txBody>
      </p:sp>
      <p:sp>
        <p:nvSpPr>
          <p:cNvPr id="27" name="object 27"/>
          <p:cNvSpPr txBox="1"/>
          <p:nvPr/>
        </p:nvSpPr>
        <p:spPr>
          <a:xfrm>
            <a:off x="7231938" y="4910072"/>
            <a:ext cx="1511300" cy="173355"/>
          </a:xfrm>
          <a:prstGeom prst="rect">
            <a:avLst/>
          </a:prstGeom>
        </p:spPr>
        <p:txBody>
          <a:bodyPr vert="horz" wrap="square" lIns="0" tIns="0" rIns="0" bIns="0" rtlCol="0">
            <a:spAutoFit/>
          </a:bodyPr>
          <a:lstStyle/>
          <a:p>
            <a:pPr marL="12700">
              <a:lnSpc>
                <a:spcPts val="1260"/>
              </a:lnSpc>
            </a:pPr>
            <a:r>
              <a:rPr sz="1150" spc="-85" dirty="0">
                <a:solidFill>
                  <a:srgbClr val="287FB8"/>
                </a:solidFill>
                <a:latin typeface="Tahoma"/>
                <a:cs typeface="Tahoma"/>
                <a:hlinkClick r:id="rId2"/>
              </a:rPr>
              <a:t>Read </a:t>
            </a:r>
            <a:r>
              <a:rPr sz="1150" spc="-65" dirty="0">
                <a:solidFill>
                  <a:srgbClr val="287FB8"/>
                </a:solidFill>
                <a:latin typeface="Tahoma"/>
                <a:cs typeface="Tahoma"/>
                <a:hlinkClick r:id="rId2"/>
              </a:rPr>
              <a:t>more</a:t>
            </a:r>
            <a:r>
              <a:rPr sz="1150" spc="-85" dirty="0">
                <a:solidFill>
                  <a:srgbClr val="287FB8"/>
                </a:solidFill>
                <a:latin typeface="Tahoma"/>
                <a:cs typeface="Tahoma"/>
                <a:hlinkClick r:id="rId2"/>
              </a:rPr>
              <a:t> </a:t>
            </a:r>
            <a:r>
              <a:rPr sz="1150" spc="-45" dirty="0">
                <a:solidFill>
                  <a:srgbClr val="287FB8"/>
                </a:solidFill>
                <a:latin typeface="Tahoma"/>
                <a:cs typeface="Tahoma"/>
                <a:hlinkClick r:id="rId2"/>
              </a:rPr>
              <a:t>in</a:t>
            </a:r>
            <a:r>
              <a:rPr sz="1150" spc="-80" dirty="0">
                <a:solidFill>
                  <a:srgbClr val="287FB8"/>
                </a:solidFill>
                <a:latin typeface="Tahoma"/>
                <a:cs typeface="Tahoma"/>
                <a:hlinkClick r:id="rId2"/>
              </a:rPr>
              <a:t> </a:t>
            </a:r>
            <a:r>
              <a:rPr sz="1150" spc="-65" dirty="0">
                <a:solidFill>
                  <a:srgbClr val="287FB8"/>
                </a:solidFill>
                <a:latin typeface="Tahoma"/>
                <a:cs typeface="Tahoma"/>
                <a:hlinkClick r:id="rId2"/>
              </a:rPr>
              <a:t>the</a:t>
            </a:r>
            <a:r>
              <a:rPr sz="1150" spc="-85" dirty="0">
                <a:solidFill>
                  <a:srgbClr val="287FB8"/>
                </a:solidFill>
                <a:latin typeface="Tahoma"/>
                <a:cs typeface="Tahoma"/>
                <a:hlinkClick r:id="rId2"/>
              </a:rPr>
              <a:t> DOCS</a:t>
            </a:r>
            <a:r>
              <a:rPr sz="1150" spc="-100" dirty="0">
                <a:solidFill>
                  <a:srgbClr val="287FB8"/>
                </a:solidFill>
                <a:latin typeface="Tahoma"/>
                <a:cs typeface="Tahoma"/>
                <a:hlinkClick r:id="rId2"/>
              </a:rPr>
              <a:t> </a:t>
            </a:r>
            <a:r>
              <a:rPr sz="1000" spc="-50" dirty="0">
                <a:solidFill>
                  <a:srgbClr val="287FB8"/>
                </a:solidFill>
                <a:latin typeface="Microsoft Sans Serif"/>
                <a:cs typeface="Microsoft Sans Serif"/>
                <a:hlinkClick r:id="rId2"/>
              </a:rPr>
              <a:t>→</a:t>
            </a:r>
            <a:endParaRPr sz="1000">
              <a:latin typeface="Microsoft Sans Serif"/>
              <a:cs typeface="Microsoft Sans Serif"/>
            </a:endParaRPr>
          </a:p>
        </p:txBody>
      </p:sp>
      <p:sp>
        <p:nvSpPr>
          <p:cNvPr id="28" name="object 2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9" name="object 29"/>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19</a:t>
            </a:fld>
            <a:r>
              <a:rPr spc="-10" dirty="0"/>
              <a:t>/60</a:t>
            </a:r>
          </a:p>
        </p:txBody>
      </p:sp>
      <p:sp>
        <p:nvSpPr>
          <p:cNvPr id="25" name="object 25"/>
          <p:cNvSpPr txBox="1"/>
          <p:nvPr/>
        </p:nvSpPr>
        <p:spPr>
          <a:xfrm>
            <a:off x="5696635" y="2498784"/>
            <a:ext cx="2196465" cy="802640"/>
          </a:xfrm>
          <a:prstGeom prst="rect">
            <a:avLst/>
          </a:prstGeom>
        </p:spPr>
        <p:txBody>
          <a:bodyPr vert="horz" wrap="square" lIns="0" tIns="11430" rIns="0" bIns="0" rtlCol="0">
            <a:spAutoFit/>
          </a:bodyPr>
          <a:lstStyle/>
          <a:p>
            <a:pPr marL="50800" algn="ctr">
              <a:lnSpc>
                <a:spcPct val="100000"/>
              </a:lnSpc>
              <a:spcBef>
                <a:spcPts val="90"/>
              </a:spcBef>
            </a:pPr>
            <a:r>
              <a:rPr sz="1900" spc="-45" dirty="0">
                <a:latin typeface="Lucida Sans Unicode"/>
                <a:cs typeface="Lucida Sans Unicode"/>
              </a:rPr>
              <a:t>Guest</a:t>
            </a:r>
            <a:r>
              <a:rPr sz="1900" spc="-70" dirty="0">
                <a:latin typeface="Lucida Sans Unicode"/>
                <a:cs typeface="Lucida Sans Unicode"/>
              </a:rPr>
              <a:t> </a:t>
            </a:r>
            <a:r>
              <a:rPr sz="1900" spc="-10" dirty="0">
                <a:latin typeface="Lucida Sans Unicode"/>
                <a:cs typeface="Lucida Sans Unicode"/>
              </a:rPr>
              <a:t>Level</a:t>
            </a:r>
            <a:endParaRPr sz="1900">
              <a:latin typeface="Lucida Sans Unicode"/>
              <a:cs typeface="Lucida Sans Unicode"/>
            </a:endParaRPr>
          </a:p>
          <a:p>
            <a:pPr algn="ctr">
              <a:lnSpc>
                <a:spcPct val="100000"/>
              </a:lnSpc>
              <a:spcBef>
                <a:spcPts val="1565"/>
              </a:spcBef>
              <a:tabLst>
                <a:tab pos="1475740" algn="l"/>
              </a:tabLst>
            </a:pPr>
            <a:r>
              <a:rPr sz="1900" spc="-10" dirty="0">
                <a:solidFill>
                  <a:srgbClr val="FFFFFF"/>
                </a:solidFill>
                <a:latin typeface="Lucida Sans Unicode"/>
                <a:cs typeface="Lucida Sans Unicode"/>
              </a:rPr>
              <a:t>VM101</a:t>
            </a:r>
            <a:r>
              <a:rPr sz="1900" dirty="0">
                <a:solidFill>
                  <a:srgbClr val="FFFFFF"/>
                </a:solidFill>
                <a:latin typeface="Lucida Sans Unicode"/>
                <a:cs typeface="Lucida Sans Unicode"/>
              </a:rPr>
              <a:t>	</a:t>
            </a:r>
            <a:r>
              <a:rPr sz="1900" spc="-105" dirty="0">
                <a:solidFill>
                  <a:srgbClr val="FFFFFF"/>
                </a:solidFill>
                <a:latin typeface="Lucida Sans Unicode"/>
                <a:cs typeface="Lucida Sans Unicode"/>
              </a:rPr>
              <a:t>CT103</a:t>
            </a:r>
            <a:endParaRPr sz="1900">
              <a:latin typeface="Lucida Sans Unicode"/>
              <a:cs typeface="Lucida Sans Unicode"/>
            </a:endParaRPr>
          </a:p>
        </p:txBody>
      </p:sp>
      <p:sp>
        <p:nvSpPr>
          <p:cNvPr id="26" name="object 2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Firewall</a:t>
            </a:r>
            <a:r>
              <a:rPr spc="-140" dirty="0"/>
              <a:t> </a:t>
            </a:r>
            <a:r>
              <a:rPr dirty="0"/>
              <a:t>Datacenter</a:t>
            </a:r>
            <a:r>
              <a:rPr spc="-140" dirty="0"/>
              <a:t> </a:t>
            </a:r>
            <a:r>
              <a:rPr spc="-10" dirty="0"/>
              <a:t>Level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Cache</a:t>
            </a:r>
            <a:r>
              <a:rPr spc="-215" dirty="0"/>
              <a:t> </a:t>
            </a:r>
            <a:r>
              <a:rPr spc="80" dirty="0"/>
              <a:t>Modes</a:t>
            </a:r>
          </a:p>
        </p:txBody>
      </p:sp>
      <p:grpSp>
        <p:nvGrpSpPr>
          <p:cNvPr id="3" name="object 3"/>
          <p:cNvGrpSpPr/>
          <p:nvPr/>
        </p:nvGrpSpPr>
        <p:grpSpPr>
          <a:xfrm>
            <a:off x="1691962" y="1770845"/>
            <a:ext cx="2160270" cy="3147060"/>
            <a:chOff x="1691962" y="1770845"/>
            <a:chExt cx="2160270" cy="3147060"/>
          </a:xfrm>
        </p:grpSpPr>
        <p:sp>
          <p:nvSpPr>
            <p:cNvPr id="4" name="object 4"/>
            <p:cNvSpPr/>
            <p:nvPr/>
          </p:nvSpPr>
          <p:spPr>
            <a:xfrm>
              <a:off x="3364204" y="4303454"/>
              <a:ext cx="47625" cy="498475"/>
            </a:xfrm>
            <a:custGeom>
              <a:avLst/>
              <a:gdLst/>
              <a:ahLst/>
              <a:cxnLst/>
              <a:rect l="l" t="t" r="r" b="b"/>
              <a:pathLst>
                <a:path w="47625" h="498475">
                  <a:moveTo>
                    <a:pt x="46799" y="391668"/>
                  </a:moveTo>
                  <a:lnTo>
                    <a:pt x="0" y="445312"/>
                  </a:lnTo>
                  <a:lnTo>
                    <a:pt x="46431" y="498233"/>
                  </a:lnTo>
                  <a:lnTo>
                    <a:pt x="46799" y="391668"/>
                  </a:lnTo>
                  <a:close/>
                </a:path>
                <a:path w="47625" h="498475">
                  <a:moveTo>
                    <a:pt x="47155" y="0"/>
                  </a:moveTo>
                  <a:lnTo>
                    <a:pt x="355" y="53276"/>
                  </a:lnTo>
                  <a:lnTo>
                    <a:pt x="46799" y="106553"/>
                  </a:lnTo>
                  <a:lnTo>
                    <a:pt x="47155" y="0"/>
                  </a:lnTo>
                  <a:close/>
                </a:path>
              </a:pathLst>
            </a:custGeom>
            <a:solidFill>
              <a:srgbClr val="454C4C"/>
            </a:solidFill>
          </p:spPr>
          <p:txBody>
            <a:bodyPr wrap="square" lIns="0" tIns="0" rIns="0" bIns="0" rtlCol="0"/>
            <a:lstStyle/>
            <a:p>
              <a:endParaRPr/>
            </a:p>
          </p:txBody>
        </p:sp>
        <p:sp>
          <p:nvSpPr>
            <p:cNvPr id="5" name="object 5"/>
            <p:cNvSpPr/>
            <p:nvPr/>
          </p:nvSpPr>
          <p:spPr>
            <a:xfrm>
              <a:off x="2934360" y="1928529"/>
              <a:ext cx="906780" cy="2821305"/>
            </a:xfrm>
            <a:custGeom>
              <a:avLst/>
              <a:gdLst/>
              <a:ahLst/>
              <a:cxnLst/>
              <a:rect l="l" t="t" r="r" b="b"/>
              <a:pathLst>
                <a:path w="906779" h="2821304">
                  <a:moveTo>
                    <a:pt x="0" y="0"/>
                  </a:moveTo>
                  <a:lnTo>
                    <a:pt x="906475" y="0"/>
                  </a:lnTo>
                  <a:lnTo>
                    <a:pt x="906475" y="2820962"/>
                  </a:lnTo>
                  <a:lnTo>
                    <a:pt x="442074" y="2820962"/>
                  </a:lnTo>
                </a:path>
              </a:pathLst>
            </a:custGeom>
            <a:ln w="22247">
              <a:solidFill>
                <a:srgbClr val="454C4C"/>
              </a:solidFill>
            </a:ln>
          </p:spPr>
          <p:txBody>
            <a:bodyPr wrap="square" lIns="0" tIns="0" rIns="0" bIns="0" rtlCol="0"/>
            <a:lstStyle/>
            <a:p>
              <a:endParaRPr/>
            </a:p>
          </p:txBody>
        </p:sp>
        <p:sp>
          <p:nvSpPr>
            <p:cNvPr id="6" name="object 6"/>
            <p:cNvSpPr/>
            <p:nvPr/>
          </p:nvSpPr>
          <p:spPr>
            <a:xfrm>
              <a:off x="2947682" y="2106722"/>
              <a:ext cx="715645" cy="2250440"/>
            </a:xfrm>
            <a:custGeom>
              <a:avLst/>
              <a:gdLst/>
              <a:ahLst/>
              <a:cxnLst/>
              <a:rect l="l" t="t" r="r" b="b"/>
              <a:pathLst>
                <a:path w="715645" h="2250440">
                  <a:moveTo>
                    <a:pt x="456476" y="2250008"/>
                  </a:moveTo>
                  <a:lnTo>
                    <a:pt x="715314" y="2250363"/>
                  </a:lnTo>
                  <a:lnTo>
                    <a:pt x="715314" y="0"/>
                  </a:lnTo>
                  <a:lnTo>
                    <a:pt x="0" y="368"/>
                  </a:lnTo>
                </a:path>
              </a:pathLst>
            </a:custGeom>
            <a:ln w="20416">
              <a:solidFill>
                <a:srgbClr val="454C4C"/>
              </a:solidFill>
            </a:ln>
          </p:spPr>
          <p:txBody>
            <a:bodyPr wrap="square" lIns="0" tIns="0" rIns="0" bIns="0" rtlCol="0"/>
            <a:lstStyle/>
            <a:p>
              <a:endParaRPr/>
            </a:p>
          </p:txBody>
        </p:sp>
        <p:sp>
          <p:nvSpPr>
            <p:cNvPr id="7" name="object 7"/>
            <p:cNvSpPr/>
            <p:nvPr/>
          </p:nvSpPr>
          <p:spPr>
            <a:xfrm>
              <a:off x="1703514" y="2019613"/>
              <a:ext cx="473709" cy="2044700"/>
            </a:xfrm>
            <a:custGeom>
              <a:avLst/>
              <a:gdLst/>
              <a:ahLst/>
              <a:cxnLst/>
              <a:rect l="l" t="t" r="r" b="b"/>
              <a:pathLst>
                <a:path w="473710" h="2044700">
                  <a:moveTo>
                    <a:pt x="473405" y="0"/>
                  </a:moveTo>
                  <a:lnTo>
                    <a:pt x="368" y="0"/>
                  </a:lnTo>
                  <a:lnTo>
                    <a:pt x="0" y="2044077"/>
                  </a:lnTo>
                  <a:lnTo>
                    <a:pt x="99364" y="2043709"/>
                  </a:lnTo>
                </a:path>
              </a:pathLst>
            </a:custGeom>
            <a:ln w="23103">
              <a:solidFill>
                <a:srgbClr val="454C4C"/>
              </a:solidFill>
            </a:ln>
          </p:spPr>
          <p:txBody>
            <a:bodyPr wrap="square" lIns="0" tIns="0" rIns="0" bIns="0" rtlCol="0"/>
            <a:lstStyle/>
            <a:p>
              <a:endParaRPr/>
            </a:p>
          </p:txBody>
        </p:sp>
        <p:sp>
          <p:nvSpPr>
            <p:cNvPr id="8" name="object 8"/>
            <p:cNvSpPr/>
            <p:nvPr/>
          </p:nvSpPr>
          <p:spPr>
            <a:xfrm>
              <a:off x="2168639" y="1967403"/>
              <a:ext cx="47625" cy="106680"/>
            </a:xfrm>
            <a:custGeom>
              <a:avLst/>
              <a:gdLst/>
              <a:ahLst/>
              <a:cxnLst/>
              <a:rect l="l" t="t" r="r" b="b"/>
              <a:pathLst>
                <a:path w="47625" h="106680">
                  <a:moveTo>
                    <a:pt x="355" y="0"/>
                  </a:moveTo>
                  <a:lnTo>
                    <a:pt x="0" y="106565"/>
                  </a:lnTo>
                  <a:lnTo>
                    <a:pt x="47155" y="53289"/>
                  </a:lnTo>
                  <a:lnTo>
                    <a:pt x="355" y="0"/>
                  </a:lnTo>
                  <a:close/>
                </a:path>
              </a:pathLst>
            </a:custGeom>
            <a:solidFill>
              <a:srgbClr val="454C4C"/>
            </a:solidFill>
          </p:spPr>
          <p:txBody>
            <a:bodyPr wrap="square" lIns="0" tIns="0" rIns="0" bIns="0" rtlCol="0"/>
            <a:lstStyle/>
            <a:p>
              <a:endParaRPr/>
            </a:p>
          </p:txBody>
        </p:sp>
        <p:pic>
          <p:nvPicPr>
            <p:cNvPr id="9" name="object 9"/>
            <p:cNvPicPr/>
            <p:nvPr/>
          </p:nvPicPr>
          <p:blipFill>
            <a:blip r:embed="rId2" cstate="print"/>
            <a:stretch>
              <a:fillRect/>
            </a:stretch>
          </p:blipFill>
          <p:spPr>
            <a:xfrm>
              <a:off x="3459594" y="4408572"/>
              <a:ext cx="184327" cy="73075"/>
            </a:xfrm>
            <a:prstGeom prst="rect">
              <a:avLst/>
            </a:prstGeom>
          </p:spPr>
        </p:pic>
        <p:pic>
          <p:nvPicPr>
            <p:cNvPr id="10" name="object 10"/>
            <p:cNvPicPr/>
            <p:nvPr/>
          </p:nvPicPr>
          <p:blipFill>
            <a:blip r:embed="rId3" cstate="print"/>
            <a:stretch>
              <a:fillRect/>
            </a:stretch>
          </p:blipFill>
          <p:spPr>
            <a:xfrm>
              <a:off x="1857235" y="1897934"/>
              <a:ext cx="193319" cy="76669"/>
            </a:xfrm>
            <a:prstGeom prst="rect">
              <a:avLst/>
            </a:prstGeom>
          </p:spPr>
        </p:pic>
        <p:pic>
          <p:nvPicPr>
            <p:cNvPr id="11" name="object 11"/>
            <p:cNvPicPr/>
            <p:nvPr/>
          </p:nvPicPr>
          <p:blipFill>
            <a:blip r:embed="rId4" cstate="print"/>
            <a:stretch>
              <a:fillRect/>
            </a:stretch>
          </p:blipFill>
          <p:spPr>
            <a:xfrm>
              <a:off x="3087001" y="1997642"/>
              <a:ext cx="227520" cy="74167"/>
            </a:xfrm>
            <a:prstGeom prst="rect">
              <a:avLst/>
            </a:prstGeom>
          </p:spPr>
        </p:pic>
        <p:pic>
          <p:nvPicPr>
            <p:cNvPr id="12" name="object 12"/>
            <p:cNvPicPr/>
            <p:nvPr/>
          </p:nvPicPr>
          <p:blipFill>
            <a:blip r:embed="rId5" cstate="print"/>
            <a:stretch>
              <a:fillRect/>
            </a:stretch>
          </p:blipFill>
          <p:spPr>
            <a:xfrm>
              <a:off x="3087001" y="1798214"/>
              <a:ext cx="227520" cy="73799"/>
            </a:xfrm>
            <a:prstGeom prst="rect">
              <a:avLst/>
            </a:prstGeom>
          </p:spPr>
        </p:pic>
        <p:pic>
          <p:nvPicPr>
            <p:cNvPr id="13" name="object 13"/>
            <p:cNvPicPr/>
            <p:nvPr/>
          </p:nvPicPr>
          <p:blipFill>
            <a:blip r:embed="rId6" cstate="print"/>
            <a:stretch>
              <a:fillRect/>
            </a:stretch>
          </p:blipFill>
          <p:spPr>
            <a:xfrm>
              <a:off x="3349434" y="1794963"/>
              <a:ext cx="278650" cy="91808"/>
            </a:xfrm>
            <a:prstGeom prst="rect">
              <a:avLst/>
            </a:prstGeom>
          </p:spPr>
        </p:pic>
        <p:pic>
          <p:nvPicPr>
            <p:cNvPr id="14" name="object 14"/>
            <p:cNvPicPr/>
            <p:nvPr/>
          </p:nvPicPr>
          <p:blipFill>
            <a:blip r:embed="rId7" cstate="print"/>
            <a:stretch>
              <a:fillRect/>
            </a:stretch>
          </p:blipFill>
          <p:spPr>
            <a:xfrm>
              <a:off x="3459594" y="4806374"/>
              <a:ext cx="184327" cy="73075"/>
            </a:xfrm>
            <a:prstGeom prst="rect">
              <a:avLst/>
            </a:prstGeom>
          </p:spPr>
        </p:pic>
        <p:pic>
          <p:nvPicPr>
            <p:cNvPr id="15" name="object 15"/>
            <p:cNvPicPr/>
            <p:nvPr/>
          </p:nvPicPr>
          <p:blipFill>
            <a:blip r:embed="rId8" cstate="print"/>
            <a:stretch>
              <a:fillRect/>
            </a:stretch>
          </p:blipFill>
          <p:spPr>
            <a:xfrm>
              <a:off x="1802155" y="2725924"/>
              <a:ext cx="1565643" cy="705243"/>
            </a:xfrm>
            <a:prstGeom prst="rect">
              <a:avLst/>
            </a:prstGeom>
          </p:spPr>
        </p:pic>
        <p:pic>
          <p:nvPicPr>
            <p:cNvPr id="16" name="object 16"/>
            <p:cNvPicPr/>
            <p:nvPr/>
          </p:nvPicPr>
          <p:blipFill>
            <a:blip r:embed="rId9" cstate="print"/>
            <a:stretch>
              <a:fillRect/>
            </a:stretch>
          </p:blipFill>
          <p:spPr>
            <a:xfrm>
              <a:off x="1802155" y="3846610"/>
              <a:ext cx="1565643" cy="1071003"/>
            </a:xfrm>
            <a:prstGeom prst="rect">
              <a:avLst/>
            </a:prstGeom>
          </p:spPr>
        </p:pic>
        <p:sp>
          <p:nvSpPr>
            <p:cNvPr id="17" name="object 17"/>
            <p:cNvSpPr/>
            <p:nvPr/>
          </p:nvSpPr>
          <p:spPr>
            <a:xfrm>
              <a:off x="2216873" y="1770845"/>
              <a:ext cx="743585" cy="509270"/>
            </a:xfrm>
            <a:custGeom>
              <a:avLst/>
              <a:gdLst/>
              <a:ahLst/>
              <a:cxnLst/>
              <a:rect l="l" t="t" r="r" b="b"/>
              <a:pathLst>
                <a:path w="743585" h="509269">
                  <a:moveTo>
                    <a:pt x="630720" y="0"/>
                  </a:moveTo>
                  <a:lnTo>
                    <a:pt x="112687" y="0"/>
                  </a:lnTo>
                  <a:lnTo>
                    <a:pt x="68655" y="8854"/>
                  </a:lnTo>
                  <a:lnTo>
                    <a:pt x="32854" y="33032"/>
                  </a:lnTo>
                  <a:lnTo>
                    <a:pt x="8799" y="68955"/>
                  </a:lnTo>
                  <a:lnTo>
                    <a:pt x="0" y="113042"/>
                  </a:lnTo>
                  <a:lnTo>
                    <a:pt x="0" y="395998"/>
                  </a:lnTo>
                  <a:lnTo>
                    <a:pt x="8799" y="439880"/>
                  </a:lnTo>
                  <a:lnTo>
                    <a:pt x="32854" y="475697"/>
                  </a:lnTo>
                  <a:lnTo>
                    <a:pt x="68655" y="499836"/>
                  </a:lnTo>
                  <a:lnTo>
                    <a:pt x="112687" y="508685"/>
                  </a:lnTo>
                  <a:lnTo>
                    <a:pt x="630720" y="508685"/>
                  </a:lnTo>
                  <a:lnTo>
                    <a:pt x="674757" y="499836"/>
                  </a:lnTo>
                  <a:lnTo>
                    <a:pt x="710557" y="475697"/>
                  </a:lnTo>
                  <a:lnTo>
                    <a:pt x="734609" y="439880"/>
                  </a:lnTo>
                  <a:lnTo>
                    <a:pt x="743407" y="395998"/>
                  </a:lnTo>
                  <a:lnTo>
                    <a:pt x="743407" y="113042"/>
                  </a:lnTo>
                  <a:lnTo>
                    <a:pt x="734609" y="68955"/>
                  </a:lnTo>
                  <a:lnTo>
                    <a:pt x="710557" y="33032"/>
                  </a:lnTo>
                  <a:lnTo>
                    <a:pt x="674757" y="8854"/>
                  </a:lnTo>
                  <a:lnTo>
                    <a:pt x="630720" y="0"/>
                  </a:lnTo>
                  <a:close/>
                </a:path>
              </a:pathLst>
            </a:custGeom>
            <a:solidFill>
              <a:srgbClr val="FF9000"/>
            </a:solidFill>
          </p:spPr>
          <p:txBody>
            <a:bodyPr wrap="square" lIns="0" tIns="0" rIns="0" bIns="0" rtlCol="0"/>
            <a:lstStyle/>
            <a:p>
              <a:endParaRPr/>
            </a:p>
          </p:txBody>
        </p:sp>
        <p:pic>
          <p:nvPicPr>
            <p:cNvPr id="18" name="object 18"/>
            <p:cNvPicPr/>
            <p:nvPr/>
          </p:nvPicPr>
          <p:blipFill>
            <a:blip r:embed="rId10" cstate="print"/>
            <a:stretch>
              <a:fillRect/>
            </a:stretch>
          </p:blipFill>
          <p:spPr>
            <a:xfrm>
              <a:off x="2476436" y="1965613"/>
              <a:ext cx="224281" cy="119519"/>
            </a:xfrm>
            <a:prstGeom prst="rect">
              <a:avLst/>
            </a:prstGeom>
          </p:spPr>
        </p:pic>
      </p:grpSp>
      <p:grpSp>
        <p:nvGrpSpPr>
          <p:cNvPr id="19" name="object 19"/>
          <p:cNvGrpSpPr/>
          <p:nvPr/>
        </p:nvGrpSpPr>
        <p:grpSpPr>
          <a:xfrm>
            <a:off x="2377084" y="1440011"/>
            <a:ext cx="415925" cy="102870"/>
            <a:chOff x="2377084" y="1440011"/>
            <a:chExt cx="415925" cy="102870"/>
          </a:xfrm>
        </p:grpSpPr>
        <p:pic>
          <p:nvPicPr>
            <p:cNvPr id="20" name="object 20"/>
            <p:cNvPicPr/>
            <p:nvPr/>
          </p:nvPicPr>
          <p:blipFill>
            <a:blip r:embed="rId11" cstate="print"/>
            <a:stretch>
              <a:fillRect/>
            </a:stretch>
          </p:blipFill>
          <p:spPr>
            <a:xfrm>
              <a:off x="2377084" y="1440011"/>
              <a:ext cx="82435" cy="100799"/>
            </a:xfrm>
            <a:prstGeom prst="rect">
              <a:avLst/>
            </a:prstGeom>
          </p:spPr>
        </p:pic>
        <p:pic>
          <p:nvPicPr>
            <p:cNvPr id="21" name="object 21"/>
            <p:cNvPicPr/>
            <p:nvPr/>
          </p:nvPicPr>
          <p:blipFill>
            <a:blip r:embed="rId12" cstate="print"/>
            <a:stretch>
              <a:fillRect/>
            </a:stretch>
          </p:blipFill>
          <p:spPr>
            <a:xfrm>
              <a:off x="2484716" y="1440011"/>
              <a:ext cx="90728" cy="102603"/>
            </a:xfrm>
            <a:prstGeom prst="rect">
              <a:avLst/>
            </a:prstGeom>
          </p:spPr>
        </p:pic>
        <p:pic>
          <p:nvPicPr>
            <p:cNvPr id="22" name="object 22"/>
            <p:cNvPicPr/>
            <p:nvPr/>
          </p:nvPicPr>
          <p:blipFill>
            <a:blip r:embed="rId13" cstate="print"/>
            <a:stretch>
              <a:fillRect/>
            </a:stretch>
          </p:blipFill>
          <p:spPr>
            <a:xfrm>
              <a:off x="2601721" y="1440011"/>
              <a:ext cx="82435" cy="100799"/>
            </a:xfrm>
            <a:prstGeom prst="rect">
              <a:avLst/>
            </a:prstGeom>
          </p:spPr>
        </p:pic>
        <p:pic>
          <p:nvPicPr>
            <p:cNvPr id="23" name="object 23"/>
            <p:cNvPicPr/>
            <p:nvPr/>
          </p:nvPicPr>
          <p:blipFill>
            <a:blip r:embed="rId14" cstate="print"/>
            <a:stretch>
              <a:fillRect/>
            </a:stretch>
          </p:blipFill>
          <p:spPr>
            <a:xfrm>
              <a:off x="2709354" y="1440011"/>
              <a:ext cx="83527" cy="102603"/>
            </a:xfrm>
            <a:prstGeom prst="rect">
              <a:avLst/>
            </a:prstGeom>
          </p:spPr>
        </p:pic>
      </p:grpSp>
      <p:sp>
        <p:nvSpPr>
          <p:cNvPr id="24" name="object 24"/>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7" name="object 27"/>
          <p:cNvSpPr txBox="1"/>
          <p:nvPr/>
        </p:nvSpPr>
        <p:spPr>
          <a:xfrm>
            <a:off x="7859064" y="4910072"/>
            <a:ext cx="883919" cy="173355"/>
          </a:xfrm>
          <a:prstGeom prst="rect">
            <a:avLst/>
          </a:prstGeom>
        </p:spPr>
        <p:txBody>
          <a:bodyPr vert="horz" wrap="square" lIns="0" tIns="0" rIns="0" bIns="0" rtlCol="0">
            <a:spAutoFit/>
          </a:bodyPr>
          <a:lstStyle/>
          <a:p>
            <a:pPr marL="12700">
              <a:lnSpc>
                <a:spcPts val="1260"/>
              </a:lnSpc>
            </a:pPr>
            <a:r>
              <a:rPr sz="1150" spc="-50" dirty="0">
                <a:solidFill>
                  <a:srgbClr val="287FB8"/>
                </a:solidFill>
                <a:latin typeface="Tahoma"/>
                <a:cs typeface="Tahoma"/>
                <a:hlinkClick r:id="rId15"/>
              </a:rPr>
              <a:t>More</a:t>
            </a:r>
            <a:r>
              <a:rPr sz="1150" spc="-60" dirty="0">
                <a:solidFill>
                  <a:srgbClr val="287FB8"/>
                </a:solidFill>
                <a:latin typeface="Tahoma"/>
                <a:cs typeface="Tahoma"/>
                <a:hlinkClick r:id="rId15"/>
              </a:rPr>
              <a:t> </a:t>
            </a:r>
            <a:r>
              <a:rPr sz="1150" spc="-65" dirty="0">
                <a:solidFill>
                  <a:srgbClr val="287FB8"/>
                </a:solidFill>
                <a:latin typeface="Tahoma"/>
                <a:cs typeface="Tahoma"/>
                <a:hlinkClick r:id="rId15"/>
              </a:rPr>
              <a:t>Details</a:t>
            </a:r>
            <a:r>
              <a:rPr sz="1150" spc="-70" dirty="0">
                <a:solidFill>
                  <a:srgbClr val="287FB8"/>
                </a:solidFill>
                <a:latin typeface="Tahoma"/>
                <a:cs typeface="Tahoma"/>
                <a:hlinkClick r:id="rId15"/>
              </a:rPr>
              <a:t> </a:t>
            </a:r>
            <a:r>
              <a:rPr sz="1000" spc="-65" dirty="0">
                <a:solidFill>
                  <a:srgbClr val="287FB8"/>
                </a:solidFill>
                <a:latin typeface="Microsoft Sans Serif"/>
                <a:cs typeface="Microsoft Sans Serif"/>
                <a:hlinkClick r:id="rId15"/>
              </a:rPr>
              <a:t>→</a:t>
            </a:r>
            <a:endParaRPr sz="1000">
              <a:latin typeface="Microsoft Sans Serif"/>
              <a:cs typeface="Microsoft Sans Serif"/>
            </a:endParaRPr>
          </a:p>
        </p:txBody>
      </p:sp>
      <p:sp>
        <p:nvSpPr>
          <p:cNvPr id="28" name="object 2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9" name="object 29"/>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20</a:t>
            </a:fld>
            <a:r>
              <a:rPr spc="-10" dirty="0"/>
              <a:t>/60</a:t>
            </a:r>
          </a:p>
        </p:txBody>
      </p:sp>
      <p:sp>
        <p:nvSpPr>
          <p:cNvPr id="25" name="object 25"/>
          <p:cNvSpPr txBox="1"/>
          <p:nvPr/>
        </p:nvSpPr>
        <p:spPr>
          <a:xfrm>
            <a:off x="5571616" y="1149889"/>
            <a:ext cx="3830954" cy="1543685"/>
          </a:xfrm>
          <a:prstGeom prst="rect">
            <a:avLst/>
          </a:prstGeom>
        </p:spPr>
        <p:txBody>
          <a:bodyPr vert="horz" wrap="square" lIns="0" tIns="197485" rIns="0" bIns="0" rtlCol="0">
            <a:spAutoFit/>
          </a:bodyPr>
          <a:lstStyle/>
          <a:p>
            <a:pPr marL="12700">
              <a:lnSpc>
                <a:spcPct val="100000"/>
              </a:lnSpc>
              <a:spcBef>
                <a:spcPts val="1555"/>
              </a:spcBef>
            </a:pPr>
            <a:r>
              <a:rPr sz="2400" dirty="0">
                <a:solidFill>
                  <a:srgbClr val="454C4C"/>
                </a:solidFill>
                <a:latin typeface="Arial MT"/>
                <a:cs typeface="Arial MT"/>
              </a:rPr>
              <a:t>host</a:t>
            </a:r>
            <a:r>
              <a:rPr sz="2400" spc="-70" dirty="0">
                <a:solidFill>
                  <a:srgbClr val="454C4C"/>
                </a:solidFill>
                <a:latin typeface="Arial MT"/>
                <a:cs typeface="Arial MT"/>
              </a:rPr>
              <a:t> </a:t>
            </a:r>
            <a:r>
              <a:rPr sz="2400" spc="-10" dirty="0">
                <a:solidFill>
                  <a:srgbClr val="454C4C"/>
                </a:solidFill>
                <a:latin typeface="Arial MT"/>
                <a:cs typeface="Arial MT"/>
              </a:rPr>
              <a:t>page</a:t>
            </a:r>
            <a:r>
              <a:rPr sz="2400" spc="-70" dirty="0">
                <a:solidFill>
                  <a:srgbClr val="454C4C"/>
                </a:solidFill>
                <a:latin typeface="Arial MT"/>
                <a:cs typeface="Arial MT"/>
              </a:rPr>
              <a:t> </a:t>
            </a:r>
            <a:r>
              <a:rPr sz="2400" spc="-10" dirty="0">
                <a:solidFill>
                  <a:srgbClr val="454C4C"/>
                </a:solidFill>
                <a:latin typeface="Arial MT"/>
                <a:cs typeface="Arial MT"/>
              </a:rPr>
              <a:t>cache</a:t>
            </a:r>
            <a:r>
              <a:rPr sz="2400" spc="-65" dirty="0">
                <a:solidFill>
                  <a:srgbClr val="454C4C"/>
                </a:solidFill>
                <a:latin typeface="Arial MT"/>
                <a:cs typeface="Arial MT"/>
              </a:rPr>
              <a:t> </a:t>
            </a:r>
            <a:r>
              <a:rPr sz="2400" dirty="0">
                <a:solidFill>
                  <a:srgbClr val="454C4C"/>
                </a:solidFill>
                <a:latin typeface="Arial MT"/>
                <a:cs typeface="Arial MT"/>
              </a:rPr>
              <a:t>is</a:t>
            </a:r>
            <a:r>
              <a:rPr sz="2400" spc="-70" dirty="0">
                <a:solidFill>
                  <a:srgbClr val="454C4C"/>
                </a:solidFill>
                <a:latin typeface="Arial MT"/>
                <a:cs typeface="Arial MT"/>
              </a:rPr>
              <a:t> </a:t>
            </a:r>
            <a:r>
              <a:rPr sz="2400" spc="85" dirty="0">
                <a:solidFill>
                  <a:srgbClr val="454C4C"/>
                </a:solidFill>
                <a:latin typeface="Arial MT"/>
                <a:cs typeface="Arial MT"/>
              </a:rPr>
              <a:t>not</a:t>
            </a:r>
            <a:r>
              <a:rPr sz="2400" spc="-70" dirty="0">
                <a:solidFill>
                  <a:srgbClr val="454C4C"/>
                </a:solidFill>
                <a:latin typeface="Arial MT"/>
                <a:cs typeface="Arial MT"/>
              </a:rPr>
              <a:t> </a:t>
            </a:r>
            <a:r>
              <a:rPr sz="2400" spc="-20" dirty="0">
                <a:solidFill>
                  <a:srgbClr val="454C4C"/>
                </a:solidFill>
                <a:latin typeface="Arial MT"/>
                <a:cs typeface="Arial MT"/>
              </a:rPr>
              <a:t>used</a:t>
            </a:r>
            <a:endParaRPr sz="2400">
              <a:latin typeface="Arial MT"/>
              <a:cs typeface="Arial MT"/>
            </a:endParaRPr>
          </a:p>
          <a:p>
            <a:pPr marL="12700" marR="426084">
              <a:lnSpc>
                <a:spcPct val="113799"/>
              </a:lnSpc>
              <a:spcBef>
                <a:spcPts val="1060"/>
              </a:spcBef>
            </a:pPr>
            <a:r>
              <a:rPr sz="2400" dirty="0">
                <a:solidFill>
                  <a:srgbClr val="454C4C"/>
                </a:solidFill>
                <a:latin typeface="Arial MT"/>
                <a:cs typeface="Arial MT"/>
              </a:rPr>
              <a:t>guest</a:t>
            </a:r>
            <a:r>
              <a:rPr sz="2400" spc="-105" dirty="0">
                <a:solidFill>
                  <a:srgbClr val="454C4C"/>
                </a:solidFill>
                <a:latin typeface="Arial MT"/>
                <a:cs typeface="Arial MT"/>
              </a:rPr>
              <a:t> </a:t>
            </a:r>
            <a:r>
              <a:rPr sz="2400" dirty="0">
                <a:solidFill>
                  <a:srgbClr val="454C4C"/>
                </a:solidFill>
                <a:latin typeface="Arial MT"/>
                <a:cs typeface="Arial MT"/>
              </a:rPr>
              <a:t>disk</a:t>
            </a:r>
            <a:r>
              <a:rPr sz="2400" spc="-100" dirty="0">
                <a:solidFill>
                  <a:srgbClr val="454C4C"/>
                </a:solidFill>
                <a:latin typeface="Arial MT"/>
                <a:cs typeface="Arial MT"/>
              </a:rPr>
              <a:t> </a:t>
            </a:r>
            <a:r>
              <a:rPr sz="2400" spc="-10" dirty="0">
                <a:solidFill>
                  <a:srgbClr val="454C4C"/>
                </a:solidFill>
                <a:latin typeface="Arial MT"/>
                <a:cs typeface="Arial MT"/>
              </a:rPr>
              <a:t>cache</a:t>
            </a:r>
            <a:r>
              <a:rPr sz="2400" spc="-100" dirty="0">
                <a:solidFill>
                  <a:srgbClr val="454C4C"/>
                </a:solidFill>
                <a:latin typeface="Arial MT"/>
                <a:cs typeface="Arial MT"/>
              </a:rPr>
              <a:t> </a:t>
            </a:r>
            <a:r>
              <a:rPr sz="2400" dirty="0">
                <a:solidFill>
                  <a:srgbClr val="454C4C"/>
                </a:solidFill>
                <a:latin typeface="Arial MT"/>
                <a:cs typeface="Arial MT"/>
              </a:rPr>
              <a:t>is</a:t>
            </a:r>
            <a:r>
              <a:rPr sz="2400" spc="-100" dirty="0">
                <a:solidFill>
                  <a:srgbClr val="454C4C"/>
                </a:solidFill>
                <a:latin typeface="Arial MT"/>
                <a:cs typeface="Arial MT"/>
              </a:rPr>
              <a:t> </a:t>
            </a:r>
            <a:r>
              <a:rPr sz="2400" dirty="0">
                <a:solidFill>
                  <a:srgbClr val="454C4C"/>
                </a:solidFill>
                <a:latin typeface="Arial MT"/>
                <a:cs typeface="Arial MT"/>
              </a:rPr>
              <a:t>set</a:t>
            </a:r>
            <a:r>
              <a:rPr sz="2400" spc="-100" dirty="0">
                <a:solidFill>
                  <a:srgbClr val="454C4C"/>
                </a:solidFill>
                <a:latin typeface="Arial MT"/>
                <a:cs typeface="Arial MT"/>
              </a:rPr>
              <a:t> </a:t>
            </a:r>
            <a:r>
              <a:rPr sz="2400" spc="70" dirty="0">
                <a:solidFill>
                  <a:srgbClr val="454C4C"/>
                </a:solidFill>
                <a:latin typeface="Arial MT"/>
                <a:cs typeface="Arial MT"/>
              </a:rPr>
              <a:t>to </a:t>
            </a:r>
            <a:r>
              <a:rPr sz="2400" spc="-10" dirty="0">
                <a:solidFill>
                  <a:srgbClr val="454C4C"/>
                </a:solidFill>
                <a:latin typeface="Arial MT"/>
                <a:cs typeface="Arial MT"/>
              </a:rPr>
              <a:t>writeback</a:t>
            </a:r>
            <a:endParaRPr sz="2400">
              <a:latin typeface="Arial MT"/>
              <a:cs typeface="Arial MT"/>
            </a:endParaRPr>
          </a:p>
        </p:txBody>
      </p:sp>
      <p:sp>
        <p:nvSpPr>
          <p:cNvPr id="26" name="object 26"/>
          <p:cNvSpPr txBox="1"/>
          <p:nvPr/>
        </p:nvSpPr>
        <p:spPr>
          <a:xfrm>
            <a:off x="524761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Cache</a:t>
            </a:r>
            <a:r>
              <a:rPr spc="-215" dirty="0"/>
              <a:t> </a:t>
            </a:r>
            <a:r>
              <a:rPr spc="80" dirty="0"/>
              <a:t>Modes</a:t>
            </a:r>
          </a:p>
        </p:txBody>
      </p:sp>
      <p:grpSp>
        <p:nvGrpSpPr>
          <p:cNvPr id="3" name="object 3"/>
          <p:cNvGrpSpPr/>
          <p:nvPr/>
        </p:nvGrpSpPr>
        <p:grpSpPr>
          <a:xfrm>
            <a:off x="2443683" y="1442893"/>
            <a:ext cx="466090" cy="140335"/>
            <a:chOff x="2443683" y="1442893"/>
            <a:chExt cx="466090" cy="140335"/>
          </a:xfrm>
        </p:grpSpPr>
        <p:pic>
          <p:nvPicPr>
            <p:cNvPr id="4" name="object 4"/>
            <p:cNvPicPr/>
            <p:nvPr/>
          </p:nvPicPr>
          <p:blipFill>
            <a:blip r:embed="rId2" cstate="print"/>
            <a:stretch>
              <a:fillRect/>
            </a:stretch>
          </p:blipFill>
          <p:spPr>
            <a:xfrm>
              <a:off x="2443683" y="1442893"/>
              <a:ext cx="85318" cy="140030"/>
            </a:xfrm>
            <a:prstGeom prst="rect">
              <a:avLst/>
            </a:prstGeom>
          </p:spPr>
        </p:pic>
        <p:sp>
          <p:nvSpPr>
            <p:cNvPr id="5" name="object 5"/>
            <p:cNvSpPr/>
            <p:nvPr/>
          </p:nvSpPr>
          <p:spPr>
            <a:xfrm>
              <a:off x="2559240" y="1447567"/>
              <a:ext cx="17780" cy="133985"/>
            </a:xfrm>
            <a:custGeom>
              <a:avLst/>
              <a:gdLst/>
              <a:ahLst/>
              <a:cxnLst/>
              <a:rect l="l" t="t" r="r" b="b"/>
              <a:pathLst>
                <a:path w="17780" h="133984">
                  <a:moveTo>
                    <a:pt x="15836" y="36004"/>
                  </a:moveTo>
                  <a:lnTo>
                    <a:pt x="1079" y="36004"/>
                  </a:lnTo>
                  <a:lnTo>
                    <a:pt x="1079" y="133565"/>
                  </a:lnTo>
                  <a:lnTo>
                    <a:pt x="15836" y="133565"/>
                  </a:lnTo>
                  <a:lnTo>
                    <a:pt x="15836" y="36004"/>
                  </a:lnTo>
                  <a:close/>
                </a:path>
                <a:path w="17780" h="133984">
                  <a:moveTo>
                    <a:pt x="10795" y="0"/>
                  </a:moveTo>
                  <a:lnTo>
                    <a:pt x="6121" y="0"/>
                  </a:lnTo>
                  <a:lnTo>
                    <a:pt x="3962" y="723"/>
                  </a:lnTo>
                  <a:lnTo>
                    <a:pt x="2514" y="2527"/>
                  </a:lnTo>
                  <a:lnTo>
                    <a:pt x="723" y="3962"/>
                  </a:lnTo>
                  <a:lnTo>
                    <a:pt x="0" y="6477"/>
                  </a:lnTo>
                  <a:lnTo>
                    <a:pt x="0" y="12966"/>
                  </a:lnTo>
                  <a:lnTo>
                    <a:pt x="723" y="15481"/>
                  </a:lnTo>
                  <a:lnTo>
                    <a:pt x="3962" y="18719"/>
                  </a:lnTo>
                  <a:lnTo>
                    <a:pt x="6121" y="19443"/>
                  </a:lnTo>
                  <a:lnTo>
                    <a:pt x="10795" y="19443"/>
                  </a:lnTo>
                  <a:lnTo>
                    <a:pt x="12954" y="18719"/>
                  </a:lnTo>
                  <a:lnTo>
                    <a:pt x="14757" y="17284"/>
                  </a:lnTo>
                  <a:lnTo>
                    <a:pt x="16560" y="15481"/>
                  </a:lnTo>
                  <a:lnTo>
                    <a:pt x="17284" y="12966"/>
                  </a:lnTo>
                  <a:lnTo>
                    <a:pt x="17284" y="6477"/>
                  </a:lnTo>
                  <a:lnTo>
                    <a:pt x="16560" y="3962"/>
                  </a:lnTo>
                  <a:lnTo>
                    <a:pt x="14757" y="2527"/>
                  </a:lnTo>
                  <a:lnTo>
                    <a:pt x="12954" y="723"/>
                  </a:lnTo>
                  <a:lnTo>
                    <a:pt x="10795" y="0"/>
                  </a:lnTo>
                  <a:close/>
                </a:path>
              </a:pathLst>
            </a:custGeom>
            <a:solidFill>
              <a:srgbClr val="454C4C"/>
            </a:solidFill>
          </p:spPr>
          <p:txBody>
            <a:bodyPr wrap="square" lIns="0" tIns="0" rIns="0" bIns="0" rtlCol="0"/>
            <a:lstStyle/>
            <a:p>
              <a:endParaRPr/>
            </a:p>
          </p:txBody>
        </p:sp>
        <p:pic>
          <p:nvPicPr>
            <p:cNvPr id="6" name="object 6"/>
            <p:cNvPicPr/>
            <p:nvPr/>
          </p:nvPicPr>
          <p:blipFill>
            <a:blip r:embed="rId3" cstate="print"/>
            <a:stretch>
              <a:fillRect/>
            </a:stretch>
          </p:blipFill>
          <p:spPr>
            <a:xfrm>
              <a:off x="2606395" y="1481768"/>
              <a:ext cx="146888" cy="101155"/>
            </a:xfrm>
            <a:prstGeom prst="rect">
              <a:avLst/>
            </a:prstGeom>
          </p:spPr>
        </p:pic>
        <p:pic>
          <p:nvPicPr>
            <p:cNvPr id="7" name="object 7"/>
            <p:cNvPicPr/>
            <p:nvPr/>
          </p:nvPicPr>
          <p:blipFill>
            <a:blip r:embed="rId4" cstate="print"/>
            <a:stretch>
              <a:fillRect/>
            </a:stretch>
          </p:blipFill>
          <p:spPr>
            <a:xfrm>
              <a:off x="2773083" y="1461245"/>
              <a:ext cx="136436" cy="121678"/>
            </a:xfrm>
            <a:prstGeom prst="rect">
              <a:avLst/>
            </a:prstGeom>
          </p:spPr>
        </p:pic>
      </p:grpSp>
      <p:grpSp>
        <p:nvGrpSpPr>
          <p:cNvPr id="8" name="object 8"/>
          <p:cNvGrpSpPr/>
          <p:nvPr/>
        </p:nvGrpSpPr>
        <p:grpSpPr>
          <a:xfrm>
            <a:off x="1799667" y="1807574"/>
            <a:ext cx="1945005" cy="3096895"/>
            <a:chOff x="1799667" y="1807574"/>
            <a:chExt cx="1945005" cy="3096895"/>
          </a:xfrm>
        </p:grpSpPr>
        <p:sp>
          <p:nvSpPr>
            <p:cNvPr id="9" name="object 9"/>
            <p:cNvSpPr/>
            <p:nvPr/>
          </p:nvSpPr>
          <p:spPr>
            <a:xfrm>
              <a:off x="3444836" y="4683248"/>
              <a:ext cx="46990" cy="105410"/>
            </a:xfrm>
            <a:custGeom>
              <a:avLst/>
              <a:gdLst/>
              <a:ahLst/>
              <a:cxnLst/>
              <a:rect l="l" t="t" r="r" b="b"/>
              <a:pathLst>
                <a:path w="46989" h="105410">
                  <a:moveTo>
                    <a:pt x="46443" y="0"/>
                  </a:moveTo>
                  <a:lnTo>
                    <a:pt x="0" y="52565"/>
                  </a:lnTo>
                  <a:lnTo>
                    <a:pt x="46088" y="105117"/>
                  </a:lnTo>
                  <a:lnTo>
                    <a:pt x="46443" y="0"/>
                  </a:lnTo>
                  <a:close/>
                </a:path>
              </a:pathLst>
            </a:custGeom>
            <a:solidFill>
              <a:srgbClr val="454C4C"/>
            </a:solidFill>
          </p:spPr>
          <p:txBody>
            <a:bodyPr wrap="square" lIns="0" tIns="0" rIns="0" bIns="0" rtlCol="0"/>
            <a:lstStyle/>
            <a:p>
              <a:endParaRPr/>
            </a:p>
          </p:txBody>
        </p:sp>
        <p:sp>
          <p:nvSpPr>
            <p:cNvPr id="10" name="object 10"/>
            <p:cNvSpPr/>
            <p:nvPr/>
          </p:nvSpPr>
          <p:spPr>
            <a:xfrm>
              <a:off x="1811159" y="2052366"/>
              <a:ext cx="466090" cy="2011680"/>
            </a:xfrm>
            <a:custGeom>
              <a:avLst/>
              <a:gdLst/>
              <a:ahLst/>
              <a:cxnLst/>
              <a:rect l="l" t="t" r="r" b="b"/>
              <a:pathLst>
                <a:path w="466089" h="2011679">
                  <a:moveTo>
                    <a:pt x="465836" y="0"/>
                  </a:moveTo>
                  <a:lnTo>
                    <a:pt x="355" y="0"/>
                  </a:lnTo>
                  <a:lnTo>
                    <a:pt x="0" y="2011324"/>
                  </a:lnTo>
                  <a:lnTo>
                    <a:pt x="97917" y="2010956"/>
                  </a:lnTo>
                </a:path>
              </a:pathLst>
            </a:custGeom>
            <a:ln w="22984">
              <a:solidFill>
                <a:srgbClr val="454C4C"/>
              </a:solidFill>
            </a:ln>
          </p:spPr>
          <p:txBody>
            <a:bodyPr wrap="square" lIns="0" tIns="0" rIns="0" bIns="0" rtlCol="0"/>
            <a:lstStyle/>
            <a:p>
              <a:endParaRPr/>
            </a:p>
          </p:txBody>
        </p:sp>
        <p:sp>
          <p:nvSpPr>
            <p:cNvPr id="11" name="object 11"/>
            <p:cNvSpPr/>
            <p:nvPr/>
          </p:nvSpPr>
          <p:spPr>
            <a:xfrm>
              <a:off x="2268715" y="2000893"/>
              <a:ext cx="46990" cy="104775"/>
            </a:xfrm>
            <a:custGeom>
              <a:avLst/>
              <a:gdLst/>
              <a:ahLst/>
              <a:cxnLst/>
              <a:rect l="l" t="t" r="r" b="b"/>
              <a:pathLst>
                <a:path w="46989" h="104775">
                  <a:moveTo>
                    <a:pt x="368" y="0"/>
                  </a:moveTo>
                  <a:lnTo>
                    <a:pt x="0" y="104749"/>
                  </a:lnTo>
                  <a:lnTo>
                    <a:pt x="46443" y="52197"/>
                  </a:lnTo>
                  <a:lnTo>
                    <a:pt x="368" y="0"/>
                  </a:lnTo>
                  <a:close/>
                </a:path>
              </a:pathLst>
            </a:custGeom>
            <a:solidFill>
              <a:srgbClr val="454C4C"/>
            </a:solidFill>
          </p:spPr>
          <p:txBody>
            <a:bodyPr wrap="square" lIns="0" tIns="0" rIns="0" bIns="0" rtlCol="0"/>
            <a:lstStyle/>
            <a:p>
              <a:endParaRPr/>
            </a:p>
          </p:txBody>
        </p:sp>
        <p:pic>
          <p:nvPicPr>
            <p:cNvPr id="12" name="object 12"/>
            <p:cNvPicPr/>
            <p:nvPr/>
          </p:nvPicPr>
          <p:blipFill>
            <a:blip r:embed="rId5" cstate="print"/>
            <a:stretch>
              <a:fillRect/>
            </a:stretch>
          </p:blipFill>
          <p:spPr>
            <a:xfrm>
              <a:off x="1962365" y="1932491"/>
              <a:ext cx="190436" cy="75234"/>
            </a:xfrm>
            <a:prstGeom prst="rect">
              <a:avLst/>
            </a:prstGeom>
          </p:spPr>
        </p:pic>
        <p:pic>
          <p:nvPicPr>
            <p:cNvPr id="13" name="object 13"/>
            <p:cNvPicPr/>
            <p:nvPr/>
          </p:nvPicPr>
          <p:blipFill>
            <a:blip r:embed="rId6" cstate="print"/>
            <a:stretch>
              <a:fillRect/>
            </a:stretch>
          </p:blipFill>
          <p:spPr>
            <a:xfrm>
              <a:off x="3172320" y="1935006"/>
              <a:ext cx="223913" cy="72720"/>
            </a:xfrm>
            <a:prstGeom prst="rect">
              <a:avLst/>
            </a:prstGeom>
          </p:spPr>
        </p:pic>
        <p:pic>
          <p:nvPicPr>
            <p:cNvPr id="14" name="object 14"/>
            <p:cNvPicPr/>
            <p:nvPr/>
          </p:nvPicPr>
          <p:blipFill>
            <a:blip r:embed="rId7" cstate="print"/>
            <a:stretch>
              <a:fillRect/>
            </a:stretch>
          </p:blipFill>
          <p:spPr>
            <a:xfrm>
              <a:off x="3518280" y="4798449"/>
              <a:ext cx="181800" cy="71996"/>
            </a:xfrm>
            <a:prstGeom prst="rect">
              <a:avLst/>
            </a:prstGeom>
          </p:spPr>
        </p:pic>
        <p:sp>
          <p:nvSpPr>
            <p:cNvPr id="15" name="object 15"/>
            <p:cNvSpPr/>
            <p:nvPr/>
          </p:nvSpPr>
          <p:spPr>
            <a:xfrm>
              <a:off x="3041281" y="2050207"/>
              <a:ext cx="692150" cy="2687320"/>
            </a:xfrm>
            <a:custGeom>
              <a:avLst/>
              <a:gdLst/>
              <a:ahLst/>
              <a:cxnLst/>
              <a:rect l="l" t="t" r="r" b="b"/>
              <a:pathLst>
                <a:path w="692150" h="2687320">
                  <a:moveTo>
                    <a:pt x="0" y="0"/>
                  </a:moveTo>
                  <a:lnTo>
                    <a:pt x="691921" y="0"/>
                  </a:lnTo>
                  <a:lnTo>
                    <a:pt x="691921" y="2687040"/>
                  </a:lnTo>
                  <a:lnTo>
                    <a:pt x="418312" y="2687040"/>
                  </a:lnTo>
                </a:path>
              </a:pathLst>
            </a:custGeom>
            <a:ln w="22132">
              <a:solidFill>
                <a:srgbClr val="454C4C"/>
              </a:solidFill>
            </a:ln>
          </p:spPr>
          <p:txBody>
            <a:bodyPr wrap="square" lIns="0" tIns="0" rIns="0" bIns="0" rtlCol="0"/>
            <a:lstStyle/>
            <a:p>
              <a:endParaRPr/>
            </a:p>
          </p:txBody>
        </p:sp>
        <p:pic>
          <p:nvPicPr>
            <p:cNvPr id="16" name="object 16"/>
            <p:cNvPicPr/>
            <p:nvPr/>
          </p:nvPicPr>
          <p:blipFill>
            <a:blip r:embed="rId8" cstate="print"/>
            <a:stretch>
              <a:fillRect/>
            </a:stretch>
          </p:blipFill>
          <p:spPr>
            <a:xfrm>
              <a:off x="1908365" y="3850204"/>
              <a:ext cx="1540789" cy="1053719"/>
            </a:xfrm>
            <a:prstGeom prst="rect">
              <a:avLst/>
            </a:prstGeom>
          </p:spPr>
        </p:pic>
        <p:pic>
          <p:nvPicPr>
            <p:cNvPr id="17" name="object 17"/>
            <p:cNvPicPr/>
            <p:nvPr/>
          </p:nvPicPr>
          <p:blipFill>
            <a:blip r:embed="rId9" cstate="print"/>
            <a:stretch>
              <a:fillRect/>
            </a:stretch>
          </p:blipFill>
          <p:spPr>
            <a:xfrm>
              <a:off x="1907997" y="2747171"/>
              <a:ext cx="1540802" cy="694080"/>
            </a:xfrm>
            <a:prstGeom prst="rect">
              <a:avLst/>
            </a:prstGeom>
          </p:spPr>
        </p:pic>
        <p:sp>
          <p:nvSpPr>
            <p:cNvPr id="18" name="object 18"/>
            <p:cNvSpPr/>
            <p:nvPr/>
          </p:nvSpPr>
          <p:spPr>
            <a:xfrm>
              <a:off x="2312644" y="1807574"/>
              <a:ext cx="731520" cy="501015"/>
            </a:xfrm>
            <a:custGeom>
              <a:avLst/>
              <a:gdLst/>
              <a:ahLst/>
              <a:cxnLst/>
              <a:rect l="l" t="t" r="r" b="b"/>
              <a:pathLst>
                <a:path w="731519" h="501014">
                  <a:moveTo>
                    <a:pt x="620636" y="0"/>
                  </a:moveTo>
                  <a:lnTo>
                    <a:pt x="110870" y="0"/>
                  </a:lnTo>
                  <a:lnTo>
                    <a:pt x="67578" y="8667"/>
                  </a:lnTo>
                  <a:lnTo>
                    <a:pt x="32351" y="32351"/>
                  </a:lnTo>
                  <a:lnTo>
                    <a:pt x="8667" y="67578"/>
                  </a:lnTo>
                  <a:lnTo>
                    <a:pt x="0" y="110870"/>
                  </a:lnTo>
                  <a:lnTo>
                    <a:pt x="0" y="389508"/>
                  </a:lnTo>
                  <a:lnTo>
                    <a:pt x="8667" y="432864"/>
                  </a:lnTo>
                  <a:lnTo>
                    <a:pt x="32351" y="468217"/>
                  </a:lnTo>
                  <a:lnTo>
                    <a:pt x="67578" y="492025"/>
                  </a:lnTo>
                  <a:lnTo>
                    <a:pt x="110870" y="500748"/>
                  </a:lnTo>
                  <a:lnTo>
                    <a:pt x="620636" y="500748"/>
                  </a:lnTo>
                  <a:lnTo>
                    <a:pt x="663931" y="492025"/>
                  </a:lnTo>
                  <a:lnTo>
                    <a:pt x="699161" y="468217"/>
                  </a:lnTo>
                  <a:lnTo>
                    <a:pt x="722850" y="432864"/>
                  </a:lnTo>
                  <a:lnTo>
                    <a:pt x="731519" y="389508"/>
                  </a:lnTo>
                  <a:lnTo>
                    <a:pt x="731519" y="110870"/>
                  </a:lnTo>
                  <a:lnTo>
                    <a:pt x="722850" y="67578"/>
                  </a:lnTo>
                  <a:lnTo>
                    <a:pt x="699161" y="32351"/>
                  </a:lnTo>
                  <a:lnTo>
                    <a:pt x="663931" y="8667"/>
                  </a:lnTo>
                  <a:lnTo>
                    <a:pt x="620636" y="0"/>
                  </a:lnTo>
                  <a:close/>
                </a:path>
              </a:pathLst>
            </a:custGeom>
            <a:solidFill>
              <a:srgbClr val="FF9000"/>
            </a:solidFill>
          </p:spPr>
          <p:txBody>
            <a:bodyPr wrap="square" lIns="0" tIns="0" rIns="0" bIns="0" rtlCol="0"/>
            <a:lstStyle/>
            <a:p>
              <a:endParaRPr/>
            </a:p>
          </p:txBody>
        </p:sp>
        <p:pic>
          <p:nvPicPr>
            <p:cNvPr id="19" name="object 19"/>
            <p:cNvPicPr/>
            <p:nvPr/>
          </p:nvPicPr>
          <p:blipFill>
            <a:blip r:embed="rId10" cstate="print"/>
            <a:stretch>
              <a:fillRect/>
            </a:stretch>
          </p:blipFill>
          <p:spPr>
            <a:xfrm>
              <a:off x="2568244" y="1999090"/>
              <a:ext cx="220319" cy="117716"/>
            </a:xfrm>
            <a:prstGeom prst="rect">
              <a:avLst/>
            </a:prstGeom>
          </p:spPr>
        </p:pic>
      </p:grpSp>
      <p:sp>
        <p:nvSpPr>
          <p:cNvPr id="20" name="object 20"/>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4" name="object 24"/>
          <p:cNvSpPr txBox="1"/>
          <p:nvPr/>
        </p:nvSpPr>
        <p:spPr>
          <a:xfrm>
            <a:off x="7859064" y="4910072"/>
            <a:ext cx="883919" cy="173355"/>
          </a:xfrm>
          <a:prstGeom prst="rect">
            <a:avLst/>
          </a:prstGeom>
        </p:spPr>
        <p:txBody>
          <a:bodyPr vert="horz" wrap="square" lIns="0" tIns="0" rIns="0" bIns="0" rtlCol="0">
            <a:spAutoFit/>
          </a:bodyPr>
          <a:lstStyle/>
          <a:p>
            <a:pPr marL="12700">
              <a:lnSpc>
                <a:spcPts val="1260"/>
              </a:lnSpc>
            </a:pPr>
            <a:r>
              <a:rPr sz="1150" spc="-50" dirty="0">
                <a:solidFill>
                  <a:srgbClr val="287FB8"/>
                </a:solidFill>
                <a:latin typeface="Tahoma"/>
                <a:cs typeface="Tahoma"/>
                <a:hlinkClick r:id="rId11"/>
              </a:rPr>
              <a:t>More</a:t>
            </a:r>
            <a:r>
              <a:rPr sz="1150" spc="-60" dirty="0">
                <a:solidFill>
                  <a:srgbClr val="287FB8"/>
                </a:solidFill>
                <a:latin typeface="Tahoma"/>
                <a:cs typeface="Tahoma"/>
                <a:hlinkClick r:id="rId11"/>
              </a:rPr>
              <a:t> </a:t>
            </a:r>
            <a:r>
              <a:rPr sz="1150" spc="-65" dirty="0">
                <a:solidFill>
                  <a:srgbClr val="287FB8"/>
                </a:solidFill>
                <a:latin typeface="Tahoma"/>
                <a:cs typeface="Tahoma"/>
                <a:hlinkClick r:id="rId11"/>
              </a:rPr>
              <a:t>Details</a:t>
            </a:r>
            <a:r>
              <a:rPr sz="1150" spc="-70" dirty="0">
                <a:solidFill>
                  <a:srgbClr val="287FB8"/>
                </a:solidFill>
                <a:latin typeface="Tahoma"/>
                <a:cs typeface="Tahoma"/>
                <a:hlinkClick r:id="rId11"/>
              </a:rPr>
              <a:t> </a:t>
            </a:r>
            <a:r>
              <a:rPr sz="1000" spc="-65" dirty="0">
                <a:solidFill>
                  <a:srgbClr val="287FB8"/>
                </a:solidFill>
                <a:latin typeface="Microsoft Sans Serif"/>
                <a:cs typeface="Microsoft Sans Serif"/>
                <a:hlinkClick r:id="rId11"/>
              </a:rPr>
              <a:t>→</a:t>
            </a:r>
            <a:endParaRPr sz="1000">
              <a:latin typeface="Microsoft Sans Serif"/>
              <a:cs typeface="Microsoft Sans Serif"/>
            </a:endParaRPr>
          </a:p>
        </p:txBody>
      </p:sp>
      <p:sp>
        <p:nvSpPr>
          <p:cNvPr id="25" name="object 2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6" name="object 26"/>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21</a:t>
            </a:fld>
            <a:r>
              <a:rPr spc="-10" dirty="0"/>
              <a:t>/60</a:t>
            </a:r>
          </a:p>
        </p:txBody>
      </p:sp>
      <p:sp>
        <p:nvSpPr>
          <p:cNvPr id="21" name="object 21"/>
          <p:cNvSpPr txBox="1"/>
          <p:nvPr/>
        </p:nvSpPr>
        <p:spPr>
          <a:xfrm>
            <a:off x="5571616" y="1149889"/>
            <a:ext cx="3830954" cy="2094230"/>
          </a:xfrm>
          <a:prstGeom prst="rect">
            <a:avLst/>
          </a:prstGeom>
        </p:spPr>
        <p:txBody>
          <a:bodyPr vert="horz" wrap="square" lIns="0" tIns="197485" rIns="0" bIns="0" rtlCol="0">
            <a:spAutoFit/>
          </a:bodyPr>
          <a:lstStyle/>
          <a:p>
            <a:pPr marL="12700">
              <a:lnSpc>
                <a:spcPct val="100000"/>
              </a:lnSpc>
              <a:spcBef>
                <a:spcPts val="1555"/>
              </a:spcBef>
            </a:pPr>
            <a:r>
              <a:rPr sz="2400" dirty="0">
                <a:solidFill>
                  <a:srgbClr val="454C4C"/>
                </a:solidFill>
                <a:latin typeface="Arial MT"/>
                <a:cs typeface="Arial MT"/>
              </a:rPr>
              <a:t>host</a:t>
            </a:r>
            <a:r>
              <a:rPr sz="2400" spc="-70" dirty="0">
                <a:solidFill>
                  <a:srgbClr val="454C4C"/>
                </a:solidFill>
                <a:latin typeface="Arial MT"/>
                <a:cs typeface="Arial MT"/>
              </a:rPr>
              <a:t> </a:t>
            </a:r>
            <a:r>
              <a:rPr sz="2400" spc="-10" dirty="0">
                <a:solidFill>
                  <a:srgbClr val="454C4C"/>
                </a:solidFill>
                <a:latin typeface="Arial MT"/>
                <a:cs typeface="Arial MT"/>
              </a:rPr>
              <a:t>page</a:t>
            </a:r>
            <a:r>
              <a:rPr sz="2400" spc="-70" dirty="0">
                <a:solidFill>
                  <a:srgbClr val="454C4C"/>
                </a:solidFill>
                <a:latin typeface="Arial MT"/>
                <a:cs typeface="Arial MT"/>
              </a:rPr>
              <a:t> </a:t>
            </a:r>
            <a:r>
              <a:rPr sz="2400" spc="-10" dirty="0">
                <a:solidFill>
                  <a:srgbClr val="454C4C"/>
                </a:solidFill>
                <a:latin typeface="Arial MT"/>
                <a:cs typeface="Arial MT"/>
              </a:rPr>
              <a:t>cache</a:t>
            </a:r>
            <a:r>
              <a:rPr sz="2400" spc="-65" dirty="0">
                <a:solidFill>
                  <a:srgbClr val="454C4C"/>
                </a:solidFill>
                <a:latin typeface="Arial MT"/>
                <a:cs typeface="Arial MT"/>
              </a:rPr>
              <a:t> </a:t>
            </a:r>
            <a:r>
              <a:rPr sz="2400" dirty="0">
                <a:solidFill>
                  <a:srgbClr val="454C4C"/>
                </a:solidFill>
                <a:latin typeface="Arial MT"/>
                <a:cs typeface="Arial MT"/>
              </a:rPr>
              <a:t>is</a:t>
            </a:r>
            <a:r>
              <a:rPr sz="2400" spc="-70" dirty="0">
                <a:solidFill>
                  <a:srgbClr val="454C4C"/>
                </a:solidFill>
                <a:latin typeface="Arial MT"/>
                <a:cs typeface="Arial MT"/>
              </a:rPr>
              <a:t> </a:t>
            </a:r>
            <a:r>
              <a:rPr sz="2400" spc="85" dirty="0">
                <a:solidFill>
                  <a:srgbClr val="454C4C"/>
                </a:solidFill>
                <a:latin typeface="Arial MT"/>
                <a:cs typeface="Arial MT"/>
              </a:rPr>
              <a:t>not</a:t>
            </a:r>
            <a:r>
              <a:rPr sz="2400" spc="-70" dirty="0">
                <a:solidFill>
                  <a:srgbClr val="454C4C"/>
                </a:solidFill>
                <a:latin typeface="Arial MT"/>
                <a:cs typeface="Arial MT"/>
              </a:rPr>
              <a:t> </a:t>
            </a:r>
            <a:r>
              <a:rPr sz="2400" spc="-20" dirty="0">
                <a:solidFill>
                  <a:srgbClr val="454C4C"/>
                </a:solidFill>
                <a:latin typeface="Arial MT"/>
                <a:cs typeface="Arial MT"/>
              </a:rPr>
              <a:t>used</a:t>
            </a:r>
            <a:endParaRPr sz="2400">
              <a:latin typeface="Arial MT"/>
              <a:cs typeface="Arial MT"/>
            </a:endParaRPr>
          </a:p>
          <a:p>
            <a:pPr marL="12700" marR="400050">
              <a:lnSpc>
                <a:spcPct val="113799"/>
              </a:lnSpc>
              <a:spcBef>
                <a:spcPts val="1060"/>
              </a:spcBef>
            </a:pPr>
            <a:r>
              <a:rPr sz="2400" dirty="0">
                <a:solidFill>
                  <a:srgbClr val="454C4C"/>
                </a:solidFill>
                <a:latin typeface="Arial MT"/>
                <a:cs typeface="Arial MT"/>
              </a:rPr>
              <a:t>guest</a:t>
            </a:r>
            <a:r>
              <a:rPr sz="2400" spc="-100" dirty="0">
                <a:solidFill>
                  <a:srgbClr val="454C4C"/>
                </a:solidFill>
                <a:latin typeface="Arial MT"/>
                <a:cs typeface="Arial MT"/>
              </a:rPr>
              <a:t> </a:t>
            </a:r>
            <a:r>
              <a:rPr sz="2400" dirty="0">
                <a:solidFill>
                  <a:srgbClr val="454C4C"/>
                </a:solidFill>
                <a:latin typeface="Arial MT"/>
                <a:cs typeface="Arial MT"/>
              </a:rPr>
              <a:t>disk</a:t>
            </a:r>
            <a:r>
              <a:rPr sz="2400" spc="-95" dirty="0">
                <a:solidFill>
                  <a:srgbClr val="454C4C"/>
                </a:solidFill>
                <a:latin typeface="Arial MT"/>
                <a:cs typeface="Arial MT"/>
              </a:rPr>
              <a:t> </a:t>
            </a:r>
            <a:r>
              <a:rPr sz="2400" spc="-10" dirty="0">
                <a:solidFill>
                  <a:srgbClr val="454C4C"/>
                </a:solidFill>
                <a:latin typeface="Arial MT"/>
                <a:cs typeface="Arial MT"/>
              </a:rPr>
              <a:t>cache</a:t>
            </a:r>
            <a:r>
              <a:rPr sz="2400" spc="-95" dirty="0">
                <a:solidFill>
                  <a:srgbClr val="454C4C"/>
                </a:solidFill>
                <a:latin typeface="Arial MT"/>
                <a:cs typeface="Arial MT"/>
              </a:rPr>
              <a:t> </a:t>
            </a:r>
            <a:r>
              <a:rPr sz="2400" spc="55" dirty="0">
                <a:solidFill>
                  <a:srgbClr val="454C4C"/>
                </a:solidFill>
                <a:latin typeface="Arial MT"/>
                <a:cs typeface="Arial MT"/>
              </a:rPr>
              <a:t>mode</a:t>
            </a:r>
            <a:r>
              <a:rPr sz="2400" spc="-95" dirty="0">
                <a:solidFill>
                  <a:srgbClr val="454C4C"/>
                </a:solidFill>
                <a:latin typeface="Arial MT"/>
                <a:cs typeface="Arial MT"/>
              </a:rPr>
              <a:t> </a:t>
            </a:r>
            <a:r>
              <a:rPr sz="2400" spc="-25" dirty="0">
                <a:solidFill>
                  <a:srgbClr val="454C4C"/>
                </a:solidFill>
                <a:latin typeface="Arial MT"/>
                <a:cs typeface="Arial MT"/>
              </a:rPr>
              <a:t>is </a:t>
            </a:r>
            <a:r>
              <a:rPr sz="2400" spc="40" dirty="0">
                <a:solidFill>
                  <a:srgbClr val="454C4C"/>
                </a:solidFill>
                <a:latin typeface="Arial MT"/>
                <a:cs typeface="Arial MT"/>
              </a:rPr>
              <a:t>writethrough</a:t>
            </a:r>
            <a:endParaRPr sz="2400">
              <a:latin typeface="Arial MT"/>
              <a:cs typeface="Arial MT"/>
            </a:endParaRPr>
          </a:p>
          <a:p>
            <a:pPr marL="12700">
              <a:lnSpc>
                <a:spcPct val="100000"/>
              </a:lnSpc>
              <a:spcBef>
                <a:spcPts val="1455"/>
              </a:spcBef>
            </a:pPr>
            <a:r>
              <a:rPr sz="2400" spc="-10" dirty="0">
                <a:solidFill>
                  <a:srgbClr val="454C4C"/>
                </a:solidFill>
                <a:latin typeface="Arial MT"/>
                <a:cs typeface="Arial MT"/>
              </a:rPr>
              <a:t>fsync</a:t>
            </a:r>
            <a:r>
              <a:rPr sz="2400" spc="-80" dirty="0">
                <a:solidFill>
                  <a:srgbClr val="454C4C"/>
                </a:solidFill>
                <a:latin typeface="Arial MT"/>
                <a:cs typeface="Arial MT"/>
              </a:rPr>
              <a:t> </a:t>
            </a:r>
            <a:r>
              <a:rPr sz="2400" dirty="0">
                <a:solidFill>
                  <a:srgbClr val="454C4C"/>
                </a:solidFill>
                <a:latin typeface="Arial MT"/>
                <a:cs typeface="Arial MT"/>
              </a:rPr>
              <a:t>is</a:t>
            </a:r>
            <a:r>
              <a:rPr sz="2400" spc="-75" dirty="0">
                <a:solidFill>
                  <a:srgbClr val="454C4C"/>
                </a:solidFill>
                <a:latin typeface="Arial MT"/>
                <a:cs typeface="Arial MT"/>
              </a:rPr>
              <a:t> </a:t>
            </a:r>
            <a:r>
              <a:rPr sz="2400" dirty="0">
                <a:solidFill>
                  <a:srgbClr val="454C4C"/>
                </a:solidFill>
                <a:latin typeface="Arial MT"/>
                <a:cs typeface="Arial MT"/>
              </a:rPr>
              <a:t>made</a:t>
            </a:r>
            <a:r>
              <a:rPr sz="2400" spc="-80" dirty="0">
                <a:solidFill>
                  <a:srgbClr val="454C4C"/>
                </a:solidFill>
                <a:latin typeface="Arial MT"/>
                <a:cs typeface="Arial MT"/>
              </a:rPr>
              <a:t> </a:t>
            </a:r>
            <a:r>
              <a:rPr sz="2400" spc="80" dirty="0">
                <a:solidFill>
                  <a:srgbClr val="454C4C"/>
                </a:solidFill>
                <a:latin typeface="Arial MT"/>
                <a:cs typeface="Arial MT"/>
              </a:rPr>
              <a:t>for</a:t>
            </a:r>
            <a:r>
              <a:rPr sz="2400" spc="-80" dirty="0">
                <a:solidFill>
                  <a:srgbClr val="454C4C"/>
                </a:solidFill>
                <a:latin typeface="Arial MT"/>
                <a:cs typeface="Arial MT"/>
              </a:rPr>
              <a:t> </a:t>
            </a:r>
            <a:r>
              <a:rPr sz="2400" spc="-10" dirty="0">
                <a:solidFill>
                  <a:srgbClr val="454C4C"/>
                </a:solidFill>
                <a:latin typeface="Arial MT"/>
                <a:cs typeface="Arial MT"/>
              </a:rPr>
              <a:t>each</a:t>
            </a:r>
            <a:r>
              <a:rPr sz="2400" spc="-80" dirty="0">
                <a:solidFill>
                  <a:srgbClr val="454C4C"/>
                </a:solidFill>
                <a:latin typeface="Arial MT"/>
                <a:cs typeface="Arial MT"/>
              </a:rPr>
              <a:t> </a:t>
            </a:r>
            <a:r>
              <a:rPr sz="2400" spc="-10" dirty="0">
                <a:solidFill>
                  <a:srgbClr val="454C4C"/>
                </a:solidFill>
                <a:latin typeface="Arial MT"/>
                <a:cs typeface="Arial MT"/>
              </a:rPr>
              <a:t>write</a:t>
            </a:r>
            <a:endParaRPr sz="2400">
              <a:latin typeface="Arial MT"/>
              <a:cs typeface="Arial MT"/>
            </a:endParaRPr>
          </a:p>
        </p:txBody>
      </p:sp>
      <p:sp>
        <p:nvSpPr>
          <p:cNvPr id="22" name="object 22"/>
          <p:cNvSpPr txBox="1"/>
          <p:nvPr/>
        </p:nvSpPr>
        <p:spPr>
          <a:xfrm>
            <a:off x="524761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3" name="object 23"/>
          <p:cNvSpPr txBox="1"/>
          <p:nvPr/>
        </p:nvSpPr>
        <p:spPr>
          <a:xfrm>
            <a:off x="5247614" y="2934267"/>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Cache</a:t>
            </a:r>
            <a:r>
              <a:rPr spc="-215" dirty="0"/>
              <a:t> </a:t>
            </a:r>
            <a:r>
              <a:rPr spc="80" dirty="0"/>
              <a:t>Modes</a:t>
            </a:r>
          </a:p>
        </p:txBody>
      </p:sp>
      <p:grpSp>
        <p:nvGrpSpPr>
          <p:cNvPr id="3" name="object 3"/>
          <p:cNvGrpSpPr/>
          <p:nvPr/>
        </p:nvGrpSpPr>
        <p:grpSpPr>
          <a:xfrm>
            <a:off x="1804709" y="1819449"/>
            <a:ext cx="1934845" cy="3084830"/>
            <a:chOff x="1804709" y="1819449"/>
            <a:chExt cx="1934845" cy="3084830"/>
          </a:xfrm>
        </p:grpSpPr>
        <p:sp>
          <p:nvSpPr>
            <p:cNvPr id="4" name="object 4"/>
            <p:cNvSpPr/>
            <p:nvPr/>
          </p:nvSpPr>
          <p:spPr>
            <a:xfrm>
              <a:off x="3443757" y="4676047"/>
              <a:ext cx="46355" cy="104775"/>
            </a:xfrm>
            <a:custGeom>
              <a:avLst/>
              <a:gdLst/>
              <a:ahLst/>
              <a:cxnLst/>
              <a:rect l="l" t="t" r="r" b="b"/>
              <a:pathLst>
                <a:path w="46354" h="104775">
                  <a:moveTo>
                    <a:pt x="46088" y="0"/>
                  </a:moveTo>
                  <a:lnTo>
                    <a:pt x="0" y="52197"/>
                  </a:lnTo>
                  <a:lnTo>
                    <a:pt x="45720" y="104406"/>
                  </a:lnTo>
                  <a:lnTo>
                    <a:pt x="46088" y="0"/>
                  </a:lnTo>
                  <a:close/>
                </a:path>
              </a:pathLst>
            </a:custGeom>
            <a:solidFill>
              <a:srgbClr val="454C4C"/>
            </a:solidFill>
          </p:spPr>
          <p:txBody>
            <a:bodyPr wrap="square" lIns="0" tIns="0" rIns="0" bIns="0" rtlCol="0"/>
            <a:lstStyle/>
            <a:p>
              <a:endParaRPr/>
            </a:p>
          </p:txBody>
        </p:sp>
        <p:sp>
          <p:nvSpPr>
            <p:cNvPr id="5" name="object 5"/>
            <p:cNvSpPr/>
            <p:nvPr/>
          </p:nvSpPr>
          <p:spPr>
            <a:xfrm>
              <a:off x="1816201" y="2063174"/>
              <a:ext cx="464184" cy="1209675"/>
            </a:xfrm>
            <a:custGeom>
              <a:avLst/>
              <a:gdLst/>
              <a:ahLst/>
              <a:cxnLst/>
              <a:rect l="l" t="t" r="r" b="b"/>
              <a:pathLst>
                <a:path w="464185" h="1209675">
                  <a:moveTo>
                    <a:pt x="464032" y="0"/>
                  </a:moveTo>
                  <a:lnTo>
                    <a:pt x="355" y="0"/>
                  </a:lnTo>
                  <a:lnTo>
                    <a:pt x="0" y="1209598"/>
                  </a:lnTo>
                  <a:lnTo>
                    <a:pt x="97561" y="1209230"/>
                  </a:lnTo>
                </a:path>
              </a:pathLst>
            </a:custGeom>
            <a:ln w="22983">
              <a:solidFill>
                <a:srgbClr val="454C4C"/>
              </a:solidFill>
            </a:ln>
          </p:spPr>
          <p:txBody>
            <a:bodyPr wrap="square" lIns="0" tIns="0" rIns="0" bIns="0" rtlCol="0"/>
            <a:lstStyle/>
            <a:p>
              <a:endParaRPr/>
            </a:p>
          </p:txBody>
        </p:sp>
        <p:sp>
          <p:nvSpPr>
            <p:cNvPr id="6" name="object 6"/>
            <p:cNvSpPr/>
            <p:nvPr/>
          </p:nvSpPr>
          <p:spPr>
            <a:xfrm>
              <a:off x="2271953" y="2012044"/>
              <a:ext cx="46355" cy="104775"/>
            </a:xfrm>
            <a:custGeom>
              <a:avLst/>
              <a:gdLst/>
              <a:ahLst/>
              <a:cxnLst/>
              <a:rect l="l" t="t" r="r" b="b"/>
              <a:pathLst>
                <a:path w="46355" h="104775">
                  <a:moveTo>
                    <a:pt x="368" y="0"/>
                  </a:moveTo>
                  <a:lnTo>
                    <a:pt x="0" y="104406"/>
                  </a:lnTo>
                  <a:lnTo>
                    <a:pt x="46088" y="51841"/>
                  </a:lnTo>
                  <a:lnTo>
                    <a:pt x="368" y="0"/>
                  </a:lnTo>
                  <a:close/>
                </a:path>
              </a:pathLst>
            </a:custGeom>
            <a:solidFill>
              <a:srgbClr val="454C4C"/>
            </a:solidFill>
          </p:spPr>
          <p:txBody>
            <a:bodyPr wrap="square" lIns="0" tIns="0" rIns="0" bIns="0" rtlCol="0"/>
            <a:lstStyle/>
            <a:p>
              <a:endParaRPr/>
            </a:p>
          </p:txBody>
        </p:sp>
        <p:pic>
          <p:nvPicPr>
            <p:cNvPr id="7" name="object 7"/>
            <p:cNvPicPr/>
            <p:nvPr/>
          </p:nvPicPr>
          <p:blipFill>
            <a:blip r:embed="rId2" cstate="print"/>
            <a:stretch>
              <a:fillRect/>
            </a:stretch>
          </p:blipFill>
          <p:spPr>
            <a:xfrm>
              <a:off x="1967039" y="1944010"/>
              <a:ext cx="189356" cy="74879"/>
            </a:xfrm>
            <a:prstGeom prst="rect">
              <a:avLst/>
            </a:prstGeom>
          </p:spPr>
        </p:pic>
        <p:pic>
          <p:nvPicPr>
            <p:cNvPr id="8" name="object 8"/>
            <p:cNvPicPr/>
            <p:nvPr/>
          </p:nvPicPr>
          <p:blipFill>
            <a:blip r:embed="rId3" cstate="print"/>
            <a:stretch>
              <a:fillRect/>
            </a:stretch>
          </p:blipFill>
          <p:spPr>
            <a:xfrm>
              <a:off x="3171964" y="1946525"/>
              <a:ext cx="222834" cy="72364"/>
            </a:xfrm>
            <a:prstGeom prst="rect">
              <a:avLst/>
            </a:prstGeom>
          </p:spPr>
        </p:pic>
        <p:pic>
          <p:nvPicPr>
            <p:cNvPr id="9" name="object 9"/>
            <p:cNvPicPr/>
            <p:nvPr/>
          </p:nvPicPr>
          <p:blipFill>
            <a:blip r:embed="rId4" cstate="print"/>
            <a:stretch>
              <a:fillRect/>
            </a:stretch>
          </p:blipFill>
          <p:spPr>
            <a:xfrm>
              <a:off x="3518636" y="4782613"/>
              <a:ext cx="180721" cy="71640"/>
            </a:xfrm>
            <a:prstGeom prst="rect">
              <a:avLst/>
            </a:prstGeom>
          </p:spPr>
        </p:pic>
        <p:sp>
          <p:nvSpPr>
            <p:cNvPr id="10" name="object 10"/>
            <p:cNvSpPr/>
            <p:nvPr/>
          </p:nvSpPr>
          <p:spPr>
            <a:xfrm>
              <a:off x="3043440" y="2059923"/>
              <a:ext cx="685165" cy="2667635"/>
            </a:xfrm>
            <a:custGeom>
              <a:avLst/>
              <a:gdLst/>
              <a:ahLst/>
              <a:cxnLst/>
              <a:rect l="l" t="t" r="r" b="b"/>
              <a:pathLst>
                <a:path w="685164" h="2667635">
                  <a:moveTo>
                    <a:pt x="0" y="0"/>
                  </a:moveTo>
                  <a:lnTo>
                    <a:pt x="684720" y="0"/>
                  </a:lnTo>
                  <a:lnTo>
                    <a:pt x="684720" y="2667609"/>
                  </a:lnTo>
                  <a:lnTo>
                    <a:pt x="412203" y="2667609"/>
                  </a:lnTo>
                </a:path>
              </a:pathLst>
            </a:custGeom>
            <a:ln w="22132">
              <a:solidFill>
                <a:srgbClr val="454C4C"/>
              </a:solidFill>
            </a:ln>
          </p:spPr>
          <p:txBody>
            <a:bodyPr wrap="square" lIns="0" tIns="0" rIns="0" bIns="0" rtlCol="0"/>
            <a:lstStyle/>
            <a:p>
              <a:endParaRPr/>
            </a:p>
          </p:txBody>
        </p:sp>
        <p:pic>
          <p:nvPicPr>
            <p:cNvPr id="11" name="object 11"/>
            <p:cNvPicPr/>
            <p:nvPr/>
          </p:nvPicPr>
          <p:blipFill>
            <a:blip r:embed="rId5" cstate="print"/>
            <a:stretch>
              <a:fillRect/>
            </a:stretch>
          </p:blipFill>
          <p:spPr>
            <a:xfrm>
              <a:off x="1912683" y="2755451"/>
              <a:ext cx="1815477" cy="691197"/>
            </a:xfrm>
            <a:prstGeom prst="rect">
              <a:avLst/>
            </a:prstGeom>
          </p:spPr>
        </p:pic>
        <p:pic>
          <p:nvPicPr>
            <p:cNvPr id="12" name="object 12"/>
            <p:cNvPicPr/>
            <p:nvPr/>
          </p:nvPicPr>
          <p:blipFill>
            <a:blip r:embed="rId6" cstate="print"/>
            <a:stretch>
              <a:fillRect/>
            </a:stretch>
          </p:blipFill>
          <p:spPr>
            <a:xfrm>
              <a:off x="1912683" y="3854166"/>
              <a:ext cx="1534680" cy="1049756"/>
            </a:xfrm>
            <a:prstGeom prst="rect">
              <a:avLst/>
            </a:prstGeom>
          </p:spPr>
        </p:pic>
        <p:sp>
          <p:nvSpPr>
            <p:cNvPr id="13" name="object 13"/>
            <p:cNvSpPr/>
            <p:nvPr/>
          </p:nvSpPr>
          <p:spPr>
            <a:xfrm>
              <a:off x="2315514" y="1819449"/>
              <a:ext cx="729615" cy="499109"/>
            </a:xfrm>
            <a:custGeom>
              <a:avLst/>
              <a:gdLst/>
              <a:ahLst/>
              <a:cxnLst/>
              <a:rect l="l" t="t" r="r" b="b"/>
              <a:pathLst>
                <a:path w="729614" h="499110">
                  <a:moveTo>
                    <a:pt x="618489" y="0"/>
                  </a:moveTo>
                  <a:lnTo>
                    <a:pt x="110528" y="0"/>
                  </a:lnTo>
                  <a:lnTo>
                    <a:pt x="67438" y="8661"/>
                  </a:lnTo>
                  <a:lnTo>
                    <a:pt x="32313" y="32307"/>
                  </a:lnTo>
                  <a:lnTo>
                    <a:pt x="8663" y="67428"/>
                  </a:lnTo>
                  <a:lnTo>
                    <a:pt x="0" y="110515"/>
                  </a:lnTo>
                  <a:lnTo>
                    <a:pt x="0" y="388073"/>
                  </a:lnTo>
                  <a:lnTo>
                    <a:pt x="8663" y="431163"/>
                  </a:lnTo>
                  <a:lnTo>
                    <a:pt x="32313" y="466288"/>
                  </a:lnTo>
                  <a:lnTo>
                    <a:pt x="67438" y="489938"/>
                  </a:lnTo>
                  <a:lnTo>
                    <a:pt x="110528" y="498601"/>
                  </a:lnTo>
                  <a:lnTo>
                    <a:pt x="618489" y="498601"/>
                  </a:lnTo>
                  <a:lnTo>
                    <a:pt x="661577" y="489938"/>
                  </a:lnTo>
                  <a:lnTo>
                    <a:pt x="696698" y="466288"/>
                  </a:lnTo>
                  <a:lnTo>
                    <a:pt x="720343" y="431163"/>
                  </a:lnTo>
                  <a:lnTo>
                    <a:pt x="729005" y="388073"/>
                  </a:lnTo>
                  <a:lnTo>
                    <a:pt x="729005" y="110515"/>
                  </a:lnTo>
                  <a:lnTo>
                    <a:pt x="720343" y="67428"/>
                  </a:lnTo>
                  <a:lnTo>
                    <a:pt x="696698" y="32307"/>
                  </a:lnTo>
                  <a:lnTo>
                    <a:pt x="661577" y="8661"/>
                  </a:lnTo>
                  <a:lnTo>
                    <a:pt x="618489" y="0"/>
                  </a:lnTo>
                  <a:close/>
                </a:path>
              </a:pathLst>
            </a:custGeom>
            <a:solidFill>
              <a:srgbClr val="FF9000"/>
            </a:solidFill>
          </p:spPr>
          <p:txBody>
            <a:bodyPr wrap="square" lIns="0" tIns="0" rIns="0" bIns="0" rtlCol="0"/>
            <a:lstStyle/>
            <a:p>
              <a:endParaRPr/>
            </a:p>
          </p:txBody>
        </p:sp>
        <p:pic>
          <p:nvPicPr>
            <p:cNvPr id="14" name="object 14"/>
            <p:cNvPicPr/>
            <p:nvPr/>
          </p:nvPicPr>
          <p:blipFill>
            <a:blip r:embed="rId7" cstate="print"/>
            <a:stretch>
              <a:fillRect/>
            </a:stretch>
          </p:blipFill>
          <p:spPr>
            <a:xfrm>
              <a:off x="2570403" y="2010253"/>
              <a:ext cx="219595" cy="116992"/>
            </a:xfrm>
            <a:prstGeom prst="rect">
              <a:avLst/>
            </a:prstGeom>
          </p:spPr>
        </p:pic>
      </p:grpSp>
      <p:pic>
        <p:nvPicPr>
          <p:cNvPr id="15" name="object 15"/>
          <p:cNvPicPr/>
          <p:nvPr/>
        </p:nvPicPr>
        <p:blipFill>
          <a:blip r:embed="rId8" cstate="print"/>
          <a:stretch>
            <a:fillRect/>
          </a:stretch>
        </p:blipFill>
        <p:spPr>
          <a:xfrm>
            <a:off x="2136241" y="1442893"/>
            <a:ext cx="1083957" cy="181076"/>
          </a:xfrm>
          <a:prstGeom prst="rect">
            <a:avLst/>
          </a:prstGeom>
        </p:spPr>
      </p:pic>
      <p:sp>
        <p:nvSpPr>
          <p:cNvPr id="16" name="object 16"/>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0" name="object 20"/>
          <p:cNvSpPr txBox="1"/>
          <p:nvPr/>
        </p:nvSpPr>
        <p:spPr>
          <a:xfrm>
            <a:off x="7859064" y="4910072"/>
            <a:ext cx="883919" cy="173355"/>
          </a:xfrm>
          <a:prstGeom prst="rect">
            <a:avLst/>
          </a:prstGeom>
        </p:spPr>
        <p:txBody>
          <a:bodyPr vert="horz" wrap="square" lIns="0" tIns="0" rIns="0" bIns="0" rtlCol="0">
            <a:spAutoFit/>
          </a:bodyPr>
          <a:lstStyle/>
          <a:p>
            <a:pPr marL="12700">
              <a:lnSpc>
                <a:spcPts val="1260"/>
              </a:lnSpc>
            </a:pPr>
            <a:r>
              <a:rPr sz="1150" spc="-50" dirty="0">
                <a:solidFill>
                  <a:srgbClr val="287FB8"/>
                </a:solidFill>
                <a:latin typeface="Tahoma"/>
                <a:cs typeface="Tahoma"/>
                <a:hlinkClick r:id="rId9"/>
              </a:rPr>
              <a:t>More</a:t>
            </a:r>
            <a:r>
              <a:rPr sz="1150" spc="-60" dirty="0">
                <a:solidFill>
                  <a:srgbClr val="287FB8"/>
                </a:solidFill>
                <a:latin typeface="Tahoma"/>
                <a:cs typeface="Tahoma"/>
                <a:hlinkClick r:id="rId9"/>
              </a:rPr>
              <a:t> </a:t>
            </a:r>
            <a:r>
              <a:rPr sz="1150" spc="-65" dirty="0">
                <a:solidFill>
                  <a:srgbClr val="287FB8"/>
                </a:solidFill>
                <a:latin typeface="Tahoma"/>
                <a:cs typeface="Tahoma"/>
                <a:hlinkClick r:id="rId9"/>
              </a:rPr>
              <a:t>Details</a:t>
            </a:r>
            <a:r>
              <a:rPr sz="1150" spc="-70" dirty="0">
                <a:solidFill>
                  <a:srgbClr val="287FB8"/>
                </a:solidFill>
                <a:latin typeface="Tahoma"/>
                <a:cs typeface="Tahoma"/>
                <a:hlinkClick r:id="rId9"/>
              </a:rPr>
              <a:t> </a:t>
            </a:r>
            <a:r>
              <a:rPr sz="1000" spc="-65" dirty="0">
                <a:solidFill>
                  <a:srgbClr val="287FB8"/>
                </a:solidFill>
                <a:latin typeface="Microsoft Sans Serif"/>
                <a:cs typeface="Microsoft Sans Serif"/>
                <a:hlinkClick r:id="rId9"/>
              </a:rPr>
              <a:t>→</a:t>
            </a:r>
            <a:endParaRPr sz="1000">
              <a:latin typeface="Microsoft Sans Serif"/>
              <a:cs typeface="Microsoft Sans Serif"/>
            </a:endParaRPr>
          </a:p>
        </p:txBody>
      </p:sp>
      <p:sp>
        <p:nvSpPr>
          <p:cNvPr id="21" name="object 21"/>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2" name="object 22"/>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22</a:t>
            </a:fld>
            <a:r>
              <a:rPr spc="-10" dirty="0"/>
              <a:t>/60</a:t>
            </a:r>
          </a:p>
        </p:txBody>
      </p:sp>
      <p:sp>
        <p:nvSpPr>
          <p:cNvPr id="17" name="object 17"/>
          <p:cNvSpPr txBox="1"/>
          <p:nvPr/>
        </p:nvSpPr>
        <p:spPr>
          <a:xfrm>
            <a:off x="5571616" y="1284522"/>
            <a:ext cx="3673475" cy="3208020"/>
          </a:xfrm>
          <a:prstGeom prst="rect">
            <a:avLst/>
          </a:prstGeom>
        </p:spPr>
        <p:txBody>
          <a:bodyPr vert="horz" wrap="square" lIns="0" tIns="12700" rIns="0" bIns="0" rtlCol="0">
            <a:spAutoFit/>
          </a:bodyPr>
          <a:lstStyle/>
          <a:p>
            <a:pPr marL="12700" marR="5080">
              <a:lnSpc>
                <a:spcPct val="113799"/>
              </a:lnSpc>
              <a:spcBef>
                <a:spcPts val="100"/>
              </a:spcBef>
            </a:pPr>
            <a:r>
              <a:rPr sz="2400" dirty="0">
                <a:solidFill>
                  <a:srgbClr val="454C4C"/>
                </a:solidFill>
                <a:latin typeface="Arial MT"/>
                <a:cs typeface="Arial MT"/>
              </a:rPr>
              <a:t>host</a:t>
            </a:r>
            <a:r>
              <a:rPr sz="2400" spc="-65" dirty="0">
                <a:solidFill>
                  <a:srgbClr val="454C4C"/>
                </a:solidFill>
                <a:latin typeface="Arial MT"/>
                <a:cs typeface="Arial MT"/>
              </a:rPr>
              <a:t> </a:t>
            </a:r>
            <a:r>
              <a:rPr sz="2400" spc="-10" dirty="0">
                <a:solidFill>
                  <a:srgbClr val="454C4C"/>
                </a:solidFill>
                <a:latin typeface="Arial MT"/>
                <a:cs typeface="Arial MT"/>
              </a:rPr>
              <a:t>page</a:t>
            </a:r>
            <a:r>
              <a:rPr sz="2400" spc="-65" dirty="0">
                <a:solidFill>
                  <a:srgbClr val="454C4C"/>
                </a:solidFill>
                <a:latin typeface="Arial MT"/>
                <a:cs typeface="Arial MT"/>
              </a:rPr>
              <a:t> </a:t>
            </a:r>
            <a:r>
              <a:rPr sz="2400" spc="-10" dirty="0">
                <a:solidFill>
                  <a:srgbClr val="454C4C"/>
                </a:solidFill>
                <a:latin typeface="Arial MT"/>
                <a:cs typeface="Arial MT"/>
              </a:rPr>
              <a:t>cache</a:t>
            </a:r>
            <a:r>
              <a:rPr sz="2400" spc="-65" dirty="0">
                <a:solidFill>
                  <a:srgbClr val="454C4C"/>
                </a:solidFill>
                <a:latin typeface="Arial MT"/>
                <a:cs typeface="Arial MT"/>
              </a:rPr>
              <a:t> </a:t>
            </a:r>
            <a:r>
              <a:rPr sz="2400" dirty="0">
                <a:solidFill>
                  <a:srgbClr val="454C4C"/>
                </a:solidFill>
                <a:latin typeface="Arial MT"/>
                <a:cs typeface="Arial MT"/>
              </a:rPr>
              <a:t>is</a:t>
            </a:r>
            <a:r>
              <a:rPr sz="2400" spc="-65" dirty="0">
                <a:solidFill>
                  <a:srgbClr val="454C4C"/>
                </a:solidFill>
                <a:latin typeface="Arial MT"/>
                <a:cs typeface="Arial MT"/>
              </a:rPr>
              <a:t> </a:t>
            </a:r>
            <a:r>
              <a:rPr sz="2400" dirty="0">
                <a:solidFill>
                  <a:srgbClr val="454C4C"/>
                </a:solidFill>
                <a:latin typeface="Arial MT"/>
                <a:cs typeface="Arial MT"/>
              </a:rPr>
              <a:t>used</a:t>
            </a:r>
            <a:r>
              <a:rPr sz="2400" spc="-65" dirty="0">
                <a:solidFill>
                  <a:srgbClr val="454C4C"/>
                </a:solidFill>
                <a:latin typeface="Arial MT"/>
                <a:cs typeface="Arial MT"/>
              </a:rPr>
              <a:t> </a:t>
            </a:r>
            <a:r>
              <a:rPr sz="2400" spc="-25" dirty="0">
                <a:solidFill>
                  <a:srgbClr val="454C4C"/>
                </a:solidFill>
                <a:latin typeface="Arial MT"/>
                <a:cs typeface="Arial MT"/>
              </a:rPr>
              <a:t>as </a:t>
            </a:r>
            <a:r>
              <a:rPr sz="2400" dirty="0">
                <a:solidFill>
                  <a:srgbClr val="454C4C"/>
                </a:solidFill>
                <a:latin typeface="Arial MT"/>
                <a:cs typeface="Arial MT"/>
              </a:rPr>
              <a:t>read</a:t>
            </a:r>
            <a:r>
              <a:rPr sz="2400" spc="30" dirty="0">
                <a:solidFill>
                  <a:srgbClr val="454C4C"/>
                </a:solidFill>
                <a:latin typeface="Arial MT"/>
                <a:cs typeface="Arial MT"/>
              </a:rPr>
              <a:t> </a:t>
            </a:r>
            <a:r>
              <a:rPr sz="2400" spc="-10" dirty="0">
                <a:solidFill>
                  <a:srgbClr val="454C4C"/>
                </a:solidFill>
                <a:latin typeface="Arial MT"/>
                <a:cs typeface="Arial MT"/>
              </a:rPr>
              <a:t>cache</a:t>
            </a:r>
            <a:endParaRPr sz="2400">
              <a:latin typeface="Arial MT"/>
              <a:cs typeface="Arial MT"/>
            </a:endParaRPr>
          </a:p>
          <a:p>
            <a:pPr marL="12700" marR="243204">
              <a:lnSpc>
                <a:spcPct val="113799"/>
              </a:lnSpc>
              <a:spcBef>
                <a:spcPts val="1055"/>
              </a:spcBef>
            </a:pPr>
            <a:r>
              <a:rPr sz="2400" dirty="0">
                <a:solidFill>
                  <a:srgbClr val="454C4C"/>
                </a:solidFill>
                <a:latin typeface="Arial MT"/>
                <a:cs typeface="Arial MT"/>
              </a:rPr>
              <a:t>guest</a:t>
            </a:r>
            <a:r>
              <a:rPr sz="2400" spc="-100" dirty="0">
                <a:solidFill>
                  <a:srgbClr val="454C4C"/>
                </a:solidFill>
                <a:latin typeface="Arial MT"/>
                <a:cs typeface="Arial MT"/>
              </a:rPr>
              <a:t> </a:t>
            </a:r>
            <a:r>
              <a:rPr sz="2400" dirty="0">
                <a:solidFill>
                  <a:srgbClr val="454C4C"/>
                </a:solidFill>
                <a:latin typeface="Arial MT"/>
                <a:cs typeface="Arial MT"/>
              </a:rPr>
              <a:t>disk</a:t>
            </a:r>
            <a:r>
              <a:rPr sz="2400" spc="-95" dirty="0">
                <a:solidFill>
                  <a:srgbClr val="454C4C"/>
                </a:solidFill>
                <a:latin typeface="Arial MT"/>
                <a:cs typeface="Arial MT"/>
              </a:rPr>
              <a:t> </a:t>
            </a:r>
            <a:r>
              <a:rPr sz="2400" spc="-10" dirty="0">
                <a:solidFill>
                  <a:srgbClr val="454C4C"/>
                </a:solidFill>
                <a:latin typeface="Arial MT"/>
                <a:cs typeface="Arial MT"/>
              </a:rPr>
              <a:t>cache</a:t>
            </a:r>
            <a:r>
              <a:rPr sz="2400" spc="-95" dirty="0">
                <a:solidFill>
                  <a:srgbClr val="454C4C"/>
                </a:solidFill>
                <a:latin typeface="Arial MT"/>
                <a:cs typeface="Arial MT"/>
              </a:rPr>
              <a:t> </a:t>
            </a:r>
            <a:r>
              <a:rPr sz="2400" spc="55" dirty="0">
                <a:solidFill>
                  <a:srgbClr val="454C4C"/>
                </a:solidFill>
                <a:latin typeface="Arial MT"/>
                <a:cs typeface="Arial MT"/>
              </a:rPr>
              <a:t>mode</a:t>
            </a:r>
            <a:r>
              <a:rPr sz="2400" spc="-95" dirty="0">
                <a:solidFill>
                  <a:srgbClr val="454C4C"/>
                </a:solidFill>
                <a:latin typeface="Arial MT"/>
                <a:cs typeface="Arial MT"/>
              </a:rPr>
              <a:t> </a:t>
            </a:r>
            <a:r>
              <a:rPr sz="2400" spc="-25" dirty="0">
                <a:solidFill>
                  <a:srgbClr val="454C4C"/>
                </a:solidFill>
                <a:latin typeface="Arial MT"/>
                <a:cs typeface="Arial MT"/>
              </a:rPr>
              <a:t>is </a:t>
            </a:r>
            <a:r>
              <a:rPr sz="2400" spc="40" dirty="0">
                <a:solidFill>
                  <a:srgbClr val="454C4C"/>
                </a:solidFill>
                <a:latin typeface="Arial MT"/>
                <a:cs typeface="Arial MT"/>
              </a:rPr>
              <a:t>writethrough</a:t>
            </a:r>
            <a:endParaRPr sz="2400">
              <a:latin typeface="Arial MT"/>
              <a:cs typeface="Arial MT"/>
            </a:endParaRPr>
          </a:p>
          <a:p>
            <a:pPr marL="12700" marR="120650" algn="just">
              <a:lnSpc>
                <a:spcPct val="113799"/>
              </a:lnSpc>
              <a:spcBef>
                <a:spcPts val="1060"/>
              </a:spcBef>
            </a:pPr>
            <a:r>
              <a:rPr sz="2400" spc="-10" dirty="0">
                <a:solidFill>
                  <a:srgbClr val="454C4C"/>
                </a:solidFill>
                <a:latin typeface="Arial MT"/>
                <a:cs typeface="Arial MT"/>
              </a:rPr>
              <a:t>fsync</a:t>
            </a:r>
            <a:r>
              <a:rPr sz="2400" spc="-85" dirty="0">
                <a:solidFill>
                  <a:srgbClr val="454C4C"/>
                </a:solidFill>
                <a:latin typeface="Arial MT"/>
                <a:cs typeface="Arial MT"/>
              </a:rPr>
              <a:t> </a:t>
            </a:r>
            <a:r>
              <a:rPr sz="2400" spc="80" dirty="0">
                <a:solidFill>
                  <a:srgbClr val="454C4C"/>
                </a:solidFill>
                <a:latin typeface="Arial MT"/>
                <a:cs typeface="Arial MT"/>
              </a:rPr>
              <a:t>for</a:t>
            </a:r>
            <a:r>
              <a:rPr sz="2400" spc="-80" dirty="0">
                <a:solidFill>
                  <a:srgbClr val="454C4C"/>
                </a:solidFill>
                <a:latin typeface="Arial MT"/>
                <a:cs typeface="Arial MT"/>
              </a:rPr>
              <a:t> </a:t>
            </a:r>
            <a:r>
              <a:rPr sz="2400" spc="-10" dirty="0">
                <a:solidFill>
                  <a:srgbClr val="454C4C"/>
                </a:solidFill>
                <a:latin typeface="Arial MT"/>
                <a:cs typeface="Arial MT"/>
              </a:rPr>
              <a:t>each</a:t>
            </a:r>
            <a:r>
              <a:rPr sz="2400" spc="-85" dirty="0">
                <a:solidFill>
                  <a:srgbClr val="454C4C"/>
                </a:solidFill>
                <a:latin typeface="Arial MT"/>
                <a:cs typeface="Arial MT"/>
              </a:rPr>
              <a:t> </a:t>
            </a:r>
            <a:r>
              <a:rPr sz="2400" dirty="0">
                <a:solidFill>
                  <a:srgbClr val="454C4C"/>
                </a:solidFill>
                <a:latin typeface="Arial MT"/>
                <a:cs typeface="Arial MT"/>
              </a:rPr>
              <a:t>write,</a:t>
            </a:r>
            <a:r>
              <a:rPr sz="2400" spc="-80" dirty="0">
                <a:solidFill>
                  <a:srgbClr val="454C4C"/>
                </a:solidFill>
                <a:latin typeface="Arial MT"/>
                <a:cs typeface="Arial MT"/>
              </a:rPr>
              <a:t> </a:t>
            </a:r>
            <a:r>
              <a:rPr sz="2400" spc="40" dirty="0">
                <a:solidFill>
                  <a:srgbClr val="454C4C"/>
                </a:solidFill>
                <a:latin typeface="Arial MT"/>
                <a:cs typeface="Arial MT"/>
              </a:rPr>
              <a:t>more </a:t>
            </a:r>
            <a:r>
              <a:rPr sz="2400" spc="-20" dirty="0">
                <a:solidFill>
                  <a:srgbClr val="454C4C"/>
                </a:solidFill>
                <a:latin typeface="Arial MT"/>
                <a:cs typeface="Arial MT"/>
              </a:rPr>
              <a:t>secure,</a:t>
            </a:r>
            <a:r>
              <a:rPr sz="2400" spc="-50" dirty="0">
                <a:solidFill>
                  <a:srgbClr val="454C4C"/>
                </a:solidFill>
                <a:latin typeface="Arial MT"/>
                <a:cs typeface="Arial MT"/>
              </a:rPr>
              <a:t> </a:t>
            </a:r>
            <a:r>
              <a:rPr sz="2400" dirty="0">
                <a:solidFill>
                  <a:srgbClr val="454C4C"/>
                </a:solidFill>
                <a:latin typeface="Arial MT"/>
                <a:cs typeface="Arial MT"/>
              </a:rPr>
              <a:t>can't</a:t>
            </a:r>
            <a:r>
              <a:rPr sz="2400" spc="-50" dirty="0">
                <a:solidFill>
                  <a:srgbClr val="454C4C"/>
                </a:solidFill>
                <a:latin typeface="Arial MT"/>
                <a:cs typeface="Arial MT"/>
              </a:rPr>
              <a:t> </a:t>
            </a:r>
            <a:r>
              <a:rPr sz="2400" dirty="0">
                <a:solidFill>
                  <a:srgbClr val="454C4C"/>
                </a:solidFill>
                <a:latin typeface="Arial MT"/>
                <a:cs typeface="Arial MT"/>
              </a:rPr>
              <a:t>lose</a:t>
            </a:r>
            <a:r>
              <a:rPr sz="2400" spc="-45" dirty="0">
                <a:solidFill>
                  <a:srgbClr val="454C4C"/>
                </a:solidFill>
                <a:latin typeface="Arial MT"/>
                <a:cs typeface="Arial MT"/>
              </a:rPr>
              <a:t> </a:t>
            </a:r>
            <a:r>
              <a:rPr sz="2400" dirty="0">
                <a:solidFill>
                  <a:srgbClr val="454C4C"/>
                </a:solidFill>
                <a:latin typeface="Arial MT"/>
                <a:cs typeface="Arial MT"/>
              </a:rPr>
              <a:t>data</a:t>
            </a:r>
            <a:r>
              <a:rPr sz="2400" spc="-50" dirty="0">
                <a:solidFill>
                  <a:srgbClr val="454C4C"/>
                </a:solidFill>
                <a:latin typeface="Arial MT"/>
                <a:cs typeface="Arial MT"/>
              </a:rPr>
              <a:t> </a:t>
            </a:r>
            <a:r>
              <a:rPr sz="2400" spc="35" dirty="0">
                <a:solidFill>
                  <a:srgbClr val="454C4C"/>
                </a:solidFill>
                <a:latin typeface="Arial MT"/>
                <a:cs typeface="Arial MT"/>
              </a:rPr>
              <a:t>on </a:t>
            </a:r>
            <a:r>
              <a:rPr sz="2400" dirty="0">
                <a:solidFill>
                  <a:srgbClr val="454C4C"/>
                </a:solidFill>
                <a:latin typeface="Arial MT"/>
                <a:cs typeface="Arial MT"/>
              </a:rPr>
              <a:t>power-</a:t>
            </a:r>
            <a:r>
              <a:rPr sz="2400" spc="-20" dirty="0">
                <a:solidFill>
                  <a:srgbClr val="454C4C"/>
                </a:solidFill>
                <a:latin typeface="Arial MT"/>
                <a:cs typeface="Arial MT"/>
              </a:rPr>
              <a:t>loss,</a:t>
            </a:r>
            <a:r>
              <a:rPr sz="2400" spc="-70" dirty="0">
                <a:solidFill>
                  <a:srgbClr val="454C4C"/>
                </a:solidFill>
                <a:latin typeface="Arial MT"/>
                <a:cs typeface="Arial MT"/>
              </a:rPr>
              <a:t> </a:t>
            </a:r>
            <a:r>
              <a:rPr sz="2400" spc="-10" dirty="0">
                <a:solidFill>
                  <a:srgbClr val="454C4C"/>
                </a:solidFill>
                <a:latin typeface="Arial MT"/>
                <a:cs typeface="Arial MT"/>
              </a:rPr>
              <a:t>slower</a:t>
            </a:r>
            <a:endParaRPr sz="2400">
              <a:latin typeface="Arial MT"/>
              <a:cs typeface="Arial MT"/>
            </a:endParaRPr>
          </a:p>
        </p:txBody>
      </p:sp>
      <p:sp>
        <p:nvSpPr>
          <p:cNvPr id="18" name="object 18"/>
          <p:cNvSpPr txBox="1"/>
          <p:nvPr/>
        </p:nvSpPr>
        <p:spPr>
          <a:xfrm>
            <a:off x="5247614" y="2383468"/>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19" name="object 19"/>
          <p:cNvSpPr txBox="1"/>
          <p:nvPr/>
        </p:nvSpPr>
        <p:spPr>
          <a:xfrm>
            <a:off x="5247614" y="335043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Cache</a:t>
            </a:r>
            <a:r>
              <a:rPr spc="-215" dirty="0"/>
              <a:t> </a:t>
            </a:r>
            <a:r>
              <a:rPr spc="80" dirty="0"/>
              <a:t>Modes</a:t>
            </a:r>
          </a:p>
        </p:txBody>
      </p:sp>
      <p:grpSp>
        <p:nvGrpSpPr>
          <p:cNvPr id="3" name="object 3"/>
          <p:cNvGrpSpPr/>
          <p:nvPr/>
        </p:nvGrpSpPr>
        <p:grpSpPr>
          <a:xfrm>
            <a:off x="2181961" y="1442893"/>
            <a:ext cx="814069" cy="139700"/>
            <a:chOff x="2181961" y="1442893"/>
            <a:chExt cx="814069" cy="139700"/>
          </a:xfrm>
        </p:grpSpPr>
        <p:pic>
          <p:nvPicPr>
            <p:cNvPr id="4" name="object 4"/>
            <p:cNvPicPr/>
            <p:nvPr/>
          </p:nvPicPr>
          <p:blipFill>
            <a:blip r:embed="rId2" cstate="print"/>
            <a:stretch>
              <a:fillRect/>
            </a:stretch>
          </p:blipFill>
          <p:spPr>
            <a:xfrm>
              <a:off x="2181961" y="1447567"/>
              <a:ext cx="413638" cy="134645"/>
            </a:xfrm>
            <a:prstGeom prst="rect">
              <a:avLst/>
            </a:prstGeom>
          </p:spPr>
        </p:pic>
        <p:pic>
          <p:nvPicPr>
            <p:cNvPr id="5" name="object 5"/>
            <p:cNvPicPr/>
            <p:nvPr/>
          </p:nvPicPr>
          <p:blipFill>
            <a:blip r:embed="rId3" cstate="print"/>
            <a:stretch>
              <a:fillRect/>
            </a:stretch>
          </p:blipFill>
          <p:spPr>
            <a:xfrm>
              <a:off x="2620797" y="1442893"/>
              <a:ext cx="181076" cy="139319"/>
            </a:xfrm>
            <a:prstGeom prst="rect">
              <a:avLst/>
            </a:prstGeom>
          </p:spPr>
        </p:pic>
        <p:pic>
          <p:nvPicPr>
            <p:cNvPr id="6" name="object 6"/>
            <p:cNvPicPr/>
            <p:nvPr/>
          </p:nvPicPr>
          <p:blipFill>
            <a:blip r:embed="rId4" cstate="print"/>
            <a:stretch>
              <a:fillRect/>
            </a:stretch>
          </p:blipFill>
          <p:spPr>
            <a:xfrm>
              <a:off x="2826715" y="1481768"/>
              <a:ext cx="69850" cy="100444"/>
            </a:xfrm>
            <a:prstGeom prst="rect">
              <a:avLst/>
            </a:prstGeom>
          </p:spPr>
        </p:pic>
        <p:pic>
          <p:nvPicPr>
            <p:cNvPr id="7" name="object 7"/>
            <p:cNvPicPr/>
            <p:nvPr/>
          </p:nvPicPr>
          <p:blipFill>
            <a:blip r:embed="rId5" cstate="print"/>
            <a:stretch>
              <a:fillRect/>
            </a:stretch>
          </p:blipFill>
          <p:spPr>
            <a:xfrm>
              <a:off x="2918155" y="1442893"/>
              <a:ext cx="77406" cy="137515"/>
            </a:xfrm>
            <a:prstGeom prst="rect">
              <a:avLst/>
            </a:prstGeom>
          </p:spPr>
        </p:pic>
      </p:grpSp>
      <p:grpSp>
        <p:nvGrpSpPr>
          <p:cNvPr id="8" name="object 8"/>
          <p:cNvGrpSpPr/>
          <p:nvPr/>
        </p:nvGrpSpPr>
        <p:grpSpPr>
          <a:xfrm>
            <a:off x="1713268" y="1819449"/>
            <a:ext cx="2118360" cy="3084830"/>
            <a:chOff x="1713268" y="1819449"/>
            <a:chExt cx="2118360" cy="3084830"/>
          </a:xfrm>
        </p:grpSpPr>
        <p:sp>
          <p:nvSpPr>
            <p:cNvPr id="9" name="object 9"/>
            <p:cNvSpPr/>
            <p:nvPr/>
          </p:nvSpPr>
          <p:spPr>
            <a:xfrm>
              <a:off x="3352317" y="3214454"/>
              <a:ext cx="50800" cy="1559560"/>
            </a:xfrm>
            <a:custGeom>
              <a:avLst/>
              <a:gdLst/>
              <a:ahLst/>
              <a:cxnLst/>
              <a:rect l="l" t="t" r="r" b="b"/>
              <a:pathLst>
                <a:path w="50800" h="1559560">
                  <a:moveTo>
                    <a:pt x="46088" y="1454759"/>
                  </a:moveTo>
                  <a:lnTo>
                    <a:pt x="0" y="1506956"/>
                  </a:lnTo>
                  <a:lnTo>
                    <a:pt x="45720" y="1559153"/>
                  </a:lnTo>
                  <a:lnTo>
                    <a:pt x="46088" y="1454759"/>
                  </a:lnTo>
                  <a:close/>
                </a:path>
                <a:path w="50800" h="1559560">
                  <a:moveTo>
                    <a:pt x="50761" y="0"/>
                  </a:moveTo>
                  <a:lnTo>
                    <a:pt x="4686" y="52197"/>
                  </a:lnTo>
                  <a:lnTo>
                    <a:pt x="50406" y="104394"/>
                  </a:lnTo>
                  <a:lnTo>
                    <a:pt x="50761" y="0"/>
                  </a:lnTo>
                  <a:close/>
                </a:path>
              </a:pathLst>
            </a:custGeom>
            <a:solidFill>
              <a:srgbClr val="454C4C"/>
            </a:solidFill>
          </p:spPr>
          <p:txBody>
            <a:bodyPr wrap="square" lIns="0" tIns="0" rIns="0" bIns="0" rtlCol="0"/>
            <a:lstStyle/>
            <a:p>
              <a:endParaRPr/>
            </a:p>
          </p:txBody>
        </p:sp>
        <p:sp>
          <p:nvSpPr>
            <p:cNvPr id="10" name="object 10"/>
            <p:cNvSpPr/>
            <p:nvPr/>
          </p:nvSpPr>
          <p:spPr>
            <a:xfrm>
              <a:off x="2931121" y="1973893"/>
              <a:ext cx="889000" cy="2748280"/>
            </a:xfrm>
            <a:custGeom>
              <a:avLst/>
              <a:gdLst/>
              <a:ahLst/>
              <a:cxnLst/>
              <a:rect l="l" t="t" r="r" b="b"/>
              <a:pathLst>
                <a:path w="889000" h="2748279">
                  <a:moveTo>
                    <a:pt x="0" y="0"/>
                  </a:moveTo>
                  <a:lnTo>
                    <a:pt x="888834" y="0"/>
                  </a:lnTo>
                  <a:lnTo>
                    <a:pt x="888834" y="2747873"/>
                  </a:lnTo>
                  <a:lnTo>
                    <a:pt x="433438" y="2747873"/>
                  </a:lnTo>
                </a:path>
              </a:pathLst>
            </a:custGeom>
            <a:ln w="22134">
              <a:solidFill>
                <a:srgbClr val="454C4C"/>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3080880" y="1846093"/>
              <a:ext cx="222834" cy="72720"/>
            </a:xfrm>
            <a:prstGeom prst="rect">
              <a:avLst/>
            </a:prstGeom>
          </p:spPr>
        </p:pic>
        <p:pic>
          <p:nvPicPr>
            <p:cNvPr id="12" name="object 12"/>
            <p:cNvPicPr/>
            <p:nvPr/>
          </p:nvPicPr>
          <p:blipFill>
            <a:blip r:embed="rId7" cstate="print"/>
            <a:stretch>
              <a:fillRect/>
            </a:stretch>
          </p:blipFill>
          <p:spPr>
            <a:xfrm>
              <a:off x="3337915" y="1843210"/>
              <a:ext cx="273608" cy="89992"/>
            </a:xfrm>
            <a:prstGeom prst="rect">
              <a:avLst/>
            </a:prstGeom>
          </p:spPr>
        </p:pic>
        <p:pic>
          <p:nvPicPr>
            <p:cNvPr id="13" name="object 13"/>
            <p:cNvPicPr/>
            <p:nvPr/>
          </p:nvPicPr>
          <p:blipFill>
            <a:blip r:embed="rId8" cstate="print"/>
            <a:stretch>
              <a:fillRect/>
            </a:stretch>
          </p:blipFill>
          <p:spPr>
            <a:xfrm>
              <a:off x="3493084" y="4777202"/>
              <a:ext cx="180721" cy="71640"/>
            </a:xfrm>
            <a:prstGeom prst="rect">
              <a:avLst/>
            </a:prstGeom>
          </p:spPr>
        </p:pic>
        <p:pic>
          <p:nvPicPr>
            <p:cNvPr id="14" name="object 14"/>
            <p:cNvPicPr/>
            <p:nvPr/>
          </p:nvPicPr>
          <p:blipFill>
            <a:blip r:embed="rId9" cstate="print"/>
            <a:stretch>
              <a:fillRect/>
            </a:stretch>
          </p:blipFill>
          <p:spPr>
            <a:xfrm>
              <a:off x="1713268" y="1819449"/>
              <a:ext cx="1942613" cy="3084474"/>
            </a:xfrm>
            <a:prstGeom prst="rect">
              <a:avLst/>
            </a:prstGeom>
          </p:spPr>
        </p:pic>
      </p:grpSp>
      <p:sp>
        <p:nvSpPr>
          <p:cNvPr id="15" name="object 15"/>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19" name="object 19"/>
          <p:cNvSpPr txBox="1"/>
          <p:nvPr/>
        </p:nvSpPr>
        <p:spPr>
          <a:xfrm>
            <a:off x="7859064" y="4910072"/>
            <a:ext cx="883919" cy="173355"/>
          </a:xfrm>
          <a:prstGeom prst="rect">
            <a:avLst/>
          </a:prstGeom>
        </p:spPr>
        <p:txBody>
          <a:bodyPr vert="horz" wrap="square" lIns="0" tIns="0" rIns="0" bIns="0" rtlCol="0">
            <a:spAutoFit/>
          </a:bodyPr>
          <a:lstStyle/>
          <a:p>
            <a:pPr marL="12700">
              <a:lnSpc>
                <a:spcPts val="1260"/>
              </a:lnSpc>
            </a:pPr>
            <a:r>
              <a:rPr sz="1150" spc="-50" dirty="0">
                <a:solidFill>
                  <a:srgbClr val="287FB8"/>
                </a:solidFill>
                <a:latin typeface="Tahoma"/>
                <a:cs typeface="Tahoma"/>
                <a:hlinkClick r:id="rId10"/>
              </a:rPr>
              <a:t>More</a:t>
            </a:r>
            <a:r>
              <a:rPr sz="1150" spc="-60" dirty="0">
                <a:solidFill>
                  <a:srgbClr val="287FB8"/>
                </a:solidFill>
                <a:latin typeface="Tahoma"/>
                <a:cs typeface="Tahoma"/>
                <a:hlinkClick r:id="rId10"/>
              </a:rPr>
              <a:t> </a:t>
            </a:r>
            <a:r>
              <a:rPr sz="1150" spc="-65" dirty="0">
                <a:solidFill>
                  <a:srgbClr val="287FB8"/>
                </a:solidFill>
                <a:latin typeface="Tahoma"/>
                <a:cs typeface="Tahoma"/>
                <a:hlinkClick r:id="rId10"/>
              </a:rPr>
              <a:t>Details</a:t>
            </a:r>
            <a:r>
              <a:rPr sz="1150" spc="-70" dirty="0">
                <a:solidFill>
                  <a:srgbClr val="287FB8"/>
                </a:solidFill>
                <a:latin typeface="Tahoma"/>
                <a:cs typeface="Tahoma"/>
                <a:hlinkClick r:id="rId10"/>
              </a:rPr>
              <a:t> </a:t>
            </a:r>
            <a:r>
              <a:rPr sz="1000" spc="-65" dirty="0">
                <a:solidFill>
                  <a:srgbClr val="287FB8"/>
                </a:solidFill>
                <a:latin typeface="Microsoft Sans Serif"/>
                <a:cs typeface="Microsoft Sans Serif"/>
                <a:hlinkClick r:id="rId10"/>
              </a:rPr>
              <a:t>→</a:t>
            </a:r>
            <a:endParaRPr sz="1000">
              <a:latin typeface="Microsoft Sans Serif"/>
              <a:cs typeface="Microsoft Sans Serif"/>
            </a:endParaRPr>
          </a:p>
        </p:txBody>
      </p:sp>
      <p:sp>
        <p:nvSpPr>
          <p:cNvPr id="20" name="object 2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1" name="object 21"/>
          <p:cNvSpPr txBox="1">
            <a:spLocks noGrp="1"/>
          </p:cNvSpPr>
          <p:nvPr>
            <p:ph type="sldNum" sz="quarter" idx="7"/>
          </p:nvPr>
        </p:nvSpPr>
        <p:spPr>
          <a:prstGeom prst="rect">
            <a:avLst/>
          </a:prstGeom>
        </p:spPr>
        <p:txBody>
          <a:bodyPr vert="horz" wrap="square" lIns="0" tIns="310146" rIns="0" bIns="0" rtlCol="0">
            <a:spAutoFit/>
          </a:bodyPr>
          <a:lstStyle/>
          <a:p>
            <a:pPr marL="962025">
              <a:lnSpc>
                <a:spcPct val="100000"/>
              </a:lnSpc>
              <a:spcBef>
                <a:spcPts val="180"/>
              </a:spcBef>
            </a:pPr>
            <a:fld id="{81D60167-4931-47E6-BA6A-407CBD079E47}" type="slidenum">
              <a:rPr spc="-10" dirty="0"/>
              <a:t>23</a:t>
            </a:fld>
            <a:r>
              <a:rPr spc="-10" dirty="0"/>
              <a:t>/60</a:t>
            </a:r>
          </a:p>
        </p:txBody>
      </p:sp>
      <p:sp>
        <p:nvSpPr>
          <p:cNvPr id="16" name="object 16"/>
          <p:cNvSpPr txBox="1"/>
          <p:nvPr/>
        </p:nvSpPr>
        <p:spPr>
          <a:xfrm>
            <a:off x="5571616" y="1284522"/>
            <a:ext cx="3699510" cy="2792095"/>
          </a:xfrm>
          <a:prstGeom prst="rect">
            <a:avLst/>
          </a:prstGeom>
        </p:spPr>
        <p:txBody>
          <a:bodyPr vert="horz" wrap="square" lIns="0" tIns="12700" rIns="0" bIns="0" rtlCol="0">
            <a:spAutoFit/>
          </a:bodyPr>
          <a:lstStyle/>
          <a:p>
            <a:pPr marL="12700" marR="30480">
              <a:lnSpc>
                <a:spcPct val="113799"/>
              </a:lnSpc>
              <a:spcBef>
                <a:spcPts val="100"/>
              </a:spcBef>
            </a:pPr>
            <a:r>
              <a:rPr sz="2400" dirty="0">
                <a:solidFill>
                  <a:srgbClr val="454C4C"/>
                </a:solidFill>
                <a:latin typeface="Arial MT"/>
                <a:cs typeface="Arial MT"/>
              </a:rPr>
              <a:t>host</a:t>
            </a:r>
            <a:r>
              <a:rPr sz="2400" spc="-65" dirty="0">
                <a:solidFill>
                  <a:srgbClr val="454C4C"/>
                </a:solidFill>
                <a:latin typeface="Arial MT"/>
                <a:cs typeface="Arial MT"/>
              </a:rPr>
              <a:t> </a:t>
            </a:r>
            <a:r>
              <a:rPr sz="2400" spc="-10" dirty="0">
                <a:solidFill>
                  <a:srgbClr val="454C4C"/>
                </a:solidFill>
                <a:latin typeface="Arial MT"/>
                <a:cs typeface="Arial MT"/>
              </a:rPr>
              <a:t>page</a:t>
            </a:r>
            <a:r>
              <a:rPr sz="2400" spc="-65" dirty="0">
                <a:solidFill>
                  <a:srgbClr val="454C4C"/>
                </a:solidFill>
                <a:latin typeface="Arial MT"/>
                <a:cs typeface="Arial MT"/>
              </a:rPr>
              <a:t> </a:t>
            </a:r>
            <a:r>
              <a:rPr sz="2400" spc="-10" dirty="0">
                <a:solidFill>
                  <a:srgbClr val="454C4C"/>
                </a:solidFill>
                <a:latin typeface="Arial MT"/>
                <a:cs typeface="Arial MT"/>
              </a:rPr>
              <a:t>cache</a:t>
            </a:r>
            <a:r>
              <a:rPr sz="2400" spc="-65" dirty="0">
                <a:solidFill>
                  <a:srgbClr val="454C4C"/>
                </a:solidFill>
                <a:latin typeface="Arial MT"/>
                <a:cs typeface="Arial MT"/>
              </a:rPr>
              <a:t> </a:t>
            </a:r>
            <a:r>
              <a:rPr sz="2400" dirty="0">
                <a:solidFill>
                  <a:srgbClr val="454C4C"/>
                </a:solidFill>
                <a:latin typeface="Arial MT"/>
                <a:cs typeface="Arial MT"/>
              </a:rPr>
              <a:t>is</a:t>
            </a:r>
            <a:r>
              <a:rPr sz="2400" spc="-65" dirty="0">
                <a:solidFill>
                  <a:srgbClr val="454C4C"/>
                </a:solidFill>
                <a:latin typeface="Arial MT"/>
                <a:cs typeface="Arial MT"/>
              </a:rPr>
              <a:t> </a:t>
            </a:r>
            <a:r>
              <a:rPr sz="2400" dirty="0">
                <a:solidFill>
                  <a:srgbClr val="454C4C"/>
                </a:solidFill>
                <a:latin typeface="Arial MT"/>
                <a:cs typeface="Arial MT"/>
              </a:rPr>
              <a:t>used</a:t>
            </a:r>
            <a:r>
              <a:rPr sz="2400" spc="-65" dirty="0">
                <a:solidFill>
                  <a:srgbClr val="454C4C"/>
                </a:solidFill>
                <a:latin typeface="Arial MT"/>
                <a:cs typeface="Arial MT"/>
              </a:rPr>
              <a:t> </a:t>
            </a:r>
            <a:r>
              <a:rPr sz="2400" spc="-25" dirty="0">
                <a:solidFill>
                  <a:srgbClr val="454C4C"/>
                </a:solidFill>
                <a:latin typeface="Arial MT"/>
                <a:cs typeface="Arial MT"/>
              </a:rPr>
              <a:t>as </a:t>
            </a:r>
            <a:r>
              <a:rPr sz="2400" dirty="0">
                <a:solidFill>
                  <a:srgbClr val="454C4C"/>
                </a:solidFill>
                <a:latin typeface="Arial MT"/>
                <a:cs typeface="Arial MT"/>
              </a:rPr>
              <a:t>read</a:t>
            </a:r>
            <a:r>
              <a:rPr sz="2400" spc="55" dirty="0">
                <a:solidFill>
                  <a:srgbClr val="454C4C"/>
                </a:solidFill>
                <a:latin typeface="Arial MT"/>
                <a:cs typeface="Arial MT"/>
              </a:rPr>
              <a:t> </a:t>
            </a:r>
            <a:r>
              <a:rPr sz="2400" spc="110" dirty="0">
                <a:solidFill>
                  <a:srgbClr val="454C4C"/>
                </a:solidFill>
                <a:latin typeface="Arial MT"/>
                <a:cs typeface="Arial MT"/>
              </a:rPr>
              <a:t>&amp;</a:t>
            </a:r>
            <a:r>
              <a:rPr sz="2400" spc="55" dirty="0">
                <a:solidFill>
                  <a:srgbClr val="454C4C"/>
                </a:solidFill>
                <a:latin typeface="Arial MT"/>
                <a:cs typeface="Arial MT"/>
              </a:rPr>
              <a:t> </a:t>
            </a:r>
            <a:r>
              <a:rPr sz="2400" dirty="0">
                <a:solidFill>
                  <a:srgbClr val="454C4C"/>
                </a:solidFill>
                <a:latin typeface="Arial MT"/>
                <a:cs typeface="Arial MT"/>
              </a:rPr>
              <a:t>write</a:t>
            </a:r>
            <a:r>
              <a:rPr sz="2400" spc="55" dirty="0">
                <a:solidFill>
                  <a:srgbClr val="454C4C"/>
                </a:solidFill>
                <a:latin typeface="Arial MT"/>
                <a:cs typeface="Arial MT"/>
              </a:rPr>
              <a:t> </a:t>
            </a:r>
            <a:r>
              <a:rPr sz="2400" spc="-10" dirty="0">
                <a:solidFill>
                  <a:srgbClr val="454C4C"/>
                </a:solidFill>
                <a:latin typeface="Arial MT"/>
                <a:cs typeface="Arial MT"/>
              </a:rPr>
              <a:t>cache</a:t>
            </a:r>
            <a:endParaRPr sz="2400">
              <a:latin typeface="Arial MT"/>
              <a:cs typeface="Arial MT"/>
            </a:endParaRPr>
          </a:p>
          <a:p>
            <a:pPr marL="12700" marR="268605">
              <a:lnSpc>
                <a:spcPct val="113799"/>
              </a:lnSpc>
              <a:spcBef>
                <a:spcPts val="1055"/>
              </a:spcBef>
            </a:pPr>
            <a:r>
              <a:rPr sz="2400" dirty="0">
                <a:solidFill>
                  <a:srgbClr val="454C4C"/>
                </a:solidFill>
                <a:latin typeface="Arial MT"/>
                <a:cs typeface="Arial MT"/>
              </a:rPr>
              <a:t>guest</a:t>
            </a:r>
            <a:r>
              <a:rPr sz="2400" spc="-100" dirty="0">
                <a:solidFill>
                  <a:srgbClr val="454C4C"/>
                </a:solidFill>
                <a:latin typeface="Arial MT"/>
                <a:cs typeface="Arial MT"/>
              </a:rPr>
              <a:t> </a:t>
            </a:r>
            <a:r>
              <a:rPr sz="2400" dirty="0">
                <a:solidFill>
                  <a:srgbClr val="454C4C"/>
                </a:solidFill>
                <a:latin typeface="Arial MT"/>
                <a:cs typeface="Arial MT"/>
              </a:rPr>
              <a:t>disk</a:t>
            </a:r>
            <a:r>
              <a:rPr sz="2400" spc="-95" dirty="0">
                <a:solidFill>
                  <a:srgbClr val="454C4C"/>
                </a:solidFill>
                <a:latin typeface="Arial MT"/>
                <a:cs typeface="Arial MT"/>
              </a:rPr>
              <a:t> </a:t>
            </a:r>
            <a:r>
              <a:rPr sz="2400" spc="-10" dirty="0">
                <a:solidFill>
                  <a:srgbClr val="454C4C"/>
                </a:solidFill>
                <a:latin typeface="Arial MT"/>
                <a:cs typeface="Arial MT"/>
              </a:rPr>
              <a:t>cache</a:t>
            </a:r>
            <a:r>
              <a:rPr sz="2400" spc="-95" dirty="0">
                <a:solidFill>
                  <a:srgbClr val="454C4C"/>
                </a:solidFill>
                <a:latin typeface="Arial MT"/>
                <a:cs typeface="Arial MT"/>
              </a:rPr>
              <a:t> </a:t>
            </a:r>
            <a:r>
              <a:rPr sz="2400" spc="55" dirty="0">
                <a:solidFill>
                  <a:srgbClr val="454C4C"/>
                </a:solidFill>
                <a:latin typeface="Arial MT"/>
                <a:cs typeface="Arial MT"/>
              </a:rPr>
              <a:t>mode</a:t>
            </a:r>
            <a:r>
              <a:rPr sz="2400" spc="-95" dirty="0">
                <a:solidFill>
                  <a:srgbClr val="454C4C"/>
                </a:solidFill>
                <a:latin typeface="Arial MT"/>
                <a:cs typeface="Arial MT"/>
              </a:rPr>
              <a:t> </a:t>
            </a:r>
            <a:r>
              <a:rPr sz="2400" spc="-25" dirty="0">
                <a:solidFill>
                  <a:srgbClr val="454C4C"/>
                </a:solidFill>
                <a:latin typeface="Arial MT"/>
                <a:cs typeface="Arial MT"/>
              </a:rPr>
              <a:t>is </a:t>
            </a:r>
            <a:r>
              <a:rPr sz="2400" spc="-10" dirty="0">
                <a:solidFill>
                  <a:srgbClr val="454C4C"/>
                </a:solidFill>
                <a:latin typeface="Arial MT"/>
                <a:cs typeface="Arial MT"/>
              </a:rPr>
              <a:t>writeback</a:t>
            </a:r>
            <a:endParaRPr sz="2400">
              <a:latin typeface="Arial MT"/>
              <a:cs typeface="Arial MT"/>
            </a:endParaRPr>
          </a:p>
          <a:p>
            <a:pPr marL="12700" marR="5080">
              <a:lnSpc>
                <a:spcPct val="113799"/>
              </a:lnSpc>
              <a:spcBef>
                <a:spcPts val="1060"/>
              </a:spcBef>
            </a:pPr>
            <a:r>
              <a:rPr sz="2400" spc="-10" dirty="0">
                <a:solidFill>
                  <a:srgbClr val="454C4C"/>
                </a:solidFill>
                <a:latin typeface="Arial MT"/>
                <a:cs typeface="Arial MT"/>
              </a:rPr>
              <a:t>Warning:</a:t>
            </a:r>
            <a:r>
              <a:rPr sz="2400" spc="-95" dirty="0">
                <a:solidFill>
                  <a:srgbClr val="454C4C"/>
                </a:solidFill>
                <a:latin typeface="Arial MT"/>
                <a:cs typeface="Arial MT"/>
              </a:rPr>
              <a:t> </a:t>
            </a:r>
            <a:r>
              <a:rPr sz="2400" dirty="0">
                <a:solidFill>
                  <a:srgbClr val="454C4C"/>
                </a:solidFill>
                <a:latin typeface="Arial MT"/>
                <a:cs typeface="Arial MT"/>
              </a:rPr>
              <a:t>you</a:t>
            </a:r>
            <a:r>
              <a:rPr sz="2400" spc="-90" dirty="0">
                <a:solidFill>
                  <a:srgbClr val="454C4C"/>
                </a:solidFill>
                <a:latin typeface="Arial MT"/>
                <a:cs typeface="Arial MT"/>
              </a:rPr>
              <a:t> </a:t>
            </a:r>
            <a:r>
              <a:rPr sz="2400" dirty="0">
                <a:solidFill>
                  <a:srgbClr val="454C4C"/>
                </a:solidFill>
                <a:latin typeface="Arial MT"/>
                <a:cs typeface="Arial MT"/>
              </a:rPr>
              <a:t>can</a:t>
            </a:r>
            <a:r>
              <a:rPr sz="2400" spc="-95" dirty="0">
                <a:solidFill>
                  <a:srgbClr val="454C4C"/>
                </a:solidFill>
                <a:latin typeface="Arial MT"/>
                <a:cs typeface="Arial MT"/>
              </a:rPr>
              <a:t> </a:t>
            </a:r>
            <a:r>
              <a:rPr sz="2400" dirty="0">
                <a:solidFill>
                  <a:srgbClr val="454C4C"/>
                </a:solidFill>
                <a:latin typeface="Arial MT"/>
                <a:cs typeface="Arial MT"/>
              </a:rPr>
              <a:t>lose</a:t>
            </a:r>
            <a:r>
              <a:rPr sz="2400" spc="-90" dirty="0">
                <a:solidFill>
                  <a:srgbClr val="454C4C"/>
                </a:solidFill>
                <a:latin typeface="Arial MT"/>
                <a:cs typeface="Arial MT"/>
              </a:rPr>
              <a:t> </a:t>
            </a:r>
            <a:r>
              <a:rPr sz="2400" spc="-20" dirty="0">
                <a:solidFill>
                  <a:srgbClr val="454C4C"/>
                </a:solidFill>
                <a:latin typeface="Arial MT"/>
                <a:cs typeface="Arial MT"/>
              </a:rPr>
              <a:t>data </a:t>
            </a:r>
            <a:r>
              <a:rPr sz="2400" dirty="0">
                <a:solidFill>
                  <a:srgbClr val="454C4C"/>
                </a:solidFill>
                <a:latin typeface="Arial MT"/>
                <a:cs typeface="Arial MT"/>
              </a:rPr>
              <a:t>in</a:t>
            </a:r>
            <a:r>
              <a:rPr sz="2400" spc="-10" dirty="0">
                <a:solidFill>
                  <a:srgbClr val="454C4C"/>
                </a:solidFill>
                <a:latin typeface="Arial MT"/>
                <a:cs typeface="Arial MT"/>
              </a:rPr>
              <a:t> </a:t>
            </a:r>
            <a:r>
              <a:rPr sz="2400" spc="-55" dirty="0">
                <a:solidFill>
                  <a:srgbClr val="454C4C"/>
                </a:solidFill>
                <a:latin typeface="Arial MT"/>
                <a:cs typeface="Arial MT"/>
              </a:rPr>
              <a:t>case</a:t>
            </a:r>
            <a:r>
              <a:rPr sz="2400" spc="-10" dirty="0">
                <a:solidFill>
                  <a:srgbClr val="454C4C"/>
                </a:solidFill>
                <a:latin typeface="Arial MT"/>
                <a:cs typeface="Arial MT"/>
              </a:rPr>
              <a:t> </a:t>
            </a:r>
            <a:r>
              <a:rPr sz="2400" spc="55" dirty="0">
                <a:solidFill>
                  <a:srgbClr val="454C4C"/>
                </a:solidFill>
                <a:latin typeface="Arial MT"/>
                <a:cs typeface="Arial MT"/>
              </a:rPr>
              <a:t>of</a:t>
            </a:r>
            <a:r>
              <a:rPr sz="2400" spc="-5" dirty="0">
                <a:solidFill>
                  <a:srgbClr val="454C4C"/>
                </a:solidFill>
                <a:latin typeface="Arial MT"/>
                <a:cs typeface="Arial MT"/>
              </a:rPr>
              <a:t> </a:t>
            </a:r>
            <a:r>
              <a:rPr sz="2400" dirty="0">
                <a:solidFill>
                  <a:srgbClr val="454C4C"/>
                </a:solidFill>
                <a:latin typeface="Arial MT"/>
                <a:cs typeface="Arial MT"/>
              </a:rPr>
              <a:t>a</a:t>
            </a:r>
            <a:r>
              <a:rPr sz="2400" spc="-10" dirty="0">
                <a:solidFill>
                  <a:srgbClr val="454C4C"/>
                </a:solidFill>
                <a:latin typeface="Arial MT"/>
                <a:cs typeface="Arial MT"/>
              </a:rPr>
              <a:t> </a:t>
            </a:r>
            <a:r>
              <a:rPr sz="2400" dirty="0">
                <a:solidFill>
                  <a:srgbClr val="454C4C"/>
                </a:solidFill>
                <a:latin typeface="Arial MT"/>
                <a:cs typeface="Arial MT"/>
              </a:rPr>
              <a:t>power</a:t>
            </a:r>
            <a:r>
              <a:rPr sz="2400" spc="-10" dirty="0">
                <a:solidFill>
                  <a:srgbClr val="454C4C"/>
                </a:solidFill>
                <a:latin typeface="Arial MT"/>
                <a:cs typeface="Arial MT"/>
              </a:rPr>
              <a:t> failure</a:t>
            </a:r>
            <a:endParaRPr sz="2400">
              <a:latin typeface="Arial MT"/>
              <a:cs typeface="Arial MT"/>
            </a:endParaRPr>
          </a:p>
        </p:txBody>
      </p:sp>
      <p:sp>
        <p:nvSpPr>
          <p:cNvPr id="17" name="object 17"/>
          <p:cNvSpPr txBox="1"/>
          <p:nvPr/>
        </p:nvSpPr>
        <p:spPr>
          <a:xfrm>
            <a:off x="5247614" y="2383468"/>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18" name="object 18"/>
          <p:cNvSpPr txBox="1"/>
          <p:nvPr/>
        </p:nvSpPr>
        <p:spPr>
          <a:xfrm>
            <a:off x="5247614" y="335043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Backups</a:t>
            </a:r>
          </a:p>
        </p:txBody>
      </p:sp>
      <p:sp>
        <p:nvSpPr>
          <p:cNvPr id="5" name="object 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6" name="object 6"/>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24</a:t>
            </a:fld>
            <a:r>
              <a:rPr spc="-10" dirty="0"/>
              <a:t>/60</a:t>
            </a:r>
          </a:p>
        </p:txBody>
      </p:sp>
      <p:graphicFrame>
        <p:nvGraphicFramePr>
          <p:cNvPr id="3" name="object 3"/>
          <p:cNvGraphicFramePr>
            <a:graphicFrameLocks noGrp="1"/>
          </p:cNvGraphicFramePr>
          <p:nvPr/>
        </p:nvGraphicFramePr>
        <p:xfrm>
          <a:off x="503008" y="1325609"/>
          <a:ext cx="9149715" cy="3279140"/>
        </p:xfrm>
        <a:graphic>
          <a:graphicData uri="http://schemas.openxmlformats.org/drawingml/2006/table">
            <a:tbl>
              <a:tblPr firstRow="1" bandRow="1">
                <a:tableStyleId>{2D5ABB26-0587-4C30-8999-92F81FD0307C}</a:tableStyleId>
              </a:tblPr>
              <a:tblGrid>
                <a:gridCol w="175387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98875">
                  <a:extLst>
                    <a:ext uri="{9D8B030D-6E8A-4147-A177-3AD203B41FA5}">
                      <a16:colId xmlns:a16="http://schemas.microsoft.com/office/drawing/2014/main" val="20002"/>
                    </a:ext>
                  </a:extLst>
                </a:gridCol>
              </a:tblGrid>
              <a:tr h="509905">
                <a:tc>
                  <a:txBody>
                    <a:bodyPr/>
                    <a:lstStyle/>
                    <a:p>
                      <a:pPr marL="558165">
                        <a:lnSpc>
                          <a:spcPct val="100000"/>
                        </a:lnSpc>
                        <a:spcBef>
                          <a:spcPts val="905"/>
                        </a:spcBef>
                      </a:pPr>
                      <a:r>
                        <a:rPr sz="1800" spc="-20" dirty="0">
                          <a:solidFill>
                            <a:srgbClr val="FFFFFF"/>
                          </a:solidFill>
                          <a:latin typeface="Arial Black"/>
                          <a:cs typeface="Arial Black"/>
                        </a:rPr>
                        <a:t>Mode</a:t>
                      </a:r>
                      <a:endParaRPr sz="1800">
                        <a:latin typeface="Arial Black"/>
                        <a:cs typeface="Arial Black"/>
                      </a:endParaRPr>
                    </a:p>
                  </a:txBody>
                  <a:tcPr marL="0" marR="0" marT="11493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F9000"/>
                    </a:solidFill>
                  </a:tcPr>
                </a:tc>
                <a:tc>
                  <a:txBody>
                    <a:bodyPr/>
                    <a:lstStyle/>
                    <a:p>
                      <a:pPr algn="ctr">
                        <a:lnSpc>
                          <a:spcPct val="100000"/>
                        </a:lnSpc>
                        <a:spcBef>
                          <a:spcPts val="905"/>
                        </a:spcBef>
                      </a:pPr>
                      <a:r>
                        <a:rPr sz="1800" spc="-25" dirty="0">
                          <a:solidFill>
                            <a:srgbClr val="FFFFFF"/>
                          </a:solidFill>
                          <a:latin typeface="Arial Black"/>
                          <a:cs typeface="Arial Black"/>
                        </a:rPr>
                        <a:t>VM</a:t>
                      </a:r>
                      <a:endParaRPr sz="1800">
                        <a:latin typeface="Arial Black"/>
                        <a:cs typeface="Arial Black"/>
                      </a:endParaRPr>
                    </a:p>
                  </a:txBody>
                  <a:tcPr marL="0" marR="0" marT="11493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F9000"/>
                    </a:solidFill>
                  </a:tcPr>
                </a:tc>
                <a:tc>
                  <a:txBody>
                    <a:bodyPr/>
                    <a:lstStyle/>
                    <a:p>
                      <a:pPr algn="ctr">
                        <a:lnSpc>
                          <a:spcPct val="100000"/>
                        </a:lnSpc>
                        <a:spcBef>
                          <a:spcPts val="905"/>
                        </a:spcBef>
                      </a:pPr>
                      <a:r>
                        <a:rPr sz="1800" spc="-10" dirty="0">
                          <a:solidFill>
                            <a:srgbClr val="FFFFFF"/>
                          </a:solidFill>
                          <a:latin typeface="Arial Black"/>
                          <a:cs typeface="Arial Black"/>
                        </a:rPr>
                        <a:t>Container</a:t>
                      </a:r>
                      <a:endParaRPr sz="1800">
                        <a:latin typeface="Arial Black"/>
                        <a:cs typeface="Arial Black"/>
                      </a:endParaRPr>
                    </a:p>
                  </a:txBody>
                  <a:tcPr marL="0" marR="0" marT="11493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F9000"/>
                    </a:solidFill>
                  </a:tcPr>
                </a:tc>
                <a:extLst>
                  <a:ext uri="{0D108BD9-81ED-4DB2-BD59-A6C34878D82A}">
                    <a16:rowId xmlns:a16="http://schemas.microsoft.com/office/drawing/2014/main" val="10000"/>
                  </a:ext>
                </a:extLst>
              </a:tr>
              <a:tr h="715645">
                <a:tc>
                  <a:txBody>
                    <a:bodyPr/>
                    <a:lstStyle/>
                    <a:p>
                      <a:pPr marL="89535">
                        <a:lnSpc>
                          <a:spcPct val="100000"/>
                        </a:lnSpc>
                        <a:spcBef>
                          <a:spcPts val="484"/>
                        </a:spcBef>
                      </a:pPr>
                      <a:r>
                        <a:rPr sz="1800" spc="-20" dirty="0">
                          <a:latin typeface="Arial MT"/>
                          <a:cs typeface="Arial MT"/>
                        </a:rPr>
                        <a:t>stop</a:t>
                      </a:r>
                      <a:endParaRPr sz="1800">
                        <a:latin typeface="Arial MT"/>
                        <a:cs typeface="Arial MT"/>
                      </a:endParaRPr>
                    </a:p>
                  </a:txBody>
                  <a:tcPr marL="0" marR="0" marT="61594"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2EEEC"/>
                    </a:solidFill>
                  </a:tcPr>
                </a:tc>
                <a:tc>
                  <a:txBody>
                    <a:bodyPr/>
                    <a:lstStyle/>
                    <a:p>
                      <a:pPr marL="89535">
                        <a:lnSpc>
                          <a:spcPct val="100000"/>
                        </a:lnSpc>
                        <a:spcBef>
                          <a:spcPts val="484"/>
                        </a:spcBef>
                      </a:pPr>
                      <a:r>
                        <a:rPr sz="1800" dirty="0">
                          <a:latin typeface="Arial MT"/>
                          <a:cs typeface="Arial MT"/>
                        </a:rPr>
                        <a:t>Shutdown,</a:t>
                      </a:r>
                      <a:r>
                        <a:rPr sz="1800" spc="60" dirty="0">
                          <a:latin typeface="Arial MT"/>
                          <a:cs typeface="Arial MT"/>
                        </a:rPr>
                        <a:t> </a:t>
                      </a:r>
                      <a:r>
                        <a:rPr sz="1800" dirty="0">
                          <a:latin typeface="Arial MT"/>
                          <a:cs typeface="Arial MT"/>
                        </a:rPr>
                        <a:t>start</a:t>
                      </a:r>
                      <a:r>
                        <a:rPr sz="1800" spc="60" dirty="0">
                          <a:latin typeface="Arial MT"/>
                          <a:cs typeface="Arial MT"/>
                        </a:rPr>
                        <a:t> </a:t>
                      </a:r>
                      <a:r>
                        <a:rPr sz="1800" spc="-10" dirty="0">
                          <a:latin typeface="Arial MT"/>
                          <a:cs typeface="Arial MT"/>
                        </a:rPr>
                        <a:t>immediately</a:t>
                      </a:r>
                      <a:endParaRPr sz="1800">
                        <a:latin typeface="Arial MT"/>
                        <a:cs typeface="Arial MT"/>
                      </a:endParaRPr>
                    </a:p>
                  </a:txBody>
                  <a:tcPr marL="0" marR="0" marT="61594"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2EEEC"/>
                    </a:solidFill>
                  </a:tcPr>
                </a:tc>
                <a:tc>
                  <a:txBody>
                    <a:bodyPr/>
                    <a:lstStyle/>
                    <a:p>
                      <a:pPr marL="89535">
                        <a:lnSpc>
                          <a:spcPct val="100000"/>
                        </a:lnSpc>
                        <a:spcBef>
                          <a:spcPts val="484"/>
                        </a:spcBef>
                      </a:pPr>
                      <a:r>
                        <a:rPr sz="1800" dirty="0">
                          <a:latin typeface="Arial MT"/>
                          <a:cs typeface="Arial MT"/>
                        </a:rPr>
                        <a:t>Stop</a:t>
                      </a:r>
                      <a:r>
                        <a:rPr sz="1800" spc="45" dirty="0">
                          <a:latin typeface="Arial MT"/>
                          <a:cs typeface="Arial MT"/>
                        </a:rPr>
                        <a:t> </a:t>
                      </a:r>
                      <a:r>
                        <a:rPr sz="1800" dirty="0">
                          <a:latin typeface="Arial MT"/>
                          <a:cs typeface="Arial MT"/>
                        </a:rPr>
                        <a:t>during</a:t>
                      </a:r>
                      <a:r>
                        <a:rPr sz="1800" spc="50" dirty="0">
                          <a:latin typeface="Arial MT"/>
                          <a:cs typeface="Arial MT"/>
                        </a:rPr>
                        <a:t> </a:t>
                      </a:r>
                      <a:r>
                        <a:rPr sz="1800" dirty="0">
                          <a:latin typeface="Arial MT"/>
                          <a:cs typeface="Arial MT"/>
                        </a:rPr>
                        <a:t>whole</a:t>
                      </a:r>
                      <a:r>
                        <a:rPr sz="1800" spc="50" dirty="0">
                          <a:latin typeface="Arial MT"/>
                          <a:cs typeface="Arial MT"/>
                        </a:rPr>
                        <a:t> </a:t>
                      </a:r>
                      <a:r>
                        <a:rPr sz="1800" spc="-10" dirty="0">
                          <a:latin typeface="Arial MT"/>
                          <a:cs typeface="Arial MT"/>
                        </a:rPr>
                        <a:t>backup</a:t>
                      </a:r>
                      <a:endParaRPr sz="1800">
                        <a:latin typeface="Arial MT"/>
                        <a:cs typeface="Arial MT"/>
                      </a:endParaRPr>
                    </a:p>
                  </a:txBody>
                  <a:tcPr marL="0" marR="0" marT="61594"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2EEEC"/>
                    </a:solidFill>
                  </a:tcPr>
                </a:tc>
                <a:extLst>
                  <a:ext uri="{0D108BD9-81ED-4DB2-BD59-A6C34878D82A}">
                    <a16:rowId xmlns:a16="http://schemas.microsoft.com/office/drawing/2014/main" val="10001"/>
                  </a:ext>
                </a:extLst>
              </a:tr>
              <a:tr h="1026794">
                <a:tc>
                  <a:txBody>
                    <a:bodyPr/>
                    <a:lstStyle/>
                    <a:p>
                      <a:pPr marL="89535">
                        <a:lnSpc>
                          <a:spcPct val="100000"/>
                        </a:lnSpc>
                        <a:spcBef>
                          <a:spcPts val="484"/>
                        </a:spcBef>
                      </a:pPr>
                      <a:r>
                        <a:rPr sz="1800" spc="-10" dirty="0">
                          <a:latin typeface="Arial MT"/>
                          <a:cs typeface="Arial MT"/>
                        </a:rPr>
                        <a:t>suspend</a:t>
                      </a:r>
                      <a:endParaRPr sz="1800">
                        <a:latin typeface="Arial MT"/>
                        <a:cs typeface="Arial MT"/>
                      </a:endParaRPr>
                    </a:p>
                  </a:txBody>
                  <a:tcPr marL="0" marR="0" marT="61594"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DAD6D4"/>
                    </a:solidFill>
                  </a:tcPr>
                </a:tc>
                <a:tc>
                  <a:txBody>
                    <a:bodyPr/>
                    <a:lstStyle/>
                    <a:p>
                      <a:pPr marL="89535" marR="162560">
                        <a:lnSpc>
                          <a:spcPct val="113399"/>
                        </a:lnSpc>
                        <a:spcBef>
                          <a:spcPts val="195"/>
                        </a:spcBef>
                      </a:pPr>
                      <a:r>
                        <a:rPr sz="1800" dirty="0">
                          <a:latin typeface="Arial MT"/>
                          <a:cs typeface="Arial MT"/>
                        </a:rPr>
                        <a:t>Provided</a:t>
                      </a:r>
                      <a:r>
                        <a:rPr sz="1800" spc="25" dirty="0">
                          <a:latin typeface="Arial MT"/>
                          <a:cs typeface="Arial MT"/>
                        </a:rPr>
                        <a:t> </a:t>
                      </a:r>
                      <a:r>
                        <a:rPr sz="1800" spc="55" dirty="0">
                          <a:latin typeface="Arial MT"/>
                          <a:cs typeface="Arial MT"/>
                        </a:rPr>
                        <a:t>for</a:t>
                      </a:r>
                      <a:r>
                        <a:rPr sz="1800" spc="30" dirty="0">
                          <a:latin typeface="Arial MT"/>
                          <a:cs typeface="Arial MT"/>
                        </a:rPr>
                        <a:t> </a:t>
                      </a:r>
                      <a:r>
                        <a:rPr sz="1800" dirty="0">
                          <a:latin typeface="Arial MT"/>
                          <a:cs typeface="Arial MT"/>
                        </a:rPr>
                        <a:t>compatibility,</a:t>
                      </a:r>
                      <a:r>
                        <a:rPr sz="1800" spc="30" dirty="0">
                          <a:latin typeface="Arial MT"/>
                          <a:cs typeface="Arial MT"/>
                        </a:rPr>
                        <a:t> </a:t>
                      </a:r>
                      <a:r>
                        <a:rPr sz="1800" spc="-10" dirty="0">
                          <a:latin typeface="Arial MT"/>
                          <a:cs typeface="Arial MT"/>
                        </a:rPr>
                        <a:t>better </a:t>
                      </a:r>
                      <a:r>
                        <a:rPr sz="1800" dirty="0">
                          <a:latin typeface="Arial MT"/>
                          <a:cs typeface="Arial MT"/>
                        </a:rPr>
                        <a:t>use</a:t>
                      </a:r>
                      <a:r>
                        <a:rPr sz="1800" spc="-65" dirty="0">
                          <a:latin typeface="Arial MT"/>
                          <a:cs typeface="Arial MT"/>
                        </a:rPr>
                        <a:t> </a:t>
                      </a:r>
                      <a:r>
                        <a:rPr sz="1800" spc="-10" dirty="0">
                          <a:latin typeface="Arial MT"/>
                          <a:cs typeface="Arial MT"/>
                        </a:rPr>
                        <a:t>snapshot</a:t>
                      </a:r>
                      <a:endParaRPr sz="1800">
                        <a:latin typeface="Arial MT"/>
                        <a:cs typeface="Arial MT"/>
                      </a:endParaRPr>
                    </a:p>
                  </a:txBody>
                  <a:tcPr marL="0" marR="0" marT="2476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DAD6D4"/>
                    </a:solidFill>
                  </a:tcPr>
                </a:tc>
                <a:tc>
                  <a:txBody>
                    <a:bodyPr/>
                    <a:lstStyle/>
                    <a:p>
                      <a:pPr marL="89535" marR="631825">
                        <a:lnSpc>
                          <a:spcPct val="113399"/>
                        </a:lnSpc>
                        <a:spcBef>
                          <a:spcPts val="195"/>
                        </a:spcBef>
                      </a:pPr>
                      <a:r>
                        <a:rPr sz="1800" spc="-75" dirty="0">
                          <a:latin typeface="Arial MT"/>
                          <a:cs typeface="Arial MT"/>
                        </a:rPr>
                        <a:t>Rsync</a:t>
                      </a:r>
                      <a:r>
                        <a:rPr sz="1800" spc="-25" dirty="0">
                          <a:latin typeface="Arial MT"/>
                          <a:cs typeface="Arial MT"/>
                        </a:rPr>
                        <a:t> </a:t>
                      </a:r>
                      <a:r>
                        <a:rPr sz="1800" spc="70" dirty="0">
                          <a:latin typeface="Arial MT"/>
                          <a:cs typeface="Arial MT"/>
                        </a:rPr>
                        <a:t>to</a:t>
                      </a:r>
                      <a:r>
                        <a:rPr sz="1800" spc="-25" dirty="0">
                          <a:latin typeface="Arial MT"/>
                          <a:cs typeface="Arial MT"/>
                        </a:rPr>
                        <a:t> </a:t>
                      </a:r>
                      <a:r>
                        <a:rPr sz="1800" spc="75" dirty="0">
                          <a:latin typeface="Arial MT"/>
                          <a:cs typeface="Arial MT"/>
                        </a:rPr>
                        <a:t>tmp</a:t>
                      </a:r>
                      <a:r>
                        <a:rPr sz="1800" spc="-20" dirty="0">
                          <a:latin typeface="Arial MT"/>
                          <a:cs typeface="Arial MT"/>
                        </a:rPr>
                        <a:t> </a:t>
                      </a:r>
                      <a:r>
                        <a:rPr sz="1800" dirty="0">
                          <a:latin typeface="Arial MT"/>
                          <a:cs typeface="Arial MT"/>
                        </a:rPr>
                        <a:t>while</a:t>
                      </a:r>
                      <a:r>
                        <a:rPr sz="1800" spc="-25" dirty="0">
                          <a:latin typeface="Arial MT"/>
                          <a:cs typeface="Arial MT"/>
                        </a:rPr>
                        <a:t> </a:t>
                      </a:r>
                      <a:r>
                        <a:rPr sz="1800" spc="-10" dirty="0">
                          <a:latin typeface="Arial MT"/>
                          <a:cs typeface="Arial MT"/>
                        </a:rPr>
                        <a:t>running, </a:t>
                      </a:r>
                      <a:r>
                        <a:rPr sz="1800" dirty="0">
                          <a:latin typeface="Arial MT"/>
                          <a:cs typeface="Arial MT"/>
                        </a:rPr>
                        <a:t>suspend</a:t>
                      </a:r>
                      <a:r>
                        <a:rPr sz="1800" spc="55" dirty="0">
                          <a:latin typeface="Arial MT"/>
                          <a:cs typeface="Arial MT"/>
                        </a:rPr>
                        <a:t> </a:t>
                      </a:r>
                      <a:r>
                        <a:rPr sz="1800" dirty="0">
                          <a:latin typeface="Arial MT"/>
                          <a:cs typeface="Arial MT"/>
                        </a:rPr>
                        <a:t>container</a:t>
                      </a:r>
                      <a:r>
                        <a:rPr sz="1800" spc="55" dirty="0">
                          <a:latin typeface="Arial MT"/>
                          <a:cs typeface="Arial MT"/>
                        </a:rPr>
                        <a:t> </a:t>
                      </a:r>
                      <a:r>
                        <a:rPr sz="1800" dirty="0">
                          <a:latin typeface="Arial MT"/>
                          <a:cs typeface="Arial MT"/>
                        </a:rPr>
                        <a:t>and</a:t>
                      </a:r>
                      <a:r>
                        <a:rPr sz="1800" spc="60" dirty="0">
                          <a:latin typeface="Arial MT"/>
                          <a:cs typeface="Arial MT"/>
                        </a:rPr>
                        <a:t> </a:t>
                      </a:r>
                      <a:r>
                        <a:rPr sz="1800" spc="-10" dirty="0">
                          <a:latin typeface="Arial MT"/>
                          <a:cs typeface="Arial MT"/>
                        </a:rPr>
                        <a:t>rsync again</a:t>
                      </a:r>
                      <a:endParaRPr sz="1800">
                        <a:latin typeface="Arial MT"/>
                        <a:cs typeface="Arial MT"/>
                      </a:endParaRPr>
                    </a:p>
                  </a:txBody>
                  <a:tcPr marL="0" marR="0" marT="2476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DAD6D4"/>
                    </a:solidFill>
                  </a:tcPr>
                </a:tc>
                <a:extLst>
                  <a:ext uri="{0D108BD9-81ED-4DB2-BD59-A6C34878D82A}">
                    <a16:rowId xmlns:a16="http://schemas.microsoft.com/office/drawing/2014/main" val="10002"/>
                  </a:ext>
                </a:extLst>
              </a:tr>
              <a:tr h="1026794">
                <a:tc>
                  <a:txBody>
                    <a:bodyPr/>
                    <a:lstStyle/>
                    <a:p>
                      <a:pPr marL="89535">
                        <a:lnSpc>
                          <a:spcPct val="100000"/>
                        </a:lnSpc>
                        <a:spcBef>
                          <a:spcPts val="484"/>
                        </a:spcBef>
                      </a:pPr>
                      <a:r>
                        <a:rPr sz="1800" spc="-10" dirty="0">
                          <a:latin typeface="Arial MT"/>
                          <a:cs typeface="Arial MT"/>
                        </a:rPr>
                        <a:t>snapshot</a:t>
                      </a:r>
                      <a:endParaRPr sz="1800">
                        <a:latin typeface="Arial MT"/>
                        <a:cs typeface="Arial MT"/>
                      </a:endParaRPr>
                    </a:p>
                  </a:txBody>
                  <a:tcPr marL="0" marR="0" marT="61594"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2EEEC"/>
                    </a:solidFill>
                  </a:tcPr>
                </a:tc>
                <a:tc>
                  <a:txBody>
                    <a:bodyPr/>
                    <a:lstStyle/>
                    <a:p>
                      <a:pPr marL="89535" marR="819785">
                        <a:lnSpc>
                          <a:spcPct val="113399"/>
                        </a:lnSpc>
                        <a:spcBef>
                          <a:spcPts val="195"/>
                        </a:spcBef>
                      </a:pPr>
                      <a:r>
                        <a:rPr sz="1800" spc="-10" dirty="0">
                          <a:latin typeface="Arial MT"/>
                          <a:cs typeface="Arial MT"/>
                        </a:rPr>
                        <a:t>Use</a:t>
                      </a:r>
                      <a:r>
                        <a:rPr sz="1800" spc="-15" dirty="0">
                          <a:latin typeface="Arial MT"/>
                          <a:cs typeface="Arial MT"/>
                        </a:rPr>
                        <a:t> </a:t>
                      </a:r>
                      <a:r>
                        <a:rPr sz="1800" dirty="0">
                          <a:latin typeface="Arial MT"/>
                          <a:cs typeface="Arial MT"/>
                        </a:rPr>
                        <a:t>virtualization</a:t>
                      </a:r>
                      <a:r>
                        <a:rPr sz="1800" spc="-15" dirty="0">
                          <a:latin typeface="Arial MT"/>
                          <a:cs typeface="Arial MT"/>
                        </a:rPr>
                        <a:t> </a:t>
                      </a:r>
                      <a:r>
                        <a:rPr sz="1800" spc="70" dirty="0">
                          <a:latin typeface="Arial MT"/>
                          <a:cs typeface="Arial MT"/>
                        </a:rPr>
                        <a:t>to</a:t>
                      </a:r>
                      <a:r>
                        <a:rPr sz="1800" spc="-10" dirty="0">
                          <a:latin typeface="Arial MT"/>
                          <a:cs typeface="Arial MT"/>
                        </a:rPr>
                        <a:t> </a:t>
                      </a:r>
                      <a:r>
                        <a:rPr sz="1800" dirty="0">
                          <a:latin typeface="Arial MT"/>
                          <a:cs typeface="Arial MT"/>
                        </a:rPr>
                        <a:t>take</a:t>
                      </a:r>
                      <a:r>
                        <a:rPr sz="1800" spc="-15" dirty="0">
                          <a:latin typeface="Arial MT"/>
                          <a:cs typeface="Arial MT"/>
                        </a:rPr>
                        <a:t> </a:t>
                      </a:r>
                      <a:r>
                        <a:rPr sz="1800" spc="-50" dirty="0">
                          <a:latin typeface="Arial MT"/>
                          <a:cs typeface="Arial MT"/>
                        </a:rPr>
                        <a:t>a </a:t>
                      </a:r>
                      <a:r>
                        <a:rPr sz="1800" dirty="0">
                          <a:latin typeface="Arial MT"/>
                          <a:cs typeface="Arial MT"/>
                        </a:rPr>
                        <a:t>consistent</a:t>
                      </a:r>
                      <a:r>
                        <a:rPr sz="1800" spc="75" dirty="0">
                          <a:latin typeface="Arial MT"/>
                          <a:cs typeface="Arial MT"/>
                        </a:rPr>
                        <a:t> </a:t>
                      </a:r>
                      <a:r>
                        <a:rPr sz="1800" spc="-10" dirty="0">
                          <a:latin typeface="Arial MT"/>
                          <a:cs typeface="Arial MT"/>
                        </a:rPr>
                        <a:t>backup</a:t>
                      </a:r>
                      <a:endParaRPr sz="1800">
                        <a:latin typeface="Arial MT"/>
                        <a:cs typeface="Arial MT"/>
                      </a:endParaRPr>
                    </a:p>
                  </a:txBody>
                  <a:tcPr marL="0" marR="0" marT="2476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2EEEC"/>
                    </a:solidFill>
                  </a:tcPr>
                </a:tc>
                <a:tc>
                  <a:txBody>
                    <a:bodyPr/>
                    <a:lstStyle/>
                    <a:p>
                      <a:pPr marL="89535" marR="266700">
                        <a:lnSpc>
                          <a:spcPct val="113399"/>
                        </a:lnSpc>
                        <a:spcBef>
                          <a:spcPts val="195"/>
                        </a:spcBef>
                      </a:pPr>
                      <a:r>
                        <a:rPr sz="1800" spc="-10" dirty="0">
                          <a:latin typeface="Arial MT"/>
                          <a:cs typeface="Arial MT"/>
                        </a:rPr>
                        <a:t>Use</a:t>
                      </a:r>
                      <a:r>
                        <a:rPr sz="1800" spc="-65" dirty="0">
                          <a:latin typeface="Arial MT"/>
                          <a:cs typeface="Arial MT"/>
                        </a:rPr>
                        <a:t> </a:t>
                      </a:r>
                      <a:r>
                        <a:rPr sz="1800" dirty="0">
                          <a:latin typeface="Arial MT"/>
                          <a:cs typeface="Arial MT"/>
                        </a:rPr>
                        <a:t>storage</a:t>
                      </a:r>
                      <a:r>
                        <a:rPr sz="1800" spc="-60" dirty="0">
                          <a:latin typeface="Arial MT"/>
                          <a:cs typeface="Arial MT"/>
                        </a:rPr>
                        <a:t> </a:t>
                      </a:r>
                      <a:r>
                        <a:rPr sz="1800" spc="-10" dirty="0">
                          <a:latin typeface="Arial MT"/>
                          <a:cs typeface="Arial MT"/>
                        </a:rPr>
                        <a:t>snapshot </a:t>
                      </a:r>
                      <a:r>
                        <a:rPr sz="1800" dirty="0">
                          <a:latin typeface="Arial MT"/>
                          <a:cs typeface="Arial MT"/>
                        </a:rPr>
                        <a:t>functionality,</a:t>
                      </a:r>
                      <a:r>
                        <a:rPr sz="1800" spc="-25" dirty="0">
                          <a:latin typeface="Arial MT"/>
                          <a:cs typeface="Arial MT"/>
                        </a:rPr>
                        <a:t> </a:t>
                      </a:r>
                      <a:r>
                        <a:rPr sz="1800" dirty="0">
                          <a:latin typeface="Arial MT"/>
                          <a:cs typeface="Arial MT"/>
                        </a:rPr>
                        <a:t>fallback</a:t>
                      </a:r>
                      <a:r>
                        <a:rPr sz="1800" spc="-30" dirty="0">
                          <a:latin typeface="Arial MT"/>
                          <a:cs typeface="Arial MT"/>
                        </a:rPr>
                        <a:t> </a:t>
                      </a:r>
                      <a:r>
                        <a:rPr sz="1800" spc="70" dirty="0">
                          <a:latin typeface="Arial MT"/>
                          <a:cs typeface="Arial MT"/>
                        </a:rPr>
                        <a:t>to</a:t>
                      </a:r>
                      <a:r>
                        <a:rPr sz="1800" spc="-20" dirty="0">
                          <a:latin typeface="Arial MT"/>
                          <a:cs typeface="Arial MT"/>
                        </a:rPr>
                        <a:t> </a:t>
                      </a:r>
                      <a:r>
                        <a:rPr sz="1800" spc="-10" dirty="0">
                          <a:latin typeface="Arial MT"/>
                          <a:cs typeface="Arial MT"/>
                        </a:rPr>
                        <a:t>suspend </a:t>
                      </a:r>
                      <a:r>
                        <a:rPr sz="1800" spc="-20" dirty="0">
                          <a:latin typeface="Arial MT"/>
                          <a:cs typeface="Arial MT"/>
                        </a:rPr>
                        <a:t>mode</a:t>
                      </a:r>
                      <a:endParaRPr sz="1800">
                        <a:latin typeface="Arial MT"/>
                        <a:cs typeface="Arial MT"/>
                      </a:endParaRPr>
                    </a:p>
                  </a:txBody>
                  <a:tcPr marL="0" marR="0" marT="24765" marB="0">
                    <a:lnL w="3175">
                      <a:solidFill>
                        <a:srgbClr val="FFFFFF"/>
                      </a:solidFill>
                      <a:prstDash val="solid"/>
                    </a:lnL>
                    <a:lnR w="3175">
                      <a:solidFill>
                        <a:srgbClr val="FFFFFF"/>
                      </a:solidFill>
                      <a:prstDash val="solid"/>
                    </a:lnR>
                    <a:lnT w="3175">
                      <a:solidFill>
                        <a:srgbClr val="FFFFFF"/>
                      </a:solidFill>
                      <a:prstDash val="solid"/>
                    </a:lnT>
                    <a:lnB w="3175">
                      <a:solidFill>
                        <a:srgbClr val="FFFFFF"/>
                      </a:solidFill>
                      <a:prstDash val="solid"/>
                    </a:lnB>
                    <a:solidFill>
                      <a:srgbClr val="F2EEEC"/>
                    </a:solidFill>
                  </a:tcPr>
                </a:tc>
                <a:extLst>
                  <a:ext uri="{0D108BD9-81ED-4DB2-BD59-A6C34878D82A}">
                    <a16:rowId xmlns:a16="http://schemas.microsoft.com/office/drawing/2014/main" val="10003"/>
                  </a:ext>
                </a:extLst>
              </a:tr>
            </a:tbl>
          </a:graphicData>
        </a:graphic>
      </p:graphicFrame>
      <p:sp>
        <p:nvSpPr>
          <p:cNvPr id="4" name="object 4"/>
          <p:cNvSpPr txBox="1"/>
          <p:nvPr/>
        </p:nvSpPr>
        <p:spPr>
          <a:xfrm>
            <a:off x="7231938" y="4882674"/>
            <a:ext cx="1511300" cy="200025"/>
          </a:xfrm>
          <a:prstGeom prst="rect">
            <a:avLst/>
          </a:prstGeom>
        </p:spPr>
        <p:txBody>
          <a:bodyPr vert="horz" wrap="square" lIns="0" tIns="12065" rIns="0" bIns="0" rtlCol="0">
            <a:spAutoFit/>
          </a:bodyPr>
          <a:lstStyle/>
          <a:p>
            <a:pPr marL="12700">
              <a:lnSpc>
                <a:spcPct val="100000"/>
              </a:lnSpc>
              <a:spcBef>
                <a:spcPts val="95"/>
              </a:spcBef>
            </a:pPr>
            <a:r>
              <a:rPr sz="1150" spc="-85" dirty="0">
                <a:solidFill>
                  <a:srgbClr val="287FB8"/>
                </a:solidFill>
                <a:latin typeface="Tahoma"/>
                <a:cs typeface="Tahoma"/>
                <a:hlinkClick r:id="rId2"/>
              </a:rPr>
              <a:t>Read </a:t>
            </a:r>
            <a:r>
              <a:rPr sz="1150" spc="-65" dirty="0">
                <a:solidFill>
                  <a:srgbClr val="287FB8"/>
                </a:solidFill>
                <a:latin typeface="Tahoma"/>
                <a:cs typeface="Tahoma"/>
                <a:hlinkClick r:id="rId2"/>
              </a:rPr>
              <a:t>more</a:t>
            </a:r>
            <a:r>
              <a:rPr sz="1150" spc="-85" dirty="0">
                <a:solidFill>
                  <a:srgbClr val="287FB8"/>
                </a:solidFill>
                <a:latin typeface="Tahoma"/>
                <a:cs typeface="Tahoma"/>
                <a:hlinkClick r:id="rId2"/>
              </a:rPr>
              <a:t> </a:t>
            </a:r>
            <a:r>
              <a:rPr sz="1150" spc="-45" dirty="0">
                <a:solidFill>
                  <a:srgbClr val="287FB8"/>
                </a:solidFill>
                <a:latin typeface="Tahoma"/>
                <a:cs typeface="Tahoma"/>
                <a:hlinkClick r:id="rId2"/>
              </a:rPr>
              <a:t>in</a:t>
            </a:r>
            <a:r>
              <a:rPr sz="1150" spc="-80" dirty="0">
                <a:solidFill>
                  <a:srgbClr val="287FB8"/>
                </a:solidFill>
                <a:latin typeface="Tahoma"/>
                <a:cs typeface="Tahoma"/>
                <a:hlinkClick r:id="rId2"/>
              </a:rPr>
              <a:t> </a:t>
            </a:r>
            <a:r>
              <a:rPr sz="1150" spc="-65" dirty="0">
                <a:solidFill>
                  <a:srgbClr val="287FB8"/>
                </a:solidFill>
                <a:latin typeface="Tahoma"/>
                <a:cs typeface="Tahoma"/>
                <a:hlinkClick r:id="rId2"/>
              </a:rPr>
              <a:t>the</a:t>
            </a:r>
            <a:r>
              <a:rPr sz="1150" spc="-85" dirty="0">
                <a:solidFill>
                  <a:srgbClr val="287FB8"/>
                </a:solidFill>
                <a:latin typeface="Tahoma"/>
                <a:cs typeface="Tahoma"/>
                <a:hlinkClick r:id="rId2"/>
              </a:rPr>
              <a:t> DOCS</a:t>
            </a:r>
            <a:r>
              <a:rPr sz="1150" spc="-100" dirty="0">
                <a:solidFill>
                  <a:srgbClr val="287FB8"/>
                </a:solidFill>
                <a:latin typeface="Tahoma"/>
                <a:cs typeface="Tahoma"/>
                <a:hlinkClick r:id="rId2"/>
              </a:rPr>
              <a:t> </a:t>
            </a:r>
            <a:r>
              <a:rPr sz="1000" spc="-50" dirty="0">
                <a:solidFill>
                  <a:srgbClr val="287FB8"/>
                </a:solidFill>
                <a:latin typeface="Microsoft Sans Serif"/>
                <a:cs typeface="Microsoft Sans Serif"/>
                <a:hlinkClick r:id="rId2"/>
              </a:rPr>
              <a:t>→</a:t>
            </a:r>
            <a:endParaRPr sz="1000">
              <a:latin typeface="Microsoft Sans Serif"/>
              <a:cs typeface="Microsoft Sans Serif"/>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00" dirty="0"/>
              <a:t> </a:t>
            </a:r>
            <a:r>
              <a:rPr spc="120" dirty="0"/>
              <a:t>VE</a:t>
            </a:r>
          </a:p>
        </p:txBody>
      </p:sp>
      <p:sp>
        <p:nvSpPr>
          <p:cNvPr id="3" name="object 3"/>
          <p:cNvSpPr txBox="1"/>
          <p:nvPr/>
        </p:nvSpPr>
        <p:spPr>
          <a:xfrm>
            <a:off x="611174" y="1879469"/>
            <a:ext cx="1838325"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54C4C"/>
                </a:solidFill>
                <a:latin typeface="Arial MT"/>
                <a:cs typeface="Arial MT"/>
              </a:rPr>
              <a:t>Begin</a:t>
            </a:r>
            <a:r>
              <a:rPr sz="2400" spc="-70" dirty="0">
                <a:solidFill>
                  <a:srgbClr val="454C4C"/>
                </a:solidFill>
                <a:latin typeface="Arial MT"/>
                <a:cs typeface="Arial MT"/>
              </a:rPr>
              <a:t> </a:t>
            </a:r>
            <a:r>
              <a:rPr sz="2400" dirty="0">
                <a:solidFill>
                  <a:srgbClr val="454C4C"/>
                </a:solidFill>
                <a:latin typeface="Arial MT"/>
                <a:cs typeface="Arial MT"/>
              </a:rPr>
              <a:t>at</a:t>
            </a:r>
            <a:r>
              <a:rPr sz="2400" spc="-70" dirty="0">
                <a:solidFill>
                  <a:srgbClr val="454C4C"/>
                </a:solidFill>
                <a:latin typeface="Arial MT"/>
                <a:cs typeface="Arial MT"/>
              </a:rPr>
              <a:t> </a:t>
            </a:r>
            <a:r>
              <a:rPr sz="2400" spc="-10" dirty="0">
                <a:solidFill>
                  <a:srgbClr val="454C4C"/>
                </a:solidFill>
                <a:latin typeface="Arial MT"/>
                <a:cs typeface="Arial MT"/>
              </a:rPr>
              <a:t>start</a:t>
            </a:r>
            <a:endParaRPr sz="2400">
              <a:latin typeface="Arial MT"/>
              <a:cs typeface="Arial MT"/>
            </a:endParaRPr>
          </a:p>
        </p:txBody>
      </p:sp>
      <p:sp>
        <p:nvSpPr>
          <p:cNvPr id="4" name="object 4"/>
          <p:cNvSpPr/>
          <p:nvPr/>
        </p:nvSpPr>
        <p:spPr>
          <a:xfrm>
            <a:off x="6524282" y="2811966"/>
            <a:ext cx="1022985" cy="622935"/>
          </a:xfrm>
          <a:custGeom>
            <a:avLst/>
            <a:gdLst/>
            <a:ahLst/>
            <a:cxnLst/>
            <a:rect l="l" t="t" r="r" b="b"/>
            <a:pathLst>
              <a:path w="1022984" h="622935">
                <a:moveTo>
                  <a:pt x="422643" y="0"/>
                </a:moveTo>
                <a:lnTo>
                  <a:pt x="458662" y="2821"/>
                </a:lnTo>
                <a:lnTo>
                  <a:pt x="494007" y="10669"/>
                </a:lnTo>
                <a:lnTo>
                  <a:pt x="560514" y="41046"/>
                </a:lnTo>
                <a:lnTo>
                  <a:pt x="608261" y="79655"/>
                </a:lnTo>
                <a:lnTo>
                  <a:pt x="647636" y="128524"/>
                </a:lnTo>
                <a:lnTo>
                  <a:pt x="662651" y="121171"/>
                </a:lnTo>
                <a:lnTo>
                  <a:pt x="678373" y="115879"/>
                </a:lnTo>
                <a:lnTo>
                  <a:pt x="694567" y="112680"/>
                </a:lnTo>
                <a:lnTo>
                  <a:pt x="710996" y="111607"/>
                </a:lnTo>
                <a:lnTo>
                  <a:pt x="764762" y="123453"/>
                </a:lnTo>
                <a:lnTo>
                  <a:pt x="810490" y="157006"/>
                </a:lnTo>
                <a:lnTo>
                  <a:pt x="833043" y="189356"/>
                </a:lnTo>
                <a:lnTo>
                  <a:pt x="839876" y="204838"/>
                </a:lnTo>
                <a:lnTo>
                  <a:pt x="845642" y="204127"/>
                </a:lnTo>
                <a:lnTo>
                  <a:pt x="851395" y="203758"/>
                </a:lnTo>
                <a:lnTo>
                  <a:pt x="857161" y="203758"/>
                </a:lnTo>
                <a:lnTo>
                  <a:pt x="878644" y="205305"/>
                </a:lnTo>
                <a:lnTo>
                  <a:pt x="899726" y="209924"/>
                </a:lnTo>
                <a:lnTo>
                  <a:pt x="939596" y="228244"/>
                </a:lnTo>
                <a:lnTo>
                  <a:pt x="973883" y="257086"/>
                </a:lnTo>
                <a:lnTo>
                  <a:pt x="1000074" y="294843"/>
                </a:lnTo>
                <a:lnTo>
                  <a:pt x="1016638" y="338899"/>
                </a:lnTo>
                <a:lnTo>
                  <a:pt x="1022400" y="385927"/>
                </a:lnTo>
                <a:lnTo>
                  <a:pt x="1022400" y="386283"/>
                </a:lnTo>
                <a:lnTo>
                  <a:pt x="1020937" y="409978"/>
                </a:lnTo>
                <a:lnTo>
                  <a:pt x="1016638" y="433306"/>
                </a:lnTo>
                <a:lnTo>
                  <a:pt x="1000074" y="477367"/>
                </a:lnTo>
                <a:lnTo>
                  <a:pt x="973883" y="515115"/>
                </a:lnTo>
                <a:lnTo>
                  <a:pt x="939596" y="543966"/>
                </a:lnTo>
                <a:lnTo>
                  <a:pt x="899726" y="562275"/>
                </a:lnTo>
                <a:lnTo>
                  <a:pt x="857161" y="568439"/>
                </a:lnTo>
                <a:lnTo>
                  <a:pt x="840290" y="567494"/>
                </a:lnTo>
                <a:lnTo>
                  <a:pt x="823725" y="564659"/>
                </a:lnTo>
                <a:lnTo>
                  <a:pt x="807497" y="559936"/>
                </a:lnTo>
                <a:lnTo>
                  <a:pt x="791641" y="553326"/>
                </a:lnTo>
                <a:lnTo>
                  <a:pt x="757923" y="588662"/>
                </a:lnTo>
                <a:lnTo>
                  <a:pt x="705237" y="616142"/>
                </a:lnTo>
                <a:lnTo>
                  <a:pt x="662393" y="622439"/>
                </a:lnTo>
                <a:lnTo>
                  <a:pt x="640916" y="620692"/>
                </a:lnTo>
                <a:lnTo>
                  <a:pt x="619872" y="616008"/>
                </a:lnTo>
                <a:lnTo>
                  <a:pt x="580313" y="597966"/>
                </a:lnTo>
                <a:lnTo>
                  <a:pt x="551878" y="574916"/>
                </a:lnTo>
                <a:lnTo>
                  <a:pt x="521152" y="590366"/>
                </a:lnTo>
                <a:lnTo>
                  <a:pt x="489146" y="601562"/>
                </a:lnTo>
                <a:lnTo>
                  <a:pt x="456198" y="608436"/>
                </a:lnTo>
                <a:lnTo>
                  <a:pt x="422643" y="610920"/>
                </a:lnTo>
                <a:lnTo>
                  <a:pt x="386729" y="608109"/>
                </a:lnTo>
                <a:lnTo>
                  <a:pt x="351629" y="600302"/>
                </a:lnTo>
                <a:lnTo>
                  <a:pt x="317746" y="587633"/>
                </a:lnTo>
                <a:lnTo>
                  <a:pt x="285483" y="570242"/>
                </a:lnTo>
                <a:lnTo>
                  <a:pt x="285115" y="570598"/>
                </a:lnTo>
                <a:lnTo>
                  <a:pt x="284403" y="570966"/>
                </a:lnTo>
                <a:lnTo>
                  <a:pt x="284035" y="571322"/>
                </a:lnTo>
                <a:lnTo>
                  <a:pt x="261803" y="583246"/>
                </a:lnTo>
                <a:lnTo>
                  <a:pt x="238493" y="591932"/>
                </a:lnTo>
                <a:lnTo>
                  <a:pt x="214373" y="597245"/>
                </a:lnTo>
                <a:lnTo>
                  <a:pt x="189712" y="599046"/>
                </a:lnTo>
                <a:lnTo>
                  <a:pt x="164846" y="597296"/>
                </a:lnTo>
                <a:lnTo>
                  <a:pt x="140620" y="592070"/>
                </a:lnTo>
                <a:lnTo>
                  <a:pt x="95034" y="571322"/>
                </a:lnTo>
                <a:lnTo>
                  <a:pt x="55706" y="537976"/>
                </a:lnTo>
                <a:lnTo>
                  <a:pt x="25552" y="494639"/>
                </a:lnTo>
                <a:lnTo>
                  <a:pt x="6699" y="444015"/>
                </a:lnTo>
                <a:lnTo>
                  <a:pt x="0" y="389877"/>
                </a:lnTo>
                <a:lnTo>
                  <a:pt x="1663" y="362524"/>
                </a:lnTo>
                <a:lnTo>
                  <a:pt x="6565" y="335745"/>
                </a:lnTo>
                <a:lnTo>
                  <a:pt x="25552" y="285127"/>
                </a:lnTo>
                <a:lnTo>
                  <a:pt x="55706" y="241968"/>
                </a:lnTo>
                <a:lnTo>
                  <a:pt x="95034" y="208800"/>
                </a:lnTo>
                <a:lnTo>
                  <a:pt x="131305" y="190847"/>
                </a:lnTo>
                <a:lnTo>
                  <a:pt x="170281" y="181800"/>
                </a:lnTo>
                <a:lnTo>
                  <a:pt x="203659" y="119511"/>
                </a:lnTo>
                <a:lnTo>
                  <a:pt x="227428" y="89552"/>
                </a:lnTo>
                <a:lnTo>
                  <a:pt x="284759" y="41046"/>
                </a:lnTo>
                <a:lnTo>
                  <a:pt x="351134" y="10669"/>
                </a:lnTo>
                <a:lnTo>
                  <a:pt x="422643" y="0"/>
                </a:lnTo>
                <a:close/>
              </a:path>
            </a:pathLst>
          </a:custGeom>
          <a:ln w="26984">
            <a:solidFill>
              <a:srgbClr val="CCCCCC"/>
            </a:solidFill>
          </a:ln>
        </p:spPr>
        <p:txBody>
          <a:bodyPr wrap="square" lIns="0" tIns="0" rIns="0" bIns="0" rtlCol="0"/>
          <a:lstStyle/>
          <a:p>
            <a:endParaRPr/>
          </a:p>
        </p:txBody>
      </p:sp>
      <p:grpSp>
        <p:nvGrpSpPr>
          <p:cNvPr id="5" name="object 5"/>
          <p:cNvGrpSpPr/>
          <p:nvPr/>
        </p:nvGrpSpPr>
        <p:grpSpPr>
          <a:xfrm>
            <a:off x="5906515" y="3039131"/>
            <a:ext cx="405130" cy="168275"/>
            <a:chOff x="5906515" y="3039131"/>
            <a:chExt cx="405130" cy="168275"/>
          </a:xfrm>
        </p:grpSpPr>
        <p:sp>
          <p:nvSpPr>
            <p:cNvPr id="6" name="object 6"/>
            <p:cNvSpPr/>
            <p:nvPr/>
          </p:nvSpPr>
          <p:spPr>
            <a:xfrm>
              <a:off x="5906515" y="3123015"/>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7" name="object 7"/>
            <p:cNvSpPr/>
            <p:nvPr/>
          </p:nvSpPr>
          <p:spPr>
            <a:xfrm>
              <a:off x="6123965" y="3039131"/>
              <a:ext cx="187960" cy="168275"/>
            </a:xfrm>
            <a:custGeom>
              <a:avLst/>
              <a:gdLst/>
              <a:ahLst/>
              <a:cxnLst/>
              <a:rect l="l" t="t" r="r" b="b"/>
              <a:pathLst>
                <a:path w="187960" h="168275">
                  <a:moveTo>
                    <a:pt x="11150" y="0"/>
                  </a:moveTo>
                  <a:lnTo>
                    <a:pt x="9715" y="0"/>
                  </a:lnTo>
                  <a:lnTo>
                    <a:pt x="6476" y="711"/>
                  </a:lnTo>
                  <a:lnTo>
                    <a:pt x="2870" y="2514"/>
                  </a:lnTo>
                  <a:lnTo>
                    <a:pt x="711" y="5397"/>
                  </a:lnTo>
                  <a:lnTo>
                    <a:pt x="0" y="8991"/>
                  </a:lnTo>
                  <a:lnTo>
                    <a:pt x="0" y="158762"/>
                  </a:lnTo>
                  <a:lnTo>
                    <a:pt x="711" y="162356"/>
                  </a:lnTo>
                  <a:lnTo>
                    <a:pt x="2870" y="165963"/>
                  </a:lnTo>
                  <a:lnTo>
                    <a:pt x="6476" y="167398"/>
                  </a:lnTo>
                  <a:lnTo>
                    <a:pt x="9715" y="168122"/>
                  </a:lnTo>
                  <a:lnTo>
                    <a:pt x="11150" y="168122"/>
                  </a:lnTo>
                  <a:lnTo>
                    <a:pt x="13309" y="167398"/>
                  </a:lnTo>
                  <a:lnTo>
                    <a:pt x="180708" y="92875"/>
                  </a:lnTo>
                  <a:lnTo>
                    <a:pt x="185394" y="89281"/>
                  </a:lnTo>
                  <a:lnTo>
                    <a:pt x="187553" y="84239"/>
                  </a:lnTo>
                  <a:lnTo>
                    <a:pt x="185394" y="78473"/>
                  </a:lnTo>
                  <a:lnTo>
                    <a:pt x="181076" y="75234"/>
                  </a:lnTo>
                  <a:lnTo>
                    <a:pt x="13309" y="711"/>
                  </a:lnTo>
                  <a:lnTo>
                    <a:pt x="11150" y="0"/>
                  </a:lnTo>
                  <a:close/>
                </a:path>
              </a:pathLst>
            </a:custGeom>
            <a:solidFill>
              <a:srgbClr val="454C4C"/>
            </a:solidFill>
          </p:spPr>
          <p:txBody>
            <a:bodyPr wrap="square" lIns="0" tIns="0" rIns="0" bIns="0" rtlCol="0"/>
            <a:lstStyle/>
            <a:p>
              <a:endParaRPr/>
            </a:p>
          </p:txBody>
        </p:sp>
      </p:grpSp>
      <p:grpSp>
        <p:nvGrpSpPr>
          <p:cNvPr id="8" name="object 8"/>
          <p:cNvGrpSpPr/>
          <p:nvPr/>
        </p:nvGrpSpPr>
        <p:grpSpPr>
          <a:xfrm>
            <a:off x="7758721" y="3039131"/>
            <a:ext cx="405130" cy="168275"/>
            <a:chOff x="7758721" y="3039131"/>
            <a:chExt cx="405130" cy="168275"/>
          </a:xfrm>
        </p:grpSpPr>
        <p:sp>
          <p:nvSpPr>
            <p:cNvPr id="9" name="object 9"/>
            <p:cNvSpPr/>
            <p:nvPr/>
          </p:nvSpPr>
          <p:spPr>
            <a:xfrm>
              <a:off x="7758721" y="3123015"/>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10" name="object 10"/>
            <p:cNvSpPr/>
            <p:nvPr/>
          </p:nvSpPr>
          <p:spPr>
            <a:xfrm>
              <a:off x="7976158" y="3039131"/>
              <a:ext cx="187960" cy="168275"/>
            </a:xfrm>
            <a:custGeom>
              <a:avLst/>
              <a:gdLst/>
              <a:ahLst/>
              <a:cxnLst/>
              <a:rect l="l" t="t" r="r" b="b"/>
              <a:pathLst>
                <a:path w="187959" h="168275">
                  <a:moveTo>
                    <a:pt x="11163" y="0"/>
                  </a:moveTo>
                  <a:lnTo>
                    <a:pt x="9715" y="0"/>
                  </a:lnTo>
                  <a:lnTo>
                    <a:pt x="6476" y="711"/>
                  </a:lnTo>
                  <a:lnTo>
                    <a:pt x="2882" y="2514"/>
                  </a:lnTo>
                  <a:lnTo>
                    <a:pt x="723" y="5397"/>
                  </a:lnTo>
                  <a:lnTo>
                    <a:pt x="0" y="8991"/>
                  </a:lnTo>
                  <a:lnTo>
                    <a:pt x="0" y="158762"/>
                  </a:lnTo>
                  <a:lnTo>
                    <a:pt x="723" y="162356"/>
                  </a:lnTo>
                  <a:lnTo>
                    <a:pt x="2882" y="165963"/>
                  </a:lnTo>
                  <a:lnTo>
                    <a:pt x="6476" y="167398"/>
                  </a:lnTo>
                  <a:lnTo>
                    <a:pt x="9715" y="168122"/>
                  </a:lnTo>
                  <a:lnTo>
                    <a:pt x="11163" y="168122"/>
                  </a:lnTo>
                  <a:lnTo>
                    <a:pt x="13322" y="167398"/>
                  </a:lnTo>
                  <a:lnTo>
                    <a:pt x="180721" y="92875"/>
                  </a:lnTo>
                  <a:lnTo>
                    <a:pt x="185407" y="89281"/>
                  </a:lnTo>
                  <a:lnTo>
                    <a:pt x="187566" y="84239"/>
                  </a:lnTo>
                  <a:lnTo>
                    <a:pt x="185407" y="78473"/>
                  </a:lnTo>
                  <a:lnTo>
                    <a:pt x="181076" y="75234"/>
                  </a:lnTo>
                  <a:lnTo>
                    <a:pt x="13322" y="711"/>
                  </a:lnTo>
                  <a:lnTo>
                    <a:pt x="11163" y="0"/>
                  </a:lnTo>
                  <a:close/>
                </a:path>
              </a:pathLst>
            </a:custGeom>
            <a:solidFill>
              <a:srgbClr val="454C4C"/>
            </a:solidFill>
          </p:spPr>
          <p:txBody>
            <a:bodyPr wrap="square" lIns="0" tIns="0" rIns="0" bIns="0" rtlCol="0"/>
            <a:lstStyle/>
            <a:p>
              <a:endParaRPr/>
            </a:p>
          </p:txBody>
        </p:sp>
      </p:grpSp>
      <p:grpSp>
        <p:nvGrpSpPr>
          <p:cNvPr id="11" name="object 11"/>
          <p:cNvGrpSpPr/>
          <p:nvPr/>
        </p:nvGrpSpPr>
        <p:grpSpPr>
          <a:xfrm>
            <a:off x="8428807" y="2854784"/>
            <a:ext cx="411480" cy="536575"/>
            <a:chOff x="8428807" y="2854784"/>
            <a:chExt cx="411480" cy="536575"/>
          </a:xfrm>
        </p:grpSpPr>
        <p:sp>
          <p:nvSpPr>
            <p:cNvPr id="12" name="object 12"/>
            <p:cNvSpPr/>
            <p:nvPr/>
          </p:nvSpPr>
          <p:spPr>
            <a:xfrm>
              <a:off x="8438756" y="3174132"/>
              <a:ext cx="391160" cy="208279"/>
            </a:xfrm>
            <a:custGeom>
              <a:avLst/>
              <a:gdLst/>
              <a:ahLst/>
              <a:cxnLst/>
              <a:rect l="l" t="t" r="r" b="b"/>
              <a:pathLst>
                <a:path w="391159" h="208279">
                  <a:moveTo>
                    <a:pt x="390969" y="110871"/>
                  </a:moveTo>
                  <a:lnTo>
                    <a:pt x="360265" y="166083"/>
                  </a:lnTo>
                  <a:lnTo>
                    <a:pt x="320592" y="187080"/>
                  </a:lnTo>
                  <a:lnTo>
                    <a:pt x="268736" y="201596"/>
                  </a:lnTo>
                  <a:lnTo>
                    <a:pt x="207721" y="208076"/>
                  </a:lnTo>
                  <a:lnTo>
                    <a:pt x="145305" y="205074"/>
                  </a:lnTo>
                  <a:lnTo>
                    <a:pt x="89942" y="193552"/>
                  </a:lnTo>
                  <a:lnTo>
                    <a:pt x="45050" y="174927"/>
                  </a:lnTo>
                  <a:lnTo>
                    <a:pt x="14052" y="150615"/>
                  </a:lnTo>
                  <a:lnTo>
                    <a:pt x="0" y="118795"/>
                  </a:lnTo>
                  <a:lnTo>
                    <a:pt x="0" y="115557"/>
                  </a:lnTo>
                  <a:lnTo>
                    <a:pt x="368" y="112318"/>
                  </a:lnTo>
                </a:path>
                <a:path w="391159" h="208279">
                  <a:moveTo>
                    <a:pt x="390969" y="0"/>
                  </a:moveTo>
                  <a:lnTo>
                    <a:pt x="360265" y="55208"/>
                  </a:lnTo>
                  <a:lnTo>
                    <a:pt x="320592" y="76201"/>
                  </a:lnTo>
                  <a:lnTo>
                    <a:pt x="268736" y="90714"/>
                  </a:lnTo>
                  <a:lnTo>
                    <a:pt x="207721" y="97193"/>
                  </a:lnTo>
                  <a:lnTo>
                    <a:pt x="145305" y="94190"/>
                  </a:lnTo>
                  <a:lnTo>
                    <a:pt x="89942" y="82668"/>
                  </a:lnTo>
                  <a:lnTo>
                    <a:pt x="45050" y="64043"/>
                  </a:lnTo>
                  <a:lnTo>
                    <a:pt x="14052" y="39731"/>
                  </a:lnTo>
                  <a:lnTo>
                    <a:pt x="0" y="7912"/>
                  </a:lnTo>
                  <a:lnTo>
                    <a:pt x="0" y="4673"/>
                  </a:lnTo>
                  <a:lnTo>
                    <a:pt x="368" y="1435"/>
                  </a:lnTo>
                </a:path>
              </a:pathLst>
            </a:custGeom>
            <a:ln w="17959">
              <a:solidFill>
                <a:srgbClr val="454C4C"/>
              </a:solidFill>
            </a:ln>
          </p:spPr>
          <p:txBody>
            <a:bodyPr wrap="square" lIns="0" tIns="0" rIns="0" bIns="0" rtlCol="0"/>
            <a:lstStyle/>
            <a:p>
              <a:endParaRPr/>
            </a:p>
          </p:txBody>
        </p:sp>
        <p:sp>
          <p:nvSpPr>
            <p:cNvPr id="13" name="object 13"/>
            <p:cNvSpPr/>
            <p:nvPr/>
          </p:nvSpPr>
          <p:spPr>
            <a:xfrm>
              <a:off x="8439124" y="2863807"/>
              <a:ext cx="389890" cy="181610"/>
            </a:xfrm>
            <a:custGeom>
              <a:avLst/>
              <a:gdLst/>
              <a:ahLst/>
              <a:cxnLst/>
              <a:rect l="l" t="t" r="r" b="b"/>
              <a:pathLst>
                <a:path w="389890" h="181610">
                  <a:moveTo>
                    <a:pt x="389877" y="90360"/>
                  </a:moveTo>
                  <a:lnTo>
                    <a:pt x="352321" y="143908"/>
                  </a:lnTo>
                  <a:lnTo>
                    <a:pt x="310170" y="163555"/>
                  </a:lnTo>
                  <a:lnTo>
                    <a:pt x="256701" y="176445"/>
                  </a:lnTo>
                  <a:lnTo>
                    <a:pt x="195110" y="181076"/>
                  </a:lnTo>
                  <a:lnTo>
                    <a:pt x="133346" y="176445"/>
                  </a:lnTo>
                  <a:lnTo>
                    <a:pt x="79774" y="163555"/>
                  </a:lnTo>
                  <a:lnTo>
                    <a:pt x="37574" y="143908"/>
                  </a:lnTo>
                  <a:lnTo>
                    <a:pt x="9923" y="119009"/>
                  </a:lnTo>
                  <a:lnTo>
                    <a:pt x="0" y="90360"/>
                  </a:lnTo>
                  <a:lnTo>
                    <a:pt x="9923" y="61748"/>
                  </a:lnTo>
                  <a:lnTo>
                    <a:pt x="37574" y="36937"/>
                  </a:lnTo>
                  <a:lnTo>
                    <a:pt x="79774" y="17395"/>
                  </a:lnTo>
                  <a:lnTo>
                    <a:pt x="133346" y="4593"/>
                  </a:lnTo>
                  <a:lnTo>
                    <a:pt x="195110" y="0"/>
                  </a:lnTo>
                  <a:lnTo>
                    <a:pt x="256701" y="4593"/>
                  </a:lnTo>
                  <a:lnTo>
                    <a:pt x="310170" y="17395"/>
                  </a:lnTo>
                  <a:lnTo>
                    <a:pt x="352321" y="36937"/>
                  </a:lnTo>
                  <a:lnTo>
                    <a:pt x="379955" y="61748"/>
                  </a:lnTo>
                  <a:lnTo>
                    <a:pt x="389877" y="90360"/>
                  </a:lnTo>
                  <a:close/>
                </a:path>
              </a:pathLst>
            </a:custGeom>
            <a:ln w="18046">
              <a:solidFill>
                <a:srgbClr val="454C4C"/>
              </a:solidFill>
            </a:ln>
          </p:spPr>
          <p:txBody>
            <a:bodyPr wrap="square" lIns="0" tIns="0" rIns="0" bIns="0" rtlCol="0"/>
            <a:lstStyle/>
            <a:p>
              <a:endParaRPr/>
            </a:p>
          </p:txBody>
        </p:sp>
        <p:sp>
          <p:nvSpPr>
            <p:cNvPr id="14" name="object 14"/>
            <p:cNvSpPr/>
            <p:nvPr/>
          </p:nvSpPr>
          <p:spPr>
            <a:xfrm>
              <a:off x="8438756" y="2958854"/>
              <a:ext cx="635" cy="333375"/>
            </a:xfrm>
            <a:custGeom>
              <a:avLst/>
              <a:gdLst/>
              <a:ahLst/>
              <a:cxnLst/>
              <a:rect l="l" t="t" r="r" b="b"/>
              <a:pathLst>
                <a:path w="634" h="333375">
                  <a:moveTo>
                    <a:pt x="368" y="333349"/>
                  </a:moveTo>
                  <a:lnTo>
                    <a:pt x="0" y="0"/>
                  </a:lnTo>
                </a:path>
              </a:pathLst>
            </a:custGeom>
            <a:ln w="19896">
              <a:solidFill>
                <a:srgbClr val="454C4C"/>
              </a:solidFill>
            </a:ln>
          </p:spPr>
          <p:txBody>
            <a:bodyPr wrap="square" lIns="0" tIns="0" rIns="0" bIns="0" rtlCol="0"/>
            <a:lstStyle/>
            <a:p>
              <a:endParaRPr/>
            </a:p>
          </p:txBody>
        </p:sp>
        <p:sp>
          <p:nvSpPr>
            <p:cNvPr id="15" name="object 15"/>
            <p:cNvSpPr/>
            <p:nvPr/>
          </p:nvSpPr>
          <p:spPr>
            <a:xfrm>
              <a:off x="8438756" y="3066842"/>
              <a:ext cx="391160" cy="97790"/>
            </a:xfrm>
            <a:custGeom>
              <a:avLst/>
              <a:gdLst/>
              <a:ahLst/>
              <a:cxnLst/>
              <a:rect l="l" t="t" r="r" b="b"/>
              <a:pathLst>
                <a:path w="391159" h="97789">
                  <a:moveTo>
                    <a:pt x="390969" y="0"/>
                  </a:moveTo>
                  <a:lnTo>
                    <a:pt x="360265" y="55315"/>
                  </a:lnTo>
                  <a:lnTo>
                    <a:pt x="320592" y="76363"/>
                  </a:lnTo>
                  <a:lnTo>
                    <a:pt x="268736" y="90862"/>
                  </a:lnTo>
                  <a:lnTo>
                    <a:pt x="207721" y="97205"/>
                  </a:lnTo>
                  <a:lnTo>
                    <a:pt x="145305" y="94374"/>
                  </a:lnTo>
                  <a:lnTo>
                    <a:pt x="89942" y="82937"/>
                  </a:lnTo>
                  <a:lnTo>
                    <a:pt x="45050" y="64312"/>
                  </a:lnTo>
                  <a:lnTo>
                    <a:pt x="14052" y="39915"/>
                  </a:lnTo>
                  <a:lnTo>
                    <a:pt x="0" y="7924"/>
                  </a:lnTo>
                  <a:lnTo>
                    <a:pt x="0" y="4686"/>
                  </a:lnTo>
                  <a:lnTo>
                    <a:pt x="368" y="1447"/>
                  </a:lnTo>
                </a:path>
              </a:pathLst>
            </a:custGeom>
            <a:ln w="17959">
              <a:solidFill>
                <a:srgbClr val="454C4C"/>
              </a:solidFill>
            </a:ln>
          </p:spPr>
          <p:txBody>
            <a:bodyPr wrap="square" lIns="0" tIns="0" rIns="0" bIns="0" rtlCol="0"/>
            <a:lstStyle/>
            <a:p>
              <a:endParaRPr/>
            </a:p>
          </p:txBody>
        </p:sp>
        <p:sp>
          <p:nvSpPr>
            <p:cNvPr id="16" name="object 16"/>
            <p:cNvSpPr/>
            <p:nvPr/>
          </p:nvSpPr>
          <p:spPr>
            <a:xfrm>
              <a:off x="8829725" y="2958854"/>
              <a:ext cx="635" cy="333375"/>
            </a:xfrm>
            <a:custGeom>
              <a:avLst/>
              <a:gdLst/>
              <a:ahLst/>
              <a:cxnLst/>
              <a:rect l="l" t="t" r="r" b="b"/>
              <a:pathLst>
                <a:path w="634" h="333375">
                  <a:moveTo>
                    <a:pt x="355" y="333349"/>
                  </a:moveTo>
                  <a:lnTo>
                    <a:pt x="0" y="0"/>
                  </a:lnTo>
                </a:path>
              </a:pathLst>
            </a:custGeom>
            <a:ln w="19896">
              <a:solidFill>
                <a:srgbClr val="454C4C"/>
              </a:solidFill>
            </a:ln>
          </p:spPr>
          <p:txBody>
            <a:bodyPr wrap="square" lIns="0" tIns="0" rIns="0" bIns="0" rtlCol="0"/>
            <a:lstStyle/>
            <a:p>
              <a:endParaRPr/>
            </a:p>
          </p:txBody>
        </p:sp>
      </p:grpSp>
      <p:sp>
        <p:nvSpPr>
          <p:cNvPr id="17" name="object 17"/>
          <p:cNvSpPr txBox="1"/>
          <p:nvPr/>
        </p:nvSpPr>
        <p:spPr>
          <a:xfrm>
            <a:off x="6685102" y="3062435"/>
            <a:ext cx="2531745" cy="69469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Network</a:t>
            </a:r>
            <a:endParaRPr sz="1400">
              <a:latin typeface="Arial MT"/>
              <a:cs typeface="Arial MT"/>
            </a:endParaRPr>
          </a:p>
          <a:p>
            <a:pPr>
              <a:lnSpc>
                <a:spcPct val="100000"/>
              </a:lnSpc>
              <a:spcBef>
                <a:spcPts val="295"/>
              </a:spcBef>
            </a:pPr>
            <a:endParaRPr sz="1400">
              <a:latin typeface="Arial MT"/>
              <a:cs typeface="Arial MT"/>
            </a:endParaRPr>
          </a:p>
          <a:p>
            <a:pPr marL="1377950">
              <a:lnSpc>
                <a:spcPct val="100000"/>
              </a:lnSpc>
              <a:spcBef>
                <a:spcPts val="5"/>
              </a:spcBef>
            </a:pPr>
            <a:r>
              <a:rPr sz="1400" spc="-10" dirty="0">
                <a:solidFill>
                  <a:srgbClr val="454C4C"/>
                </a:solidFill>
                <a:latin typeface="Arial MT"/>
                <a:cs typeface="Arial MT"/>
              </a:rPr>
              <a:t>Backup</a:t>
            </a:r>
            <a:r>
              <a:rPr sz="1400" spc="-55" dirty="0">
                <a:solidFill>
                  <a:srgbClr val="454C4C"/>
                </a:solidFill>
                <a:latin typeface="Arial MT"/>
                <a:cs typeface="Arial MT"/>
              </a:rPr>
              <a:t> </a:t>
            </a:r>
            <a:r>
              <a:rPr sz="1400" spc="-10" dirty="0">
                <a:solidFill>
                  <a:srgbClr val="454C4C"/>
                </a:solidFill>
                <a:latin typeface="Arial MT"/>
                <a:cs typeface="Arial MT"/>
              </a:rPr>
              <a:t>Target</a:t>
            </a:r>
            <a:endParaRPr sz="1400">
              <a:latin typeface="Arial MT"/>
              <a:cs typeface="Arial MT"/>
            </a:endParaRPr>
          </a:p>
        </p:txBody>
      </p:sp>
      <p:grpSp>
        <p:nvGrpSpPr>
          <p:cNvPr id="18" name="object 18"/>
          <p:cNvGrpSpPr/>
          <p:nvPr/>
        </p:nvGrpSpPr>
        <p:grpSpPr>
          <a:xfrm>
            <a:off x="525233" y="2871008"/>
            <a:ext cx="5182870" cy="504190"/>
            <a:chOff x="525233" y="2871008"/>
            <a:chExt cx="5182870" cy="504190"/>
          </a:xfrm>
        </p:grpSpPr>
        <p:sp>
          <p:nvSpPr>
            <p:cNvPr id="19" name="object 19"/>
            <p:cNvSpPr/>
            <p:nvPr/>
          </p:nvSpPr>
          <p:spPr>
            <a:xfrm>
              <a:off x="1045083" y="2871008"/>
              <a:ext cx="3623310" cy="504190"/>
            </a:xfrm>
            <a:custGeom>
              <a:avLst/>
              <a:gdLst/>
              <a:ahLst/>
              <a:cxnLst/>
              <a:rect l="l" t="t" r="r" b="b"/>
              <a:pathLst>
                <a:path w="3623310" h="504189">
                  <a:moveTo>
                    <a:pt x="503999" y="0"/>
                  </a:moveTo>
                  <a:lnTo>
                    <a:pt x="0" y="0"/>
                  </a:lnTo>
                  <a:lnTo>
                    <a:pt x="0" y="503999"/>
                  </a:lnTo>
                  <a:lnTo>
                    <a:pt x="251993" y="503999"/>
                  </a:lnTo>
                  <a:lnTo>
                    <a:pt x="503999" y="503999"/>
                  </a:lnTo>
                  <a:lnTo>
                    <a:pt x="503999" y="0"/>
                  </a:lnTo>
                  <a:close/>
                </a:path>
                <a:path w="3623310" h="504189">
                  <a:moveTo>
                    <a:pt x="2063521" y="0"/>
                  </a:moveTo>
                  <a:lnTo>
                    <a:pt x="1559521" y="0"/>
                  </a:lnTo>
                  <a:lnTo>
                    <a:pt x="1559521" y="503999"/>
                  </a:lnTo>
                  <a:lnTo>
                    <a:pt x="1811515" y="503999"/>
                  </a:lnTo>
                  <a:lnTo>
                    <a:pt x="2063521" y="503999"/>
                  </a:lnTo>
                  <a:lnTo>
                    <a:pt x="2063521" y="0"/>
                  </a:lnTo>
                  <a:close/>
                </a:path>
                <a:path w="3623310" h="504189">
                  <a:moveTo>
                    <a:pt x="3103194" y="0"/>
                  </a:moveTo>
                  <a:lnTo>
                    <a:pt x="2599194" y="0"/>
                  </a:lnTo>
                  <a:lnTo>
                    <a:pt x="2599194" y="503999"/>
                  </a:lnTo>
                  <a:lnTo>
                    <a:pt x="2851200" y="503999"/>
                  </a:lnTo>
                  <a:lnTo>
                    <a:pt x="3103194" y="503999"/>
                  </a:lnTo>
                  <a:lnTo>
                    <a:pt x="3103194" y="0"/>
                  </a:lnTo>
                  <a:close/>
                </a:path>
                <a:path w="3623310" h="504189">
                  <a:moveTo>
                    <a:pt x="3623043" y="0"/>
                  </a:moveTo>
                  <a:lnTo>
                    <a:pt x="3119031" y="0"/>
                  </a:lnTo>
                  <a:lnTo>
                    <a:pt x="3119031" y="503999"/>
                  </a:lnTo>
                  <a:lnTo>
                    <a:pt x="3371037" y="503999"/>
                  </a:lnTo>
                  <a:lnTo>
                    <a:pt x="3623043" y="503999"/>
                  </a:lnTo>
                  <a:lnTo>
                    <a:pt x="3623043" y="0"/>
                  </a:lnTo>
                  <a:close/>
                </a:path>
              </a:pathLst>
            </a:custGeom>
            <a:solidFill>
              <a:srgbClr val="DAD6D4"/>
            </a:solidFill>
          </p:spPr>
          <p:txBody>
            <a:bodyPr wrap="square" lIns="0" tIns="0" rIns="0" bIns="0" rtlCol="0"/>
            <a:lstStyle/>
            <a:p>
              <a:endParaRPr/>
            </a:p>
          </p:txBody>
        </p:sp>
        <p:sp>
          <p:nvSpPr>
            <p:cNvPr id="20" name="object 20"/>
            <p:cNvSpPr/>
            <p:nvPr/>
          </p:nvSpPr>
          <p:spPr>
            <a:xfrm>
              <a:off x="525233" y="2871008"/>
              <a:ext cx="504190" cy="504190"/>
            </a:xfrm>
            <a:custGeom>
              <a:avLst/>
              <a:gdLst/>
              <a:ahLst/>
              <a:cxnLst/>
              <a:rect l="l" t="t" r="r" b="b"/>
              <a:pathLst>
                <a:path w="504190" h="504189">
                  <a:moveTo>
                    <a:pt x="504012" y="0"/>
                  </a:moveTo>
                  <a:lnTo>
                    <a:pt x="0" y="0"/>
                  </a:lnTo>
                  <a:lnTo>
                    <a:pt x="0" y="503999"/>
                  </a:lnTo>
                  <a:lnTo>
                    <a:pt x="252006" y="503999"/>
                  </a:lnTo>
                  <a:lnTo>
                    <a:pt x="504012" y="503999"/>
                  </a:lnTo>
                  <a:lnTo>
                    <a:pt x="504012" y="0"/>
                  </a:lnTo>
                  <a:close/>
                </a:path>
              </a:pathLst>
            </a:custGeom>
            <a:solidFill>
              <a:srgbClr val="FF9000"/>
            </a:solidFill>
          </p:spPr>
          <p:txBody>
            <a:bodyPr wrap="square" lIns="0" tIns="0" rIns="0" bIns="0" rtlCol="0"/>
            <a:lstStyle/>
            <a:p>
              <a:endParaRPr/>
            </a:p>
          </p:txBody>
        </p:sp>
        <p:sp>
          <p:nvSpPr>
            <p:cNvPr id="21" name="object 21"/>
            <p:cNvSpPr/>
            <p:nvPr/>
          </p:nvSpPr>
          <p:spPr>
            <a:xfrm>
              <a:off x="1564919" y="2871008"/>
              <a:ext cx="4143375" cy="504190"/>
            </a:xfrm>
            <a:custGeom>
              <a:avLst/>
              <a:gdLst/>
              <a:ahLst/>
              <a:cxnLst/>
              <a:rect l="l" t="t" r="r" b="b"/>
              <a:pathLst>
                <a:path w="4143375" h="504189">
                  <a:moveTo>
                    <a:pt x="503999" y="0"/>
                  </a:moveTo>
                  <a:lnTo>
                    <a:pt x="0" y="0"/>
                  </a:lnTo>
                  <a:lnTo>
                    <a:pt x="0" y="503999"/>
                  </a:lnTo>
                  <a:lnTo>
                    <a:pt x="252006" y="503999"/>
                  </a:lnTo>
                  <a:lnTo>
                    <a:pt x="503999" y="503999"/>
                  </a:lnTo>
                  <a:lnTo>
                    <a:pt x="503999" y="0"/>
                  </a:lnTo>
                  <a:close/>
                </a:path>
                <a:path w="4143375" h="504189">
                  <a:moveTo>
                    <a:pt x="1023835" y="0"/>
                  </a:moveTo>
                  <a:lnTo>
                    <a:pt x="519836" y="0"/>
                  </a:lnTo>
                  <a:lnTo>
                    <a:pt x="519836" y="503999"/>
                  </a:lnTo>
                  <a:lnTo>
                    <a:pt x="771842" y="503999"/>
                  </a:lnTo>
                  <a:lnTo>
                    <a:pt x="1023835" y="503999"/>
                  </a:lnTo>
                  <a:lnTo>
                    <a:pt x="1023835" y="0"/>
                  </a:lnTo>
                  <a:close/>
                </a:path>
                <a:path w="4143375" h="504189">
                  <a:moveTo>
                    <a:pt x="2063521" y="0"/>
                  </a:moveTo>
                  <a:lnTo>
                    <a:pt x="1559521" y="0"/>
                  </a:lnTo>
                  <a:lnTo>
                    <a:pt x="1559521" y="503999"/>
                  </a:lnTo>
                  <a:lnTo>
                    <a:pt x="1811515" y="503999"/>
                  </a:lnTo>
                  <a:lnTo>
                    <a:pt x="2063521" y="503999"/>
                  </a:lnTo>
                  <a:lnTo>
                    <a:pt x="2063521" y="0"/>
                  </a:lnTo>
                  <a:close/>
                </a:path>
                <a:path w="4143375" h="504189">
                  <a:moveTo>
                    <a:pt x="3623043" y="0"/>
                  </a:moveTo>
                  <a:lnTo>
                    <a:pt x="3119043" y="0"/>
                  </a:lnTo>
                  <a:lnTo>
                    <a:pt x="3119043" y="503999"/>
                  </a:lnTo>
                  <a:lnTo>
                    <a:pt x="3371037" y="503999"/>
                  </a:lnTo>
                  <a:lnTo>
                    <a:pt x="3623043" y="503999"/>
                  </a:lnTo>
                  <a:lnTo>
                    <a:pt x="3623043" y="0"/>
                  </a:lnTo>
                  <a:close/>
                </a:path>
                <a:path w="4143375" h="504189">
                  <a:moveTo>
                    <a:pt x="4142879" y="0"/>
                  </a:moveTo>
                  <a:lnTo>
                    <a:pt x="3638880" y="0"/>
                  </a:lnTo>
                  <a:lnTo>
                    <a:pt x="3638880" y="503999"/>
                  </a:lnTo>
                  <a:lnTo>
                    <a:pt x="3890886" y="503999"/>
                  </a:lnTo>
                  <a:lnTo>
                    <a:pt x="4142879" y="503999"/>
                  </a:lnTo>
                  <a:lnTo>
                    <a:pt x="4142879" y="0"/>
                  </a:lnTo>
                  <a:close/>
                </a:path>
              </a:pathLst>
            </a:custGeom>
            <a:solidFill>
              <a:srgbClr val="DAD6D4"/>
            </a:solidFill>
          </p:spPr>
          <p:txBody>
            <a:bodyPr wrap="square" lIns="0" tIns="0" rIns="0" bIns="0" rtlCol="0"/>
            <a:lstStyle/>
            <a:p>
              <a:endParaRPr/>
            </a:p>
          </p:txBody>
        </p:sp>
        <p:sp>
          <p:nvSpPr>
            <p:cNvPr id="22" name="object 22"/>
            <p:cNvSpPr/>
            <p:nvPr/>
          </p:nvSpPr>
          <p:spPr>
            <a:xfrm>
              <a:off x="669239" y="2942649"/>
              <a:ext cx="215900" cy="324485"/>
            </a:xfrm>
            <a:custGeom>
              <a:avLst/>
              <a:gdLst/>
              <a:ahLst/>
              <a:cxnLst/>
              <a:rect l="l" t="t" r="r" b="b"/>
              <a:pathLst>
                <a:path w="215900" h="324485">
                  <a:moveTo>
                    <a:pt x="144005" y="0"/>
                  </a:moveTo>
                  <a:lnTo>
                    <a:pt x="144005" y="36360"/>
                  </a:lnTo>
                  <a:lnTo>
                    <a:pt x="136804" y="36360"/>
                  </a:lnTo>
                  <a:lnTo>
                    <a:pt x="122402" y="37795"/>
                  </a:lnTo>
                  <a:lnTo>
                    <a:pt x="81356" y="50761"/>
                  </a:lnTo>
                  <a:lnTo>
                    <a:pt x="46075" y="74879"/>
                  </a:lnTo>
                  <a:lnTo>
                    <a:pt x="19443" y="108356"/>
                  </a:lnTo>
                  <a:lnTo>
                    <a:pt x="3606" y="148323"/>
                  </a:lnTo>
                  <a:lnTo>
                    <a:pt x="0" y="176758"/>
                  </a:lnTo>
                  <a:lnTo>
                    <a:pt x="0" y="183959"/>
                  </a:lnTo>
                  <a:lnTo>
                    <a:pt x="7556" y="226085"/>
                  </a:lnTo>
                  <a:lnTo>
                    <a:pt x="27000" y="264236"/>
                  </a:lnTo>
                  <a:lnTo>
                    <a:pt x="56883" y="295198"/>
                  </a:lnTo>
                  <a:lnTo>
                    <a:pt x="94678" y="315722"/>
                  </a:lnTo>
                  <a:lnTo>
                    <a:pt x="136804" y="324358"/>
                  </a:lnTo>
                  <a:lnTo>
                    <a:pt x="144005" y="324358"/>
                  </a:lnTo>
                  <a:lnTo>
                    <a:pt x="144005" y="253796"/>
                  </a:lnTo>
                  <a:lnTo>
                    <a:pt x="140398" y="253796"/>
                  </a:lnTo>
                  <a:lnTo>
                    <a:pt x="133197" y="253072"/>
                  </a:lnTo>
                  <a:lnTo>
                    <a:pt x="96837" y="236524"/>
                  </a:lnTo>
                  <a:lnTo>
                    <a:pt x="93954" y="234353"/>
                  </a:lnTo>
                  <a:lnTo>
                    <a:pt x="88925" y="228955"/>
                  </a:lnTo>
                  <a:lnTo>
                    <a:pt x="86766" y="226085"/>
                  </a:lnTo>
                  <a:lnTo>
                    <a:pt x="84239" y="223202"/>
                  </a:lnTo>
                  <a:lnTo>
                    <a:pt x="70561" y="182156"/>
                  </a:lnTo>
                  <a:lnTo>
                    <a:pt x="70561" y="178562"/>
                  </a:lnTo>
                  <a:lnTo>
                    <a:pt x="84239" y="137515"/>
                  </a:lnTo>
                  <a:lnTo>
                    <a:pt x="86766" y="134645"/>
                  </a:lnTo>
                  <a:lnTo>
                    <a:pt x="88925" y="131762"/>
                  </a:lnTo>
                  <a:lnTo>
                    <a:pt x="93954" y="126365"/>
                  </a:lnTo>
                  <a:lnTo>
                    <a:pt x="96837" y="124193"/>
                  </a:lnTo>
                  <a:lnTo>
                    <a:pt x="99720" y="121678"/>
                  </a:lnTo>
                  <a:lnTo>
                    <a:pt x="140398" y="106921"/>
                  </a:lnTo>
                  <a:lnTo>
                    <a:pt x="144005" y="106921"/>
                  </a:lnTo>
                  <a:lnTo>
                    <a:pt x="144005" y="142913"/>
                  </a:lnTo>
                  <a:lnTo>
                    <a:pt x="215277" y="71640"/>
                  </a:lnTo>
                  <a:lnTo>
                    <a:pt x="144005" y="0"/>
                  </a:lnTo>
                  <a:close/>
                </a:path>
              </a:pathLst>
            </a:custGeom>
            <a:solidFill>
              <a:srgbClr val="454C4C"/>
            </a:solidFill>
          </p:spPr>
          <p:txBody>
            <a:bodyPr wrap="square" lIns="0" tIns="0" rIns="0" bIns="0" rtlCol="0"/>
            <a:lstStyle/>
            <a:p>
              <a:endParaRPr/>
            </a:p>
          </p:txBody>
        </p:sp>
      </p:grpSp>
      <p:sp>
        <p:nvSpPr>
          <p:cNvPr id="23" name="object 23"/>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4" name="object 24"/>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25</a:t>
            </a:fld>
            <a:r>
              <a:rPr spc="-10" dirty="0"/>
              <a:t>/60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00" dirty="0"/>
              <a:t> </a:t>
            </a:r>
            <a:r>
              <a:rPr spc="120" dirty="0"/>
              <a:t>VE</a:t>
            </a:r>
          </a:p>
        </p:txBody>
      </p:sp>
      <p:sp>
        <p:nvSpPr>
          <p:cNvPr id="3" name="object 3"/>
          <p:cNvSpPr txBox="1"/>
          <p:nvPr/>
        </p:nvSpPr>
        <p:spPr>
          <a:xfrm>
            <a:off x="611174" y="1879469"/>
            <a:ext cx="3148330" cy="391795"/>
          </a:xfrm>
          <a:prstGeom prst="rect">
            <a:avLst/>
          </a:prstGeom>
        </p:spPr>
        <p:txBody>
          <a:bodyPr vert="horz" wrap="square" lIns="0" tIns="12700" rIns="0" bIns="0" rtlCol="0">
            <a:spAutoFit/>
          </a:bodyPr>
          <a:lstStyle/>
          <a:p>
            <a:pPr marL="12700">
              <a:lnSpc>
                <a:spcPct val="100000"/>
              </a:lnSpc>
              <a:spcBef>
                <a:spcPts val="100"/>
              </a:spcBef>
            </a:pPr>
            <a:r>
              <a:rPr sz="2400" spc="-55" dirty="0">
                <a:solidFill>
                  <a:srgbClr val="454C4C"/>
                </a:solidFill>
                <a:latin typeface="Arial MT"/>
                <a:cs typeface="Arial MT"/>
              </a:rPr>
              <a:t>VM</a:t>
            </a:r>
            <a:r>
              <a:rPr sz="2400" spc="5" dirty="0">
                <a:solidFill>
                  <a:srgbClr val="454C4C"/>
                </a:solidFill>
                <a:latin typeface="Arial MT"/>
                <a:cs typeface="Arial MT"/>
              </a:rPr>
              <a:t> </a:t>
            </a:r>
            <a:r>
              <a:rPr sz="2400" dirty="0">
                <a:solidFill>
                  <a:srgbClr val="454C4C"/>
                </a:solidFill>
                <a:latin typeface="Arial MT"/>
                <a:cs typeface="Arial MT"/>
              </a:rPr>
              <a:t>wants</a:t>
            </a:r>
            <a:r>
              <a:rPr sz="2400" spc="10" dirty="0">
                <a:solidFill>
                  <a:srgbClr val="454C4C"/>
                </a:solidFill>
                <a:latin typeface="Arial MT"/>
                <a:cs typeface="Arial MT"/>
              </a:rPr>
              <a:t> </a:t>
            </a:r>
            <a:r>
              <a:rPr sz="2400" spc="95" dirty="0">
                <a:solidFill>
                  <a:srgbClr val="454C4C"/>
                </a:solidFill>
                <a:latin typeface="Arial MT"/>
                <a:cs typeface="Arial MT"/>
              </a:rPr>
              <a:t>to</a:t>
            </a:r>
            <a:r>
              <a:rPr sz="2400" spc="5" dirty="0">
                <a:solidFill>
                  <a:srgbClr val="454C4C"/>
                </a:solidFill>
                <a:latin typeface="Arial MT"/>
                <a:cs typeface="Arial MT"/>
              </a:rPr>
              <a:t> </a:t>
            </a:r>
            <a:r>
              <a:rPr sz="2400" dirty="0">
                <a:solidFill>
                  <a:srgbClr val="454C4C"/>
                </a:solidFill>
                <a:latin typeface="Arial MT"/>
                <a:cs typeface="Arial MT"/>
              </a:rPr>
              <a:t>write</a:t>
            </a:r>
            <a:r>
              <a:rPr sz="2400" spc="5" dirty="0">
                <a:solidFill>
                  <a:srgbClr val="454C4C"/>
                </a:solidFill>
                <a:latin typeface="Arial MT"/>
                <a:cs typeface="Arial MT"/>
              </a:rPr>
              <a:t> </a:t>
            </a:r>
            <a:r>
              <a:rPr sz="2400" spc="-20" dirty="0">
                <a:solidFill>
                  <a:srgbClr val="454C4C"/>
                </a:solidFill>
                <a:latin typeface="Arial MT"/>
                <a:cs typeface="Arial MT"/>
              </a:rPr>
              <a:t>data</a:t>
            </a:r>
            <a:endParaRPr sz="2400">
              <a:latin typeface="Arial MT"/>
              <a:cs typeface="Arial MT"/>
            </a:endParaRPr>
          </a:p>
        </p:txBody>
      </p:sp>
      <p:sp>
        <p:nvSpPr>
          <p:cNvPr id="4" name="object 4"/>
          <p:cNvSpPr/>
          <p:nvPr/>
        </p:nvSpPr>
        <p:spPr>
          <a:xfrm>
            <a:off x="6525006" y="2811242"/>
            <a:ext cx="1022985" cy="622935"/>
          </a:xfrm>
          <a:custGeom>
            <a:avLst/>
            <a:gdLst/>
            <a:ahLst/>
            <a:cxnLst/>
            <a:rect l="l" t="t" r="r" b="b"/>
            <a:pathLst>
              <a:path w="1022984" h="622935">
                <a:moveTo>
                  <a:pt x="422630" y="0"/>
                </a:moveTo>
                <a:lnTo>
                  <a:pt x="458657" y="2821"/>
                </a:lnTo>
                <a:lnTo>
                  <a:pt x="494006" y="10669"/>
                </a:lnTo>
                <a:lnTo>
                  <a:pt x="560514" y="41046"/>
                </a:lnTo>
                <a:lnTo>
                  <a:pt x="608261" y="79655"/>
                </a:lnTo>
                <a:lnTo>
                  <a:pt x="647636" y="128523"/>
                </a:lnTo>
                <a:lnTo>
                  <a:pt x="662651" y="121171"/>
                </a:lnTo>
                <a:lnTo>
                  <a:pt x="678373" y="115879"/>
                </a:lnTo>
                <a:lnTo>
                  <a:pt x="694567" y="112680"/>
                </a:lnTo>
                <a:lnTo>
                  <a:pt x="710996" y="111607"/>
                </a:lnTo>
                <a:lnTo>
                  <a:pt x="764757" y="123453"/>
                </a:lnTo>
                <a:lnTo>
                  <a:pt x="810487" y="157013"/>
                </a:lnTo>
                <a:lnTo>
                  <a:pt x="833031" y="189369"/>
                </a:lnTo>
                <a:lnTo>
                  <a:pt x="839876" y="204850"/>
                </a:lnTo>
                <a:lnTo>
                  <a:pt x="845629" y="204127"/>
                </a:lnTo>
                <a:lnTo>
                  <a:pt x="851395" y="203771"/>
                </a:lnTo>
                <a:lnTo>
                  <a:pt x="857148" y="203771"/>
                </a:lnTo>
                <a:lnTo>
                  <a:pt x="878639" y="205318"/>
                </a:lnTo>
                <a:lnTo>
                  <a:pt x="899725" y="209935"/>
                </a:lnTo>
                <a:lnTo>
                  <a:pt x="939596" y="228244"/>
                </a:lnTo>
                <a:lnTo>
                  <a:pt x="973883" y="257090"/>
                </a:lnTo>
                <a:lnTo>
                  <a:pt x="1000074" y="294843"/>
                </a:lnTo>
                <a:lnTo>
                  <a:pt x="1016631" y="338899"/>
                </a:lnTo>
                <a:lnTo>
                  <a:pt x="1022388" y="385927"/>
                </a:lnTo>
                <a:lnTo>
                  <a:pt x="1022388" y="386283"/>
                </a:lnTo>
                <a:lnTo>
                  <a:pt x="1020926" y="409984"/>
                </a:lnTo>
                <a:lnTo>
                  <a:pt x="1016631" y="433311"/>
                </a:lnTo>
                <a:lnTo>
                  <a:pt x="1000074" y="477367"/>
                </a:lnTo>
                <a:lnTo>
                  <a:pt x="973883" y="515124"/>
                </a:lnTo>
                <a:lnTo>
                  <a:pt x="939596" y="543966"/>
                </a:lnTo>
                <a:lnTo>
                  <a:pt x="899725" y="562286"/>
                </a:lnTo>
                <a:lnTo>
                  <a:pt x="857148" y="568451"/>
                </a:lnTo>
                <a:lnTo>
                  <a:pt x="840283" y="567506"/>
                </a:lnTo>
                <a:lnTo>
                  <a:pt x="823717" y="564670"/>
                </a:lnTo>
                <a:lnTo>
                  <a:pt x="807486" y="559943"/>
                </a:lnTo>
                <a:lnTo>
                  <a:pt x="791629" y="553326"/>
                </a:lnTo>
                <a:lnTo>
                  <a:pt x="757917" y="588662"/>
                </a:lnTo>
                <a:lnTo>
                  <a:pt x="705231" y="616148"/>
                </a:lnTo>
                <a:lnTo>
                  <a:pt x="662393" y="622452"/>
                </a:lnTo>
                <a:lnTo>
                  <a:pt x="640910" y="620698"/>
                </a:lnTo>
                <a:lnTo>
                  <a:pt x="619867" y="616010"/>
                </a:lnTo>
                <a:lnTo>
                  <a:pt x="580313" y="597966"/>
                </a:lnTo>
                <a:lnTo>
                  <a:pt x="551878" y="574928"/>
                </a:lnTo>
                <a:lnTo>
                  <a:pt x="521151" y="590371"/>
                </a:lnTo>
                <a:lnTo>
                  <a:pt x="489145" y="601564"/>
                </a:lnTo>
                <a:lnTo>
                  <a:pt x="456193" y="608436"/>
                </a:lnTo>
                <a:lnTo>
                  <a:pt x="422630" y="610920"/>
                </a:lnTo>
                <a:lnTo>
                  <a:pt x="386722" y="608111"/>
                </a:lnTo>
                <a:lnTo>
                  <a:pt x="351621" y="600306"/>
                </a:lnTo>
                <a:lnTo>
                  <a:pt x="317735" y="587639"/>
                </a:lnTo>
                <a:lnTo>
                  <a:pt x="285470" y="570242"/>
                </a:lnTo>
                <a:lnTo>
                  <a:pt x="285115" y="570610"/>
                </a:lnTo>
                <a:lnTo>
                  <a:pt x="284391" y="570966"/>
                </a:lnTo>
                <a:lnTo>
                  <a:pt x="284035" y="571322"/>
                </a:lnTo>
                <a:lnTo>
                  <a:pt x="261803" y="583251"/>
                </a:lnTo>
                <a:lnTo>
                  <a:pt x="238493" y="591937"/>
                </a:lnTo>
                <a:lnTo>
                  <a:pt x="214373" y="597246"/>
                </a:lnTo>
                <a:lnTo>
                  <a:pt x="189712" y="599046"/>
                </a:lnTo>
                <a:lnTo>
                  <a:pt x="164846" y="597296"/>
                </a:lnTo>
                <a:lnTo>
                  <a:pt x="140620" y="592070"/>
                </a:lnTo>
                <a:lnTo>
                  <a:pt x="95034" y="571322"/>
                </a:lnTo>
                <a:lnTo>
                  <a:pt x="55702" y="537983"/>
                </a:lnTo>
                <a:lnTo>
                  <a:pt x="25552" y="494652"/>
                </a:lnTo>
                <a:lnTo>
                  <a:pt x="6699" y="444023"/>
                </a:lnTo>
                <a:lnTo>
                  <a:pt x="0" y="389889"/>
                </a:lnTo>
                <a:lnTo>
                  <a:pt x="1663" y="362532"/>
                </a:lnTo>
                <a:lnTo>
                  <a:pt x="6565" y="335751"/>
                </a:lnTo>
                <a:lnTo>
                  <a:pt x="25552" y="285127"/>
                </a:lnTo>
                <a:lnTo>
                  <a:pt x="55702" y="241968"/>
                </a:lnTo>
                <a:lnTo>
                  <a:pt x="95034" y="208800"/>
                </a:lnTo>
                <a:lnTo>
                  <a:pt x="131303" y="190847"/>
                </a:lnTo>
                <a:lnTo>
                  <a:pt x="170268" y="181800"/>
                </a:lnTo>
                <a:lnTo>
                  <a:pt x="203649" y="119513"/>
                </a:lnTo>
                <a:lnTo>
                  <a:pt x="227422" y="89557"/>
                </a:lnTo>
                <a:lnTo>
                  <a:pt x="284759" y="41046"/>
                </a:lnTo>
                <a:lnTo>
                  <a:pt x="351128" y="10669"/>
                </a:lnTo>
                <a:lnTo>
                  <a:pt x="422630" y="0"/>
                </a:lnTo>
                <a:close/>
              </a:path>
            </a:pathLst>
          </a:custGeom>
          <a:ln w="26984">
            <a:solidFill>
              <a:srgbClr val="CCCCCC"/>
            </a:solidFill>
          </a:ln>
        </p:spPr>
        <p:txBody>
          <a:bodyPr wrap="square" lIns="0" tIns="0" rIns="0" bIns="0" rtlCol="0"/>
          <a:lstStyle/>
          <a:p>
            <a:endParaRPr/>
          </a:p>
        </p:txBody>
      </p:sp>
      <p:grpSp>
        <p:nvGrpSpPr>
          <p:cNvPr id="5" name="object 5"/>
          <p:cNvGrpSpPr/>
          <p:nvPr/>
        </p:nvGrpSpPr>
        <p:grpSpPr>
          <a:xfrm>
            <a:off x="5907239" y="3038407"/>
            <a:ext cx="405130" cy="168275"/>
            <a:chOff x="5907239" y="3038407"/>
            <a:chExt cx="405130" cy="168275"/>
          </a:xfrm>
        </p:grpSpPr>
        <p:sp>
          <p:nvSpPr>
            <p:cNvPr id="6" name="object 6"/>
            <p:cNvSpPr/>
            <p:nvPr/>
          </p:nvSpPr>
          <p:spPr>
            <a:xfrm>
              <a:off x="5907239"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7" name="object 7"/>
            <p:cNvSpPr/>
            <p:nvPr/>
          </p:nvSpPr>
          <p:spPr>
            <a:xfrm>
              <a:off x="6124676" y="3038407"/>
              <a:ext cx="187960" cy="168275"/>
            </a:xfrm>
            <a:custGeom>
              <a:avLst/>
              <a:gdLst/>
              <a:ahLst/>
              <a:cxnLst/>
              <a:rect l="l" t="t" r="r" b="b"/>
              <a:pathLst>
                <a:path w="187960" h="168275">
                  <a:moveTo>
                    <a:pt x="11163" y="0"/>
                  </a:moveTo>
                  <a:lnTo>
                    <a:pt x="9728" y="0"/>
                  </a:lnTo>
                  <a:lnTo>
                    <a:pt x="6489" y="723"/>
                  </a:lnTo>
                  <a:lnTo>
                    <a:pt x="2882" y="2527"/>
                  </a:lnTo>
                  <a:lnTo>
                    <a:pt x="723" y="5397"/>
                  </a:lnTo>
                  <a:lnTo>
                    <a:pt x="0" y="9004"/>
                  </a:lnTo>
                  <a:lnTo>
                    <a:pt x="0" y="158762"/>
                  </a:lnTo>
                  <a:lnTo>
                    <a:pt x="723" y="162356"/>
                  </a:lnTo>
                  <a:lnTo>
                    <a:pt x="2882" y="165963"/>
                  </a:lnTo>
                  <a:lnTo>
                    <a:pt x="6489" y="167398"/>
                  </a:lnTo>
                  <a:lnTo>
                    <a:pt x="9728" y="168122"/>
                  </a:lnTo>
                  <a:lnTo>
                    <a:pt x="11163" y="168122"/>
                  </a:lnTo>
                  <a:lnTo>
                    <a:pt x="13322" y="167398"/>
                  </a:lnTo>
                  <a:lnTo>
                    <a:pt x="180721" y="92875"/>
                  </a:lnTo>
                  <a:lnTo>
                    <a:pt x="185407" y="89281"/>
                  </a:lnTo>
                  <a:lnTo>
                    <a:pt x="187566" y="84239"/>
                  </a:lnTo>
                  <a:lnTo>
                    <a:pt x="185407" y="78485"/>
                  </a:lnTo>
                  <a:lnTo>
                    <a:pt x="181089"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8" name="object 8"/>
          <p:cNvGrpSpPr/>
          <p:nvPr/>
        </p:nvGrpSpPr>
        <p:grpSpPr>
          <a:xfrm>
            <a:off x="7759445" y="3038407"/>
            <a:ext cx="405130" cy="168275"/>
            <a:chOff x="7759445" y="3038407"/>
            <a:chExt cx="405130" cy="168275"/>
          </a:xfrm>
        </p:grpSpPr>
        <p:sp>
          <p:nvSpPr>
            <p:cNvPr id="9" name="object 9"/>
            <p:cNvSpPr/>
            <p:nvPr/>
          </p:nvSpPr>
          <p:spPr>
            <a:xfrm>
              <a:off x="7759445"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10" name="object 10"/>
            <p:cNvSpPr/>
            <p:nvPr/>
          </p:nvSpPr>
          <p:spPr>
            <a:xfrm>
              <a:off x="7976882" y="3038407"/>
              <a:ext cx="187960" cy="168275"/>
            </a:xfrm>
            <a:custGeom>
              <a:avLst/>
              <a:gdLst/>
              <a:ahLst/>
              <a:cxnLst/>
              <a:rect l="l" t="t" r="r" b="b"/>
              <a:pathLst>
                <a:path w="187959" h="168275">
                  <a:moveTo>
                    <a:pt x="11163" y="0"/>
                  </a:moveTo>
                  <a:lnTo>
                    <a:pt x="9715" y="0"/>
                  </a:lnTo>
                  <a:lnTo>
                    <a:pt x="6476" y="723"/>
                  </a:lnTo>
                  <a:lnTo>
                    <a:pt x="2882" y="2527"/>
                  </a:lnTo>
                  <a:lnTo>
                    <a:pt x="711" y="5397"/>
                  </a:lnTo>
                  <a:lnTo>
                    <a:pt x="0" y="9004"/>
                  </a:lnTo>
                  <a:lnTo>
                    <a:pt x="0" y="158762"/>
                  </a:lnTo>
                  <a:lnTo>
                    <a:pt x="711" y="162356"/>
                  </a:lnTo>
                  <a:lnTo>
                    <a:pt x="2882" y="165963"/>
                  </a:lnTo>
                  <a:lnTo>
                    <a:pt x="6476" y="167398"/>
                  </a:lnTo>
                  <a:lnTo>
                    <a:pt x="9715" y="168122"/>
                  </a:lnTo>
                  <a:lnTo>
                    <a:pt x="11163" y="168122"/>
                  </a:lnTo>
                  <a:lnTo>
                    <a:pt x="13322" y="167398"/>
                  </a:lnTo>
                  <a:lnTo>
                    <a:pt x="180721" y="92875"/>
                  </a:lnTo>
                  <a:lnTo>
                    <a:pt x="185394" y="89281"/>
                  </a:lnTo>
                  <a:lnTo>
                    <a:pt x="187553" y="84239"/>
                  </a:lnTo>
                  <a:lnTo>
                    <a:pt x="185394" y="78485"/>
                  </a:lnTo>
                  <a:lnTo>
                    <a:pt x="181076"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11" name="object 11"/>
          <p:cNvGrpSpPr/>
          <p:nvPr/>
        </p:nvGrpSpPr>
        <p:grpSpPr>
          <a:xfrm>
            <a:off x="8429531" y="2854060"/>
            <a:ext cx="411480" cy="536575"/>
            <a:chOff x="8429531" y="2854060"/>
            <a:chExt cx="411480" cy="536575"/>
          </a:xfrm>
        </p:grpSpPr>
        <p:sp>
          <p:nvSpPr>
            <p:cNvPr id="12" name="object 12"/>
            <p:cNvSpPr/>
            <p:nvPr/>
          </p:nvSpPr>
          <p:spPr>
            <a:xfrm>
              <a:off x="8439480" y="3173408"/>
              <a:ext cx="391160" cy="208279"/>
            </a:xfrm>
            <a:custGeom>
              <a:avLst/>
              <a:gdLst/>
              <a:ahLst/>
              <a:cxnLst/>
              <a:rect l="l" t="t" r="r" b="b"/>
              <a:pathLst>
                <a:path w="391159" h="208279">
                  <a:moveTo>
                    <a:pt x="390956" y="110883"/>
                  </a:moveTo>
                  <a:lnTo>
                    <a:pt x="360254" y="166092"/>
                  </a:lnTo>
                  <a:lnTo>
                    <a:pt x="320582" y="187085"/>
                  </a:lnTo>
                  <a:lnTo>
                    <a:pt x="268730" y="201598"/>
                  </a:lnTo>
                  <a:lnTo>
                    <a:pt x="207721" y="208076"/>
                  </a:lnTo>
                  <a:lnTo>
                    <a:pt x="145305" y="205074"/>
                  </a:lnTo>
                  <a:lnTo>
                    <a:pt x="89941" y="193552"/>
                  </a:lnTo>
                  <a:lnTo>
                    <a:pt x="45047" y="174927"/>
                  </a:lnTo>
                  <a:lnTo>
                    <a:pt x="14045" y="150615"/>
                  </a:lnTo>
                  <a:lnTo>
                    <a:pt x="0" y="118795"/>
                  </a:lnTo>
                  <a:lnTo>
                    <a:pt x="0" y="115557"/>
                  </a:lnTo>
                  <a:lnTo>
                    <a:pt x="355" y="112318"/>
                  </a:lnTo>
                </a:path>
                <a:path w="391159" h="208279">
                  <a:moveTo>
                    <a:pt x="390956" y="0"/>
                  </a:moveTo>
                  <a:lnTo>
                    <a:pt x="360254" y="55209"/>
                  </a:lnTo>
                  <a:lnTo>
                    <a:pt x="320582" y="76204"/>
                  </a:lnTo>
                  <a:lnTo>
                    <a:pt x="268730" y="90721"/>
                  </a:lnTo>
                  <a:lnTo>
                    <a:pt x="207721" y="97205"/>
                  </a:lnTo>
                  <a:lnTo>
                    <a:pt x="145305" y="94197"/>
                  </a:lnTo>
                  <a:lnTo>
                    <a:pt x="89941" y="82672"/>
                  </a:lnTo>
                  <a:lnTo>
                    <a:pt x="45047" y="64046"/>
                  </a:lnTo>
                  <a:lnTo>
                    <a:pt x="14045" y="39738"/>
                  </a:lnTo>
                  <a:lnTo>
                    <a:pt x="0" y="7924"/>
                  </a:lnTo>
                  <a:lnTo>
                    <a:pt x="0" y="4686"/>
                  </a:lnTo>
                  <a:lnTo>
                    <a:pt x="355" y="1435"/>
                  </a:lnTo>
                </a:path>
              </a:pathLst>
            </a:custGeom>
            <a:ln w="17959">
              <a:solidFill>
                <a:srgbClr val="454C4C"/>
              </a:solidFill>
            </a:ln>
          </p:spPr>
          <p:txBody>
            <a:bodyPr wrap="square" lIns="0" tIns="0" rIns="0" bIns="0" rtlCol="0"/>
            <a:lstStyle/>
            <a:p>
              <a:endParaRPr/>
            </a:p>
          </p:txBody>
        </p:sp>
        <p:sp>
          <p:nvSpPr>
            <p:cNvPr id="13" name="object 13"/>
            <p:cNvSpPr/>
            <p:nvPr/>
          </p:nvSpPr>
          <p:spPr>
            <a:xfrm>
              <a:off x="8439835" y="2863084"/>
              <a:ext cx="389890" cy="181610"/>
            </a:xfrm>
            <a:custGeom>
              <a:avLst/>
              <a:gdLst/>
              <a:ahLst/>
              <a:cxnLst/>
              <a:rect l="l" t="t" r="r" b="b"/>
              <a:pathLst>
                <a:path w="389890" h="181610">
                  <a:moveTo>
                    <a:pt x="389890" y="90360"/>
                  </a:moveTo>
                  <a:lnTo>
                    <a:pt x="352333" y="143913"/>
                  </a:lnTo>
                  <a:lnTo>
                    <a:pt x="310183" y="163563"/>
                  </a:lnTo>
                  <a:lnTo>
                    <a:pt x="256714" y="176457"/>
                  </a:lnTo>
                  <a:lnTo>
                    <a:pt x="195122" y="181089"/>
                  </a:lnTo>
                  <a:lnTo>
                    <a:pt x="133357" y="176457"/>
                  </a:lnTo>
                  <a:lnTo>
                    <a:pt x="79783" y="163563"/>
                  </a:lnTo>
                  <a:lnTo>
                    <a:pt x="37578" y="143913"/>
                  </a:lnTo>
                  <a:lnTo>
                    <a:pt x="9924" y="119010"/>
                  </a:lnTo>
                  <a:lnTo>
                    <a:pt x="0" y="90360"/>
                  </a:lnTo>
                  <a:lnTo>
                    <a:pt x="9924" y="61748"/>
                  </a:lnTo>
                  <a:lnTo>
                    <a:pt x="37578" y="36937"/>
                  </a:lnTo>
                  <a:lnTo>
                    <a:pt x="79783" y="17395"/>
                  </a:lnTo>
                  <a:lnTo>
                    <a:pt x="133357" y="4593"/>
                  </a:lnTo>
                  <a:lnTo>
                    <a:pt x="195122" y="0"/>
                  </a:lnTo>
                  <a:lnTo>
                    <a:pt x="256714" y="4593"/>
                  </a:lnTo>
                  <a:lnTo>
                    <a:pt x="310183" y="17395"/>
                  </a:lnTo>
                  <a:lnTo>
                    <a:pt x="352333" y="36937"/>
                  </a:lnTo>
                  <a:lnTo>
                    <a:pt x="379968" y="61748"/>
                  </a:lnTo>
                  <a:lnTo>
                    <a:pt x="389890" y="90360"/>
                  </a:lnTo>
                  <a:close/>
                </a:path>
              </a:pathLst>
            </a:custGeom>
            <a:ln w="18046">
              <a:solidFill>
                <a:srgbClr val="454C4C"/>
              </a:solidFill>
            </a:ln>
          </p:spPr>
          <p:txBody>
            <a:bodyPr wrap="square" lIns="0" tIns="0" rIns="0" bIns="0" rtlCol="0"/>
            <a:lstStyle/>
            <a:p>
              <a:endParaRPr/>
            </a:p>
          </p:txBody>
        </p:sp>
        <p:sp>
          <p:nvSpPr>
            <p:cNvPr id="14" name="object 14"/>
            <p:cNvSpPr/>
            <p:nvPr/>
          </p:nvSpPr>
          <p:spPr>
            <a:xfrm>
              <a:off x="8439480" y="2958130"/>
              <a:ext cx="635" cy="333375"/>
            </a:xfrm>
            <a:custGeom>
              <a:avLst/>
              <a:gdLst/>
              <a:ahLst/>
              <a:cxnLst/>
              <a:rect l="l" t="t" r="r" b="b"/>
              <a:pathLst>
                <a:path w="634" h="333375">
                  <a:moveTo>
                    <a:pt x="355" y="333362"/>
                  </a:moveTo>
                  <a:lnTo>
                    <a:pt x="0" y="0"/>
                  </a:lnTo>
                </a:path>
              </a:pathLst>
            </a:custGeom>
            <a:ln w="19896">
              <a:solidFill>
                <a:srgbClr val="454C4C"/>
              </a:solidFill>
            </a:ln>
          </p:spPr>
          <p:txBody>
            <a:bodyPr wrap="square" lIns="0" tIns="0" rIns="0" bIns="0" rtlCol="0"/>
            <a:lstStyle/>
            <a:p>
              <a:endParaRPr/>
            </a:p>
          </p:txBody>
        </p:sp>
        <p:sp>
          <p:nvSpPr>
            <p:cNvPr id="15" name="object 15"/>
            <p:cNvSpPr/>
            <p:nvPr/>
          </p:nvSpPr>
          <p:spPr>
            <a:xfrm>
              <a:off x="8439480" y="3066131"/>
              <a:ext cx="391160" cy="97790"/>
            </a:xfrm>
            <a:custGeom>
              <a:avLst/>
              <a:gdLst/>
              <a:ahLst/>
              <a:cxnLst/>
              <a:rect l="l" t="t" r="r" b="b"/>
              <a:pathLst>
                <a:path w="391159" h="97789">
                  <a:moveTo>
                    <a:pt x="390956" y="0"/>
                  </a:moveTo>
                  <a:lnTo>
                    <a:pt x="360254" y="55314"/>
                  </a:lnTo>
                  <a:lnTo>
                    <a:pt x="320582" y="76360"/>
                  </a:lnTo>
                  <a:lnTo>
                    <a:pt x="268730" y="90856"/>
                  </a:lnTo>
                  <a:lnTo>
                    <a:pt x="207721" y="97193"/>
                  </a:lnTo>
                  <a:lnTo>
                    <a:pt x="145305" y="94361"/>
                  </a:lnTo>
                  <a:lnTo>
                    <a:pt x="89941" y="82925"/>
                  </a:lnTo>
                  <a:lnTo>
                    <a:pt x="45047" y="64302"/>
                  </a:lnTo>
                  <a:lnTo>
                    <a:pt x="14045" y="39908"/>
                  </a:lnTo>
                  <a:lnTo>
                    <a:pt x="0" y="7912"/>
                  </a:lnTo>
                  <a:lnTo>
                    <a:pt x="0" y="4673"/>
                  </a:lnTo>
                  <a:lnTo>
                    <a:pt x="355" y="1435"/>
                  </a:lnTo>
                </a:path>
              </a:pathLst>
            </a:custGeom>
            <a:ln w="17959">
              <a:solidFill>
                <a:srgbClr val="454C4C"/>
              </a:solidFill>
            </a:ln>
          </p:spPr>
          <p:txBody>
            <a:bodyPr wrap="square" lIns="0" tIns="0" rIns="0" bIns="0" rtlCol="0"/>
            <a:lstStyle/>
            <a:p>
              <a:endParaRPr/>
            </a:p>
          </p:txBody>
        </p:sp>
        <p:sp>
          <p:nvSpPr>
            <p:cNvPr id="16" name="object 16"/>
            <p:cNvSpPr/>
            <p:nvPr/>
          </p:nvSpPr>
          <p:spPr>
            <a:xfrm>
              <a:off x="8830437" y="2958130"/>
              <a:ext cx="635" cy="333375"/>
            </a:xfrm>
            <a:custGeom>
              <a:avLst/>
              <a:gdLst/>
              <a:ahLst/>
              <a:cxnLst/>
              <a:rect l="l" t="t" r="r" b="b"/>
              <a:pathLst>
                <a:path w="634" h="333375">
                  <a:moveTo>
                    <a:pt x="368" y="333362"/>
                  </a:moveTo>
                  <a:lnTo>
                    <a:pt x="0" y="0"/>
                  </a:lnTo>
                </a:path>
              </a:pathLst>
            </a:custGeom>
            <a:ln w="19896">
              <a:solidFill>
                <a:srgbClr val="454C4C"/>
              </a:solidFill>
            </a:ln>
          </p:spPr>
          <p:txBody>
            <a:bodyPr wrap="square" lIns="0" tIns="0" rIns="0" bIns="0" rtlCol="0"/>
            <a:lstStyle/>
            <a:p>
              <a:endParaRPr/>
            </a:p>
          </p:txBody>
        </p:sp>
      </p:grpSp>
      <p:sp>
        <p:nvSpPr>
          <p:cNvPr id="17" name="object 17"/>
          <p:cNvSpPr txBox="1"/>
          <p:nvPr/>
        </p:nvSpPr>
        <p:spPr>
          <a:xfrm>
            <a:off x="6685826" y="3061712"/>
            <a:ext cx="2531745" cy="69469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Network</a:t>
            </a:r>
            <a:endParaRPr sz="1400">
              <a:latin typeface="Arial MT"/>
              <a:cs typeface="Arial MT"/>
            </a:endParaRPr>
          </a:p>
          <a:p>
            <a:pPr>
              <a:lnSpc>
                <a:spcPct val="100000"/>
              </a:lnSpc>
              <a:spcBef>
                <a:spcPts val="295"/>
              </a:spcBef>
            </a:pPr>
            <a:endParaRPr sz="1400">
              <a:latin typeface="Arial MT"/>
              <a:cs typeface="Arial MT"/>
            </a:endParaRPr>
          </a:p>
          <a:p>
            <a:pPr marL="1377950">
              <a:lnSpc>
                <a:spcPct val="100000"/>
              </a:lnSpc>
              <a:spcBef>
                <a:spcPts val="5"/>
              </a:spcBef>
            </a:pPr>
            <a:r>
              <a:rPr sz="1400" spc="-10" dirty="0">
                <a:solidFill>
                  <a:srgbClr val="454C4C"/>
                </a:solidFill>
                <a:latin typeface="Arial MT"/>
                <a:cs typeface="Arial MT"/>
              </a:rPr>
              <a:t>Backup</a:t>
            </a:r>
            <a:r>
              <a:rPr sz="1400" spc="-55" dirty="0">
                <a:solidFill>
                  <a:srgbClr val="454C4C"/>
                </a:solidFill>
                <a:latin typeface="Arial MT"/>
                <a:cs typeface="Arial MT"/>
              </a:rPr>
              <a:t> </a:t>
            </a:r>
            <a:r>
              <a:rPr sz="1400" spc="-10" dirty="0">
                <a:solidFill>
                  <a:srgbClr val="454C4C"/>
                </a:solidFill>
                <a:latin typeface="Arial MT"/>
                <a:cs typeface="Arial MT"/>
              </a:rPr>
              <a:t>Target</a:t>
            </a:r>
            <a:endParaRPr sz="1400">
              <a:latin typeface="Arial MT"/>
              <a:cs typeface="Arial MT"/>
            </a:endParaRPr>
          </a:p>
        </p:txBody>
      </p:sp>
      <p:grpSp>
        <p:nvGrpSpPr>
          <p:cNvPr id="18" name="object 18"/>
          <p:cNvGrpSpPr/>
          <p:nvPr/>
        </p:nvGrpSpPr>
        <p:grpSpPr>
          <a:xfrm>
            <a:off x="525957" y="2870285"/>
            <a:ext cx="5182870" cy="504190"/>
            <a:chOff x="525957" y="2870285"/>
            <a:chExt cx="5182870" cy="504190"/>
          </a:xfrm>
        </p:grpSpPr>
        <p:sp>
          <p:nvSpPr>
            <p:cNvPr id="19" name="object 19"/>
            <p:cNvSpPr/>
            <p:nvPr/>
          </p:nvSpPr>
          <p:spPr>
            <a:xfrm>
              <a:off x="1045794" y="2870285"/>
              <a:ext cx="504190" cy="504190"/>
            </a:xfrm>
            <a:custGeom>
              <a:avLst/>
              <a:gdLst/>
              <a:ahLst/>
              <a:cxnLst/>
              <a:rect l="l" t="t" r="r" b="b"/>
              <a:pathLst>
                <a:path w="504190" h="504189">
                  <a:moveTo>
                    <a:pt x="503999" y="0"/>
                  </a:moveTo>
                  <a:lnTo>
                    <a:pt x="0" y="0"/>
                  </a:lnTo>
                  <a:lnTo>
                    <a:pt x="0" y="503999"/>
                  </a:lnTo>
                  <a:lnTo>
                    <a:pt x="252006" y="503999"/>
                  </a:lnTo>
                  <a:lnTo>
                    <a:pt x="503999" y="503999"/>
                  </a:lnTo>
                  <a:lnTo>
                    <a:pt x="503999" y="0"/>
                  </a:lnTo>
                  <a:close/>
                </a:path>
              </a:pathLst>
            </a:custGeom>
            <a:solidFill>
              <a:srgbClr val="FF9000"/>
            </a:solidFill>
          </p:spPr>
          <p:txBody>
            <a:bodyPr wrap="square" lIns="0" tIns="0" rIns="0" bIns="0" rtlCol="0"/>
            <a:lstStyle/>
            <a:p>
              <a:endParaRPr/>
            </a:p>
          </p:txBody>
        </p:sp>
        <p:sp>
          <p:nvSpPr>
            <p:cNvPr id="20" name="object 20"/>
            <p:cNvSpPr/>
            <p:nvPr/>
          </p:nvSpPr>
          <p:spPr>
            <a:xfrm>
              <a:off x="2605316" y="2870284"/>
              <a:ext cx="2063750" cy="504190"/>
            </a:xfrm>
            <a:custGeom>
              <a:avLst/>
              <a:gdLst/>
              <a:ahLst/>
              <a:cxnLst/>
              <a:rect l="l" t="t" r="r" b="b"/>
              <a:pathLst>
                <a:path w="2063750" h="504189">
                  <a:moveTo>
                    <a:pt x="503999" y="0"/>
                  </a:moveTo>
                  <a:lnTo>
                    <a:pt x="0" y="0"/>
                  </a:lnTo>
                  <a:lnTo>
                    <a:pt x="0" y="503999"/>
                  </a:lnTo>
                  <a:lnTo>
                    <a:pt x="252006" y="503999"/>
                  </a:lnTo>
                  <a:lnTo>
                    <a:pt x="503999" y="503999"/>
                  </a:lnTo>
                  <a:lnTo>
                    <a:pt x="503999" y="0"/>
                  </a:lnTo>
                  <a:close/>
                </a:path>
                <a:path w="2063750" h="504189">
                  <a:moveTo>
                    <a:pt x="1543685" y="0"/>
                  </a:moveTo>
                  <a:lnTo>
                    <a:pt x="1039685" y="0"/>
                  </a:lnTo>
                  <a:lnTo>
                    <a:pt x="1039685" y="503999"/>
                  </a:lnTo>
                  <a:lnTo>
                    <a:pt x="1291678" y="503999"/>
                  </a:lnTo>
                  <a:lnTo>
                    <a:pt x="1543685" y="503999"/>
                  </a:lnTo>
                  <a:lnTo>
                    <a:pt x="1543685" y="0"/>
                  </a:lnTo>
                  <a:close/>
                </a:path>
                <a:path w="2063750" h="504189">
                  <a:moveTo>
                    <a:pt x="2063521" y="0"/>
                  </a:moveTo>
                  <a:lnTo>
                    <a:pt x="1559521" y="0"/>
                  </a:lnTo>
                  <a:lnTo>
                    <a:pt x="1559521" y="503999"/>
                  </a:lnTo>
                  <a:lnTo>
                    <a:pt x="1811528" y="503999"/>
                  </a:lnTo>
                  <a:lnTo>
                    <a:pt x="2063521" y="503999"/>
                  </a:lnTo>
                  <a:lnTo>
                    <a:pt x="2063521" y="0"/>
                  </a:lnTo>
                  <a:close/>
                </a:path>
              </a:pathLst>
            </a:custGeom>
            <a:solidFill>
              <a:srgbClr val="DAD6D4"/>
            </a:solidFill>
          </p:spPr>
          <p:txBody>
            <a:bodyPr wrap="square" lIns="0" tIns="0" rIns="0" bIns="0" rtlCol="0"/>
            <a:lstStyle/>
            <a:p>
              <a:endParaRPr/>
            </a:p>
          </p:txBody>
        </p:sp>
        <p:sp>
          <p:nvSpPr>
            <p:cNvPr id="21" name="object 21"/>
            <p:cNvSpPr/>
            <p:nvPr/>
          </p:nvSpPr>
          <p:spPr>
            <a:xfrm>
              <a:off x="525957" y="2870284"/>
              <a:ext cx="1543685" cy="504190"/>
            </a:xfrm>
            <a:custGeom>
              <a:avLst/>
              <a:gdLst/>
              <a:ahLst/>
              <a:cxnLst/>
              <a:rect l="l" t="t" r="r" b="b"/>
              <a:pathLst>
                <a:path w="1543685" h="504189">
                  <a:moveTo>
                    <a:pt x="503999" y="0"/>
                  </a:moveTo>
                  <a:lnTo>
                    <a:pt x="0" y="0"/>
                  </a:lnTo>
                  <a:lnTo>
                    <a:pt x="0" y="503999"/>
                  </a:lnTo>
                  <a:lnTo>
                    <a:pt x="252006" y="503999"/>
                  </a:lnTo>
                  <a:lnTo>
                    <a:pt x="503999" y="503999"/>
                  </a:lnTo>
                  <a:lnTo>
                    <a:pt x="503999" y="0"/>
                  </a:lnTo>
                  <a:close/>
                </a:path>
                <a:path w="1543685" h="504189">
                  <a:moveTo>
                    <a:pt x="1543685" y="0"/>
                  </a:moveTo>
                  <a:lnTo>
                    <a:pt x="1039685" y="0"/>
                  </a:lnTo>
                  <a:lnTo>
                    <a:pt x="1039685" y="503999"/>
                  </a:lnTo>
                  <a:lnTo>
                    <a:pt x="1291678" y="503999"/>
                  </a:lnTo>
                  <a:lnTo>
                    <a:pt x="1543685" y="503999"/>
                  </a:lnTo>
                  <a:lnTo>
                    <a:pt x="1543685" y="0"/>
                  </a:lnTo>
                  <a:close/>
                </a:path>
              </a:pathLst>
            </a:custGeom>
            <a:solidFill>
              <a:srgbClr val="FF9000"/>
            </a:solidFill>
          </p:spPr>
          <p:txBody>
            <a:bodyPr wrap="square" lIns="0" tIns="0" rIns="0" bIns="0" rtlCol="0"/>
            <a:lstStyle/>
            <a:p>
              <a:endParaRPr/>
            </a:p>
          </p:txBody>
        </p:sp>
        <p:sp>
          <p:nvSpPr>
            <p:cNvPr id="22" name="object 22"/>
            <p:cNvSpPr/>
            <p:nvPr/>
          </p:nvSpPr>
          <p:spPr>
            <a:xfrm>
              <a:off x="2085479" y="2870284"/>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1543685" y="0"/>
                  </a:moveTo>
                  <a:lnTo>
                    <a:pt x="1039685" y="0"/>
                  </a:lnTo>
                  <a:lnTo>
                    <a:pt x="1039685" y="503999"/>
                  </a:lnTo>
                  <a:lnTo>
                    <a:pt x="1291678" y="503999"/>
                  </a:lnTo>
                  <a:lnTo>
                    <a:pt x="1543685" y="503999"/>
                  </a:lnTo>
                  <a:lnTo>
                    <a:pt x="1543685" y="0"/>
                  </a:lnTo>
                  <a:close/>
                </a:path>
                <a:path w="3623310" h="504189">
                  <a:moveTo>
                    <a:pt x="3103194" y="0"/>
                  </a:moveTo>
                  <a:lnTo>
                    <a:pt x="2599194" y="0"/>
                  </a:lnTo>
                  <a:lnTo>
                    <a:pt x="2599194" y="503999"/>
                  </a:lnTo>
                  <a:lnTo>
                    <a:pt x="2851200" y="503999"/>
                  </a:lnTo>
                  <a:lnTo>
                    <a:pt x="3103194" y="503999"/>
                  </a:lnTo>
                  <a:lnTo>
                    <a:pt x="3103194" y="0"/>
                  </a:lnTo>
                  <a:close/>
                </a:path>
                <a:path w="3623310" h="504189">
                  <a:moveTo>
                    <a:pt x="3623043" y="0"/>
                  </a:moveTo>
                  <a:lnTo>
                    <a:pt x="3119043" y="0"/>
                  </a:lnTo>
                  <a:lnTo>
                    <a:pt x="3119043" y="503999"/>
                  </a:lnTo>
                  <a:lnTo>
                    <a:pt x="3371037" y="503999"/>
                  </a:lnTo>
                  <a:lnTo>
                    <a:pt x="3623043" y="503999"/>
                  </a:lnTo>
                  <a:lnTo>
                    <a:pt x="3623043" y="0"/>
                  </a:lnTo>
                  <a:close/>
                </a:path>
              </a:pathLst>
            </a:custGeom>
            <a:solidFill>
              <a:srgbClr val="DAD6D4"/>
            </a:solidFill>
          </p:spPr>
          <p:txBody>
            <a:bodyPr wrap="square" lIns="0" tIns="0" rIns="0" bIns="0" rtlCol="0"/>
            <a:lstStyle/>
            <a:p>
              <a:endParaRPr/>
            </a:p>
          </p:txBody>
        </p:sp>
        <p:sp>
          <p:nvSpPr>
            <p:cNvPr id="23" name="object 23"/>
            <p:cNvSpPr/>
            <p:nvPr/>
          </p:nvSpPr>
          <p:spPr>
            <a:xfrm>
              <a:off x="1709635" y="2941925"/>
              <a:ext cx="215900" cy="324485"/>
            </a:xfrm>
            <a:custGeom>
              <a:avLst/>
              <a:gdLst/>
              <a:ahLst/>
              <a:cxnLst/>
              <a:rect l="l" t="t" r="r" b="b"/>
              <a:pathLst>
                <a:path w="215900" h="324485">
                  <a:moveTo>
                    <a:pt x="144005" y="0"/>
                  </a:moveTo>
                  <a:lnTo>
                    <a:pt x="144005" y="36360"/>
                  </a:lnTo>
                  <a:lnTo>
                    <a:pt x="136804" y="36360"/>
                  </a:lnTo>
                  <a:lnTo>
                    <a:pt x="122402" y="37807"/>
                  </a:lnTo>
                  <a:lnTo>
                    <a:pt x="81368" y="50761"/>
                  </a:lnTo>
                  <a:lnTo>
                    <a:pt x="46088" y="74879"/>
                  </a:lnTo>
                  <a:lnTo>
                    <a:pt x="19443" y="108369"/>
                  </a:lnTo>
                  <a:lnTo>
                    <a:pt x="3606" y="148323"/>
                  </a:lnTo>
                  <a:lnTo>
                    <a:pt x="0" y="176758"/>
                  </a:lnTo>
                  <a:lnTo>
                    <a:pt x="0" y="183959"/>
                  </a:lnTo>
                  <a:lnTo>
                    <a:pt x="7569" y="226085"/>
                  </a:lnTo>
                  <a:lnTo>
                    <a:pt x="27000" y="264248"/>
                  </a:lnTo>
                  <a:lnTo>
                    <a:pt x="56883" y="295198"/>
                  </a:lnTo>
                  <a:lnTo>
                    <a:pt x="94678" y="315721"/>
                  </a:lnTo>
                  <a:lnTo>
                    <a:pt x="136804" y="324357"/>
                  </a:lnTo>
                  <a:lnTo>
                    <a:pt x="144005" y="324357"/>
                  </a:lnTo>
                  <a:lnTo>
                    <a:pt x="144005" y="253796"/>
                  </a:lnTo>
                  <a:lnTo>
                    <a:pt x="140398" y="253796"/>
                  </a:lnTo>
                  <a:lnTo>
                    <a:pt x="133210" y="253085"/>
                  </a:lnTo>
                  <a:lnTo>
                    <a:pt x="96850" y="236524"/>
                  </a:lnTo>
                  <a:lnTo>
                    <a:pt x="93967" y="234365"/>
                  </a:lnTo>
                  <a:lnTo>
                    <a:pt x="88925" y="228968"/>
                  </a:lnTo>
                  <a:lnTo>
                    <a:pt x="86766" y="226085"/>
                  </a:lnTo>
                  <a:lnTo>
                    <a:pt x="84239" y="223202"/>
                  </a:lnTo>
                  <a:lnTo>
                    <a:pt x="70561" y="182168"/>
                  </a:lnTo>
                  <a:lnTo>
                    <a:pt x="70561" y="178562"/>
                  </a:lnTo>
                  <a:lnTo>
                    <a:pt x="84239" y="137528"/>
                  </a:lnTo>
                  <a:lnTo>
                    <a:pt x="86766" y="134645"/>
                  </a:lnTo>
                  <a:lnTo>
                    <a:pt x="88925" y="131762"/>
                  </a:lnTo>
                  <a:lnTo>
                    <a:pt x="93967" y="126364"/>
                  </a:lnTo>
                  <a:lnTo>
                    <a:pt x="96850" y="124206"/>
                  </a:lnTo>
                  <a:lnTo>
                    <a:pt x="99720" y="121678"/>
                  </a:lnTo>
                  <a:lnTo>
                    <a:pt x="140398" y="106921"/>
                  </a:lnTo>
                  <a:lnTo>
                    <a:pt x="144005" y="106921"/>
                  </a:lnTo>
                  <a:lnTo>
                    <a:pt x="144005" y="142925"/>
                  </a:lnTo>
                  <a:lnTo>
                    <a:pt x="215290" y="71640"/>
                  </a:lnTo>
                  <a:lnTo>
                    <a:pt x="144005" y="0"/>
                  </a:lnTo>
                  <a:close/>
                </a:path>
              </a:pathLst>
            </a:custGeom>
            <a:solidFill>
              <a:srgbClr val="454C4C"/>
            </a:solidFill>
          </p:spPr>
          <p:txBody>
            <a:bodyPr wrap="square" lIns="0" tIns="0" rIns="0" bIns="0" rtlCol="0"/>
            <a:lstStyle/>
            <a:p>
              <a:endParaRPr/>
            </a:p>
          </p:txBody>
        </p:sp>
      </p:grpSp>
      <p:grpSp>
        <p:nvGrpSpPr>
          <p:cNvPr id="24" name="object 24"/>
          <p:cNvGrpSpPr/>
          <p:nvPr/>
        </p:nvGrpSpPr>
        <p:grpSpPr>
          <a:xfrm>
            <a:off x="3958196" y="1515614"/>
            <a:ext cx="911225" cy="631190"/>
            <a:chOff x="3958196" y="1515614"/>
            <a:chExt cx="911225" cy="631190"/>
          </a:xfrm>
        </p:grpSpPr>
        <p:sp>
          <p:nvSpPr>
            <p:cNvPr id="25" name="object 25"/>
            <p:cNvSpPr/>
            <p:nvPr/>
          </p:nvSpPr>
          <p:spPr>
            <a:xfrm>
              <a:off x="3958196" y="1515614"/>
              <a:ext cx="911225" cy="631190"/>
            </a:xfrm>
            <a:custGeom>
              <a:avLst/>
              <a:gdLst/>
              <a:ahLst/>
              <a:cxnLst/>
              <a:rect l="l" t="t" r="r" b="b"/>
              <a:pathLst>
                <a:path w="911225" h="631189">
                  <a:moveTo>
                    <a:pt x="805688" y="0"/>
                  </a:moveTo>
                  <a:lnTo>
                    <a:pt x="105117" y="0"/>
                  </a:lnTo>
                  <a:lnTo>
                    <a:pt x="91391" y="876"/>
                  </a:lnTo>
                  <a:lnTo>
                    <a:pt x="52565" y="14033"/>
                  </a:lnTo>
                  <a:lnTo>
                    <a:pt x="21786" y="41169"/>
                  </a:lnTo>
                  <a:lnTo>
                    <a:pt x="3513" y="77887"/>
                  </a:lnTo>
                  <a:lnTo>
                    <a:pt x="0" y="105117"/>
                  </a:lnTo>
                  <a:lnTo>
                    <a:pt x="0" y="525957"/>
                  </a:lnTo>
                  <a:lnTo>
                    <a:pt x="7902" y="566198"/>
                  </a:lnTo>
                  <a:lnTo>
                    <a:pt x="30876" y="600203"/>
                  </a:lnTo>
                  <a:lnTo>
                    <a:pt x="64877" y="623172"/>
                  </a:lnTo>
                  <a:lnTo>
                    <a:pt x="105117" y="631075"/>
                  </a:lnTo>
                  <a:lnTo>
                    <a:pt x="805688" y="631075"/>
                  </a:lnTo>
                  <a:lnTo>
                    <a:pt x="845928" y="623172"/>
                  </a:lnTo>
                  <a:lnTo>
                    <a:pt x="879929" y="600203"/>
                  </a:lnTo>
                  <a:lnTo>
                    <a:pt x="902903" y="566198"/>
                  </a:lnTo>
                  <a:lnTo>
                    <a:pt x="910805" y="525957"/>
                  </a:lnTo>
                  <a:lnTo>
                    <a:pt x="910805" y="105117"/>
                  </a:lnTo>
                  <a:lnTo>
                    <a:pt x="902903" y="64864"/>
                  </a:lnTo>
                  <a:lnTo>
                    <a:pt x="879929" y="30864"/>
                  </a:lnTo>
                  <a:lnTo>
                    <a:pt x="845928" y="7892"/>
                  </a:lnTo>
                  <a:lnTo>
                    <a:pt x="805688" y="0"/>
                  </a:lnTo>
                  <a:close/>
                </a:path>
              </a:pathLst>
            </a:custGeom>
            <a:solidFill>
              <a:srgbClr val="00607E"/>
            </a:solidFill>
          </p:spPr>
          <p:txBody>
            <a:bodyPr wrap="square" lIns="0" tIns="0" rIns="0" bIns="0" rtlCol="0"/>
            <a:lstStyle/>
            <a:p>
              <a:endParaRPr/>
            </a:p>
          </p:txBody>
        </p:sp>
        <p:sp>
          <p:nvSpPr>
            <p:cNvPr id="26" name="object 26"/>
            <p:cNvSpPr/>
            <p:nvPr/>
          </p:nvSpPr>
          <p:spPr>
            <a:xfrm>
              <a:off x="3958196" y="1515614"/>
              <a:ext cx="911225" cy="631190"/>
            </a:xfrm>
            <a:custGeom>
              <a:avLst/>
              <a:gdLst/>
              <a:ahLst/>
              <a:cxnLst/>
              <a:rect l="l" t="t" r="r" b="b"/>
              <a:pathLst>
                <a:path w="911225" h="631189">
                  <a:moveTo>
                    <a:pt x="105117" y="0"/>
                  </a:moveTo>
                  <a:lnTo>
                    <a:pt x="91391" y="876"/>
                  </a:lnTo>
                  <a:lnTo>
                    <a:pt x="77898" y="3506"/>
                  </a:lnTo>
                  <a:lnTo>
                    <a:pt x="41181" y="21773"/>
                  </a:lnTo>
                  <a:lnTo>
                    <a:pt x="14046" y="52552"/>
                  </a:lnTo>
                  <a:lnTo>
                    <a:pt x="878" y="91384"/>
                  </a:lnTo>
                  <a:lnTo>
                    <a:pt x="0" y="105117"/>
                  </a:lnTo>
                  <a:lnTo>
                    <a:pt x="0" y="525589"/>
                  </a:lnTo>
                  <a:lnTo>
                    <a:pt x="0" y="525957"/>
                  </a:lnTo>
                  <a:lnTo>
                    <a:pt x="7902" y="566198"/>
                  </a:lnTo>
                  <a:lnTo>
                    <a:pt x="30876" y="600203"/>
                  </a:lnTo>
                  <a:lnTo>
                    <a:pt x="64877" y="623172"/>
                  </a:lnTo>
                  <a:lnTo>
                    <a:pt x="105117" y="631075"/>
                  </a:lnTo>
                  <a:lnTo>
                    <a:pt x="805319" y="631075"/>
                  </a:lnTo>
                  <a:lnTo>
                    <a:pt x="805688" y="631075"/>
                  </a:lnTo>
                  <a:lnTo>
                    <a:pt x="845928" y="623172"/>
                  </a:lnTo>
                  <a:lnTo>
                    <a:pt x="879929" y="600203"/>
                  </a:lnTo>
                  <a:lnTo>
                    <a:pt x="902903" y="566198"/>
                  </a:lnTo>
                  <a:lnTo>
                    <a:pt x="910805" y="525957"/>
                  </a:lnTo>
                  <a:lnTo>
                    <a:pt x="910805" y="105117"/>
                  </a:lnTo>
                  <a:lnTo>
                    <a:pt x="909927" y="91384"/>
                  </a:lnTo>
                  <a:lnTo>
                    <a:pt x="907292" y="77887"/>
                  </a:lnTo>
                  <a:lnTo>
                    <a:pt x="889019" y="41169"/>
                  </a:lnTo>
                  <a:lnTo>
                    <a:pt x="858240" y="14033"/>
                  </a:lnTo>
                  <a:lnTo>
                    <a:pt x="819414" y="876"/>
                  </a:lnTo>
                  <a:lnTo>
                    <a:pt x="805688" y="0"/>
                  </a:lnTo>
                  <a:lnTo>
                    <a:pt x="105117" y="0"/>
                  </a:lnTo>
                  <a:close/>
                </a:path>
              </a:pathLst>
            </a:custGeom>
            <a:ln w="3175">
              <a:solidFill>
                <a:srgbClr val="00607E"/>
              </a:solidFill>
            </a:ln>
          </p:spPr>
          <p:txBody>
            <a:bodyPr wrap="square" lIns="0" tIns="0" rIns="0" bIns="0" rtlCol="0"/>
            <a:lstStyle/>
            <a:p>
              <a:endParaRPr/>
            </a:p>
          </p:txBody>
        </p:sp>
      </p:grpSp>
      <p:sp>
        <p:nvSpPr>
          <p:cNvPr id="27" name="object 27"/>
          <p:cNvSpPr txBox="1"/>
          <p:nvPr/>
        </p:nvSpPr>
        <p:spPr>
          <a:xfrm>
            <a:off x="4144936" y="1549321"/>
            <a:ext cx="537845" cy="513715"/>
          </a:xfrm>
          <a:prstGeom prst="rect">
            <a:avLst/>
          </a:prstGeom>
        </p:spPr>
        <p:txBody>
          <a:bodyPr vert="horz" wrap="square" lIns="0" tIns="12700" rIns="0" bIns="0" rtlCol="0">
            <a:spAutoFit/>
          </a:bodyPr>
          <a:lstStyle/>
          <a:p>
            <a:pPr marL="12700">
              <a:lnSpc>
                <a:spcPct val="100000"/>
              </a:lnSpc>
              <a:spcBef>
                <a:spcPts val="100"/>
              </a:spcBef>
            </a:pPr>
            <a:r>
              <a:rPr sz="3200" spc="-145" dirty="0">
                <a:solidFill>
                  <a:srgbClr val="FFFFFF"/>
                </a:solidFill>
                <a:latin typeface="Tahoma"/>
                <a:cs typeface="Tahoma"/>
              </a:rPr>
              <a:t>VM</a:t>
            </a:r>
            <a:endParaRPr sz="3200">
              <a:latin typeface="Tahoma"/>
              <a:cs typeface="Tahoma"/>
            </a:endParaRPr>
          </a:p>
        </p:txBody>
      </p:sp>
      <p:grpSp>
        <p:nvGrpSpPr>
          <p:cNvPr id="28" name="object 28"/>
          <p:cNvGrpSpPr/>
          <p:nvPr/>
        </p:nvGrpSpPr>
        <p:grpSpPr>
          <a:xfrm>
            <a:off x="4329353" y="2138764"/>
            <a:ext cx="168910" cy="353695"/>
            <a:chOff x="4329353" y="2138764"/>
            <a:chExt cx="168910" cy="353695"/>
          </a:xfrm>
        </p:grpSpPr>
        <p:sp>
          <p:nvSpPr>
            <p:cNvPr id="29" name="object 29"/>
            <p:cNvSpPr/>
            <p:nvPr/>
          </p:nvSpPr>
          <p:spPr>
            <a:xfrm>
              <a:off x="4413605" y="2138764"/>
              <a:ext cx="0" cy="177165"/>
            </a:xfrm>
            <a:custGeom>
              <a:avLst/>
              <a:gdLst/>
              <a:ahLst/>
              <a:cxnLst/>
              <a:rect l="l" t="t" r="r" b="b"/>
              <a:pathLst>
                <a:path h="177164">
                  <a:moveTo>
                    <a:pt x="0" y="0"/>
                  </a:moveTo>
                  <a:lnTo>
                    <a:pt x="0" y="176758"/>
                  </a:lnTo>
                </a:path>
              </a:pathLst>
            </a:custGeom>
            <a:ln w="76318">
              <a:solidFill>
                <a:srgbClr val="00607E"/>
              </a:solidFill>
            </a:ln>
          </p:spPr>
          <p:txBody>
            <a:bodyPr wrap="square" lIns="0" tIns="0" rIns="0" bIns="0" rtlCol="0"/>
            <a:lstStyle/>
            <a:p>
              <a:endParaRPr/>
            </a:p>
          </p:txBody>
        </p:sp>
        <p:sp>
          <p:nvSpPr>
            <p:cNvPr id="30" name="object 30"/>
            <p:cNvSpPr/>
            <p:nvPr/>
          </p:nvSpPr>
          <p:spPr>
            <a:xfrm>
              <a:off x="4329353" y="2304372"/>
              <a:ext cx="168910" cy="187960"/>
            </a:xfrm>
            <a:custGeom>
              <a:avLst/>
              <a:gdLst/>
              <a:ahLst/>
              <a:cxnLst/>
              <a:rect l="l" t="t" r="r" b="b"/>
              <a:pathLst>
                <a:path w="168910" h="187960">
                  <a:moveTo>
                    <a:pt x="159486" y="0"/>
                  </a:moveTo>
                  <a:lnTo>
                    <a:pt x="9004" y="0"/>
                  </a:lnTo>
                  <a:lnTo>
                    <a:pt x="5765" y="711"/>
                  </a:lnTo>
                  <a:lnTo>
                    <a:pt x="2171" y="2870"/>
                  </a:lnTo>
                  <a:lnTo>
                    <a:pt x="723" y="6476"/>
                  </a:lnTo>
                  <a:lnTo>
                    <a:pt x="0" y="9715"/>
                  </a:lnTo>
                  <a:lnTo>
                    <a:pt x="0" y="11150"/>
                  </a:lnTo>
                  <a:lnTo>
                    <a:pt x="723" y="13309"/>
                  </a:lnTo>
                  <a:lnTo>
                    <a:pt x="75247" y="181076"/>
                  </a:lnTo>
                  <a:lnTo>
                    <a:pt x="78841" y="185750"/>
                  </a:lnTo>
                  <a:lnTo>
                    <a:pt x="83883" y="187921"/>
                  </a:lnTo>
                  <a:lnTo>
                    <a:pt x="89649" y="185750"/>
                  </a:lnTo>
                  <a:lnTo>
                    <a:pt x="92887" y="181432"/>
                  </a:lnTo>
                  <a:lnTo>
                    <a:pt x="167766" y="13309"/>
                  </a:lnTo>
                  <a:lnTo>
                    <a:pt x="168490" y="11150"/>
                  </a:lnTo>
                  <a:lnTo>
                    <a:pt x="168490" y="9715"/>
                  </a:lnTo>
                  <a:lnTo>
                    <a:pt x="167766" y="6476"/>
                  </a:lnTo>
                  <a:lnTo>
                    <a:pt x="165608" y="2870"/>
                  </a:lnTo>
                  <a:lnTo>
                    <a:pt x="162725" y="711"/>
                  </a:lnTo>
                  <a:lnTo>
                    <a:pt x="159486" y="0"/>
                  </a:lnTo>
                  <a:close/>
                </a:path>
              </a:pathLst>
            </a:custGeom>
            <a:solidFill>
              <a:srgbClr val="00607E"/>
            </a:solidFill>
          </p:spPr>
          <p:txBody>
            <a:bodyPr wrap="square" lIns="0" tIns="0" rIns="0" bIns="0" rtlCol="0"/>
            <a:lstStyle/>
            <a:p>
              <a:endParaRPr/>
            </a:p>
          </p:txBody>
        </p:sp>
      </p:grpSp>
      <p:sp>
        <p:nvSpPr>
          <p:cNvPr id="31" name="object 31"/>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2" name="object 32"/>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26</a:t>
            </a:fld>
            <a:r>
              <a:rPr spc="-10" dirty="0"/>
              <a:t>/60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00" dirty="0"/>
              <a:t> </a:t>
            </a:r>
            <a:r>
              <a:rPr spc="120" dirty="0"/>
              <a:t>VE</a:t>
            </a:r>
          </a:p>
        </p:txBody>
      </p:sp>
      <p:sp>
        <p:nvSpPr>
          <p:cNvPr id="3" name="object 3"/>
          <p:cNvSpPr txBox="1"/>
          <p:nvPr/>
        </p:nvSpPr>
        <p:spPr>
          <a:xfrm>
            <a:off x="611174" y="1879469"/>
            <a:ext cx="2764155" cy="391795"/>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454C4C"/>
                </a:solidFill>
                <a:latin typeface="Arial MT"/>
                <a:cs typeface="Arial MT"/>
              </a:rPr>
              <a:t>Backup</a:t>
            </a:r>
            <a:r>
              <a:rPr sz="2400" spc="-70" dirty="0">
                <a:solidFill>
                  <a:srgbClr val="454C4C"/>
                </a:solidFill>
                <a:latin typeface="Arial MT"/>
                <a:cs typeface="Arial MT"/>
              </a:rPr>
              <a:t> </a:t>
            </a:r>
            <a:r>
              <a:rPr sz="2400" spc="85" dirty="0">
                <a:solidFill>
                  <a:srgbClr val="454C4C"/>
                </a:solidFill>
                <a:latin typeface="Arial MT"/>
                <a:cs typeface="Arial MT"/>
              </a:rPr>
              <a:t>out</a:t>
            </a:r>
            <a:r>
              <a:rPr sz="2400" spc="-70" dirty="0">
                <a:solidFill>
                  <a:srgbClr val="454C4C"/>
                </a:solidFill>
                <a:latin typeface="Arial MT"/>
                <a:cs typeface="Arial MT"/>
              </a:rPr>
              <a:t> </a:t>
            </a:r>
            <a:r>
              <a:rPr sz="2400" spc="55" dirty="0">
                <a:solidFill>
                  <a:srgbClr val="454C4C"/>
                </a:solidFill>
                <a:latin typeface="Arial MT"/>
                <a:cs typeface="Arial MT"/>
              </a:rPr>
              <a:t>of</a:t>
            </a:r>
            <a:r>
              <a:rPr sz="2400" spc="-70" dirty="0">
                <a:solidFill>
                  <a:srgbClr val="454C4C"/>
                </a:solidFill>
                <a:latin typeface="Arial MT"/>
                <a:cs typeface="Arial MT"/>
              </a:rPr>
              <a:t> </a:t>
            </a:r>
            <a:r>
              <a:rPr sz="2400" spc="60" dirty="0">
                <a:solidFill>
                  <a:srgbClr val="454C4C"/>
                </a:solidFill>
                <a:latin typeface="Arial MT"/>
                <a:cs typeface="Arial MT"/>
              </a:rPr>
              <a:t>order</a:t>
            </a:r>
            <a:endParaRPr sz="2400">
              <a:latin typeface="Arial MT"/>
              <a:cs typeface="Arial MT"/>
            </a:endParaRPr>
          </a:p>
        </p:txBody>
      </p:sp>
      <p:sp>
        <p:nvSpPr>
          <p:cNvPr id="4" name="object 4"/>
          <p:cNvSpPr/>
          <p:nvPr/>
        </p:nvSpPr>
        <p:spPr>
          <a:xfrm>
            <a:off x="6525006" y="2811242"/>
            <a:ext cx="1022985" cy="622935"/>
          </a:xfrm>
          <a:custGeom>
            <a:avLst/>
            <a:gdLst/>
            <a:ahLst/>
            <a:cxnLst/>
            <a:rect l="l" t="t" r="r" b="b"/>
            <a:pathLst>
              <a:path w="1022984" h="622935">
                <a:moveTo>
                  <a:pt x="422630" y="0"/>
                </a:moveTo>
                <a:lnTo>
                  <a:pt x="458657" y="2821"/>
                </a:lnTo>
                <a:lnTo>
                  <a:pt x="494006" y="10669"/>
                </a:lnTo>
                <a:lnTo>
                  <a:pt x="560514" y="41046"/>
                </a:lnTo>
                <a:lnTo>
                  <a:pt x="608261" y="79655"/>
                </a:lnTo>
                <a:lnTo>
                  <a:pt x="647636" y="128523"/>
                </a:lnTo>
                <a:lnTo>
                  <a:pt x="662651" y="121171"/>
                </a:lnTo>
                <a:lnTo>
                  <a:pt x="678373" y="115879"/>
                </a:lnTo>
                <a:lnTo>
                  <a:pt x="694567" y="112680"/>
                </a:lnTo>
                <a:lnTo>
                  <a:pt x="710996" y="111607"/>
                </a:lnTo>
                <a:lnTo>
                  <a:pt x="764757" y="123453"/>
                </a:lnTo>
                <a:lnTo>
                  <a:pt x="810487" y="157013"/>
                </a:lnTo>
                <a:lnTo>
                  <a:pt x="833031" y="189369"/>
                </a:lnTo>
                <a:lnTo>
                  <a:pt x="839876" y="204850"/>
                </a:lnTo>
                <a:lnTo>
                  <a:pt x="845629" y="204127"/>
                </a:lnTo>
                <a:lnTo>
                  <a:pt x="851395" y="203771"/>
                </a:lnTo>
                <a:lnTo>
                  <a:pt x="857148" y="203771"/>
                </a:lnTo>
                <a:lnTo>
                  <a:pt x="878639" y="205318"/>
                </a:lnTo>
                <a:lnTo>
                  <a:pt x="899725" y="209935"/>
                </a:lnTo>
                <a:lnTo>
                  <a:pt x="939596" y="228244"/>
                </a:lnTo>
                <a:lnTo>
                  <a:pt x="973883" y="257090"/>
                </a:lnTo>
                <a:lnTo>
                  <a:pt x="1000074" y="294843"/>
                </a:lnTo>
                <a:lnTo>
                  <a:pt x="1016631" y="338899"/>
                </a:lnTo>
                <a:lnTo>
                  <a:pt x="1022388" y="385927"/>
                </a:lnTo>
                <a:lnTo>
                  <a:pt x="1022388" y="386283"/>
                </a:lnTo>
                <a:lnTo>
                  <a:pt x="1020926" y="409984"/>
                </a:lnTo>
                <a:lnTo>
                  <a:pt x="1016631" y="433311"/>
                </a:lnTo>
                <a:lnTo>
                  <a:pt x="1000074" y="477367"/>
                </a:lnTo>
                <a:lnTo>
                  <a:pt x="973883" y="515124"/>
                </a:lnTo>
                <a:lnTo>
                  <a:pt x="939596" y="543966"/>
                </a:lnTo>
                <a:lnTo>
                  <a:pt x="899725" y="562286"/>
                </a:lnTo>
                <a:lnTo>
                  <a:pt x="857148" y="568451"/>
                </a:lnTo>
                <a:lnTo>
                  <a:pt x="840283" y="567506"/>
                </a:lnTo>
                <a:lnTo>
                  <a:pt x="823717" y="564670"/>
                </a:lnTo>
                <a:lnTo>
                  <a:pt x="807486" y="559943"/>
                </a:lnTo>
                <a:lnTo>
                  <a:pt x="791629" y="553326"/>
                </a:lnTo>
                <a:lnTo>
                  <a:pt x="757917" y="588662"/>
                </a:lnTo>
                <a:lnTo>
                  <a:pt x="705231" y="616148"/>
                </a:lnTo>
                <a:lnTo>
                  <a:pt x="662393" y="622452"/>
                </a:lnTo>
                <a:lnTo>
                  <a:pt x="640910" y="620698"/>
                </a:lnTo>
                <a:lnTo>
                  <a:pt x="619867" y="616010"/>
                </a:lnTo>
                <a:lnTo>
                  <a:pt x="580313" y="597966"/>
                </a:lnTo>
                <a:lnTo>
                  <a:pt x="551878" y="574928"/>
                </a:lnTo>
                <a:lnTo>
                  <a:pt x="521151" y="590371"/>
                </a:lnTo>
                <a:lnTo>
                  <a:pt x="489145" y="601564"/>
                </a:lnTo>
                <a:lnTo>
                  <a:pt x="456193" y="608436"/>
                </a:lnTo>
                <a:lnTo>
                  <a:pt x="422630" y="610920"/>
                </a:lnTo>
                <a:lnTo>
                  <a:pt x="386722" y="608111"/>
                </a:lnTo>
                <a:lnTo>
                  <a:pt x="351621" y="600306"/>
                </a:lnTo>
                <a:lnTo>
                  <a:pt x="317735" y="587639"/>
                </a:lnTo>
                <a:lnTo>
                  <a:pt x="285470" y="570242"/>
                </a:lnTo>
                <a:lnTo>
                  <a:pt x="285115" y="570610"/>
                </a:lnTo>
                <a:lnTo>
                  <a:pt x="284391" y="570966"/>
                </a:lnTo>
                <a:lnTo>
                  <a:pt x="284035" y="571322"/>
                </a:lnTo>
                <a:lnTo>
                  <a:pt x="261803" y="583251"/>
                </a:lnTo>
                <a:lnTo>
                  <a:pt x="238493" y="591937"/>
                </a:lnTo>
                <a:lnTo>
                  <a:pt x="214373" y="597246"/>
                </a:lnTo>
                <a:lnTo>
                  <a:pt x="189712" y="599046"/>
                </a:lnTo>
                <a:lnTo>
                  <a:pt x="164846" y="597296"/>
                </a:lnTo>
                <a:lnTo>
                  <a:pt x="140620" y="592070"/>
                </a:lnTo>
                <a:lnTo>
                  <a:pt x="95034" y="571322"/>
                </a:lnTo>
                <a:lnTo>
                  <a:pt x="55702" y="537983"/>
                </a:lnTo>
                <a:lnTo>
                  <a:pt x="25552" y="494652"/>
                </a:lnTo>
                <a:lnTo>
                  <a:pt x="6699" y="444023"/>
                </a:lnTo>
                <a:lnTo>
                  <a:pt x="0" y="389889"/>
                </a:lnTo>
                <a:lnTo>
                  <a:pt x="1663" y="362532"/>
                </a:lnTo>
                <a:lnTo>
                  <a:pt x="6565" y="335751"/>
                </a:lnTo>
                <a:lnTo>
                  <a:pt x="25552" y="285127"/>
                </a:lnTo>
                <a:lnTo>
                  <a:pt x="55702" y="241968"/>
                </a:lnTo>
                <a:lnTo>
                  <a:pt x="95034" y="208800"/>
                </a:lnTo>
                <a:lnTo>
                  <a:pt x="131303" y="190847"/>
                </a:lnTo>
                <a:lnTo>
                  <a:pt x="170268" y="181800"/>
                </a:lnTo>
                <a:lnTo>
                  <a:pt x="203649" y="119513"/>
                </a:lnTo>
                <a:lnTo>
                  <a:pt x="227422" y="89557"/>
                </a:lnTo>
                <a:lnTo>
                  <a:pt x="284759" y="41046"/>
                </a:lnTo>
                <a:lnTo>
                  <a:pt x="351128" y="10669"/>
                </a:lnTo>
                <a:lnTo>
                  <a:pt x="422630" y="0"/>
                </a:lnTo>
                <a:close/>
              </a:path>
            </a:pathLst>
          </a:custGeom>
          <a:ln w="26984">
            <a:solidFill>
              <a:srgbClr val="CCCCCC"/>
            </a:solidFill>
          </a:ln>
        </p:spPr>
        <p:txBody>
          <a:bodyPr wrap="square" lIns="0" tIns="0" rIns="0" bIns="0" rtlCol="0"/>
          <a:lstStyle/>
          <a:p>
            <a:endParaRPr/>
          </a:p>
        </p:txBody>
      </p:sp>
      <p:grpSp>
        <p:nvGrpSpPr>
          <p:cNvPr id="5" name="object 5"/>
          <p:cNvGrpSpPr/>
          <p:nvPr/>
        </p:nvGrpSpPr>
        <p:grpSpPr>
          <a:xfrm>
            <a:off x="5907239" y="3038407"/>
            <a:ext cx="405130" cy="168275"/>
            <a:chOff x="5907239" y="3038407"/>
            <a:chExt cx="405130" cy="168275"/>
          </a:xfrm>
        </p:grpSpPr>
        <p:sp>
          <p:nvSpPr>
            <p:cNvPr id="6" name="object 6"/>
            <p:cNvSpPr/>
            <p:nvPr/>
          </p:nvSpPr>
          <p:spPr>
            <a:xfrm>
              <a:off x="5907239"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7" name="object 7"/>
            <p:cNvSpPr/>
            <p:nvPr/>
          </p:nvSpPr>
          <p:spPr>
            <a:xfrm>
              <a:off x="6124676" y="3038407"/>
              <a:ext cx="187960" cy="168275"/>
            </a:xfrm>
            <a:custGeom>
              <a:avLst/>
              <a:gdLst/>
              <a:ahLst/>
              <a:cxnLst/>
              <a:rect l="l" t="t" r="r" b="b"/>
              <a:pathLst>
                <a:path w="187960" h="168275">
                  <a:moveTo>
                    <a:pt x="11163" y="0"/>
                  </a:moveTo>
                  <a:lnTo>
                    <a:pt x="9728" y="0"/>
                  </a:lnTo>
                  <a:lnTo>
                    <a:pt x="6489" y="723"/>
                  </a:lnTo>
                  <a:lnTo>
                    <a:pt x="2882" y="2527"/>
                  </a:lnTo>
                  <a:lnTo>
                    <a:pt x="723" y="5397"/>
                  </a:lnTo>
                  <a:lnTo>
                    <a:pt x="0" y="9004"/>
                  </a:lnTo>
                  <a:lnTo>
                    <a:pt x="0" y="158762"/>
                  </a:lnTo>
                  <a:lnTo>
                    <a:pt x="723" y="162356"/>
                  </a:lnTo>
                  <a:lnTo>
                    <a:pt x="2882" y="165963"/>
                  </a:lnTo>
                  <a:lnTo>
                    <a:pt x="6489" y="167398"/>
                  </a:lnTo>
                  <a:lnTo>
                    <a:pt x="9728" y="168122"/>
                  </a:lnTo>
                  <a:lnTo>
                    <a:pt x="11163" y="168122"/>
                  </a:lnTo>
                  <a:lnTo>
                    <a:pt x="13322" y="167398"/>
                  </a:lnTo>
                  <a:lnTo>
                    <a:pt x="180721" y="92875"/>
                  </a:lnTo>
                  <a:lnTo>
                    <a:pt x="185407" y="89281"/>
                  </a:lnTo>
                  <a:lnTo>
                    <a:pt x="187566" y="84239"/>
                  </a:lnTo>
                  <a:lnTo>
                    <a:pt x="185407" y="78485"/>
                  </a:lnTo>
                  <a:lnTo>
                    <a:pt x="181089"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8" name="object 8"/>
          <p:cNvGrpSpPr/>
          <p:nvPr/>
        </p:nvGrpSpPr>
        <p:grpSpPr>
          <a:xfrm>
            <a:off x="7759445" y="3038407"/>
            <a:ext cx="405130" cy="168275"/>
            <a:chOff x="7759445" y="3038407"/>
            <a:chExt cx="405130" cy="168275"/>
          </a:xfrm>
        </p:grpSpPr>
        <p:sp>
          <p:nvSpPr>
            <p:cNvPr id="9" name="object 9"/>
            <p:cNvSpPr/>
            <p:nvPr/>
          </p:nvSpPr>
          <p:spPr>
            <a:xfrm>
              <a:off x="7759445"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10" name="object 10"/>
            <p:cNvSpPr/>
            <p:nvPr/>
          </p:nvSpPr>
          <p:spPr>
            <a:xfrm>
              <a:off x="7976882" y="3038407"/>
              <a:ext cx="187960" cy="168275"/>
            </a:xfrm>
            <a:custGeom>
              <a:avLst/>
              <a:gdLst/>
              <a:ahLst/>
              <a:cxnLst/>
              <a:rect l="l" t="t" r="r" b="b"/>
              <a:pathLst>
                <a:path w="187959" h="168275">
                  <a:moveTo>
                    <a:pt x="11163" y="0"/>
                  </a:moveTo>
                  <a:lnTo>
                    <a:pt x="9715" y="0"/>
                  </a:lnTo>
                  <a:lnTo>
                    <a:pt x="6476" y="723"/>
                  </a:lnTo>
                  <a:lnTo>
                    <a:pt x="2882" y="2527"/>
                  </a:lnTo>
                  <a:lnTo>
                    <a:pt x="711" y="5397"/>
                  </a:lnTo>
                  <a:lnTo>
                    <a:pt x="0" y="9004"/>
                  </a:lnTo>
                  <a:lnTo>
                    <a:pt x="0" y="158762"/>
                  </a:lnTo>
                  <a:lnTo>
                    <a:pt x="711" y="162356"/>
                  </a:lnTo>
                  <a:lnTo>
                    <a:pt x="2882" y="165963"/>
                  </a:lnTo>
                  <a:lnTo>
                    <a:pt x="6476" y="167398"/>
                  </a:lnTo>
                  <a:lnTo>
                    <a:pt x="9715" y="168122"/>
                  </a:lnTo>
                  <a:lnTo>
                    <a:pt x="11163" y="168122"/>
                  </a:lnTo>
                  <a:lnTo>
                    <a:pt x="13322" y="167398"/>
                  </a:lnTo>
                  <a:lnTo>
                    <a:pt x="180721" y="92875"/>
                  </a:lnTo>
                  <a:lnTo>
                    <a:pt x="185394" y="89281"/>
                  </a:lnTo>
                  <a:lnTo>
                    <a:pt x="187553" y="84239"/>
                  </a:lnTo>
                  <a:lnTo>
                    <a:pt x="185394" y="78485"/>
                  </a:lnTo>
                  <a:lnTo>
                    <a:pt x="181076"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11" name="object 11"/>
          <p:cNvGrpSpPr/>
          <p:nvPr/>
        </p:nvGrpSpPr>
        <p:grpSpPr>
          <a:xfrm>
            <a:off x="8429531" y="2854060"/>
            <a:ext cx="411480" cy="536575"/>
            <a:chOff x="8429531" y="2854060"/>
            <a:chExt cx="411480" cy="536575"/>
          </a:xfrm>
        </p:grpSpPr>
        <p:sp>
          <p:nvSpPr>
            <p:cNvPr id="12" name="object 12"/>
            <p:cNvSpPr/>
            <p:nvPr/>
          </p:nvSpPr>
          <p:spPr>
            <a:xfrm>
              <a:off x="8439480" y="3173408"/>
              <a:ext cx="391160" cy="208279"/>
            </a:xfrm>
            <a:custGeom>
              <a:avLst/>
              <a:gdLst/>
              <a:ahLst/>
              <a:cxnLst/>
              <a:rect l="l" t="t" r="r" b="b"/>
              <a:pathLst>
                <a:path w="391159" h="208279">
                  <a:moveTo>
                    <a:pt x="390956" y="110883"/>
                  </a:moveTo>
                  <a:lnTo>
                    <a:pt x="360254" y="166092"/>
                  </a:lnTo>
                  <a:lnTo>
                    <a:pt x="320582" y="187085"/>
                  </a:lnTo>
                  <a:lnTo>
                    <a:pt x="268730" y="201598"/>
                  </a:lnTo>
                  <a:lnTo>
                    <a:pt x="207721" y="208076"/>
                  </a:lnTo>
                  <a:lnTo>
                    <a:pt x="145305" y="205074"/>
                  </a:lnTo>
                  <a:lnTo>
                    <a:pt x="89941" y="193552"/>
                  </a:lnTo>
                  <a:lnTo>
                    <a:pt x="45047" y="174927"/>
                  </a:lnTo>
                  <a:lnTo>
                    <a:pt x="14045" y="150615"/>
                  </a:lnTo>
                  <a:lnTo>
                    <a:pt x="0" y="118795"/>
                  </a:lnTo>
                  <a:lnTo>
                    <a:pt x="0" y="115557"/>
                  </a:lnTo>
                  <a:lnTo>
                    <a:pt x="355" y="112318"/>
                  </a:lnTo>
                </a:path>
                <a:path w="391159" h="208279">
                  <a:moveTo>
                    <a:pt x="390956" y="0"/>
                  </a:moveTo>
                  <a:lnTo>
                    <a:pt x="360254" y="55209"/>
                  </a:lnTo>
                  <a:lnTo>
                    <a:pt x="320582" y="76204"/>
                  </a:lnTo>
                  <a:lnTo>
                    <a:pt x="268730" y="90721"/>
                  </a:lnTo>
                  <a:lnTo>
                    <a:pt x="207721" y="97205"/>
                  </a:lnTo>
                  <a:lnTo>
                    <a:pt x="145305" y="94197"/>
                  </a:lnTo>
                  <a:lnTo>
                    <a:pt x="89941" y="82672"/>
                  </a:lnTo>
                  <a:lnTo>
                    <a:pt x="45047" y="64046"/>
                  </a:lnTo>
                  <a:lnTo>
                    <a:pt x="14045" y="39738"/>
                  </a:lnTo>
                  <a:lnTo>
                    <a:pt x="0" y="7924"/>
                  </a:lnTo>
                  <a:lnTo>
                    <a:pt x="0" y="4686"/>
                  </a:lnTo>
                  <a:lnTo>
                    <a:pt x="355" y="1435"/>
                  </a:lnTo>
                </a:path>
              </a:pathLst>
            </a:custGeom>
            <a:ln w="17959">
              <a:solidFill>
                <a:srgbClr val="454C4C"/>
              </a:solidFill>
            </a:ln>
          </p:spPr>
          <p:txBody>
            <a:bodyPr wrap="square" lIns="0" tIns="0" rIns="0" bIns="0" rtlCol="0"/>
            <a:lstStyle/>
            <a:p>
              <a:endParaRPr/>
            </a:p>
          </p:txBody>
        </p:sp>
        <p:sp>
          <p:nvSpPr>
            <p:cNvPr id="13" name="object 13"/>
            <p:cNvSpPr/>
            <p:nvPr/>
          </p:nvSpPr>
          <p:spPr>
            <a:xfrm>
              <a:off x="8439835" y="2863084"/>
              <a:ext cx="389890" cy="181610"/>
            </a:xfrm>
            <a:custGeom>
              <a:avLst/>
              <a:gdLst/>
              <a:ahLst/>
              <a:cxnLst/>
              <a:rect l="l" t="t" r="r" b="b"/>
              <a:pathLst>
                <a:path w="389890" h="181610">
                  <a:moveTo>
                    <a:pt x="389890" y="90360"/>
                  </a:moveTo>
                  <a:lnTo>
                    <a:pt x="352333" y="143913"/>
                  </a:lnTo>
                  <a:lnTo>
                    <a:pt x="310183" y="163563"/>
                  </a:lnTo>
                  <a:lnTo>
                    <a:pt x="256714" y="176457"/>
                  </a:lnTo>
                  <a:lnTo>
                    <a:pt x="195122" y="181089"/>
                  </a:lnTo>
                  <a:lnTo>
                    <a:pt x="133357" y="176457"/>
                  </a:lnTo>
                  <a:lnTo>
                    <a:pt x="79783" y="163563"/>
                  </a:lnTo>
                  <a:lnTo>
                    <a:pt x="37578" y="143913"/>
                  </a:lnTo>
                  <a:lnTo>
                    <a:pt x="9924" y="119010"/>
                  </a:lnTo>
                  <a:lnTo>
                    <a:pt x="0" y="90360"/>
                  </a:lnTo>
                  <a:lnTo>
                    <a:pt x="9924" y="61748"/>
                  </a:lnTo>
                  <a:lnTo>
                    <a:pt x="37578" y="36937"/>
                  </a:lnTo>
                  <a:lnTo>
                    <a:pt x="79783" y="17395"/>
                  </a:lnTo>
                  <a:lnTo>
                    <a:pt x="133357" y="4593"/>
                  </a:lnTo>
                  <a:lnTo>
                    <a:pt x="195122" y="0"/>
                  </a:lnTo>
                  <a:lnTo>
                    <a:pt x="256714" y="4593"/>
                  </a:lnTo>
                  <a:lnTo>
                    <a:pt x="310183" y="17395"/>
                  </a:lnTo>
                  <a:lnTo>
                    <a:pt x="352333" y="36937"/>
                  </a:lnTo>
                  <a:lnTo>
                    <a:pt x="379968" y="61748"/>
                  </a:lnTo>
                  <a:lnTo>
                    <a:pt x="389890" y="90360"/>
                  </a:lnTo>
                  <a:close/>
                </a:path>
              </a:pathLst>
            </a:custGeom>
            <a:ln w="18046">
              <a:solidFill>
                <a:srgbClr val="454C4C"/>
              </a:solidFill>
            </a:ln>
          </p:spPr>
          <p:txBody>
            <a:bodyPr wrap="square" lIns="0" tIns="0" rIns="0" bIns="0" rtlCol="0"/>
            <a:lstStyle/>
            <a:p>
              <a:endParaRPr/>
            </a:p>
          </p:txBody>
        </p:sp>
        <p:sp>
          <p:nvSpPr>
            <p:cNvPr id="14" name="object 14"/>
            <p:cNvSpPr/>
            <p:nvPr/>
          </p:nvSpPr>
          <p:spPr>
            <a:xfrm>
              <a:off x="8439480" y="2958130"/>
              <a:ext cx="635" cy="333375"/>
            </a:xfrm>
            <a:custGeom>
              <a:avLst/>
              <a:gdLst/>
              <a:ahLst/>
              <a:cxnLst/>
              <a:rect l="l" t="t" r="r" b="b"/>
              <a:pathLst>
                <a:path w="634" h="333375">
                  <a:moveTo>
                    <a:pt x="355" y="333362"/>
                  </a:moveTo>
                  <a:lnTo>
                    <a:pt x="0" y="0"/>
                  </a:lnTo>
                </a:path>
              </a:pathLst>
            </a:custGeom>
            <a:ln w="19896">
              <a:solidFill>
                <a:srgbClr val="454C4C"/>
              </a:solidFill>
            </a:ln>
          </p:spPr>
          <p:txBody>
            <a:bodyPr wrap="square" lIns="0" tIns="0" rIns="0" bIns="0" rtlCol="0"/>
            <a:lstStyle/>
            <a:p>
              <a:endParaRPr/>
            </a:p>
          </p:txBody>
        </p:sp>
        <p:sp>
          <p:nvSpPr>
            <p:cNvPr id="15" name="object 15"/>
            <p:cNvSpPr/>
            <p:nvPr/>
          </p:nvSpPr>
          <p:spPr>
            <a:xfrm>
              <a:off x="8439480" y="3066131"/>
              <a:ext cx="391160" cy="97790"/>
            </a:xfrm>
            <a:custGeom>
              <a:avLst/>
              <a:gdLst/>
              <a:ahLst/>
              <a:cxnLst/>
              <a:rect l="l" t="t" r="r" b="b"/>
              <a:pathLst>
                <a:path w="391159" h="97789">
                  <a:moveTo>
                    <a:pt x="390956" y="0"/>
                  </a:moveTo>
                  <a:lnTo>
                    <a:pt x="360254" y="55314"/>
                  </a:lnTo>
                  <a:lnTo>
                    <a:pt x="320582" y="76360"/>
                  </a:lnTo>
                  <a:lnTo>
                    <a:pt x="268730" y="90856"/>
                  </a:lnTo>
                  <a:lnTo>
                    <a:pt x="207721" y="97193"/>
                  </a:lnTo>
                  <a:lnTo>
                    <a:pt x="145305" y="94361"/>
                  </a:lnTo>
                  <a:lnTo>
                    <a:pt x="89941" y="82925"/>
                  </a:lnTo>
                  <a:lnTo>
                    <a:pt x="45047" y="64302"/>
                  </a:lnTo>
                  <a:lnTo>
                    <a:pt x="14045" y="39908"/>
                  </a:lnTo>
                  <a:lnTo>
                    <a:pt x="0" y="7912"/>
                  </a:lnTo>
                  <a:lnTo>
                    <a:pt x="0" y="4673"/>
                  </a:lnTo>
                  <a:lnTo>
                    <a:pt x="355" y="1435"/>
                  </a:lnTo>
                </a:path>
              </a:pathLst>
            </a:custGeom>
            <a:ln w="17959">
              <a:solidFill>
                <a:srgbClr val="454C4C"/>
              </a:solidFill>
            </a:ln>
          </p:spPr>
          <p:txBody>
            <a:bodyPr wrap="square" lIns="0" tIns="0" rIns="0" bIns="0" rtlCol="0"/>
            <a:lstStyle/>
            <a:p>
              <a:endParaRPr/>
            </a:p>
          </p:txBody>
        </p:sp>
        <p:sp>
          <p:nvSpPr>
            <p:cNvPr id="16" name="object 16"/>
            <p:cNvSpPr/>
            <p:nvPr/>
          </p:nvSpPr>
          <p:spPr>
            <a:xfrm>
              <a:off x="8830437" y="2958130"/>
              <a:ext cx="635" cy="333375"/>
            </a:xfrm>
            <a:custGeom>
              <a:avLst/>
              <a:gdLst/>
              <a:ahLst/>
              <a:cxnLst/>
              <a:rect l="l" t="t" r="r" b="b"/>
              <a:pathLst>
                <a:path w="634" h="333375">
                  <a:moveTo>
                    <a:pt x="368" y="333362"/>
                  </a:moveTo>
                  <a:lnTo>
                    <a:pt x="0" y="0"/>
                  </a:lnTo>
                </a:path>
              </a:pathLst>
            </a:custGeom>
            <a:ln w="19896">
              <a:solidFill>
                <a:srgbClr val="454C4C"/>
              </a:solidFill>
            </a:ln>
          </p:spPr>
          <p:txBody>
            <a:bodyPr wrap="square" lIns="0" tIns="0" rIns="0" bIns="0" rtlCol="0"/>
            <a:lstStyle/>
            <a:p>
              <a:endParaRPr/>
            </a:p>
          </p:txBody>
        </p:sp>
      </p:grpSp>
      <p:sp>
        <p:nvSpPr>
          <p:cNvPr id="17" name="object 17"/>
          <p:cNvSpPr txBox="1"/>
          <p:nvPr/>
        </p:nvSpPr>
        <p:spPr>
          <a:xfrm>
            <a:off x="6685826" y="3061712"/>
            <a:ext cx="2531745" cy="69469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Network</a:t>
            </a:r>
            <a:endParaRPr sz="1400">
              <a:latin typeface="Arial MT"/>
              <a:cs typeface="Arial MT"/>
            </a:endParaRPr>
          </a:p>
          <a:p>
            <a:pPr>
              <a:lnSpc>
                <a:spcPct val="100000"/>
              </a:lnSpc>
              <a:spcBef>
                <a:spcPts val="295"/>
              </a:spcBef>
            </a:pPr>
            <a:endParaRPr sz="1400">
              <a:latin typeface="Arial MT"/>
              <a:cs typeface="Arial MT"/>
            </a:endParaRPr>
          </a:p>
          <a:p>
            <a:pPr marL="1377950">
              <a:lnSpc>
                <a:spcPct val="100000"/>
              </a:lnSpc>
              <a:spcBef>
                <a:spcPts val="5"/>
              </a:spcBef>
            </a:pPr>
            <a:r>
              <a:rPr sz="1400" spc="-10" dirty="0">
                <a:solidFill>
                  <a:srgbClr val="454C4C"/>
                </a:solidFill>
                <a:latin typeface="Arial MT"/>
                <a:cs typeface="Arial MT"/>
              </a:rPr>
              <a:t>Backup</a:t>
            </a:r>
            <a:r>
              <a:rPr sz="1400" spc="-55" dirty="0">
                <a:solidFill>
                  <a:srgbClr val="454C4C"/>
                </a:solidFill>
                <a:latin typeface="Arial MT"/>
                <a:cs typeface="Arial MT"/>
              </a:rPr>
              <a:t> </a:t>
            </a:r>
            <a:r>
              <a:rPr sz="1400" spc="-10" dirty="0">
                <a:solidFill>
                  <a:srgbClr val="454C4C"/>
                </a:solidFill>
                <a:latin typeface="Arial MT"/>
                <a:cs typeface="Arial MT"/>
              </a:rPr>
              <a:t>Target</a:t>
            </a:r>
            <a:endParaRPr sz="1400">
              <a:latin typeface="Arial MT"/>
              <a:cs typeface="Arial MT"/>
            </a:endParaRPr>
          </a:p>
        </p:txBody>
      </p:sp>
      <p:grpSp>
        <p:nvGrpSpPr>
          <p:cNvPr id="18" name="object 18"/>
          <p:cNvGrpSpPr/>
          <p:nvPr/>
        </p:nvGrpSpPr>
        <p:grpSpPr>
          <a:xfrm>
            <a:off x="525957" y="2870285"/>
            <a:ext cx="5182870" cy="504190"/>
            <a:chOff x="525957" y="2870285"/>
            <a:chExt cx="5182870" cy="504190"/>
          </a:xfrm>
        </p:grpSpPr>
        <p:sp>
          <p:nvSpPr>
            <p:cNvPr id="19" name="object 19"/>
            <p:cNvSpPr/>
            <p:nvPr/>
          </p:nvSpPr>
          <p:spPr>
            <a:xfrm>
              <a:off x="1045794" y="2870284"/>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3623043" y="0"/>
                  </a:moveTo>
                  <a:lnTo>
                    <a:pt x="3119043" y="0"/>
                  </a:lnTo>
                  <a:lnTo>
                    <a:pt x="3119043" y="503999"/>
                  </a:lnTo>
                  <a:lnTo>
                    <a:pt x="3371050" y="503999"/>
                  </a:lnTo>
                  <a:lnTo>
                    <a:pt x="3623043" y="503999"/>
                  </a:lnTo>
                  <a:lnTo>
                    <a:pt x="3623043" y="0"/>
                  </a:lnTo>
                  <a:close/>
                </a:path>
              </a:pathLst>
            </a:custGeom>
            <a:solidFill>
              <a:srgbClr val="FF9000"/>
            </a:solidFill>
          </p:spPr>
          <p:txBody>
            <a:bodyPr wrap="square" lIns="0" tIns="0" rIns="0" bIns="0" rtlCol="0"/>
            <a:lstStyle/>
            <a:p>
              <a:endParaRPr/>
            </a:p>
          </p:txBody>
        </p:sp>
        <p:sp>
          <p:nvSpPr>
            <p:cNvPr id="20" name="object 20"/>
            <p:cNvSpPr/>
            <p:nvPr/>
          </p:nvSpPr>
          <p:spPr>
            <a:xfrm>
              <a:off x="2605316" y="2870284"/>
              <a:ext cx="1543685" cy="504190"/>
            </a:xfrm>
            <a:custGeom>
              <a:avLst/>
              <a:gdLst/>
              <a:ahLst/>
              <a:cxnLst/>
              <a:rect l="l" t="t" r="r" b="b"/>
              <a:pathLst>
                <a:path w="1543685" h="504189">
                  <a:moveTo>
                    <a:pt x="503999" y="0"/>
                  </a:moveTo>
                  <a:lnTo>
                    <a:pt x="0" y="0"/>
                  </a:lnTo>
                  <a:lnTo>
                    <a:pt x="0" y="503999"/>
                  </a:lnTo>
                  <a:lnTo>
                    <a:pt x="252006" y="503999"/>
                  </a:lnTo>
                  <a:lnTo>
                    <a:pt x="503999" y="503999"/>
                  </a:lnTo>
                  <a:lnTo>
                    <a:pt x="503999" y="0"/>
                  </a:lnTo>
                  <a:close/>
                </a:path>
                <a:path w="1543685" h="504189">
                  <a:moveTo>
                    <a:pt x="1543685" y="0"/>
                  </a:moveTo>
                  <a:lnTo>
                    <a:pt x="1039685" y="0"/>
                  </a:lnTo>
                  <a:lnTo>
                    <a:pt x="1039685" y="503999"/>
                  </a:lnTo>
                  <a:lnTo>
                    <a:pt x="1291678" y="503999"/>
                  </a:lnTo>
                  <a:lnTo>
                    <a:pt x="1543685" y="503999"/>
                  </a:lnTo>
                  <a:lnTo>
                    <a:pt x="1543685" y="0"/>
                  </a:lnTo>
                  <a:close/>
                </a:path>
              </a:pathLst>
            </a:custGeom>
            <a:solidFill>
              <a:srgbClr val="DAD6D4"/>
            </a:solidFill>
          </p:spPr>
          <p:txBody>
            <a:bodyPr wrap="square" lIns="0" tIns="0" rIns="0" bIns="0" rtlCol="0"/>
            <a:lstStyle/>
            <a:p>
              <a:endParaRPr/>
            </a:p>
          </p:txBody>
        </p:sp>
        <p:sp>
          <p:nvSpPr>
            <p:cNvPr id="21" name="object 21"/>
            <p:cNvSpPr/>
            <p:nvPr/>
          </p:nvSpPr>
          <p:spPr>
            <a:xfrm>
              <a:off x="525957" y="2870284"/>
              <a:ext cx="1543685" cy="504190"/>
            </a:xfrm>
            <a:custGeom>
              <a:avLst/>
              <a:gdLst/>
              <a:ahLst/>
              <a:cxnLst/>
              <a:rect l="l" t="t" r="r" b="b"/>
              <a:pathLst>
                <a:path w="1543685" h="504189">
                  <a:moveTo>
                    <a:pt x="503999" y="0"/>
                  </a:moveTo>
                  <a:lnTo>
                    <a:pt x="0" y="0"/>
                  </a:lnTo>
                  <a:lnTo>
                    <a:pt x="0" y="503999"/>
                  </a:lnTo>
                  <a:lnTo>
                    <a:pt x="252006" y="503999"/>
                  </a:lnTo>
                  <a:lnTo>
                    <a:pt x="503999" y="503999"/>
                  </a:lnTo>
                  <a:lnTo>
                    <a:pt x="503999" y="0"/>
                  </a:lnTo>
                  <a:close/>
                </a:path>
                <a:path w="1543685" h="504189">
                  <a:moveTo>
                    <a:pt x="1543685" y="0"/>
                  </a:moveTo>
                  <a:lnTo>
                    <a:pt x="1039685" y="0"/>
                  </a:lnTo>
                  <a:lnTo>
                    <a:pt x="1039685" y="503999"/>
                  </a:lnTo>
                  <a:lnTo>
                    <a:pt x="1291678" y="503999"/>
                  </a:lnTo>
                  <a:lnTo>
                    <a:pt x="1543685" y="503999"/>
                  </a:lnTo>
                  <a:lnTo>
                    <a:pt x="1543685" y="0"/>
                  </a:lnTo>
                  <a:close/>
                </a:path>
              </a:pathLst>
            </a:custGeom>
            <a:solidFill>
              <a:srgbClr val="FF9000"/>
            </a:solidFill>
          </p:spPr>
          <p:txBody>
            <a:bodyPr wrap="square" lIns="0" tIns="0" rIns="0" bIns="0" rtlCol="0"/>
            <a:lstStyle/>
            <a:p>
              <a:endParaRPr/>
            </a:p>
          </p:txBody>
        </p:sp>
        <p:sp>
          <p:nvSpPr>
            <p:cNvPr id="22" name="object 22"/>
            <p:cNvSpPr/>
            <p:nvPr/>
          </p:nvSpPr>
          <p:spPr>
            <a:xfrm>
              <a:off x="2085479" y="2870284"/>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1543685" y="0"/>
                  </a:moveTo>
                  <a:lnTo>
                    <a:pt x="1039685" y="0"/>
                  </a:lnTo>
                  <a:lnTo>
                    <a:pt x="1039685" y="503999"/>
                  </a:lnTo>
                  <a:lnTo>
                    <a:pt x="1291678" y="503999"/>
                  </a:lnTo>
                  <a:lnTo>
                    <a:pt x="1543685" y="503999"/>
                  </a:lnTo>
                  <a:lnTo>
                    <a:pt x="1543685" y="0"/>
                  </a:lnTo>
                  <a:close/>
                </a:path>
                <a:path w="3623310" h="504189">
                  <a:moveTo>
                    <a:pt x="3103194" y="0"/>
                  </a:moveTo>
                  <a:lnTo>
                    <a:pt x="2599194" y="0"/>
                  </a:lnTo>
                  <a:lnTo>
                    <a:pt x="2599194" y="503999"/>
                  </a:lnTo>
                  <a:lnTo>
                    <a:pt x="2851200" y="503999"/>
                  </a:lnTo>
                  <a:lnTo>
                    <a:pt x="3103194" y="503999"/>
                  </a:lnTo>
                  <a:lnTo>
                    <a:pt x="3103194" y="0"/>
                  </a:lnTo>
                  <a:close/>
                </a:path>
                <a:path w="3623310" h="504189">
                  <a:moveTo>
                    <a:pt x="3623043" y="0"/>
                  </a:moveTo>
                  <a:lnTo>
                    <a:pt x="3119043" y="0"/>
                  </a:lnTo>
                  <a:lnTo>
                    <a:pt x="3119043" y="503999"/>
                  </a:lnTo>
                  <a:lnTo>
                    <a:pt x="3371037" y="503999"/>
                  </a:lnTo>
                  <a:lnTo>
                    <a:pt x="3623043" y="503999"/>
                  </a:lnTo>
                  <a:lnTo>
                    <a:pt x="3623043" y="0"/>
                  </a:lnTo>
                  <a:close/>
                </a:path>
              </a:pathLst>
            </a:custGeom>
            <a:solidFill>
              <a:srgbClr val="DAD6D4"/>
            </a:solidFill>
          </p:spPr>
          <p:txBody>
            <a:bodyPr wrap="square" lIns="0" tIns="0" rIns="0" bIns="0" rtlCol="0"/>
            <a:lstStyle/>
            <a:p>
              <a:endParaRPr/>
            </a:p>
          </p:txBody>
        </p:sp>
        <p:sp>
          <p:nvSpPr>
            <p:cNvPr id="23" name="object 23"/>
            <p:cNvSpPr/>
            <p:nvPr/>
          </p:nvSpPr>
          <p:spPr>
            <a:xfrm>
              <a:off x="4308843" y="2941925"/>
              <a:ext cx="215900" cy="324485"/>
            </a:xfrm>
            <a:custGeom>
              <a:avLst/>
              <a:gdLst/>
              <a:ahLst/>
              <a:cxnLst/>
              <a:rect l="l" t="t" r="r" b="b"/>
              <a:pathLst>
                <a:path w="215900" h="324485">
                  <a:moveTo>
                    <a:pt x="143992" y="0"/>
                  </a:moveTo>
                  <a:lnTo>
                    <a:pt x="143992" y="36360"/>
                  </a:lnTo>
                  <a:lnTo>
                    <a:pt x="136791" y="36360"/>
                  </a:lnTo>
                  <a:lnTo>
                    <a:pt x="122402" y="37807"/>
                  </a:lnTo>
                  <a:lnTo>
                    <a:pt x="81356" y="50761"/>
                  </a:lnTo>
                  <a:lnTo>
                    <a:pt x="46075" y="74879"/>
                  </a:lnTo>
                  <a:lnTo>
                    <a:pt x="19431" y="108369"/>
                  </a:lnTo>
                  <a:lnTo>
                    <a:pt x="3594" y="148323"/>
                  </a:lnTo>
                  <a:lnTo>
                    <a:pt x="0" y="176758"/>
                  </a:lnTo>
                  <a:lnTo>
                    <a:pt x="0" y="183959"/>
                  </a:lnTo>
                  <a:lnTo>
                    <a:pt x="7556" y="226085"/>
                  </a:lnTo>
                  <a:lnTo>
                    <a:pt x="27000" y="264248"/>
                  </a:lnTo>
                  <a:lnTo>
                    <a:pt x="56870" y="295198"/>
                  </a:lnTo>
                  <a:lnTo>
                    <a:pt x="94678" y="315721"/>
                  </a:lnTo>
                  <a:lnTo>
                    <a:pt x="136791" y="324357"/>
                  </a:lnTo>
                  <a:lnTo>
                    <a:pt x="143992" y="324357"/>
                  </a:lnTo>
                  <a:lnTo>
                    <a:pt x="143992" y="253796"/>
                  </a:lnTo>
                  <a:lnTo>
                    <a:pt x="140398" y="253796"/>
                  </a:lnTo>
                  <a:lnTo>
                    <a:pt x="133197" y="253085"/>
                  </a:lnTo>
                  <a:lnTo>
                    <a:pt x="96837" y="236524"/>
                  </a:lnTo>
                  <a:lnTo>
                    <a:pt x="93954" y="234365"/>
                  </a:lnTo>
                  <a:lnTo>
                    <a:pt x="91439" y="231482"/>
                  </a:lnTo>
                  <a:lnTo>
                    <a:pt x="88912" y="228968"/>
                  </a:lnTo>
                  <a:lnTo>
                    <a:pt x="86753" y="226085"/>
                  </a:lnTo>
                  <a:lnTo>
                    <a:pt x="70561" y="182168"/>
                  </a:lnTo>
                  <a:lnTo>
                    <a:pt x="70561" y="178562"/>
                  </a:lnTo>
                  <a:lnTo>
                    <a:pt x="84239" y="137528"/>
                  </a:lnTo>
                  <a:lnTo>
                    <a:pt x="86753" y="134645"/>
                  </a:lnTo>
                  <a:lnTo>
                    <a:pt x="88912" y="131762"/>
                  </a:lnTo>
                  <a:lnTo>
                    <a:pt x="91439" y="129247"/>
                  </a:lnTo>
                  <a:lnTo>
                    <a:pt x="93954" y="126364"/>
                  </a:lnTo>
                  <a:lnTo>
                    <a:pt x="96837" y="124206"/>
                  </a:lnTo>
                  <a:lnTo>
                    <a:pt x="133197" y="107645"/>
                  </a:lnTo>
                  <a:lnTo>
                    <a:pt x="140398" y="106921"/>
                  </a:lnTo>
                  <a:lnTo>
                    <a:pt x="143992" y="106921"/>
                  </a:lnTo>
                  <a:lnTo>
                    <a:pt x="143992" y="142925"/>
                  </a:lnTo>
                  <a:lnTo>
                    <a:pt x="215277" y="71640"/>
                  </a:lnTo>
                  <a:lnTo>
                    <a:pt x="143992" y="0"/>
                  </a:lnTo>
                  <a:close/>
                </a:path>
              </a:pathLst>
            </a:custGeom>
            <a:solidFill>
              <a:srgbClr val="454C4C"/>
            </a:solidFill>
          </p:spPr>
          <p:txBody>
            <a:bodyPr wrap="square" lIns="0" tIns="0" rIns="0" bIns="0" rtlCol="0"/>
            <a:lstStyle/>
            <a:p>
              <a:endParaRPr/>
            </a:p>
          </p:txBody>
        </p:sp>
      </p:grpSp>
      <p:grpSp>
        <p:nvGrpSpPr>
          <p:cNvPr id="24" name="object 24"/>
          <p:cNvGrpSpPr/>
          <p:nvPr/>
        </p:nvGrpSpPr>
        <p:grpSpPr>
          <a:xfrm>
            <a:off x="3958196" y="1515614"/>
            <a:ext cx="911225" cy="631190"/>
            <a:chOff x="3958196" y="1515614"/>
            <a:chExt cx="911225" cy="631190"/>
          </a:xfrm>
        </p:grpSpPr>
        <p:sp>
          <p:nvSpPr>
            <p:cNvPr id="25" name="object 25"/>
            <p:cNvSpPr/>
            <p:nvPr/>
          </p:nvSpPr>
          <p:spPr>
            <a:xfrm>
              <a:off x="3958196" y="1515614"/>
              <a:ext cx="911225" cy="631190"/>
            </a:xfrm>
            <a:custGeom>
              <a:avLst/>
              <a:gdLst/>
              <a:ahLst/>
              <a:cxnLst/>
              <a:rect l="l" t="t" r="r" b="b"/>
              <a:pathLst>
                <a:path w="911225" h="631189">
                  <a:moveTo>
                    <a:pt x="805688" y="0"/>
                  </a:moveTo>
                  <a:lnTo>
                    <a:pt x="105117" y="0"/>
                  </a:lnTo>
                  <a:lnTo>
                    <a:pt x="91391" y="876"/>
                  </a:lnTo>
                  <a:lnTo>
                    <a:pt x="52565" y="14033"/>
                  </a:lnTo>
                  <a:lnTo>
                    <a:pt x="21786" y="41169"/>
                  </a:lnTo>
                  <a:lnTo>
                    <a:pt x="3513" y="77887"/>
                  </a:lnTo>
                  <a:lnTo>
                    <a:pt x="0" y="105117"/>
                  </a:lnTo>
                  <a:lnTo>
                    <a:pt x="0" y="525957"/>
                  </a:lnTo>
                  <a:lnTo>
                    <a:pt x="7902" y="566198"/>
                  </a:lnTo>
                  <a:lnTo>
                    <a:pt x="30876" y="600203"/>
                  </a:lnTo>
                  <a:lnTo>
                    <a:pt x="64877" y="623172"/>
                  </a:lnTo>
                  <a:lnTo>
                    <a:pt x="105117" y="631075"/>
                  </a:lnTo>
                  <a:lnTo>
                    <a:pt x="805688" y="631075"/>
                  </a:lnTo>
                  <a:lnTo>
                    <a:pt x="845928" y="623172"/>
                  </a:lnTo>
                  <a:lnTo>
                    <a:pt x="879929" y="600203"/>
                  </a:lnTo>
                  <a:lnTo>
                    <a:pt x="902903" y="566198"/>
                  </a:lnTo>
                  <a:lnTo>
                    <a:pt x="910805" y="525957"/>
                  </a:lnTo>
                  <a:lnTo>
                    <a:pt x="910805" y="105117"/>
                  </a:lnTo>
                  <a:lnTo>
                    <a:pt x="902903" y="64864"/>
                  </a:lnTo>
                  <a:lnTo>
                    <a:pt x="879929" y="30864"/>
                  </a:lnTo>
                  <a:lnTo>
                    <a:pt x="845928" y="7892"/>
                  </a:lnTo>
                  <a:lnTo>
                    <a:pt x="805688" y="0"/>
                  </a:lnTo>
                  <a:close/>
                </a:path>
              </a:pathLst>
            </a:custGeom>
            <a:solidFill>
              <a:srgbClr val="00607E"/>
            </a:solidFill>
          </p:spPr>
          <p:txBody>
            <a:bodyPr wrap="square" lIns="0" tIns="0" rIns="0" bIns="0" rtlCol="0"/>
            <a:lstStyle/>
            <a:p>
              <a:endParaRPr/>
            </a:p>
          </p:txBody>
        </p:sp>
        <p:sp>
          <p:nvSpPr>
            <p:cNvPr id="26" name="object 26"/>
            <p:cNvSpPr/>
            <p:nvPr/>
          </p:nvSpPr>
          <p:spPr>
            <a:xfrm>
              <a:off x="3958196" y="1515614"/>
              <a:ext cx="911225" cy="631190"/>
            </a:xfrm>
            <a:custGeom>
              <a:avLst/>
              <a:gdLst/>
              <a:ahLst/>
              <a:cxnLst/>
              <a:rect l="l" t="t" r="r" b="b"/>
              <a:pathLst>
                <a:path w="911225" h="631189">
                  <a:moveTo>
                    <a:pt x="105117" y="0"/>
                  </a:moveTo>
                  <a:lnTo>
                    <a:pt x="91391" y="876"/>
                  </a:lnTo>
                  <a:lnTo>
                    <a:pt x="77898" y="3506"/>
                  </a:lnTo>
                  <a:lnTo>
                    <a:pt x="41181" y="21773"/>
                  </a:lnTo>
                  <a:lnTo>
                    <a:pt x="14046" y="52552"/>
                  </a:lnTo>
                  <a:lnTo>
                    <a:pt x="878" y="91384"/>
                  </a:lnTo>
                  <a:lnTo>
                    <a:pt x="0" y="105117"/>
                  </a:lnTo>
                  <a:lnTo>
                    <a:pt x="0" y="525589"/>
                  </a:lnTo>
                  <a:lnTo>
                    <a:pt x="0" y="525957"/>
                  </a:lnTo>
                  <a:lnTo>
                    <a:pt x="7902" y="566198"/>
                  </a:lnTo>
                  <a:lnTo>
                    <a:pt x="30876" y="600203"/>
                  </a:lnTo>
                  <a:lnTo>
                    <a:pt x="64877" y="623172"/>
                  </a:lnTo>
                  <a:lnTo>
                    <a:pt x="105117" y="631075"/>
                  </a:lnTo>
                  <a:lnTo>
                    <a:pt x="805319" y="631075"/>
                  </a:lnTo>
                  <a:lnTo>
                    <a:pt x="805688" y="631075"/>
                  </a:lnTo>
                  <a:lnTo>
                    <a:pt x="845928" y="623172"/>
                  </a:lnTo>
                  <a:lnTo>
                    <a:pt x="879929" y="600203"/>
                  </a:lnTo>
                  <a:lnTo>
                    <a:pt x="902903" y="566198"/>
                  </a:lnTo>
                  <a:lnTo>
                    <a:pt x="910805" y="525957"/>
                  </a:lnTo>
                  <a:lnTo>
                    <a:pt x="910805" y="105117"/>
                  </a:lnTo>
                  <a:lnTo>
                    <a:pt x="909927" y="91384"/>
                  </a:lnTo>
                  <a:lnTo>
                    <a:pt x="907292" y="77887"/>
                  </a:lnTo>
                  <a:lnTo>
                    <a:pt x="889019" y="41169"/>
                  </a:lnTo>
                  <a:lnTo>
                    <a:pt x="858240" y="14033"/>
                  </a:lnTo>
                  <a:lnTo>
                    <a:pt x="819414" y="876"/>
                  </a:lnTo>
                  <a:lnTo>
                    <a:pt x="805688" y="0"/>
                  </a:lnTo>
                  <a:lnTo>
                    <a:pt x="105117" y="0"/>
                  </a:lnTo>
                  <a:close/>
                </a:path>
              </a:pathLst>
            </a:custGeom>
            <a:ln w="3175">
              <a:solidFill>
                <a:srgbClr val="00607E"/>
              </a:solidFill>
            </a:ln>
          </p:spPr>
          <p:txBody>
            <a:bodyPr wrap="square" lIns="0" tIns="0" rIns="0" bIns="0" rtlCol="0"/>
            <a:lstStyle/>
            <a:p>
              <a:endParaRPr/>
            </a:p>
          </p:txBody>
        </p:sp>
      </p:grpSp>
      <p:sp>
        <p:nvSpPr>
          <p:cNvPr id="27" name="object 27"/>
          <p:cNvSpPr txBox="1"/>
          <p:nvPr/>
        </p:nvSpPr>
        <p:spPr>
          <a:xfrm>
            <a:off x="4144936" y="1549321"/>
            <a:ext cx="537845" cy="513715"/>
          </a:xfrm>
          <a:prstGeom prst="rect">
            <a:avLst/>
          </a:prstGeom>
        </p:spPr>
        <p:txBody>
          <a:bodyPr vert="horz" wrap="square" lIns="0" tIns="12700" rIns="0" bIns="0" rtlCol="0">
            <a:spAutoFit/>
          </a:bodyPr>
          <a:lstStyle/>
          <a:p>
            <a:pPr marL="12700">
              <a:lnSpc>
                <a:spcPct val="100000"/>
              </a:lnSpc>
              <a:spcBef>
                <a:spcPts val="100"/>
              </a:spcBef>
            </a:pPr>
            <a:r>
              <a:rPr sz="3200" spc="-145" dirty="0">
                <a:solidFill>
                  <a:srgbClr val="FFFFFF"/>
                </a:solidFill>
                <a:latin typeface="Tahoma"/>
                <a:cs typeface="Tahoma"/>
              </a:rPr>
              <a:t>VM</a:t>
            </a:r>
            <a:endParaRPr sz="3200">
              <a:latin typeface="Tahoma"/>
              <a:cs typeface="Tahoma"/>
            </a:endParaRPr>
          </a:p>
        </p:txBody>
      </p:sp>
      <p:grpSp>
        <p:nvGrpSpPr>
          <p:cNvPr id="28" name="object 28"/>
          <p:cNvGrpSpPr/>
          <p:nvPr/>
        </p:nvGrpSpPr>
        <p:grpSpPr>
          <a:xfrm>
            <a:off x="3688918" y="2138764"/>
            <a:ext cx="1450975" cy="631190"/>
            <a:chOff x="3688918" y="2138764"/>
            <a:chExt cx="1450975" cy="631190"/>
          </a:xfrm>
        </p:grpSpPr>
        <p:sp>
          <p:nvSpPr>
            <p:cNvPr id="29" name="object 29"/>
            <p:cNvSpPr/>
            <p:nvPr/>
          </p:nvSpPr>
          <p:spPr>
            <a:xfrm>
              <a:off x="4413605" y="2138764"/>
              <a:ext cx="0" cy="177165"/>
            </a:xfrm>
            <a:custGeom>
              <a:avLst/>
              <a:gdLst/>
              <a:ahLst/>
              <a:cxnLst/>
              <a:rect l="l" t="t" r="r" b="b"/>
              <a:pathLst>
                <a:path h="177164">
                  <a:moveTo>
                    <a:pt x="0" y="0"/>
                  </a:moveTo>
                  <a:lnTo>
                    <a:pt x="0" y="176758"/>
                  </a:lnTo>
                </a:path>
              </a:pathLst>
            </a:custGeom>
            <a:ln w="76318">
              <a:solidFill>
                <a:srgbClr val="00607E"/>
              </a:solidFill>
            </a:ln>
          </p:spPr>
          <p:txBody>
            <a:bodyPr wrap="square" lIns="0" tIns="0" rIns="0" bIns="0" rtlCol="0"/>
            <a:lstStyle/>
            <a:p>
              <a:endParaRPr/>
            </a:p>
          </p:txBody>
        </p:sp>
        <p:sp>
          <p:nvSpPr>
            <p:cNvPr id="30" name="object 30"/>
            <p:cNvSpPr/>
            <p:nvPr/>
          </p:nvSpPr>
          <p:spPr>
            <a:xfrm>
              <a:off x="4329353" y="2304372"/>
              <a:ext cx="168910" cy="187960"/>
            </a:xfrm>
            <a:custGeom>
              <a:avLst/>
              <a:gdLst/>
              <a:ahLst/>
              <a:cxnLst/>
              <a:rect l="l" t="t" r="r" b="b"/>
              <a:pathLst>
                <a:path w="168910" h="187960">
                  <a:moveTo>
                    <a:pt x="159486" y="0"/>
                  </a:moveTo>
                  <a:lnTo>
                    <a:pt x="9004" y="0"/>
                  </a:lnTo>
                  <a:lnTo>
                    <a:pt x="5765" y="711"/>
                  </a:lnTo>
                  <a:lnTo>
                    <a:pt x="2171" y="2870"/>
                  </a:lnTo>
                  <a:lnTo>
                    <a:pt x="723" y="6476"/>
                  </a:lnTo>
                  <a:lnTo>
                    <a:pt x="0" y="9715"/>
                  </a:lnTo>
                  <a:lnTo>
                    <a:pt x="0" y="11150"/>
                  </a:lnTo>
                  <a:lnTo>
                    <a:pt x="723" y="13309"/>
                  </a:lnTo>
                  <a:lnTo>
                    <a:pt x="75247" y="181076"/>
                  </a:lnTo>
                  <a:lnTo>
                    <a:pt x="78841" y="185750"/>
                  </a:lnTo>
                  <a:lnTo>
                    <a:pt x="83883" y="187921"/>
                  </a:lnTo>
                  <a:lnTo>
                    <a:pt x="89649" y="185750"/>
                  </a:lnTo>
                  <a:lnTo>
                    <a:pt x="92887" y="181432"/>
                  </a:lnTo>
                  <a:lnTo>
                    <a:pt x="167766" y="13309"/>
                  </a:lnTo>
                  <a:lnTo>
                    <a:pt x="168490" y="11150"/>
                  </a:lnTo>
                  <a:lnTo>
                    <a:pt x="168490" y="9715"/>
                  </a:lnTo>
                  <a:lnTo>
                    <a:pt x="167766" y="6476"/>
                  </a:lnTo>
                  <a:lnTo>
                    <a:pt x="165608" y="2870"/>
                  </a:lnTo>
                  <a:lnTo>
                    <a:pt x="162725" y="711"/>
                  </a:lnTo>
                  <a:lnTo>
                    <a:pt x="159486" y="0"/>
                  </a:lnTo>
                  <a:close/>
                </a:path>
              </a:pathLst>
            </a:custGeom>
            <a:solidFill>
              <a:srgbClr val="00607E"/>
            </a:solidFill>
          </p:spPr>
          <p:txBody>
            <a:bodyPr wrap="square" lIns="0" tIns="0" rIns="0" bIns="0" rtlCol="0"/>
            <a:lstStyle/>
            <a:p>
              <a:endParaRPr/>
            </a:p>
          </p:txBody>
        </p:sp>
        <p:sp>
          <p:nvSpPr>
            <p:cNvPr id="31" name="object 31"/>
            <p:cNvSpPr/>
            <p:nvPr/>
          </p:nvSpPr>
          <p:spPr>
            <a:xfrm>
              <a:off x="3688918" y="2535487"/>
              <a:ext cx="1450975" cy="234315"/>
            </a:xfrm>
            <a:custGeom>
              <a:avLst/>
              <a:gdLst/>
              <a:ahLst/>
              <a:cxnLst/>
              <a:rect l="l" t="t" r="r" b="b"/>
              <a:pathLst>
                <a:path w="1450975" h="234314">
                  <a:moveTo>
                    <a:pt x="1418399" y="0"/>
                  </a:moveTo>
                  <a:lnTo>
                    <a:pt x="32042" y="0"/>
                  </a:lnTo>
                  <a:lnTo>
                    <a:pt x="25565" y="1803"/>
                  </a:lnTo>
                  <a:lnTo>
                    <a:pt x="19443" y="5397"/>
                  </a:lnTo>
                  <a:lnTo>
                    <a:pt x="13677" y="8636"/>
                  </a:lnTo>
                  <a:lnTo>
                    <a:pt x="8636" y="13677"/>
                  </a:lnTo>
                  <a:lnTo>
                    <a:pt x="5397" y="19443"/>
                  </a:lnTo>
                  <a:lnTo>
                    <a:pt x="1803" y="25565"/>
                  </a:lnTo>
                  <a:lnTo>
                    <a:pt x="0" y="32042"/>
                  </a:lnTo>
                  <a:lnTo>
                    <a:pt x="0" y="201955"/>
                  </a:lnTo>
                  <a:lnTo>
                    <a:pt x="1803" y="208445"/>
                  </a:lnTo>
                  <a:lnTo>
                    <a:pt x="5397" y="214566"/>
                  </a:lnTo>
                  <a:lnTo>
                    <a:pt x="8636" y="220319"/>
                  </a:lnTo>
                  <a:lnTo>
                    <a:pt x="13677" y="225361"/>
                  </a:lnTo>
                  <a:lnTo>
                    <a:pt x="19443" y="228600"/>
                  </a:lnTo>
                  <a:lnTo>
                    <a:pt x="25565" y="232206"/>
                  </a:lnTo>
                  <a:lnTo>
                    <a:pt x="32042" y="233997"/>
                  </a:lnTo>
                  <a:lnTo>
                    <a:pt x="1418399" y="233997"/>
                  </a:lnTo>
                  <a:lnTo>
                    <a:pt x="1424876" y="232206"/>
                  </a:lnTo>
                  <a:lnTo>
                    <a:pt x="1430997" y="228600"/>
                  </a:lnTo>
                  <a:lnTo>
                    <a:pt x="1436763" y="225361"/>
                  </a:lnTo>
                  <a:lnTo>
                    <a:pt x="1441805" y="220319"/>
                  </a:lnTo>
                  <a:lnTo>
                    <a:pt x="1445044" y="214566"/>
                  </a:lnTo>
                  <a:lnTo>
                    <a:pt x="1448638" y="208445"/>
                  </a:lnTo>
                  <a:lnTo>
                    <a:pt x="1450441" y="201955"/>
                  </a:lnTo>
                  <a:lnTo>
                    <a:pt x="1450441" y="195122"/>
                  </a:lnTo>
                  <a:lnTo>
                    <a:pt x="1450086" y="38887"/>
                  </a:lnTo>
                  <a:lnTo>
                    <a:pt x="1450441" y="38887"/>
                  </a:lnTo>
                  <a:lnTo>
                    <a:pt x="1450441" y="32042"/>
                  </a:lnTo>
                  <a:lnTo>
                    <a:pt x="1448638" y="25565"/>
                  </a:lnTo>
                  <a:lnTo>
                    <a:pt x="1445044" y="19443"/>
                  </a:lnTo>
                  <a:lnTo>
                    <a:pt x="1441805" y="13677"/>
                  </a:lnTo>
                  <a:lnTo>
                    <a:pt x="1436763" y="8636"/>
                  </a:lnTo>
                  <a:lnTo>
                    <a:pt x="1430997" y="5397"/>
                  </a:lnTo>
                  <a:lnTo>
                    <a:pt x="1424876" y="1803"/>
                  </a:lnTo>
                  <a:lnTo>
                    <a:pt x="1418399" y="0"/>
                  </a:lnTo>
                  <a:close/>
                </a:path>
              </a:pathLst>
            </a:custGeom>
            <a:solidFill>
              <a:srgbClr val="EB1E29"/>
            </a:solidFill>
          </p:spPr>
          <p:txBody>
            <a:bodyPr wrap="square" lIns="0" tIns="0" rIns="0" bIns="0" rtlCol="0"/>
            <a:lstStyle/>
            <a:p>
              <a:endParaRPr/>
            </a:p>
          </p:txBody>
        </p:sp>
        <p:sp>
          <p:nvSpPr>
            <p:cNvPr id="32" name="object 32"/>
            <p:cNvSpPr/>
            <p:nvPr/>
          </p:nvSpPr>
          <p:spPr>
            <a:xfrm>
              <a:off x="3688918" y="2535487"/>
              <a:ext cx="1450975" cy="234315"/>
            </a:xfrm>
            <a:custGeom>
              <a:avLst/>
              <a:gdLst/>
              <a:ahLst/>
              <a:cxnLst/>
              <a:rect l="l" t="t" r="r" b="b"/>
              <a:pathLst>
                <a:path w="1450975" h="234314">
                  <a:moveTo>
                    <a:pt x="38887" y="0"/>
                  </a:moveTo>
                  <a:lnTo>
                    <a:pt x="32042" y="0"/>
                  </a:lnTo>
                  <a:lnTo>
                    <a:pt x="25565" y="1803"/>
                  </a:lnTo>
                  <a:lnTo>
                    <a:pt x="19443" y="5397"/>
                  </a:lnTo>
                  <a:lnTo>
                    <a:pt x="13677" y="8636"/>
                  </a:lnTo>
                  <a:lnTo>
                    <a:pt x="8636" y="13677"/>
                  </a:lnTo>
                  <a:lnTo>
                    <a:pt x="5397" y="19443"/>
                  </a:lnTo>
                  <a:lnTo>
                    <a:pt x="1803" y="25565"/>
                  </a:lnTo>
                  <a:lnTo>
                    <a:pt x="0" y="32042"/>
                  </a:lnTo>
                  <a:lnTo>
                    <a:pt x="0" y="38887"/>
                  </a:lnTo>
                  <a:lnTo>
                    <a:pt x="0" y="194767"/>
                  </a:lnTo>
                  <a:lnTo>
                    <a:pt x="0" y="195122"/>
                  </a:lnTo>
                  <a:lnTo>
                    <a:pt x="0" y="201955"/>
                  </a:lnTo>
                  <a:lnTo>
                    <a:pt x="1803" y="208445"/>
                  </a:lnTo>
                  <a:lnTo>
                    <a:pt x="5397" y="214566"/>
                  </a:lnTo>
                  <a:lnTo>
                    <a:pt x="8636" y="220319"/>
                  </a:lnTo>
                  <a:lnTo>
                    <a:pt x="13677" y="225361"/>
                  </a:lnTo>
                  <a:lnTo>
                    <a:pt x="19443" y="228600"/>
                  </a:lnTo>
                  <a:lnTo>
                    <a:pt x="25565" y="232206"/>
                  </a:lnTo>
                  <a:lnTo>
                    <a:pt x="32042" y="233997"/>
                  </a:lnTo>
                  <a:lnTo>
                    <a:pt x="38887" y="233997"/>
                  </a:lnTo>
                  <a:lnTo>
                    <a:pt x="1411198" y="233997"/>
                  </a:lnTo>
                  <a:lnTo>
                    <a:pt x="1411566" y="233997"/>
                  </a:lnTo>
                  <a:lnTo>
                    <a:pt x="1418399" y="233997"/>
                  </a:lnTo>
                  <a:lnTo>
                    <a:pt x="1424876" y="232206"/>
                  </a:lnTo>
                  <a:lnTo>
                    <a:pt x="1430997" y="228600"/>
                  </a:lnTo>
                  <a:lnTo>
                    <a:pt x="1436763" y="225361"/>
                  </a:lnTo>
                  <a:lnTo>
                    <a:pt x="1441805" y="220319"/>
                  </a:lnTo>
                  <a:lnTo>
                    <a:pt x="1445044" y="214566"/>
                  </a:lnTo>
                  <a:lnTo>
                    <a:pt x="1448638" y="208445"/>
                  </a:lnTo>
                  <a:lnTo>
                    <a:pt x="1450441" y="201955"/>
                  </a:lnTo>
                  <a:lnTo>
                    <a:pt x="1450441" y="195122"/>
                  </a:lnTo>
                  <a:lnTo>
                    <a:pt x="1450086" y="38887"/>
                  </a:lnTo>
                  <a:lnTo>
                    <a:pt x="1450441" y="38887"/>
                  </a:lnTo>
                  <a:lnTo>
                    <a:pt x="1450441" y="32042"/>
                  </a:lnTo>
                  <a:lnTo>
                    <a:pt x="1448638" y="25565"/>
                  </a:lnTo>
                  <a:lnTo>
                    <a:pt x="1445044" y="19443"/>
                  </a:lnTo>
                  <a:lnTo>
                    <a:pt x="1441805" y="13677"/>
                  </a:lnTo>
                  <a:lnTo>
                    <a:pt x="1436763" y="8636"/>
                  </a:lnTo>
                  <a:lnTo>
                    <a:pt x="1430997" y="5397"/>
                  </a:lnTo>
                  <a:lnTo>
                    <a:pt x="1424876" y="1803"/>
                  </a:lnTo>
                  <a:lnTo>
                    <a:pt x="1418399" y="0"/>
                  </a:lnTo>
                  <a:lnTo>
                    <a:pt x="1411566" y="0"/>
                  </a:lnTo>
                  <a:lnTo>
                    <a:pt x="38887" y="0"/>
                  </a:lnTo>
                  <a:close/>
                </a:path>
              </a:pathLst>
            </a:custGeom>
            <a:ln w="3175">
              <a:solidFill>
                <a:srgbClr val="FFFFFF"/>
              </a:solidFill>
            </a:ln>
          </p:spPr>
          <p:txBody>
            <a:bodyPr wrap="square" lIns="0" tIns="0" rIns="0" bIns="0" rtlCol="0"/>
            <a:lstStyle/>
            <a:p>
              <a:endParaRPr/>
            </a:p>
          </p:txBody>
        </p:sp>
      </p:grpSp>
      <p:sp>
        <p:nvSpPr>
          <p:cNvPr id="33" name="object 33"/>
          <p:cNvSpPr txBox="1"/>
          <p:nvPr/>
        </p:nvSpPr>
        <p:spPr>
          <a:xfrm>
            <a:off x="4046296" y="2466516"/>
            <a:ext cx="735965" cy="339725"/>
          </a:xfrm>
          <a:prstGeom prst="rect">
            <a:avLst/>
          </a:prstGeom>
        </p:spPr>
        <p:txBody>
          <a:bodyPr vert="horz" wrap="square" lIns="0" tIns="13335" rIns="0" bIns="0" rtlCol="0">
            <a:spAutoFit/>
          </a:bodyPr>
          <a:lstStyle/>
          <a:p>
            <a:pPr marL="12700">
              <a:lnSpc>
                <a:spcPct val="100000"/>
              </a:lnSpc>
              <a:spcBef>
                <a:spcPts val="105"/>
              </a:spcBef>
            </a:pPr>
            <a:r>
              <a:rPr sz="2050" spc="-100" dirty="0">
                <a:solidFill>
                  <a:srgbClr val="FFFFFF"/>
                </a:solidFill>
                <a:latin typeface="Tahoma"/>
                <a:cs typeface="Tahoma"/>
              </a:rPr>
              <a:t>BLOCK</a:t>
            </a:r>
            <a:endParaRPr sz="2050">
              <a:latin typeface="Tahoma"/>
              <a:cs typeface="Tahoma"/>
            </a:endParaRPr>
          </a:p>
        </p:txBody>
      </p:sp>
      <p:sp>
        <p:nvSpPr>
          <p:cNvPr id="34" name="object 3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5" name="object 35"/>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27</a:t>
            </a:fld>
            <a:r>
              <a:rPr spc="-10" dirty="0"/>
              <a:t>/60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00" dirty="0"/>
              <a:t> </a:t>
            </a:r>
            <a:r>
              <a:rPr spc="120" dirty="0"/>
              <a:t>VE</a:t>
            </a:r>
          </a:p>
        </p:txBody>
      </p:sp>
      <p:sp>
        <p:nvSpPr>
          <p:cNvPr id="3" name="object 3"/>
          <p:cNvSpPr txBox="1"/>
          <p:nvPr/>
        </p:nvSpPr>
        <p:spPr>
          <a:xfrm>
            <a:off x="611174" y="1879469"/>
            <a:ext cx="240919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54C4C"/>
                </a:solidFill>
                <a:latin typeface="Arial MT"/>
                <a:cs typeface="Arial MT"/>
              </a:rPr>
              <a:t>Let </a:t>
            </a:r>
            <a:r>
              <a:rPr sz="2400" spc="-55" dirty="0">
                <a:solidFill>
                  <a:srgbClr val="454C4C"/>
                </a:solidFill>
                <a:latin typeface="Arial MT"/>
                <a:cs typeface="Arial MT"/>
              </a:rPr>
              <a:t>VM</a:t>
            </a:r>
            <a:r>
              <a:rPr sz="2400" spc="5" dirty="0">
                <a:solidFill>
                  <a:srgbClr val="454C4C"/>
                </a:solidFill>
                <a:latin typeface="Arial MT"/>
                <a:cs typeface="Arial MT"/>
              </a:rPr>
              <a:t> </a:t>
            </a:r>
            <a:r>
              <a:rPr sz="2400" dirty="0">
                <a:solidFill>
                  <a:srgbClr val="454C4C"/>
                </a:solidFill>
                <a:latin typeface="Arial MT"/>
                <a:cs typeface="Arial MT"/>
              </a:rPr>
              <a:t>write</a:t>
            </a:r>
            <a:r>
              <a:rPr sz="2400" spc="5" dirty="0">
                <a:solidFill>
                  <a:srgbClr val="454C4C"/>
                </a:solidFill>
                <a:latin typeface="Arial MT"/>
                <a:cs typeface="Arial MT"/>
              </a:rPr>
              <a:t> </a:t>
            </a:r>
            <a:r>
              <a:rPr sz="2400" spc="-20" dirty="0">
                <a:solidFill>
                  <a:srgbClr val="454C4C"/>
                </a:solidFill>
                <a:latin typeface="Arial MT"/>
                <a:cs typeface="Arial MT"/>
              </a:rPr>
              <a:t>data</a:t>
            </a:r>
            <a:endParaRPr sz="2400">
              <a:latin typeface="Arial MT"/>
              <a:cs typeface="Arial MT"/>
            </a:endParaRPr>
          </a:p>
        </p:txBody>
      </p:sp>
      <p:sp>
        <p:nvSpPr>
          <p:cNvPr id="4" name="object 4"/>
          <p:cNvSpPr/>
          <p:nvPr/>
        </p:nvSpPr>
        <p:spPr>
          <a:xfrm>
            <a:off x="6525006" y="2811242"/>
            <a:ext cx="1022985" cy="622935"/>
          </a:xfrm>
          <a:custGeom>
            <a:avLst/>
            <a:gdLst/>
            <a:ahLst/>
            <a:cxnLst/>
            <a:rect l="l" t="t" r="r" b="b"/>
            <a:pathLst>
              <a:path w="1022984" h="622935">
                <a:moveTo>
                  <a:pt x="422630" y="0"/>
                </a:moveTo>
                <a:lnTo>
                  <a:pt x="458657" y="2821"/>
                </a:lnTo>
                <a:lnTo>
                  <a:pt x="494006" y="10669"/>
                </a:lnTo>
                <a:lnTo>
                  <a:pt x="560514" y="41046"/>
                </a:lnTo>
                <a:lnTo>
                  <a:pt x="608261" y="79655"/>
                </a:lnTo>
                <a:lnTo>
                  <a:pt x="647636" y="128523"/>
                </a:lnTo>
                <a:lnTo>
                  <a:pt x="662651" y="121171"/>
                </a:lnTo>
                <a:lnTo>
                  <a:pt x="678373" y="115879"/>
                </a:lnTo>
                <a:lnTo>
                  <a:pt x="694567" y="112680"/>
                </a:lnTo>
                <a:lnTo>
                  <a:pt x="710996" y="111607"/>
                </a:lnTo>
                <a:lnTo>
                  <a:pt x="764757" y="123453"/>
                </a:lnTo>
                <a:lnTo>
                  <a:pt x="810487" y="157013"/>
                </a:lnTo>
                <a:lnTo>
                  <a:pt x="833031" y="189369"/>
                </a:lnTo>
                <a:lnTo>
                  <a:pt x="839876" y="204850"/>
                </a:lnTo>
                <a:lnTo>
                  <a:pt x="845629" y="204127"/>
                </a:lnTo>
                <a:lnTo>
                  <a:pt x="851395" y="203771"/>
                </a:lnTo>
                <a:lnTo>
                  <a:pt x="857148" y="203771"/>
                </a:lnTo>
                <a:lnTo>
                  <a:pt x="878639" y="205318"/>
                </a:lnTo>
                <a:lnTo>
                  <a:pt x="899725" y="209935"/>
                </a:lnTo>
                <a:lnTo>
                  <a:pt x="939596" y="228244"/>
                </a:lnTo>
                <a:lnTo>
                  <a:pt x="973883" y="257090"/>
                </a:lnTo>
                <a:lnTo>
                  <a:pt x="1000074" y="294843"/>
                </a:lnTo>
                <a:lnTo>
                  <a:pt x="1016631" y="338899"/>
                </a:lnTo>
                <a:lnTo>
                  <a:pt x="1022388" y="385927"/>
                </a:lnTo>
                <a:lnTo>
                  <a:pt x="1022388" y="386283"/>
                </a:lnTo>
                <a:lnTo>
                  <a:pt x="1020926" y="409984"/>
                </a:lnTo>
                <a:lnTo>
                  <a:pt x="1016631" y="433311"/>
                </a:lnTo>
                <a:lnTo>
                  <a:pt x="1000074" y="477367"/>
                </a:lnTo>
                <a:lnTo>
                  <a:pt x="973883" y="515124"/>
                </a:lnTo>
                <a:lnTo>
                  <a:pt x="939596" y="543966"/>
                </a:lnTo>
                <a:lnTo>
                  <a:pt x="899725" y="562286"/>
                </a:lnTo>
                <a:lnTo>
                  <a:pt x="857148" y="568451"/>
                </a:lnTo>
                <a:lnTo>
                  <a:pt x="840283" y="567506"/>
                </a:lnTo>
                <a:lnTo>
                  <a:pt x="823717" y="564670"/>
                </a:lnTo>
                <a:lnTo>
                  <a:pt x="807486" y="559943"/>
                </a:lnTo>
                <a:lnTo>
                  <a:pt x="791629" y="553326"/>
                </a:lnTo>
                <a:lnTo>
                  <a:pt x="757917" y="588662"/>
                </a:lnTo>
                <a:lnTo>
                  <a:pt x="705231" y="616148"/>
                </a:lnTo>
                <a:lnTo>
                  <a:pt x="662393" y="622452"/>
                </a:lnTo>
                <a:lnTo>
                  <a:pt x="640910" y="620698"/>
                </a:lnTo>
                <a:lnTo>
                  <a:pt x="619867" y="616010"/>
                </a:lnTo>
                <a:lnTo>
                  <a:pt x="580313" y="597966"/>
                </a:lnTo>
                <a:lnTo>
                  <a:pt x="551878" y="574928"/>
                </a:lnTo>
                <a:lnTo>
                  <a:pt x="521151" y="590371"/>
                </a:lnTo>
                <a:lnTo>
                  <a:pt x="489145" y="601564"/>
                </a:lnTo>
                <a:lnTo>
                  <a:pt x="456193" y="608436"/>
                </a:lnTo>
                <a:lnTo>
                  <a:pt x="422630" y="610920"/>
                </a:lnTo>
                <a:lnTo>
                  <a:pt x="386722" y="608111"/>
                </a:lnTo>
                <a:lnTo>
                  <a:pt x="351621" y="600306"/>
                </a:lnTo>
                <a:lnTo>
                  <a:pt x="317735" y="587639"/>
                </a:lnTo>
                <a:lnTo>
                  <a:pt x="285470" y="570242"/>
                </a:lnTo>
                <a:lnTo>
                  <a:pt x="285115" y="570610"/>
                </a:lnTo>
                <a:lnTo>
                  <a:pt x="284391" y="570966"/>
                </a:lnTo>
                <a:lnTo>
                  <a:pt x="284035" y="571322"/>
                </a:lnTo>
                <a:lnTo>
                  <a:pt x="261803" y="583251"/>
                </a:lnTo>
                <a:lnTo>
                  <a:pt x="238493" y="591937"/>
                </a:lnTo>
                <a:lnTo>
                  <a:pt x="214373" y="597246"/>
                </a:lnTo>
                <a:lnTo>
                  <a:pt x="189712" y="599046"/>
                </a:lnTo>
                <a:lnTo>
                  <a:pt x="164846" y="597296"/>
                </a:lnTo>
                <a:lnTo>
                  <a:pt x="140620" y="592070"/>
                </a:lnTo>
                <a:lnTo>
                  <a:pt x="95034" y="571322"/>
                </a:lnTo>
                <a:lnTo>
                  <a:pt x="55702" y="537983"/>
                </a:lnTo>
                <a:lnTo>
                  <a:pt x="25552" y="494652"/>
                </a:lnTo>
                <a:lnTo>
                  <a:pt x="6699" y="444023"/>
                </a:lnTo>
                <a:lnTo>
                  <a:pt x="0" y="389889"/>
                </a:lnTo>
                <a:lnTo>
                  <a:pt x="1663" y="362532"/>
                </a:lnTo>
                <a:lnTo>
                  <a:pt x="6565" y="335751"/>
                </a:lnTo>
                <a:lnTo>
                  <a:pt x="25552" y="285127"/>
                </a:lnTo>
                <a:lnTo>
                  <a:pt x="55702" y="241968"/>
                </a:lnTo>
                <a:lnTo>
                  <a:pt x="95034" y="208800"/>
                </a:lnTo>
                <a:lnTo>
                  <a:pt x="131303" y="190847"/>
                </a:lnTo>
                <a:lnTo>
                  <a:pt x="170268" y="181800"/>
                </a:lnTo>
                <a:lnTo>
                  <a:pt x="203649" y="119513"/>
                </a:lnTo>
                <a:lnTo>
                  <a:pt x="227422" y="89557"/>
                </a:lnTo>
                <a:lnTo>
                  <a:pt x="284759" y="41046"/>
                </a:lnTo>
                <a:lnTo>
                  <a:pt x="351128" y="10669"/>
                </a:lnTo>
                <a:lnTo>
                  <a:pt x="422630" y="0"/>
                </a:lnTo>
                <a:close/>
              </a:path>
            </a:pathLst>
          </a:custGeom>
          <a:ln w="26984">
            <a:solidFill>
              <a:srgbClr val="CCCCCC"/>
            </a:solidFill>
          </a:ln>
        </p:spPr>
        <p:txBody>
          <a:bodyPr wrap="square" lIns="0" tIns="0" rIns="0" bIns="0" rtlCol="0"/>
          <a:lstStyle/>
          <a:p>
            <a:endParaRPr/>
          </a:p>
        </p:txBody>
      </p:sp>
      <p:grpSp>
        <p:nvGrpSpPr>
          <p:cNvPr id="5" name="object 5"/>
          <p:cNvGrpSpPr/>
          <p:nvPr/>
        </p:nvGrpSpPr>
        <p:grpSpPr>
          <a:xfrm>
            <a:off x="5907239" y="3038407"/>
            <a:ext cx="405130" cy="168275"/>
            <a:chOff x="5907239" y="3038407"/>
            <a:chExt cx="405130" cy="168275"/>
          </a:xfrm>
        </p:grpSpPr>
        <p:sp>
          <p:nvSpPr>
            <p:cNvPr id="6" name="object 6"/>
            <p:cNvSpPr/>
            <p:nvPr/>
          </p:nvSpPr>
          <p:spPr>
            <a:xfrm>
              <a:off x="5907239"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7" name="object 7"/>
            <p:cNvSpPr/>
            <p:nvPr/>
          </p:nvSpPr>
          <p:spPr>
            <a:xfrm>
              <a:off x="6124676" y="3038407"/>
              <a:ext cx="187960" cy="168275"/>
            </a:xfrm>
            <a:custGeom>
              <a:avLst/>
              <a:gdLst/>
              <a:ahLst/>
              <a:cxnLst/>
              <a:rect l="l" t="t" r="r" b="b"/>
              <a:pathLst>
                <a:path w="187960" h="168275">
                  <a:moveTo>
                    <a:pt x="11163" y="0"/>
                  </a:moveTo>
                  <a:lnTo>
                    <a:pt x="9728" y="0"/>
                  </a:lnTo>
                  <a:lnTo>
                    <a:pt x="6489" y="723"/>
                  </a:lnTo>
                  <a:lnTo>
                    <a:pt x="2882" y="2527"/>
                  </a:lnTo>
                  <a:lnTo>
                    <a:pt x="723" y="5397"/>
                  </a:lnTo>
                  <a:lnTo>
                    <a:pt x="0" y="9004"/>
                  </a:lnTo>
                  <a:lnTo>
                    <a:pt x="0" y="158762"/>
                  </a:lnTo>
                  <a:lnTo>
                    <a:pt x="723" y="162356"/>
                  </a:lnTo>
                  <a:lnTo>
                    <a:pt x="2882" y="165963"/>
                  </a:lnTo>
                  <a:lnTo>
                    <a:pt x="6489" y="167398"/>
                  </a:lnTo>
                  <a:lnTo>
                    <a:pt x="9728" y="168122"/>
                  </a:lnTo>
                  <a:lnTo>
                    <a:pt x="11163" y="168122"/>
                  </a:lnTo>
                  <a:lnTo>
                    <a:pt x="13322" y="167398"/>
                  </a:lnTo>
                  <a:lnTo>
                    <a:pt x="180721" y="92875"/>
                  </a:lnTo>
                  <a:lnTo>
                    <a:pt x="185407" y="89281"/>
                  </a:lnTo>
                  <a:lnTo>
                    <a:pt x="187566" y="84239"/>
                  </a:lnTo>
                  <a:lnTo>
                    <a:pt x="185407" y="78485"/>
                  </a:lnTo>
                  <a:lnTo>
                    <a:pt x="181089"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8" name="object 8"/>
          <p:cNvGrpSpPr/>
          <p:nvPr/>
        </p:nvGrpSpPr>
        <p:grpSpPr>
          <a:xfrm>
            <a:off x="7759445" y="3038407"/>
            <a:ext cx="405130" cy="168275"/>
            <a:chOff x="7759445" y="3038407"/>
            <a:chExt cx="405130" cy="168275"/>
          </a:xfrm>
        </p:grpSpPr>
        <p:sp>
          <p:nvSpPr>
            <p:cNvPr id="9" name="object 9"/>
            <p:cNvSpPr/>
            <p:nvPr/>
          </p:nvSpPr>
          <p:spPr>
            <a:xfrm>
              <a:off x="7759445"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10" name="object 10"/>
            <p:cNvSpPr/>
            <p:nvPr/>
          </p:nvSpPr>
          <p:spPr>
            <a:xfrm>
              <a:off x="7976882" y="3038407"/>
              <a:ext cx="187960" cy="168275"/>
            </a:xfrm>
            <a:custGeom>
              <a:avLst/>
              <a:gdLst/>
              <a:ahLst/>
              <a:cxnLst/>
              <a:rect l="l" t="t" r="r" b="b"/>
              <a:pathLst>
                <a:path w="187959" h="168275">
                  <a:moveTo>
                    <a:pt x="11163" y="0"/>
                  </a:moveTo>
                  <a:lnTo>
                    <a:pt x="9715" y="0"/>
                  </a:lnTo>
                  <a:lnTo>
                    <a:pt x="6476" y="723"/>
                  </a:lnTo>
                  <a:lnTo>
                    <a:pt x="2882" y="2527"/>
                  </a:lnTo>
                  <a:lnTo>
                    <a:pt x="711" y="5397"/>
                  </a:lnTo>
                  <a:lnTo>
                    <a:pt x="0" y="9004"/>
                  </a:lnTo>
                  <a:lnTo>
                    <a:pt x="0" y="158762"/>
                  </a:lnTo>
                  <a:lnTo>
                    <a:pt x="711" y="162356"/>
                  </a:lnTo>
                  <a:lnTo>
                    <a:pt x="2882" y="165963"/>
                  </a:lnTo>
                  <a:lnTo>
                    <a:pt x="6476" y="167398"/>
                  </a:lnTo>
                  <a:lnTo>
                    <a:pt x="9715" y="168122"/>
                  </a:lnTo>
                  <a:lnTo>
                    <a:pt x="11163" y="168122"/>
                  </a:lnTo>
                  <a:lnTo>
                    <a:pt x="13322" y="167398"/>
                  </a:lnTo>
                  <a:lnTo>
                    <a:pt x="180721" y="92875"/>
                  </a:lnTo>
                  <a:lnTo>
                    <a:pt x="185394" y="89281"/>
                  </a:lnTo>
                  <a:lnTo>
                    <a:pt x="187553" y="84239"/>
                  </a:lnTo>
                  <a:lnTo>
                    <a:pt x="185394" y="78485"/>
                  </a:lnTo>
                  <a:lnTo>
                    <a:pt x="181076"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11" name="object 11"/>
          <p:cNvGrpSpPr/>
          <p:nvPr/>
        </p:nvGrpSpPr>
        <p:grpSpPr>
          <a:xfrm>
            <a:off x="8429531" y="2854060"/>
            <a:ext cx="411480" cy="536575"/>
            <a:chOff x="8429531" y="2854060"/>
            <a:chExt cx="411480" cy="536575"/>
          </a:xfrm>
        </p:grpSpPr>
        <p:sp>
          <p:nvSpPr>
            <p:cNvPr id="12" name="object 12"/>
            <p:cNvSpPr/>
            <p:nvPr/>
          </p:nvSpPr>
          <p:spPr>
            <a:xfrm>
              <a:off x="8439480" y="3173408"/>
              <a:ext cx="391160" cy="208279"/>
            </a:xfrm>
            <a:custGeom>
              <a:avLst/>
              <a:gdLst/>
              <a:ahLst/>
              <a:cxnLst/>
              <a:rect l="l" t="t" r="r" b="b"/>
              <a:pathLst>
                <a:path w="391159" h="208279">
                  <a:moveTo>
                    <a:pt x="390956" y="110883"/>
                  </a:moveTo>
                  <a:lnTo>
                    <a:pt x="360254" y="166092"/>
                  </a:lnTo>
                  <a:lnTo>
                    <a:pt x="320582" y="187085"/>
                  </a:lnTo>
                  <a:lnTo>
                    <a:pt x="268730" y="201598"/>
                  </a:lnTo>
                  <a:lnTo>
                    <a:pt x="207721" y="208076"/>
                  </a:lnTo>
                  <a:lnTo>
                    <a:pt x="145305" y="205074"/>
                  </a:lnTo>
                  <a:lnTo>
                    <a:pt x="89941" y="193552"/>
                  </a:lnTo>
                  <a:lnTo>
                    <a:pt x="45047" y="174927"/>
                  </a:lnTo>
                  <a:lnTo>
                    <a:pt x="14045" y="150615"/>
                  </a:lnTo>
                  <a:lnTo>
                    <a:pt x="0" y="118795"/>
                  </a:lnTo>
                  <a:lnTo>
                    <a:pt x="0" y="115557"/>
                  </a:lnTo>
                  <a:lnTo>
                    <a:pt x="355" y="112318"/>
                  </a:lnTo>
                </a:path>
                <a:path w="391159" h="208279">
                  <a:moveTo>
                    <a:pt x="390956" y="0"/>
                  </a:moveTo>
                  <a:lnTo>
                    <a:pt x="360254" y="55209"/>
                  </a:lnTo>
                  <a:lnTo>
                    <a:pt x="320582" y="76204"/>
                  </a:lnTo>
                  <a:lnTo>
                    <a:pt x="268730" y="90721"/>
                  </a:lnTo>
                  <a:lnTo>
                    <a:pt x="207721" y="97205"/>
                  </a:lnTo>
                  <a:lnTo>
                    <a:pt x="145305" y="94197"/>
                  </a:lnTo>
                  <a:lnTo>
                    <a:pt x="89941" y="82672"/>
                  </a:lnTo>
                  <a:lnTo>
                    <a:pt x="45047" y="64046"/>
                  </a:lnTo>
                  <a:lnTo>
                    <a:pt x="14045" y="39738"/>
                  </a:lnTo>
                  <a:lnTo>
                    <a:pt x="0" y="7924"/>
                  </a:lnTo>
                  <a:lnTo>
                    <a:pt x="0" y="4686"/>
                  </a:lnTo>
                  <a:lnTo>
                    <a:pt x="355" y="1435"/>
                  </a:lnTo>
                </a:path>
              </a:pathLst>
            </a:custGeom>
            <a:ln w="17959">
              <a:solidFill>
                <a:srgbClr val="454C4C"/>
              </a:solidFill>
            </a:ln>
          </p:spPr>
          <p:txBody>
            <a:bodyPr wrap="square" lIns="0" tIns="0" rIns="0" bIns="0" rtlCol="0"/>
            <a:lstStyle/>
            <a:p>
              <a:endParaRPr/>
            </a:p>
          </p:txBody>
        </p:sp>
        <p:sp>
          <p:nvSpPr>
            <p:cNvPr id="13" name="object 13"/>
            <p:cNvSpPr/>
            <p:nvPr/>
          </p:nvSpPr>
          <p:spPr>
            <a:xfrm>
              <a:off x="8439835" y="2863084"/>
              <a:ext cx="389890" cy="181610"/>
            </a:xfrm>
            <a:custGeom>
              <a:avLst/>
              <a:gdLst/>
              <a:ahLst/>
              <a:cxnLst/>
              <a:rect l="l" t="t" r="r" b="b"/>
              <a:pathLst>
                <a:path w="389890" h="181610">
                  <a:moveTo>
                    <a:pt x="389890" y="90360"/>
                  </a:moveTo>
                  <a:lnTo>
                    <a:pt x="352333" y="143913"/>
                  </a:lnTo>
                  <a:lnTo>
                    <a:pt x="310183" y="163563"/>
                  </a:lnTo>
                  <a:lnTo>
                    <a:pt x="256714" y="176457"/>
                  </a:lnTo>
                  <a:lnTo>
                    <a:pt x="195122" y="181089"/>
                  </a:lnTo>
                  <a:lnTo>
                    <a:pt x="133357" y="176457"/>
                  </a:lnTo>
                  <a:lnTo>
                    <a:pt x="79783" y="163563"/>
                  </a:lnTo>
                  <a:lnTo>
                    <a:pt x="37578" y="143913"/>
                  </a:lnTo>
                  <a:lnTo>
                    <a:pt x="9924" y="119010"/>
                  </a:lnTo>
                  <a:lnTo>
                    <a:pt x="0" y="90360"/>
                  </a:lnTo>
                  <a:lnTo>
                    <a:pt x="9924" y="61748"/>
                  </a:lnTo>
                  <a:lnTo>
                    <a:pt x="37578" y="36937"/>
                  </a:lnTo>
                  <a:lnTo>
                    <a:pt x="79783" y="17395"/>
                  </a:lnTo>
                  <a:lnTo>
                    <a:pt x="133357" y="4593"/>
                  </a:lnTo>
                  <a:lnTo>
                    <a:pt x="195122" y="0"/>
                  </a:lnTo>
                  <a:lnTo>
                    <a:pt x="256714" y="4593"/>
                  </a:lnTo>
                  <a:lnTo>
                    <a:pt x="310183" y="17395"/>
                  </a:lnTo>
                  <a:lnTo>
                    <a:pt x="352333" y="36937"/>
                  </a:lnTo>
                  <a:lnTo>
                    <a:pt x="379968" y="61748"/>
                  </a:lnTo>
                  <a:lnTo>
                    <a:pt x="389890" y="90360"/>
                  </a:lnTo>
                  <a:close/>
                </a:path>
              </a:pathLst>
            </a:custGeom>
            <a:ln w="18046">
              <a:solidFill>
                <a:srgbClr val="454C4C"/>
              </a:solidFill>
            </a:ln>
          </p:spPr>
          <p:txBody>
            <a:bodyPr wrap="square" lIns="0" tIns="0" rIns="0" bIns="0" rtlCol="0"/>
            <a:lstStyle/>
            <a:p>
              <a:endParaRPr/>
            </a:p>
          </p:txBody>
        </p:sp>
        <p:sp>
          <p:nvSpPr>
            <p:cNvPr id="14" name="object 14"/>
            <p:cNvSpPr/>
            <p:nvPr/>
          </p:nvSpPr>
          <p:spPr>
            <a:xfrm>
              <a:off x="8439480" y="2958130"/>
              <a:ext cx="635" cy="333375"/>
            </a:xfrm>
            <a:custGeom>
              <a:avLst/>
              <a:gdLst/>
              <a:ahLst/>
              <a:cxnLst/>
              <a:rect l="l" t="t" r="r" b="b"/>
              <a:pathLst>
                <a:path w="634" h="333375">
                  <a:moveTo>
                    <a:pt x="355" y="333362"/>
                  </a:moveTo>
                  <a:lnTo>
                    <a:pt x="0" y="0"/>
                  </a:lnTo>
                </a:path>
              </a:pathLst>
            </a:custGeom>
            <a:ln w="19896">
              <a:solidFill>
                <a:srgbClr val="454C4C"/>
              </a:solidFill>
            </a:ln>
          </p:spPr>
          <p:txBody>
            <a:bodyPr wrap="square" lIns="0" tIns="0" rIns="0" bIns="0" rtlCol="0"/>
            <a:lstStyle/>
            <a:p>
              <a:endParaRPr/>
            </a:p>
          </p:txBody>
        </p:sp>
        <p:sp>
          <p:nvSpPr>
            <p:cNvPr id="15" name="object 15"/>
            <p:cNvSpPr/>
            <p:nvPr/>
          </p:nvSpPr>
          <p:spPr>
            <a:xfrm>
              <a:off x="8439480" y="3066131"/>
              <a:ext cx="391160" cy="97790"/>
            </a:xfrm>
            <a:custGeom>
              <a:avLst/>
              <a:gdLst/>
              <a:ahLst/>
              <a:cxnLst/>
              <a:rect l="l" t="t" r="r" b="b"/>
              <a:pathLst>
                <a:path w="391159" h="97789">
                  <a:moveTo>
                    <a:pt x="390956" y="0"/>
                  </a:moveTo>
                  <a:lnTo>
                    <a:pt x="360254" y="55314"/>
                  </a:lnTo>
                  <a:lnTo>
                    <a:pt x="320582" y="76360"/>
                  </a:lnTo>
                  <a:lnTo>
                    <a:pt x="268730" y="90856"/>
                  </a:lnTo>
                  <a:lnTo>
                    <a:pt x="207721" y="97193"/>
                  </a:lnTo>
                  <a:lnTo>
                    <a:pt x="145305" y="94361"/>
                  </a:lnTo>
                  <a:lnTo>
                    <a:pt x="89941" y="82925"/>
                  </a:lnTo>
                  <a:lnTo>
                    <a:pt x="45047" y="64302"/>
                  </a:lnTo>
                  <a:lnTo>
                    <a:pt x="14045" y="39908"/>
                  </a:lnTo>
                  <a:lnTo>
                    <a:pt x="0" y="7912"/>
                  </a:lnTo>
                  <a:lnTo>
                    <a:pt x="0" y="4673"/>
                  </a:lnTo>
                  <a:lnTo>
                    <a:pt x="355" y="1435"/>
                  </a:lnTo>
                </a:path>
              </a:pathLst>
            </a:custGeom>
            <a:ln w="17959">
              <a:solidFill>
                <a:srgbClr val="454C4C"/>
              </a:solidFill>
            </a:ln>
          </p:spPr>
          <p:txBody>
            <a:bodyPr wrap="square" lIns="0" tIns="0" rIns="0" bIns="0" rtlCol="0"/>
            <a:lstStyle/>
            <a:p>
              <a:endParaRPr/>
            </a:p>
          </p:txBody>
        </p:sp>
        <p:sp>
          <p:nvSpPr>
            <p:cNvPr id="16" name="object 16"/>
            <p:cNvSpPr/>
            <p:nvPr/>
          </p:nvSpPr>
          <p:spPr>
            <a:xfrm>
              <a:off x="8830437" y="2958130"/>
              <a:ext cx="635" cy="333375"/>
            </a:xfrm>
            <a:custGeom>
              <a:avLst/>
              <a:gdLst/>
              <a:ahLst/>
              <a:cxnLst/>
              <a:rect l="l" t="t" r="r" b="b"/>
              <a:pathLst>
                <a:path w="634" h="333375">
                  <a:moveTo>
                    <a:pt x="368" y="333362"/>
                  </a:moveTo>
                  <a:lnTo>
                    <a:pt x="0" y="0"/>
                  </a:lnTo>
                </a:path>
              </a:pathLst>
            </a:custGeom>
            <a:ln w="19896">
              <a:solidFill>
                <a:srgbClr val="454C4C"/>
              </a:solidFill>
            </a:ln>
          </p:spPr>
          <p:txBody>
            <a:bodyPr wrap="square" lIns="0" tIns="0" rIns="0" bIns="0" rtlCol="0"/>
            <a:lstStyle/>
            <a:p>
              <a:endParaRPr/>
            </a:p>
          </p:txBody>
        </p:sp>
      </p:grpSp>
      <p:sp>
        <p:nvSpPr>
          <p:cNvPr id="17" name="object 17"/>
          <p:cNvSpPr txBox="1"/>
          <p:nvPr/>
        </p:nvSpPr>
        <p:spPr>
          <a:xfrm>
            <a:off x="6685826" y="3061712"/>
            <a:ext cx="2531745" cy="69469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Network</a:t>
            </a:r>
            <a:endParaRPr sz="1400">
              <a:latin typeface="Arial MT"/>
              <a:cs typeface="Arial MT"/>
            </a:endParaRPr>
          </a:p>
          <a:p>
            <a:pPr>
              <a:lnSpc>
                <a:spcPct val="100000"/>
              </a:lnSpc>
              <a:spcBef>
                <a:spcPts val="295"/>
              </a:spcBef>
            </a:pPr>
            <a:endParaRPr sz="1400">
              <a:latin typeface="Arial MT"/>
              <a:cs typeface="Arial MT"/>
            </a:endParaRPr>
          </a:p>
          <a:p>
            <a:pPr marL="1377950">
              <a:lnSpc>
                <a:spcPct val="100000"/>
              </a:lnSpc>
              <a:spcBef>
                <a:spcPts val="5"/>
              </a:spcBef>
            </a:pPr>
            <a:r>
              <a:rPr sz="1400" spc="-10" dirty="0">
                <a:solidFill>
                  <a:srgbClr val="454C4C"/>
                </a:solidFill>
                <a:latin typeface="Arial MT"/>
                <a:cs typeface="Arial MT"/>
              </a:rPr>
              <a:t>Backup</a:t>
            </a:r>
            <a:r>
              <a:rPr sz="1400" spc="-55" dirty="0">
                <a:solidFill>
                  <a:srgbClr val="454C4C"/>
                </a:solidFill>
                <a:latin typeface="Arial MT"/>
                <a:cs typeface="Arial MT"/>
              </a:rPr>
              <a:t> </a:t>
            </a:r>
            <a:r>
              <a:rPr sz="1400" spc="-10" dirty="0">
                <a:solidFill>
                  <a:srgbClr val="454C4C"/>
                </a:solidFill>
                <a:latin typeface="Arial MT"/>
                <a:cs typeface="Arial MT"/>
              </a:rPr>
              <a:t>Target</a:t>
            </a:r>
            <a:endParaRPr sz="1400">
              <a:latin typeface="Arial MT"/>
              <a:cs typeface="Arial MT"/>
            </a:endParaRPr>
          </a:p>
        </p:txBody>
      </p:sp>
      <p:grpSp>
        <p:nvGrpSpPr>
          <p:cNvPr id="18" name="object 18"/>
          <p:cNvGrpSpPr/>
          <p:nvPr/>
        </p:nvGrpSpPr>
        <p:grpSpPr>
          <a:xfrm>
            <a:off x="525957" y="1515614"/>
            <a:ext cx="5182870" cy="1859280"/>
            <a:chOff x="525957" y="1515614"/>
            <a:chExt cx="5182870" cy="1859280"/>
          </a:xfrm>
        </p:grpSpPr>
        <p:sp>
          <p:nvSpPr>
            <p:cNvPr id="19" name="object 19"/>
            <p:cNvSpPr/>
            <p:nvPr/>
          </p:nvSpPr>
          <p:spPr>
            <a:xfrm>
              <a:off x="1045794" y="2870284"/>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3623043" y="0"/>
                  </a:moveTo>
                  <a:lnTo>
                    <a:pt x="3119043" y="0"/>
                  </a:lnTo>
                  <a:lnTo>
                    <a:pt x="3119043" y="503999"/>
                  </a:lnTo>
                  <a:lnTo>
                    <a:pt x="3371050" y="503999"/>
                  </a:lnTo>
                  <a:lnTo>
                    <a:pt x="3623043" y="503999"/>
                  </a:lnTo>
                  <a:lnTo>
                    <a:pt x="3623043" y="0"/>
                  </a:lnTo>
                  <a:close/>
                </a:path>
              </a:pathLst>
            </a:custGeom>
            <a:solidFill>
              <a:srgbClr val="FF9000"/>
            </a:solidFill>
          </p:spPr>
          <p:txBody>
            <a:bodyPr wrap="square" lIns="0" tIns="0" rIns="0" bIns="0" rtlCol="0"/>
            <a:lstStyle/>
            <a:p>
              <a:endParaRPr/>
            </a:p>
          </p:txBody>
        </p:sp>
        <p:sp>
          <p:nvSpPr>
            <p:cNvPr id="20" name="object 20"/>
            <p:cNvSpPr/>
            <p:nvPr/>
          </p:nvSpPr>
          <p:spPr>
            <a:xfrm>
              <a:off x="2605316" y="2870284"/>
              <a:ext cx="1543685" cy="504190"/>
            </a:xfrm>
            <a:custGeom>
              <a:avLst/>
              <a:gdLst/>
              <a:ahLst/>
              <a:cxnLst/>
              <a:rect l="l" t="t" r="r" b="b"/>
              <a:pathLst>
                <a:path w="1543685" h="504189">
                  <a:moveTo>
                    <a:pt x="503999" y="0"/>
                  </a:moveTo>
                  <a:lnTo>
                    <a:pt x="0" y="0"/>
                  </a:lnTo>
                  <a:lnTo>
                    <a:pt x="0" y="503999"/>
                  </a:lnTo>
                  <a:lnTo>
                    <a:pt x="252006" y="503999"/>
                  </a:lnTo>
                  <a:lnTo>
                    <a:pt x="503999" y="503999"/>
                  </a:lnTo>
                  <a:lnTo>
                    <a:pt x="503999" y="0"/>
                  </a:lnTo>
                  <a:close/>
                </a:path>
                <a:path w="1543685" h="504189">
                  <a:moveTo>
                    <a:pt x="1543685" y="0"/>
                  </a:moveTo>
                  <a:lnTo>
                    <a:pt x="1039685" y="0"/>
                  </a:lnTo>
                  <a:lnTo>
                    <a:pt x="1039685" y="503999"/>
                  </a:lnTo>
                  <a:lnTo>
                    <a:pt x="1291678" y="503999"/>
                  </a:lnTo>
                  <a:lnTo>
                    <a:pt x="1543685" y="503999"/>
                  </a:lnTo>
                  <a:lnTo>
                    <a:pt x="1543685" y="0"/>
                  </a:lnTo>
                  <a:close/>
                </a:path>
              </a:pathLst>
            </a:custGeom>
            <a:solidFill>
              <a:srgbClr val="DAD6D4"/>
            </a:solidFill>
          </p:spPr>
          <p:txBody>
            <a:bodyPr wrap="square" lIns="0" tIns="0" rIns="0" bIns="0" rtlCol="0"/>
            <a:lstStyle/>
            <a:p>
              <a:endParaRPr/>
            </a:p>
          </p:txBody>
        </p:sp>
        <p:sp>
          <p:nvSpPr>
            <p:cNvPr id="21" name="object 21"/>
            <p:cNvSpPr/>
            <p:nvPr/>
          </p:nvSpPr>
          <p:spPr>
            <a:xfrm>
              <a:off x="525957" y="2870284"/>
              <a:ext cx="2063750" cy="504190"/>
            </a:xfrm>
            <a:custGeom>
              <a:avLst/>
              <a:gdLst/>
              <a:ahLst/>
              <a:cxnLst/>
              <a:rect l="l" t="t" r="r" b="b"/>
              <a:pathLst>
                <a:path w="2063750" h="504189">
                  <a:moveTo>
                    <a:pt x="503999" y="0"/>
                  </a:moveTo>
                  <a:lnTo>
                    <a:pt x="0" y="0"/>
                  </a:lnTo>
                  <a:lnTo>
                    <a:pt x="0" y="503999"/>
                  </a:lnTo>
                  <a:lnTo>
                    <a:pt x="252006" y="503999"/>
                  </a:lnTo>
                  <a:lnTo>
                    <a:pt x="503999" y="503999"/>
                  </a:lnTo>
                  <a:lnTo>
                    <a:pt x="503999" y="0"/>
                  </a:lnTo>
                  <a:close/>
                </a:path>
                <a:path w="2063750" h="504189">
                  <a:moveTo>
                    <a:pt x="1543685" y="0"/>
                  </a:moveTo>
                  <a:lnTo>
                    <a:pt x="1039685" y="0"/>
                  </a:lnTo>
                  <a:lnTo>
                    <a:pt x="1039685" y="503999"/>
                  </a:lnTo>
                  <a:lnTo>
                    <a:pt x="1291678" y="503999"/>
                  </a:lnTo>
                  <a:lnTo>
                    <a:pt x="1543685" y="503999"/>
                  </a:lnTo>
                  <a:lnTo>
                    <a:pt x="1543685" y="0"/>
                  </a:lnTo>
                  <a:close/>
                </a:path>
                <a:path w="2063750" h="504189">
                  <a:moveTo>
                    <a:pt x="2063521" y="0"/>
                  </a:moveTo>
                  <a:lnTo>
                    <a:pt x="1559521" y="0"/>
                  </a:lnTo>
                  <a:lnTo>
                    <a:pt x="1559521" y="503999"/>
                  </a:lnTo>
                  <a:lnTo>
                    <a:pt x="1811528" y="503999"/>
                  </a:lnTo>
                  <a:lnTo>
                    <a:pt x="2063521" y="503999"/>
                  </a:lnTo>
                  <a:lnTo>
                    <a:pt x="2063521" y="0"/>
                  </a:lnTo>
                  <a:close/>
                </a:path>
              </a:pathLst>
            </a:custGeom>
            <a:solidFill>
              <a:srgbClr val="FF9000"/>
            </a:solidFill>
          </p:spPr>
          <p:txBody>
            <a:bodyPr wrap="square" lIns="0" tIns="0" rIns="0" bIns="0" rtlCol="0"/>
            <a:lstStyle/>
            <a:p>
              <a:endParaRPr/>
            </a:p>
          </p:txBody>
        </p:sp>
        <p:sp>
          <p:nvSpPr>
            <p:cNvPr id="22" name="object 22"/>
            <p:cNvSpPr/>
            <p:nvPr/>
          </p:nvSpPr>
          <p:spPr>
            <a:xfrm>
              <a:off x="3125165" y="2870284"/>
              <a:ext cx="2583815" cy="504190"/>
            </a:xfrm>
            <a:custGeom>
              <a:avLst/>
              <a:gdLst/>
              <a:ahLst/>
              <a:cxnLst/>
              <a:rect l="l" t="t" r="r" b="b"/>
              <a:pathLst>
                <a:path w="2583815" h="504189">
                  <a:moveTo>
                    <a:pt x="503999" y="0"/>
                  </a:moveTo>
                  <a:lnTo>
                    <a:pt x="0" y="0"/>
                  </a:lnTo>
                  <a:lnTo>
                    <a:pt x="0" y="503999"/>
                  </a:lnTo>
                  <a:lnTo>
                    <a:pt x="251993" y="503999"/>
                  </a:lnTo>
                  <a:lnTo>
                    <a:pt x="503999" y="503999"/>
                  </a:lnTo>
                  <a:lnTo>
                    <a:pt x="503999" y="0"/>
                  </a:lnTo>
                  <a:close/>
                </a:path>
                <a:path w="2583815" h="504189">
                  <a:moveTo>
                    <a:pt x="2063508" y="0"/>
                  </a:moveTo>
                  <a:lnTo>
                    <a:pt x="1559509" y="0"/>
                  </a:lnTo>
                  <a:lnTo>
                    <a:pt x="1559509" y="503999"/>
                  </a:lnTo>
                  <a:lnTo>
                    <a:pt x="1811515" y="503999"/>
                  </a:lnTo>
                  <a:lnTo>
                    <a:pt x="2063508" y="503999"/>
                  </a:lnTo>
                  <a:lnTo>
                    <a:pt x="2063508" y="0"/>
                  </a:lnTo>
                  <a:close/>
                </a:path>
                <a:path w="2583815" h="504189">
                  <a:moveTo>
                    <a:pt x="2583357" y="0"/>
                  </a:moveTo>
                  <a:lnTo>
                    <a:pt x="2079358" y="0"/>
                  </a:lnTo>
                  <a:lnTo>
                    <a:pt x="2079358" y="503999"/>
                  </a:lnTo>
                  <a:lnTo>
                    <a:pt x="2331351" y="503999"/>
                  </a:lnTo>
                  <a:lnTo>
                    <a:pt x="2583357" y="503999"/>
                  </a:lnTo>
                  <a:lnTo>
                    <a:pt x="2583357" y="0"/>
                  </a:lnTo>
                  <a:close/>
                </a:path>
              </a:pathLst>
            </a:custGeom>
            <a:solidFill>
              <a:srgbClr val="DAD6D4"/>
            </a:solidFill>
          </p:spPr>
          <p:txBody>
            <a:bodyPr wrap="square" lIns="0" tIns="0" rIns="0" bIns="0" rtlCol="0"/>
            <a:lstStyle/>
            <a:p>
              <a:endParaRPr/>
            </a:p>
          </p:txBody>
        </p:sp>
        <p:sp>
          <p:nvSpPr>
            <p:cNvPr id="23" name="object 23"/>
            <p:cNvSpPr/>
            <p:nvPr/>
          </p:nvSpPr>
          <p:spPr>
            <a:xfrm>
              <a:off x="2229485" y="2941925"/>
              <a:ext cx="215900" cy="324485"/>
            </a:xfrm>
            <a:custGeom>
              <a:avLst/>
              <a:gdLst/>
              <a:ahLst/>
              <a:cxnLst/>
              <a:rect l="l" t="t" r="r" b="b"/>
              <a:pathLst>
                <a:path w="215900" h="324485">
                  <a:moveTo>
                    <a:pt x="143992" y="0"/>
                  </a:moveTo>
                  <a:lnTo>
                    <a:pt x="143992" y="36360"/>
                  </a:lnTo>
                  <a:lnTo>
                    <a:pt x="136791" y="36360"/>
                  </a:lnTo>
                  <a:lnTo>
                    <a:pt x="122389" y="37807"/>
                  </a:lnTo>
                  <a:lnTo>
                    <a:pt x="81356" y="50761"/>
                  </a:lnTo>
                  <a:lnTo>
                    <a:pt x="46075" y="74879"/>
                  </a:lnTo>
                  <a:lnTo>
                    <a:pt x="19431" y="108369"/>
                  </a:lnTo>
                  <a:lnTo>
                    <a:pt x="3594" y="148323"/>
                  </a:lnTo>
                  <a:lnTo>
                    <a:pt x="0" y="176758"/>
                  </a:lnTo>
                  <a:lnTo>
                    <a:pt x="0" y="183959"/>
                  </a:lnTo>
                  <a:lnTo>
                    <a:pt x="7556" y="226085"/>
                  </a:lnTo>
                  <a:lnTo>
                    <a:pt x="27000" y="264248"/>
                  </a:lnTo>
                  <a:lnTo>
                    <a:pt x="56870" y="295198"/>
                  </a:lnTo>
                  <a:lnTo>
                    <a:pt x="94678" y="315721"/>
                  </a:lnTo>
                  <a:lnTo>
                    <a:pt x="136791" y="324357"/>
                  </a:lnTo>
                  <a:lnTo>
                    <a:pt x="143992" y="324357"/>
                  </a:lnTo>
                  <a:lnTo>
                    <a:pt x="143992" y="253796"/>
                  </a:lnTo>
                  <a:lnTo>
                    <a:pt x="140398" y="253796"/>
                  </a:lnTo>
                  <a:lnTo>
                    <a:pt x="133197" y="253085"/>
                  </a:lnTo>
                  <a:lnTo>
                    <a:pt x="96837" y="236524"/>
                  </a:lnTo>
                  <a:lnTo>
                    <a:pt x="93954" y="234365"/>
                  </a:lnTo>
                  <a:lnTo>
                    <a:pt x="91439" y="231482"/>
                  </a:lnTo>
                  <a:lnTo>
                    <a:pt x="88912" y="228968"/>
                  </a:lnTo>
                  <a:lnTo>
                    <a:pt x="86753" y="226085"/>
                  </a:lnTo>
                  <a:lnTo>
                    <a:pt x="70561" y="182168"/>
                  </a:lnTo>
                  <a:lnTo>
                    <a:pt x="70561" y="178562"/>
                  </a:lnTo>
                  <a:lnTo>
                    <a:pt x="84239" y="137528"/>
                  </a:lnTo>
                  <a:lnTo>
                    <a:pt x="86753" y="134645"/>
                  </a:lnTo>
                  <a:lnTo>
                    <a:pt x="88912" y="131762"/>
                  </a:lnTo>
                  <a:lnTo>
                    <a:pt x="91439" y="129247"/>
                  </a:lnTo>
                  <a:lnTo>
                    <a:pt x="93954" y="126364"/>
                  </a:lnTo>
                  <a:lnTo>
                    <a:pt x="96837" y="124206"/>
                  </a:lnTo>
                  <a:lnTo>
                    <a:pt x="133197" y="107645"/>
                  </a:lnTo>
                  <a:lnTo>
                    <a:pt x="140398" y="106921"/>
                  </a:lnTo>
                  <a:lnTo>
                    <a:pt x="143992" y="106921"/>
                  </a:lnTo>
                  <a:lnTo>
                    <a:pt x="143992" y="142925"/>
                  </a:lnTo>
                  <a:lnTo>
                    <a:pt x="215277" y="71640"/>
                  </a:lnTo>
                  <a:lnTo>
                    <a:pt x="143992" y="0"/>
                  </a:lnTo>
                  <a:close/>
                </a:path>
              </a:pathLst>
            </a:custGeom>
            <a:solidFill>
              <a:srgbClr val="454C4C"/>
            </a:solidFill>
          </p:spPr>
          <p:txBody>
            <a:bodyPr wrap="square" lIns="0" tIns="0" rIns="0" bIns="0" rtlCol="0"/>
            <a:lstStyle/>
            <a:p>
              <a:endParaRPr/>
            </a:p>
          </p:txBody>
        </p:sp>
        <p:sp>
          <p:nvSpPr>
            <p:cNvPr id="24" name="object 24"/>
            <p:cNvSpPr/>
            <p:nvPr/>
          </p:nvSpPr>
          <p:spPr>
            <a:xfrm>
              <a:off x="3958196" y="1515614"/>
              <a:ext cx="911225" cy="631190"/>
            </a:xfrm>
            <a:custGeom>
              <a:avLst/>
              <a:gdLst/>
              <a:ahLst/>
              <a:cxnLst/>
              <a:rect l="l" t="t" r="r" b="b"/>
              <a:pathLst>
                <a:path w="911225" h="631189">
                  <a:moveTo>
                    <a:pt x="805688" y="0"/>
                  </a:moveTo>
                  <a:lnTo>
                    <a:pt x="105117" y="0"/>
                  </a:lnTo>
                  <a:lnTo>
                    <a:pt x="91391" y="876"/>
                  </a:lnTo>
                  <a:lnTo>
                    <a:pt x="52565" y="14033"/>
                  </a:lnTo>
                  <a:lnTo>
                    <a:pt x="21786" y="41169"/>
                  </a:lnTo>
                  <a:lnTo>
                    <a:pt x="3513" y="77887"/>
                  </a:lnTo>
                  <a:lnTo>
                    <a:pt x="0" y="105117"/>
                  </a:lnTo>
                  <a:lnTo>
                    <a:pt x="0" y="525957"/>
                  </a:lnTo>
                  <a:lnTo>
                    <a:pt x="7902" y="566198"/>
                  </a:lnTo>
                  <a:lnTo>
                    <a:pt x="30876" y="600203"/>
                  </a:lnTo>
                  <a:lnTo>
                    <a:pt x="64877" y="623172"/>
                  </a:lnTo>
                  <a:lnTo>
                    <a:pt x="105117" y="631075"/>
                  </a:lnTo>
                  <a:lnTo>
                    <a:pt x="805688" y="631075"/>
                  </a:lnTo>
                  <a:lnTo>
                    <a:pt x="845928" y="623172"/>
                  </a:lnTo>
                  <a:lnTo>
                    <a:pt x="879929" y="600203"/>
                  </a:lnTo>
                  <a:lnTo>
                    <a:pt x="902903" y="566198"/>
                  </a:lnTo>
                  <a:lnTo>
                    <a:pt x="910805" y="525957"/>
                  </a:lnTo>
                  <a:lnTo>
                    <a:pt x="910805" y="105117"/>
                  </a:lnTo>
                  <a:lnTo>
                    <a:pt x="902903" y="64864"/>
                  </a:lnTo>
                  <a:lnTo>
                    <a:pt x="879929" y="30864"/>
                  </a:lnTo>
                  <a:lnTo>
                    <a:pt x="845928" y="7892"/>
                  </a:lnTo>
                  <a:lnTo>
                    <a:pt x="805688" y="0"/>
                  </a:lnTo>
                  <a:close/>
                </a:path>
              </a:pathLst>
            </a:custGeom>
            <a:solidFill>
              <a:srgbClr val="00607E"/>
            </a:solidFill>
          </p:spPr>
          <p:txBody>
            <a:bodyPr wrap="square" lIns="0" tIns="0" rIns="0" bIns="0" rtlCol="0"/>
            <a:lstStyle/>
            <a:p>
              <a:endParaRPr/>
            </a:p>
          </p:txBody>
        </p:sp>
        <p:sp>
          <p:nvSpPr>
            <p:cNvPr id="25" name="object 25"/>
            <p:cNvSpPr/>
            <p:nvPr/>
          </p:nvSpPr>
          <p:spPr>
            <a:xfrm>
              <a:off x="3958196" y="1515614"/>
              <a:ext cx="911225" cy="631190"/>
            </a:xfrm>
            <a:custGeom>
              <a:avLst/>
              <a:gdLst/>
              <a:ahLst/>
              <a:cxnLst/>
              <a:rect l="l" t="t" r="r" b="b"/>
              <a:pathLst>
                <a:path w="911225" h="631189">
                  <a:moveTo>
                    <a:pt x="105117" y="0"/>
                  </a:moveTo>
                  <a:lnTo>
                    <a:pt x="91391" y="876"/>
                  </a:lnTo>
                  <a:lnTo>
                    <a:pt x="77898" y="3506"/>
                  </a:lnTo>
                  <a:lnTo>
                    <a:pt x="41181" y="21773"/>
                  </a:lnTo>
                  <a:lnTo>
                    <a:pt x="14046" y="52552"/>
                  </a:lnTo>
                  <a:lnTo>
                    <a:pt x="878" y="91384"/>
                  </a:lnTo>
                  <a:lnTo>
                    <a:pt x="0" y="105117"/>
                  </a:lnTo>
                  <a:lnTo>
                    <a:pt x="0" y="525589"/>
                  </a:lnTo>
                  <a:lnTo>
                    <a:pt x="0" y="525957"/>
                  </a:lnTo>
                  <a:lnTo>
                    <a:pt x="7902" y="566198"/>
                  </a:lnTo>
                  <a:lnTo>
                    <a:pt x="30876" y="600203"/>
                  </a:lnTo>
                  <a:lnTo>
                    <a:pt x="64877" y="623172"/>
                  </a:lnTo>
                  <a:lnTo>
                    <a:pt x="105117" y="631075"/>
                  </a:lnTo>
                  <a:lnTo>
                    <a:pt x="805319" y="631075"/>
                  </a:lnTo>
                  <a:lnTo>
                    <a:pt x="805688" y="631075"/>
                  </a:lnTo>
                  <a:lnTo>
                    <a:pt x="845928" y="623172"/>
                  </a:lnTo>
                  <a:lnTo>
                    <a:pt x="879929" y="600203"/>
                  </a:lnTo>
                  <a:lnTo>
                    <a:pt x="902903" y="566198"/>
                  </a:lnTo>
                  <a:lnTo>
                    <a:pt x="910805" y="525957"/>
                  </a:lnTo>
                  <a:lnTo>
                    <a:pt x="910805" y="105117"/>
                  </a:lnTo>
                  <a:lnTo>
                    <a:pt x="909927" y="91384"/>
                  </a:lnTo>
                  <a:lnTo>
                    <a:pt x="907292" y="77887"/>
                  </a:lnTo>
                  <a:lnTo>
                    <a:pt x="889019" y="41169"/>
                  </a:lnTo>
                  <a:lnTo>
                    <a:pt x="858240" y="14033"/>
                  </a:lnTo>
                  <a:lnTo>
                    <a:pt x="819414" y="876"/>
                  </a:lnTo>
                  <a:lnTo>
                    <a:pt x="805688" y="0"/>
                  </a:lnTo>
                  <a:lnTo>
                    <a:pt x="105117" y="0"/>
                  </a:lnTo>
                  <a:close/>
                </a:path>
              </a:pathLst>
            </a:custGeom>
            <a:ln w="3175">
              <a:solidFill>
                <a:srgbClr val="00607E"/>
              </a:solidFill>
            </a:ln>
          </p:spPr>
          <p:txBody>
            <a:bodyPr wrap="square" lIns="0" tIns="0" rIns="0" bIns="0" rtlCol="0"/>
            <a:lstStyle/>
            <a:p>
              <a:endParaRPr/>
            </a:p>
          </p:txBody>
        </p:sp>
      </p:grpSp>
      <p:sp>
        <p:nvSpPr>
          <p:cNvPr id="26" name="object 26"/>
          <p:cNvSpPr txBox="1"/>
          <p:nvPr/>
        </p:nvSpPr>
        <p:spPr>
          <a:xfrm>
            <a:off x="4144936" y="1549321"/>
            <a:ext cx="537845" cy="513715"/>
          </a:xfrm>
          <a:prstGeom prst="rect">
            <a:avLst/>
          </a:prstGeom>
        </p:spPr>
        <p:txBody>
          <a:bodyPr vert="horz" wrap="square" lIns="0" tIns="12700" rIns="0" bIns="0" rtlCol="0">
            <a:spAutoFit/>
          </a:bodyPr>
          <a:lstStyle/>
          <a:p>
            <a:pPr marL="12700">
              <a:lnSpc>
                <a:spcPct val="100000"/>
              </a:lnSpc>
              <a:spcBef>
                <a:spcPts val="100"/>
              </a:spcBef>
            </a:pPr>
            <a:r>
              <a:rPr sz="3200" spc="-145" dirty="0">
                <a:solidFill>
                  <a:srgbClr val="FFFFFF"/>
                </a:solidFill>
                <a:latin typeface="Tahoma"/>
                <a:cs typeface="Tahoma"/>
              </a:rPr>
              <a:t>VM</a:t>
            </a:r>
            <a:endParaRPr sz="3200">
              <a:latin typeface="Tahoma"/>
              <a:cs typeface="Tahoma"/>
            </a:endParaRPr>
          </a:p>
        </p:txBody>
      </p:sp>
      <p:grpSp>
        <p:nvGrpSpPr>
          <p:cNvPr id="27" name="object 27"/>
          <p:cNvGrpSpPr/>
          <p:nvPr/>
        </p:nvGrpSpPr>
        <p:grpSpPr>
          <a:xfrm>
            <a:off x="4329353" y="2138764"/>
            <a:ext cx="168910" cy="991235"/>
            <a:chOff x="4329353" y="2138764"/>
            <a:chExt cx="168910" cy="991235"/>
          </a:xfrm>
        </p:grpSpPr>
        <p:sp>
          <p:nvSpPr>
            <p:cNvPr id="28" name="object 28"/>
            <p:cNvSpPr/>
            <p:nvPr/>
          </p:nvSpPr>
          <p:spPr>
            <a:xfrm>
              <a:off x="4413605" y="2138764"/>
              <a:ext cx="0" cy="814069"/>
            </a:xfrm>
            <a:custGeom>
              <a:avLst/>
              <a:gdLst/>
              <a:ahLst/>
              <a:cxnLst/>
              <a:rect l="l" t="t" r="r" b="b"/>
              <a:pathLst>
                <a:path h="814069">
                  <a:moveTo>
                    <a:pt x="0" y="0"/>
                  </a:moveTo>
                  <a:lnTo>
                    <a:pt x="0" y="813968"/>
                  </a:lnTo>
                </a:path>
              </a:pathLst>
            </a:custGeom>
            <a:ln w="76318">
              <a:solidFill>
                <a:srgbClr val="00607E"/>
              </a:solidFill>
            </a:ln>
          </p:spPr>
          <p:txBody>
            <a:bodyPr wrap="square" lIns="0" tIns="0" rIns="0" bIns="0" rtlCol="0"/>
            <a:lstStyle/>
            <a:p>
              <a:endParaRPr/>
            </a:p>
          </p:txBody>
        </p:sp>
        <p:pic>
          <p:nvPicPr>
            <p:cNvPr id="29" name="object 29"/>
            <p:cNvPicPr/>
            <p:nvPr/>
          </p:nvPicPr>
          <p:blipFill>
            <a:blip r:embed="rId2" cstate="print"/>
            <a:stretch>
              <a:fillRect/>
            </a:stretch>
          </p:blipFill>
          <p:spPr>
            <a:xfrm>
              <a:off x="4329353" y="2941570"/>
              <a:ext cx="168490" cy="187921"/>
            </a:xfrm>
            <a:prstGeom prst="rect">
              <a:avLst/>
            </a:prstGeom>
          </p:spPr>
        </p:pic>
      </p:grpSp>
      <p:sp>
        <p:nvSpPr>
          <p:cNvPr id="30" name="object 3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1" name="object 31"/>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28</a:t>
            </a:fld>
            <a:r>
              <a:rPr spc="-10" dirty="0"/>
              <a:t>/60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00" dirty="0"/>
              <a:t> </a:t>
            </a:r>
            <a:r>
              <a:rPr spc="120" dirty="0"/>
              <a:t>VE</a:t>
            </a:r>
          </a:p>
        </p:txBody>
      </p:sp>
      <p:sp>
        <p:nvSpPr>
          <p:cNvPr id="3" name="object 3"/>
          <p:cNvSpPr txBox="1"/>
          <p:nvPr/>
        </p:nvSpPr>
        <p:spPr>
          <a:xfrm>
            <a:off x="611174" y="1879469"/>
            <a:ext cx="2346325"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54C4C"/>
                </a:solidFill>
                <a:latin typeface="Arial MT"/>
                <a:cs typeface="Arial MT"/>
              </a:rPr>
              <a:t>Continue</a:t>
            </a:r>
            <a:r>
              <a:rPr sz="2400" spc="50" dirty="0">
                <a:solidFill>
                  <a:srgbClr val="454C4C"/>
                </a:solidFill>
                <a:latin typeface="Arial MT"/>
                <a:cs typeface="Arial MT"/>
              </a:rPr>
              <a:t> </a:t>
            </a:r>
            <a:r>
              <a:rPr sz="2400" spc="-10" dirty="0">
                <a:solidFill>
                  <a:srgbClr val="454C4C"/>
                </a:solidFill>
                <a:latin typeface="Arial MT"/>
                <a:cs typeface="Arial MT"/>
              </a:rPr>
              <a:t>backup</a:t>
            </a:r>
            <a:endParaRPr sz="2400">
              <a:latin typeface="Arial MT"/>
              <a:cs typeface="Arial MT"/>
            </a:endParaRPr>
          </a:p>
        </p:txBody>
      </p:sp>
      <p:sp>
        <p:nvSpPr>
          <p:cNvPr id="4" name="object 4"/>
          <p:cNvSpPr/>
          <p:nvPr/>
        </p:nvSpPr>
        <p:spPr>
          <a:xfrm>
            <a:off x="6525006" y="2811242"/>
            <a:ext cx="1022985" cy="622935"/>
          </a:xfrm>
          <a:custGeom>
            <a:avLst/>
            <a:gdLst/>
            <a:ahLst/>
            <a:cxnLst/>
            <a:rect l="l" t="t" r="r" b="b"/>
            <a:pathLst>
              <a:path w="1022984" h="622935">
                <a:moveTo>
                  <a:pt x="422630" y="0"/>
                </a:moveTo>
                <a:lnTo>
                  <a:pt x="458657" y="2821"/>
                </a:lnTo>
                <a:lnTo>
                  <a:pt x="494006" y="10669"/>
                </a:lnTo>
                <a:lnTo>
                  <a:pt x="560514" y="41046"/>
                </a:lnTo>
                <a:lnTo>
                  <a:pt x="608261" y="79655"/>
                </a:lnTo>
                <a:lnTo>
                  <a:pt x="647636" y="128523"/>
                </a:lnTo>
                <a:lnTo>
                  <a:pt x="662651" y="121171"/>
                </a:lnTo>
                <a:lnTo>
                  <a:pt x="678373" y="115879"/>
                </a:lnTo>
                <a:lnTo>
                  <a:pt x="694567" y="112680"/>
                </a:lnTo>
                <a:lnTo>
                  <a:pt x="710996" y="111607"/>
                </a:lnTo>
                <a:lnTo>
                  <a:pt x="764757" y="123453"/>
                </a:lnTo>
                <a:lnTo>
                  <a:pt x="810487" y="157013"/>
                </a:lnTo>
                <a:lnTo>
                  <a:pt x="833031" y="189369"/>
                </a:lnTo>
                <a:lnTo>
                  <a:pt x="839876" y="204850"/>
                </a:lnTo>
                <a:lnTo>
                  <a:pt x="845629" y="204127"/>
                </a:lnTo>
                <a:lnTo>
                  <a:pt x="851395" y="203771"/>
                </a:lnTo>
                <a:lnTo>
                  <a:pt x="857148" y="203771"/>
                </a:lnTo>
                <a:lnTo>
                  <a:pt x="878639" y="205318"/>
                </a:lnTo>
                <a:lnTo>
                  <a:pt x="899725" y="209935"/>
                </a:lnTo>
                <a:lnTo>
                  <a:pt x="939596" y="228244"/>
                </a:lnTo>
                <a:lnTo>
                  <a:pt x="973883" y="257090"/>
                </a:lnTo>
                <a:lnTo>
                  <a:pt x="1000074" y="294843"/>
                </a:lnTo>
                <a:lnTo>
                  <a:pt x="1016631" y="338899"/>
                </a:lnTo>
                <a:lnTo>
                  <a:pt x="1022388" y="385927"/>
                </a:lnTo>
                <a:lnTo>
                  <a:pt x="1022388" y="386283"/>
                </a:lnTo>
                <a:lnTo>
                  <a:pt x="1020926" y="409984"/>
                </a:lnTo>
                <a:lnTo>
                  <a:pt x="1016631" y="433311"/>
                </a:lnTo>
                <a:lnTo>
                  <a:pt x="1000074" y="477367"/>
                </a:lnTo>
                <a:lnTo>
                  <a:pt x="973883" y="515124"/>
                </a:lnTo>
                <a:lnTo>
                  <a:pt x="939596" y="543966"/>
                </a:lnTo>
                <a:lnTo>
                  <a:pt x="899725" y="562286"/>
                </a:lnTo>
                <a:lnTo>
                  <a:pt x="857148" y="568451"/>
                </a:lnTo>
                <a:lnTo>
                  <a:pt x="840283" y="567506"/>
                </a:lnTo>
                <a:lnTo>
                  <a:pt x="823717" y="564670"/>
                </a:lnTo>
                <a:lnTo>
                  <a:pt x="807486" y="559943"/>
                </a:lnTo>
                <a:lnTo>
                  <a:pt x="791629" y="553326"/>
                </a:lnTo>
                <a:lnTo>
                  <a:pt x="757917" y="588662"/>
                </a:lnTo>
                <a:lnTo>
                  <a:pt x="705231" y="616148"/>
                </a:lnTo>
                <a:lnTo>
                  <a:pt x="662393" y="622452"/>
                </a:lnTo>
                <a:lnTo>
                  <a:pt x="640910" y="620698"/>
                </a:lnTo>
                <a:lnTo>
                  <a:pt x="619867" y="616010"/>
                </a:lnTo>
                <a:lnTo>
                  <a:pt x="580313" y="597966"/>
                </a:lnTo>
                <a:lnTo>
                  <a:pt x="551878" y="574928"/>
                </a:lnTo>
                <a:lnTo>
                  <a:pt x="521151" y="590371"/>
                </a:lnTo>
                <a:lnTo>
                  <a:pt x="489145" y="601564"/>
                </a:lnTo>
                <a:lnTo>
                  <a:pt x="456193" y="608436"/>
                </a:lnTo>
                <a:lnTo>
                  <a:pt x="422630" y="610920"/>
                </a:lnTo>
                <a:lnTo>
                  <a:pt x="386722" y="608111"/>
                </a:lnTo>
                <a:lnTo>
                  <a:pt x="351621" y="600306"/>
                </a:lnTo>
                <a:lnTo>
                  <a:pt x="317735" y="587639"/>
                </a:lnTo>
                <a:lnTo>
                  <a:pt x="285470" y="570242"/>
                </a:lnTo>
                <a:lnTo>
                  <a:pt x="285115" y="570610"/>
                </a:lnTo>
                <a:lnTo>
                  <a:pt x="284391" y="570966"/>
                </a:lnTo>
                <a:lnTo>
                  <a:pt x="284035" y="571322"/>
                </a:lnTo>
                <a:lnTo>
                  <a:pt x="261803" y="583251"/>
                </a:lnTo>
                <a:lnTo>
                  <a:pt x="238493" y="591937"/>
                </a:lnTo>
                <a:lnTo>
                  <a:pt x="214373" y="597246"/>
                </a:lnTo>
                <a:lnTo>
                  <a:pt x="189712" y="599046"/>
                </a:lnTo>
                <a:lnTo>
                  <a:pt x="164846" y="597296"/>
                </a:lnTo>
                <a:lnTo>
                  <a:pt x="140620" y="592070"/>
                </a:lnTo>
                <a:lnTo>
                  <a:pt x="95034" y="571322"/>
                </a:lnTo>
                <a:lnTo>
                  <a:pt x="55702" y="537983"/>
                </a:lnTo>
                <a:lnTo>
                  <a:pt x="25552" y="494652"/>
                </a:lnTo>
                <a:lnTo>
                  <a:pt x="6699" y="444023"/>
                </a:lnTo>
                <a:lnTo>
                  <a:pt x="0" y="389889"/>
                </a:lnTo>
                <a:lnTo>
                  <a:pt x="1663" y="362532"/>
                </a:lnTo>
                <a:lnTo>
                  <a:pt x="6565" y="335751"/>
                </a:lnTo>
                <a:lnTo>
                  <a:pt x="25552" y="285127"/>
                </a:lnTo>
                <a:lnTo>
                  <a:pt x="55702" y="241968"/>
                </a:lnTo>
                <a:lnTo>
                  <a:pt x="95034" y="208800"/>
                </a:lnTo>
                <a:lnTo>
                  <a:pt x="131303" y="190847"/>
                </a:lnTo>
                <a:lnTo>
                  <a:pt x="170268" y="181800"/>
                </a:lnTo>
                <a:lnTo>
                  <a:pt x="203649" y="119513"/>
                </a:lnTo>
                <a:lnTo>
                  <a:pt x="227422" y="89557"/>
                </a:lnTo>
                <a:lnTo>
                  <a:pt x="284759" y="41046"/>
                </a:lnTo>
                <a:lnTo>
                  <a:pt x="351128" y="10669"/>
                </a:lnTo>
                <a:lnTo>
                  <a:pt x="422630" y="0"/>
                </a:lnTo>
                <a:close/>
              </a:path>
            </a:pathLst>
          </a:custGeom>
          <a:ln w="26984">
            <a:solidFill>
              <a:srgbClr val="CCCCCC"/>
            </a:solidFill>
          </a:ln>
        </p:spPr>
        <p:txBody>
          <a:bodyPr wrap="square" lIns="0" tIns="0" rIns="0" bIns="0" rtlCol="0"/>
          <a:lstStyle/>
          <a:p>
            <a:endParaRPr/>
          </a:p>
        </p:txBody>
      </p:sp>
      <p:grpSp>
        <p:nvGrpSpPr>
          <p:cNvPr id="5" name="object 5"/>
          <p:cNvGrpSpPr/>
          <p:nvPr/>
        </p:nvGrpSpPr>
        <p:grpSpPr>
          <a:xfrm>
            <a:off x="5907239" y="3038407"/>
            <a:ext cx="405130" cy="168275"/>
            <a:chOff x="5907239" y="3038407"/>
            <a:chExt cx="405130" cy="168275"/>
          </a:xfrm>
        </p:grpSpPr>
        <p:sp>
          <p:nvSpPr>
            <p:cNvPr id="6" name="object 6"/>
            <p:cNvSpPr/>
            <p:nvPr/>
          </p:nvSpPr>
          <p:spPr>
            <a:xfrm>
              <a:off x="5907239"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7" name="object 7"/>
            <p:cNvSpPr/>
            <p:nvPr/>
          </p:nvSpPr>
          <p:spPr>
            <a:xfrm>
              <a:off x="6124676" y="3038407"/>
              <a:ext cx="187960" cy="168275"/>
            </a:xfrm>
            <a:custGeom>
              <a:avLst/>
              <a:gdLst/>
              <a:ahLst/>
              <a:cxnLst/>
              <a:rect l="l" t="t" r="r" b="b"/>
              <a:pathLst>
                <a:path w="187960" h="168275">
                  <a:moveTo>
                    <a:pt x="11163" y="0"/>
                  </a:moveTo>
                  <a:lnTo>
                    <a:pt x="9728" y="0"/>
                  </a:lnTo>
                  <a:lnTo>
                    <a:pt x="6489" y="723"/>
                  </a:lnTo>
                  <a:lnTo>
                    <a:pt x="2882" y="2527"/>
                  </a:lnTo>
                  <a:lnTo>
                    <a:pt x="723" y="5397"/>
                  </a:lnTo>
                  <a:lnTo>
                    <a:pt x="0" y="9004"/>
                  </a:lnTo>
                  <a:lnTo>
                    <a:pt x="0" y="158762"/>
                  </a:lnTo>
                  <a:lnTo>
                    <a:pt x="723" y="162356"/>
                  </a:lnTo>
                  <a:lnTo>
                    <a:pt x="2882" y="165963"/>
                  </a:lnTo>
                  <a:lnTo>
                    <a:pt x="6489" y="167398"/>
                  </a:lnTo>
                  <a:lnTo>
                    <a:pt x="9728" y="168122"/>
                  </a:lnTo>
                  <a:lnTo>
                    <a:pt x="11163" y="168122"/>
                  </a:lnTo>
                  <a:lnTo>
                    <a:pt x="13322" y="167398"/>
                  </a:lnTo>
                  <a:lnTo>
                    <a:pt x="180721" y="92875"/>
                  </a:lnTo>
                  <a:lnTo>
                    <a:pt x="185407" y="89281"/>
                  </a:lnTo>
                  <a:lnTo>
                    <a:pt x="187566" y="84239"/>
                  </a:lnTo>
                  <a:lnTo>
                    <a:pt x="185407" y="78485"/>
                  </a:lnTo>
                  <a:lnTo>
                    <a:pt x="181089"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8" name="object 8"/>
          <p:cNvGrpSpPr/>
          <p:nvPr/>
        </p:nvGrpSpPr>
        <p:grpSpPr>
          <a:xfrm>
            <a:off x="7759445" y="3038407"/>
            <a:ext cx="405130" cy="168275"/>
            <a:chOff x="7759445" y="3038407"/>
            <a:chExt cx="405130" cy="168275"/>
          </a:xfrm>
        </p:grpSpPr>
        <p:sp>
          <p:nvSpPr>
            <p:cNvPr id="9" name="object 9"/>
            <p:cNvSpPr/>
            <p:nvPr/>
          </p:nvSpPr>
          <p:spPr>
            <a:xfrm>
              <a:off x="7759445" y="3122291"/>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10" name="object 10"/>
            <p:cNvSpPr/>
            <p:nvPr/>
          </p:nvSpPr>
          <p:spPr>
            <a:xfrm>
              <a:off x="7976882" y="3038407"/>
              <a:ext cx="187960" cy="168275"/>
            </a:xfrm>
            <a:custGeom>
              <a:avLst/>
              <a:gdLst/>
              <a:ahLst/>
              <a:cxnLst/>
              <a:rect l="l" t="t" r="r" b="b"/>
              <a:pathLst>
                <a:path w="187959" h="168275">
                  <a:moveTo>
                    <a:pt x="11163" y="0"/>
                  </a:moveTo>
                  <a:lnTo>
                    <a:pt x="9715" y="0"/>
                  </a:lnTo>
                  <a:lnTo>
                    <a:pt x="6476" y="723"/>
                  </a:lnTo>
                  <a:lnTo>
                    <a:pt x="2882" y="2527"/>
                  </a:lnTo>
                  <a:lnTo>
                    <a:pt x="711" y="5397"/>
                  </a:lnTo>
                  <a:lnTo>
                    <a:pt x="0" y="9004"/>
                  </a:lnTo>
                  <a:lnTo>
                    <a:pt x="0" y="158762"/>
                  </a:lnTo>
                  <a:lnTo>
                    <a:pt x="711" y="162356"/>
                  </a:lnTo>
                  <a:lnTo>
                    <a:pt x="2882" y="165963"/>
                  </a:lnTo>
                  <a:lnTo>
                    <a:pt x="6476" y="167398"/>
                  </a:lnTo>
                  <a:lnTo>
                    <a:pt x="9715" y="168122"/>
                  </a:lnTo>
                  <a:lnTo>
                    <a:pt x="11163" y="168122"/>
                  </a:lnTo>
                  <a:lnTo>
                    <a:pt x="13322" y="167398"/>
                  </a:lnTo>
                  <a:lnTo>
                    <a:pt x="180721" y="92875"/>
                  </a:lnTo>
                  <a:lnTo>
                    <a:pt x="185394" y="89281"/>
                  </a:lnTo>
                  <a:lnTo>
                    <a:pt x="187553" y="84239"/>
                  </a:lnTo>
                  <a:lnTo>
                    <a:pt x="185394" y="78485"/>
                  </a:lnTo>
                  <a:lnTo>
                    <a:pt x="181076"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11" name="object 11"/>
          <p:cNvGrpSpPr/>
          <p:nvPr/>
        </p:nvGrpSpPr>
        <p:grpSpPr>
          <a:xfrm>
            <a:off x="8429531" y="2854060"/>
            <a:ext cx="411480" cy="536575"/>
            <a:chOff x="8429531" y="2854060"/>
            <a:chExt cx="411480" cy="536575"/>
          </a:xfrm>
        </p:grpSpPr>
        <p:sp>
          <p:nvSpPr>
            <p:cNvPr id="12" name="object 12"/>
            <p:cNvSpPr/>
            <p:nvPr/>
          </p:nvSpPr>
          <p:spPr>
            <a:xfrm>
              <a:off x="8439480" y="3173408"/>
              <a:ext cx="391160" cy="208279"/>
            </a:xfrm>
            <a:custGeom>
              <a:avLst/>
              <a:gdLst/>
              <a:ahLst/>
              <a:cxnLst/>
              <a:rect l="l" t="t" r="r" b="b"/>
              <a:pathLst>
                <a:path w="391159" h="208279">
                  <a:moveTo>
                    <a:pt x="390956" y="110883"/>
                  </a:moveTo>
                  <a:lnTo>
                    <a:pt x="360254" y="166092"/>
                  </a:lnTo>
                  <a:lnTo>
                    <a:pt x="320582" y="187085"/>
                  </a:lnTo>
                  <a:lnTo>
                    <a:pt x="268730" y="201598"/>
                  </a:lnTo>
                  <a:lnTo>
                    <a:pt x="207721" y="208076"/>
                  </a:lnTo>
                  <a:lnTo>
                    <a:pt x="145305" y="205074"/>
                  </a:lnTo>
                  <a:lnTo>
                    <a:pt x="89941" y="193552"/>
                  </a:lnTo>
                  <a:lnTo>
                    <a:pt x="45047" y="174927"/>
                  </a:lnTo>
                  <a:lnTo>
                    <a:pt x="14045" y="150615"/>
                  </a:lnTo>
                  <a:lnTo>
                    <a:pt x="0" y="118795"/>
                  </a:lnTo>
                  <a:lnTo>
                    <a:pt x="0" y="115557"/>
                  </a:lnTo>
                  <a:lnTo>
                    <a:pt x="355" y="112318"/>
                  </a:lnTo>
                </a:path>
                <a:path w="391159" h="208279">
                  <a:moveTo>
                    <a:pt x="390956" y="0"/>
                  </a:moveTo>
                  <a:lnTo>
                    <a:pt x="360254" y="55209"/>
                  </a:lnTo>
                  <a:lnTo>
                    <a:pt x="320582" y="76204"/>
                  </a:lnTo>
                  <a:lnTo>
                    <a:pt x="268730" y="90721"/>
                  </a:lnTo>
                  <a:lnTo>
                    <a:pt x="207721" y="97205"/>
                  </a:lnTo>
                  <a:lnTo>
                    <a:pt x="145305" y="94197"/>
                  </a:lnTo>
                  <a:lnTo>
                    <a:pt x="89941" y="82672"/>
                  </a:lnTo>
                  <a:lnTo>
                    <a:pt x="45047" y="64046"/>
                  </a:lnTo>
                  <a:lnTo>
                    <a:pt x="14045" y="39738"/>
                  </a:lnTo>
                  <a:lnTo>
                    <a:pt x="0" y="7924"/>
                  </a:lnTo>
                  <a:lnTo>
                    <a:pt x="0" y="4686"/>
                  </a:lnTo>
                  <a:lnTo>
                    <a:pt x="355" y="1435"/>
                  </a:lnTo>
                </a:path>
              </a:pathLst>
            </a:custGeom>
            <a:ln w="17959">
              <a:solidFill>
                <a:srgbClr val="454C4C"/>
              </a:solidFill>
            </a:ln>
          </p:spPr>
          <p:txBody>
            <a:bodyPr wrap="square" lIns="0" tIns="0" rIns="0" bIns="0" rtlCol="0"/>
            <a:lstStyle/>
            <a:p>
              <a:endParaRPr/>
            </a:p>
          </p:txBody>
        </p:sp>
        <p:sp>
          <p:nvSpPr>
            <p:cNvPr id="13" name="object 13"/>
            <p:cNvSpPr/>
            <p:nvPr/>
          </p:nvSpPr>
          <p:spPr>
            <a:xfrm>
              <a:off x="8439835" y="2863084"/>
              <a:ext cx="389890" cy="181610"/>
            </a:xfrm>
            <a:custGeom>
              <a:avLst/>
              <a:gdLst/>
              <a:ahLst/>
              <a:cxnLst/>
              <a:rect l="l" t="t" r="r" b="b"/>
              <a:pathLst>
                <a:path w="389890" h="181610">
                  <a:moveTo>
                    <a:pt x="389890" y="90360"/>
                  </a:moveTo>
                  <a:lnTo>
                    <a:pt x="352333" y="143913"/>
                  </a:lnTo>
                  <a:lnTo>
                    <a:pt x="310183" y="163563"/>
                  </a:lnTo>
                  <a:lnTo>
                    <a:pt x="256714" y="176457"/>
                  </a:lnTo>
                  <a:lnTo>
                    <a:pt x="195122" y="181089"/>
                  </a:lnTo>
                  <a:lnTo>
                    <a:pt x="133357" y="176457"/>
                  </a:lnTo>
                  <a:lnTo>
                    <a:pt x="79783" y="163563"/>
                  </a:lnTo>
                  <a:lnTo>
                    <a:pt x="37578" y="143913"/>
                  </a:lnTo>
                  <a:lnTo>
                    <a:pt x="9924" y="119010"/>
                  </a:lnTo>
                  <a:lnTo>
                    <a:pt x="0" y="90360"/>
                  </a:lnTo>
                  <a:lnTo>
                    <a:pt x="9924" y="61748"/>
                  </a:lnTo>
                  <a:lnTo>
                    <a:pt x="37578" y="36937"/>
                  </a:lnTo>
                  <a:lnTo>
                    <a:pt x="79783" y="17395"/>
                  </a:lnTo>
                  <a:lnTo>
                    <a:pt x="133357" y="4593"/>
                  </a:lnTo>
                  <a:lnTo>
                    <a:pt x="195122" y="0"/>
                  </a:lnTo>
                  <a:lnTo>
                    <a:pt x="256714" y="4593"/>
                  </a:lnTo>
                  <a:lnTo>
                    <a:pt x="310183" y="17395"/>
                  </a:lnTo>
                  <a:lnTo>
                    <a:pt x="352333" y="36937"/>
                  </a:lnTo>
                  <a:lnTo>
                    <a:pt x="379968" y="61748"/>
                  </a:lnTo>
                  <a:lnTo>
                    <a:pt x="389890" y="90360"/>
                  </a:lnTo>
                  <a:close/>
                </a:path>
              </a:pathLst>
            </a:custGeom>
            <a:ln w="18046">
              <a:solidFill>
                <a:srgbClr val="454C4C"/>
              </a:solidFill>
            </a:ln>
          </p:spPr>
          <p:txBody>
            <a:bodyPr wrap="square" lIns="0" tIns="0" rIns="0" bIns="0" rtlCol="0"/>
            <a:lstStyle/>
            <a:p>
              <a:endParaRPr/>
            </a:p>
          </p:txBody>
        </p:sp>
        <p:sp>
          <p:nvSpPr>
            <p:cNvPr id="14" name="object 14"/>
            <p:cNvSpPr/>
            <p:nvPr/>
          </p:nvSpPr>
          <p:spPr>
            <a:xfrm>
              <a:off x="8439480" y="2958130"/>
              <a:ext cx="635" cy="333375"/>
            </a:xfrm>
            <a:custGeom>
              <a:avLst/>
              <a:gdLst/>
              <a:ahLst/>
              <a:cxnLst/>
              <a:rect l="l" t="t" r="r" b="b"/>
              <a:pathLst>
                <a:path w="634" h="333375">
                  <a:moveTo>
                    <a:pt x="355" y="333362"/>
                  </a:moveTo>
                  <a:lnTo>
                    <a:pt x="0" y="0"/>
                  </a:lnTo>
                </a:path>
              </a:pathLst>
            </a:custGeom>
            <a:ln w="19896">
              <a:solidFill>
                <a:srgbClr val="454C4C"/>
              </a:solidFill>
            </a:ln>
          </p:spPr>
          <p:txBody>
            <a:bodyPr wrap="square" lIns="0" tIns="0" rIns="0" bIns="0" rtlCol="0"/>
            <a:lstStyle/>
            <a:p>
              <a:endParaRPr/>
            </a:p>
          </p:txBody>
        </p:sp>
        <p:sp>
          <p:nvSpPr>
            <p:cNvPr id="15" name="object 15"/>
            <p:cNvSpPr/>
            <p:nvPr/>
          </p:nvSpPr>
          <p:spPr>
            <a:xfrm>
              <a:off x="8439480" y="3066131"/>
              <a:ext cx="391160" cy="97790"/>
            </a:xfrm>
            <a:custGeom>
              <a:avLst/>
              <a:gdLst/>
              <a:ahLst/>
              <a:cxnLst/>
              <a:rect l="l" t="t" r="r" b="b"/>
              <a:pathLst>
                <a:path w="391159" h="97789">
                  <a:moveTo>
                    <a:pt x="390956" y="0"/>
                  </a:moveTo>
                  <a:lnTo>
                    <a:pt x="360254" y="55314"/>
                  </a:lnTo>
                  <a:lnTo>
                    <a:pt x="320582" y="76360"/>
                  </a:lnTo>
                  <a:lnTo>
                    <a:pt x="268730" y="90856"/>
                  </a:lnTo>
                  <a:lnTo>
                    <a:pt x="207721" y="97193"/>
                  </a:lnTo>
                  <a:lnTo>
                    <a:pt x="145305" y="94361"/>
                  </a:lnTo>
                  <a:lnTo>
                    <a:pt x="89941" y="82925"/>
                  </a:lnTo>
                  <a:lnTo>
                    <a:pt x="45047" y="64302"/>
                  </a:lnTo>
                  <a:lnTo>
                    <a:pt x="14045" y="39908"/>
                  </a:lnTo>
                  <a:lnTo>
                    <a:pt x="0" y="7912"/>
                  </a:lnTo>
                  <a:lnTo>
                    <a:pt x="0" y="4673"/>
                  </a:lnTo>
                  <a:lnTo>
                    <a:pt x="355" y="1435"/>
                  </a:lnTo>
                </a:path>
              </a:pathLst>
            </a:custGeom>
            <a:ln w="17959">
              <a:solidFill>
                <a:srgbClr val="454C4C"/>
              </a:solidFill>
            </a:ln>
          </p:spPr>
          <p:txBody>
            <a:bodyPr wrap="square" lIns="0" tIns="0" rIns="0" bIns="0" rtlCol="0"/>
            <a:lstStyle/>
            <a:p>
              <a:endParaRPr/>
            </a:p>
          </p:txBody>
        </p:sp>
        <p:sp>
          <p:nvSpPr>
            <p:cNvPr id="16" name="object 16"/>
            <p:cNvSpPr/>
            <p:nvPr/>
          </p:nvSpPr>
          <p:spPr>
            <a:xfrm>
              <a:off x="8830437" y="2958130"/>
              <a:ext cx="635" cy="333375"/>
            </a:xfrm>
            <a:custGeom>
              <a:avLst/>
              <a:gdLst/>
              <a:ahLst/>
              <a:cxnLst/>
              <a:rect l="l" t="t" r="r" b="b"/>
              <a:pathLst>
                <a:path w="634" h="333375">
                  <a:moveTo>
                    <a:pt x="368" y="333362"/>
                  </a:moveTo>
                  <a:lnTo>
                    <a:pt x="0" y="0"/>
                  </a:lnTo>
                </a:path>
              </a:pathLst>
            </a:custGeom>
            <a:ln w="19896">
              <a:solidFill>
                <a:srgbClr val="454C4C"/>
              </a:solidFill>
            </a:ln>
          </p:spPr>
          <p:txBody>
            <a:bodyPr wrap="square" lIns="0" tIns="0" rIns="0" bIns="0" rtlCol="0"/>
            <a:lstStyle/>
            <a:p>
              <a:endParaRPr/>
            </a:p>
          </p:txBody>
        </p:sp>
      </p:grpSp>
      <p:sp>
        <p:nvSpPr>
          <p:cNvPr id="17" name="object 17"/>
          <p:cNvSpPr txBox="1"/>
          <p:nvPr/>
        </p:nvSpPr>
        <p:spPr>
          <a:xfrm>
            <a:off x="6685826" y="3061712"/>
            <a:ext cx="2531745" cy="69469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Network</a:t>
            </a:r>
            <a:endParaRPr sz="1400">
              <a:latin typeface="Arial MT"/>
              <a:cs typeface="Arial MT"/>
            </a:endParaRPr>
          </a:p>
          <a:p>
            <a:pPr>
              <a:lnSpc>
                <a:spcPct val="100000"/>
              </a:lnSpc>
              <a:spcBef>
                <a:spcPts val="295"/>
              </a:spcBef>
            </a:pPr>
            <a:endParaRPr sz="1400">
              <a:latin typeface="Arial MT"/>
              <a:cs typeface="Arial MT"/>
            </a:endParaRPr>
          </a:p>
          <a:p>
            <a:pPr marL="1377950">
              <a:lnSpc>
                <a:spcPct val="100000"/>
              </a:lnSpc>
              <a:spcBef>
                <a:spcPts val="5"/>
              </a:spcBef>
            </a:pPr>
            <a:r>
              <a:rPr sz="1400" spc="-10" dirty="0">
                <a:solidFill>
                  <a:srgbClr val="454C4C"/>
                </a:solidFill>
                <a:latin typeface="Arial MT"/>
                <a:cs typeface="Arial MT"/>
              </a:rPr>
              <a:t>Backup</a:t>
            </a:r>
            <a:r>
              <a:rPr sz="1400" spc="-55" dirty="0">
                <a:solidFill>
                  <a:srgbClr val="454C4C"/>
                </a:solidFill>
                <a:latin typeface="Arial MT"/>
                <a:cs typeface="Arial MT"/>
              </a:rPr>
              <a:t> </a:t>
            </a:r>
            <a:r>
              <a:rPr sz="1400" spc="-10" dirty="0">
                <a:solidFill>
                  <a:srgbClr val="454C4C"/>
                </a:solidFill>
                <a:latin typeface="Arial MT"/>
                <a:cs typeface="Arial MT"/>
              </a:rPr>
              <a:t>Target</a:t>
            </a:r>
            <a:endParaRPr sz="1400">
              <a:latin typeface="Arial MT"/>
              <a:cs typeface="Arial MT"/>
            </a:endParaRPr>
          </a:p>
        </p:txBody>
      </p:sp>
      <p:grpSp>
        <p:nvGrpSpPr>
          <p:cNvPr id="18" name="object 18"/>
          <p:cNvGrpSpPr/>
          <p:nvPr/>
        </p:nvGrpSpPr>
        <p:grpSpPr>
          <a:xfrm>
            <a:off x="525957" y="2870285"/>
            <a:ext cx="5182870" cy="504190"/>
            <a:chOff x="525957" y="2870285"/>
            <a:chExt cx="5182870" cy="504190"/>
          </a:xfrm>
        </p:grpSpPr>
        <p:sp>
          <p:nvSpPr>
            <p:cNvPr id="19" name="object 19"/>
            <p:cNvSpPr/>
            <p:nvPr/>
          </p:nvSpPr>
          <p:spPr>
            <a:xfrm>
              <a:off x="1045794" y="2870284"/>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3623043" y="0"/>
                  </a:moveTo>
                  <a:lnTo>
                    <a:pt x="3119043" y="0"/>
                  </a:lnTo>
                  <a:lnTo>
                    <a:pt x="3119043" y="503999"/>
                  </a:lnTo>
                  <a:lnTo>
                    <a:pt x="3371050" y="503999"/>
                  </a:lnTo>
                  <a:lnTo>
                    <a:pt x="3623043" y="503999"/>
                  </a:lnTo>
                  <a:lnTo>
                    <a:pt x="3623043" y="0"/>
                  </a:lnTo>
                  <a:close/>
                </a:path>
              </a:pathLst>
            </a:custGeom>
            <a:solidFill>
              <a:srgbClr val="FF9000"/>
            </a:solidFill>
          </p:spPr>
          <p:txBody>
            <a:bodyPr wrap="square" lIns="0" tIns="0" rIns="0" bIns="0" rtlCol="0"/>
            <a:lstStyle/>
            <a:p>
              <a:endParaRPr/>
            </a:p>
          </p:txBody>
        </p:sp>
        <p:sp>
          <p:nvSpPr>
            <p:cNvPr id="20" name="object 20"/>
            <p:cNvSpPr/>
            <p:nvPr/>
          </p:nvSpPr>
          <p:spPr>
            <a:xfrm>
              <a:off x="3645001" y="2870285"/>
              <a:ext cx="504190" cy="504190"/>
            </a:xfrm>
            <a:custGeom>
              <a:avLst/>
              <a:gdLst/>
              <a:ahLst/>
              <a:cxnLst/>
              <a:rect l="l" t="t" r="r" b="b"/>
              <a:pathLst>
                <a:path w="504189" h="504189">
                  <a:moveTo>
                    <a:pt x="503999" y="0"/>
                  </a:moveTo>
                  <a:lnTo>
                    <a:pt x="0" y="0"/>
                  </a:lnTo>
                  <a:lnTo>
                    <a:pt x="0" y="503999"/>
                  </a:lnTo>
                  <a:lnTo>
                    <a:pt x="251993" y="503999"/>
                  </a:lnTo>
                  <a:lnTo>
                    <a:pt x="503999" y="503999"/>
                  </a:lnTo>
                  <a:lnTo>
                    <a:pt x="503999" y="0"/>
                  </a:lnTo>
                  <a:close/>
                </a:path>
              </a:pathLst>
            </a:custGeom>
            <a:solidFill>
              <a:srgbClr val="DAD6D4"/>
            </a:solidFill>
          </p:spPr>
          <p:txBody>
            <a:bodyPr wrap="square" lIns="0" tIns="0" rIns="0" bIns="0" rtlCol="0"/>
            <a:lstStyle/>
            <a:p>
              <a:endParaRPr/>
            </a:p>
          </p:txBody>
        </p:sp>
        <p:sp>
          <p:nvSpPr>
            <p:cNvPr id="21" name="object 21"/>
            <p:cNvSpPr/>
            <p:nvPr/>
          </p:nvSpPr>
          <p:spPr>
            <a:xfrm>
              <a:off x="525957" y="2870284"/>
              <a:ext cx="2583815" cy="504190"/>
            </a:xfrm>
            <a:custGeom>
              <a:avLst/>
              <a:gdLst/>
              <a:ahLst/>
              <a:cxnLst/>
              <a:rect l="l" t="t" r="r" b="b"/>
              <a:pathLst>
                <a:path w="2583815" h="504189">
                  <a:moveTo>
                    <a:pt x="503999" y="0"/>
                  </a:moveTo>
                  <a:lnTo>
                    <a:pt x="0" y="0"/>
                  </a:lnTo>
                  <a:lnTo>
                    <a:pt x="0" y="503999"/>
                  </a:lnTo>
                  <a:lnTo>
                    <a:pt x="252006" y="503999"/>
                  </a:lnTo>
                  <a:lnTo>
                    <a:pt x="503999" y="503999"/>
                  </a:lnTo>
                  <a:lnTo>
                    <a:pt x="503999" y="0"/>
                  </a:lnTo>
                  <a:close/>
                </a:path>
                <a:path w="2583815" h="504189">
                  <a:moveTo>
                    <a:pt x="1543685" y="0"/>
                  </a:moveTo>
                  <a:lnTo>
                    <a:pt x="1039685" y="0"/>
                  </a:lnTo>
                  <a:lnTo>
                    <a:pt x="1039685" y="503999"/>
                  </a:lnTo>
                  <a:lnTo>
                    <a:pt x="1291678" y="503999"/>
                  </a:lnTo>
                  <a:lnTo>
                    <a:pt x="1543685" y="503999"/>
                  </a:lnTo>
                  <a:lnTo>
                    <a:pt x="1543685" y="0"/>
                  </a:lnTo>
                  <a:close/>
                </a:path>
                <a:path w="2583815" h="504189">
                  <a:moveTo>
                    <a:pt x="2063521" y="0"/>
                  </a:moveTo>
                  <a:lnTo>
                    <a:pt x="1559521" y="0"/>
                  </a:lnTo>
                  <a:lnTo>
                    <a:pt x="1559521" y="503999"/>
                  </a:lnTo>
                  <a:lnTo>
                    <a:pt x="1811528" y="503999"/>
                  </a:lnTo>
                  <a:lnTo>
                    <a:pt x="2063521" y="503999"/>
                  </a:lnTo>
                  <a:lnTo>
                    <a:pt x="2063521" y="0"/>
                  </a:lnTo>
                  <a:close/>
                </a:path>
                <a:path w="2583815" h="504189">
                  <a:moveTo>
                    <a:pt x="2583357" y="0"/>
                  </a:moveTo>
                  <a:lnTo>
                    <a:pt x="2079358" y="0"/>
                  </a:lnTo>
                  <a:lnTo>
                    <a:pt x="2079358" y="503999"/>
                  </a:lnTo>
                  <a:lnTo>
                    <a:pt x="2331364" y="503999"/>
                  </a:lnTo>
                  <a:lnTo>
                    <a:pt x="2583357" y="503999"/>
                  </a:lnTo>
                  <a:lnTo>
                    <a:pt x="2583357" y="0"/>
                  </a:lnTo>
                  <a:close/>
                </a:path>
              </a:pathLst>
            </a:custGeom>
            <a:solidFill>
              <a:srgbClr val="FF9000"/>
            </a:solidFill>
          </p:spPr>
          <p:txBody>
            <a:bodyPr wrap="square" lIns="0" tIns="0" rIns="0" bIns="0" rtlCol="0"/>
            <a:lstStyle/>
            <a:p>
              <a:endParaRPr/>
            </a:p>
          </p:txBody>
        </p:sp>
        <p:sp>
          <p:nvSpPr>
            <p:cNvPr id="22" name="object 22"/>
            <p:cNvSpPr/>
            <p:nvPr/>
          </p:nvSpPr>
          <p:spPr>
            <a:xfrm>
              <a:off x="3125165" y="2870284"/>
              <a:ext cx="2583815" cy="504190"/>
            </a:xfrm>
            <a:custGeom>
              <a:avLst/>
              <a:gdLst/>
              <a:ahLst/>
              <a:cxnLst/>
              <a:rect l="l" t="t" r="r" b="b"/>
              <a:pathLst>
                <a:path w="2583815" h="504189">
                  <a:moveTo>
                    <a:pt x="503999" y="0"/>
                  </a:moveTo>
                  <a:lnTo>
                    <a:pt x="0" y="0"/>
                  </a:lnTo>
                  <a:lnTo>
                    <a:pt x="0" y="503999"/>
                  </a:lnTo>
                  <a:lnTo>
                    <a:pt x="251993" y="503999"/>
                  </a:lnTo>
                  <a:lnTo>
                    <a:pt x="503999" y="503999"/>
                  </a:lnTo>
                  <a:lnTo>
                    <a:pt x="503999" y="0"/>
                  </a:lnTo>
                  <a:close/>
                </a:path>
                <a:path w="2583815" h="504189">
                  <a:moveTo>
                    <a:pt x="2063508" y="0"/>
                  </a:moveTo>
                  <a:lnTo>
                    <a:pt x="1559509" y="0"/>
                  </a:lnTo>
                  <a:lnTo>
                    <a:pt x="1559509" y="503999"/>
                  </a:lnTo>
                  <a:lnTo>
                    <a:pt x="1811515" y="503999"/>
                  </a:lnTo>
                  <a:lnTo>
                    <a:pt x="2063508" y="503999"/>
                  </a:lnTo>
                  <a:lnTo>
                    <a:pt x="2063508" y="0"/>
                  </a:lnTo>
                  <a:close/>
                </a:path>
                <a:path w="2583815" h="504189">
                  <a:moveTo>
                    <a:pt x="2583357" y="0"/>
                  </a:moveTo>
                  <a:lnTo>
                    <a:pt x="2079358" y="0"/>
                  </a:lnTo>
                  <a:lnTo>
                    <a:pt x="2079358" y="503999"/>
                  </a:lnTo>
                  <a:lnTo>
                    <a:pt x="2331351" y="503999"/>
                  </a:lnTo>
                  <a:lnTo>
                    <a:pt x="2583357" y="503999"/>
                  </a:lnTo>
                  <a:lnTo>
                    <a:pt x="2583357" y="0"/>
                  </a:lnTo>
                  <a:close/>
                </a:path>
              </a:pathLst>
            </a:custGeom>
            <a:solidFill>
              <a:srgbClr val="DAD6D4"/>
            </a:solidFill>
          </p:spPr>
          <p:txBody>
            <a:bodyPr wrap="square" lIns="0" tIns="0" rIns="0" bIns="0" rtlCol="0"/>
            <a:lstStyle/>
            <a:p>
              <a:endParaRPr/>
            </a:p>
          </p:txBody>
        </p:sp>
        <p:sp>
          <p:nvSpPr>
            <p:cNvPr id="23" name="object 23"/>
            <p:cNvSpPr/>
            <p:nvPr/>
          </p:nvSpPr>
          <p:spPr>
            <a:xfrm>
              <a:off x="2749321" y="2941925"/>
              <a:ext cx="215900" cy="324485"/>
            </a:xfrm>
            <a:custGeom>
              <a:avLst/>
              <a:gdLst/>
              <a:ahLst/>
              <a:cxnLst/>
              <a:rect l="l" t="t" r="r" b="b"/>
              <a:pathLst>
                <a:path w="215900" h="324485">
                  <a:moveTo>
                    <a:pt x="143992" y="0"/>
                  </a:moveTo>
                  <a:lnTo>
                    <a:pt x="143992" y="36360"/>
                  </a:lnTo>
                  <a:lnTo>
                    <a:pt x="136804" y="36360"/>
                  </a:lnTo>
                  <a:lnTo>
                    <a:pt x="122402" y="37807"/>
                  </a:lnTo>
                  <a:lnTo>
                    <a:pt x="81356" y="50761"/>
                  </a:lnTo>
                  <a:lnTo>
                    <a:pt x="46075" y="74879"/>
                  </a:lnTo>
                  <a:lnTo>
                    <a:pt x="19443" y="108369"/>
                  </a:lnTo>
                  <a:lnTo>
                    <a:pt x="3594" y="148323"/>
                  </a:lnTo>
                  <a:lnTo>
                    <a:pt x="0" y="176758"/>
                  </a:lnTo>
                  <a:lnTo>
                    <a:pt x="0" y="183959"/>
                  </a:lnTo>
                  <a:lnTo>
                    <a:pt x="7556" y="226085"/>
                  </a:lnTo>
                  <a:lnTo>
                    <a:pt x="27000" y="264248"/>
                  </a:lnTo>
                  <a:lnTo>
                    <a:pt x="56883" y="295198"/>
                  </a:lnTo>
                  <a:lnTo>
                    <a:pt x="94678" y="315721"/>
                  </a:lnTo>
                  <a:lnTo>
                    <a:pt x="136804" y="324357"/>
                  </a:lnTo>
                  <a:lnTo>
                    <a:pt x="143992" y="324357"/>
                  </a:lnTo>
                  <a:lnTo>
                    <a:pt x="143992" y="253796"/>
                  </a:lnTo>
                  <a:lnTo>
                    <a:pt x="140398" y="253796"/>
                  </a:lnTo>
                  <a:lnTo>
                    <a:pt x="133197" y="253085"/>
                  </a:lnTo>
                  <a:lnTo>
                    <a:pt x="96837" y="236524"/>
                  </a:lnTo>
                  <a:lnTo>
                    <a:pt x="93954" y="234365"/>
                  </a:lnTo>
                  <a:lnTo>
                    <a:pt x="91439" y="231482"/>
                  </a:lnTo>
                  <a:lnTo>
                    <a:pt x="88912" y="228968"/>
                  </a:lnTo>
                  <a:lnTo>
                    <a:pt x="86753" y="226085"/>
                  </a:lnTo>
                  <a:lnTo>
                    <a:pt x="70561" y="182168"/>
                  </a:lnTo>
                  <a:lnTo>
                    <a:pt x="70561" y="178562"/>
                  </a:lnTo>
                  <a:lnTo>
                    <a:pt x="84239" y="137528"/>
                  </a:lnTo>
                  <a:lnTo>
                    <a:pt x="86753" y="134645"/>
                  </a:lnTo>
                  <a:lnTo>
                    <a:pt x="88912" y="131762"/>
                  </a:lnTo>
                  <a:lnTo>
                    <a:pt x="91439" y="129247"/>
                  </a:lnTo>
                  <a:lnTo>
                    <a:pt x="93954" y="126364"/>
                  </a:lnTo>
                  <a:lnTo>
                    <a:pt x="96837" y="124206"/>
                  </a:lnTo>
                  <a:lnTo>
                    <a:pt x="133197" y="107645"/>
                  </a:lnTo>
                  <a:lnTo>
                    <a:pt x="140398" y="106921"/>
                  </a:lnTo>
                  <a:lnTo>
                    <a:pt x="143992" y="106921"/>
                  </a:lnTo>
                  <a:lnTo>
                    <a:pt x="143992" y="142925"/>
                  </a:lnTo>
                  <a:lnTo>
                    <a:pt x="215277" y="71640"/>
                  </a:lnTo>
                  <a:lnTo>
                    <a:pt x="143992" y="0"/>
                  </a:lnTo>
                  <a:close/>
                </a:path>
              </a:pathLst>
            </a:custGeom>
            <a:solidFill>
              <a:srgbClr val="454C4C"/>
            </a:solidFill>
          </p:spPr>
          <p:txBody>
            <a:bodyPr wrap="square" lIns="0" tIns="0" rIns="0" bIns="0" rtlCol="0"/>
            <a:lstStyle/>
            <a:p>
              <a:endParaRPr/>
            </a:p>
          </p:txBody>
        </p:sp>
      </p:grpSp>
      <p:sp>
        <p:nvSpPr>
          <p:cNvPr id="24" name="object 2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5" name="object 25"/>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29</a:t>
            </a:fld>
            <a:r>
              <a:rPr spc="-10" dirty="0"/>
              <a:t>/60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Proxmox</a:t>
            </a:r>
            <a:r>
              <a:rPr spc="-200" dirty="0"/>
              <a:t> </a:t>
            </a:r>
            <a:r>
              <a:rPr spc="120" dirty="0"/>
              <a:t>VE</a:t>
            </a:r>
          </a:p>
        </p:txBody>
      </p:sp>
      <p:sp>
        <p:nvSpPr>
          <p:cNvPr id="3" name="object 3"/>
          <p:cNvSpPr/>
          <p:nvPr/>
        </p:nvSpPr>
        <p:spPr>
          <a:xfrm>
            <a:off x="7429322" y="2811610"/>
            <a:ext cx="1022985" cy="622935"/>
          </a:xfrm>
          <a:custGeom>
            <a:avLst/>
            <a:gdLst/>
            <a:ahLst/>
            <a:cxnLst/>
            <a:rect l="l" t="t" r="r" b="b"/>
            <a:pathLst>
              <a:path w="1022984" h="622935">
                <a:moveTo>
                  <a:pt x="422643" y="0"/>
                </a:moveTo>
                <a:lnTo>
                  <a:pt x="458662" y="2816"/>
                </a:lnTo>
                <a:lnTo>
                  <a:pt x="494007" y="10663"/>
                </a:lnTo>
                <a:lnTo>
                  <a:pt x="560514" y="41033"/>
                </a:lnTo>
                <a:lnTo>
                  <a:pt x="608261" y="79644"/>
                </a:lnTo>
                <a:lnTo>
                  <a:pt x="647636" y="128524"/>
                </a:lnTo>
                <a:lnTo>
                  <a:pt x="662651" y="121169"/>
                </a:lnTo>
                <a:lnTo>
                  <a:pt x="678373" y="115873"/>
                </a:lnTo>
                <a:lnTo>
                  <a:pt x="694567" y="112670"/>
                </a:lnTo>
                <a:lnTo>
                  <a:pt x="710996" y="111594"/>
                </a:lnTo>
                <a:lnTo>
                  <a:pt x="764762" y="123441"/>
                </a:lnTo>
                <a:lnTo>
                  <a:pt x="810490" y="157000"/>
                </a:lnTo>
                <a:lnTo>
                  <a:pt x="833043" y="189356"/>
                </a:lnTo>
                <a:lnTo>
                  <a:pt x="839876" y="204838"/>
                </a:lnTo>
                <a:lnTo>
                  <a:pt x="845642" y="204114"/>
                </a:lnTo>
                <a:lnTo>
                  <a:pt x="851395" y="203758"/>
                </a:lnTo>
                <a:lnTo>
                  <a:pt x="857161" y="203758"/>
                </a:lnTo>
                <a:lnTo>
                  <a:pt x="878644" y="205305"/>
                </a:lnTo>
                <a:lnTo>
                  <a:pt x="899726" y="209923"/>
                </a:lnTo>
                <a:lnTo>
                  <a:pt x="939596" y="228231"/>
                </a:lnTo>
                <a:lnTo>
                  <a:pt x="973883" y="257084"/>
                </a:lnTo>
                <a:lnTo>
                  <a:pt x="1000074" y="294843"/>
                </a:lnTo>
                <a:lnTo>
                  <a:pt x="1016638" y="338893"/>
                </a:lnTo>
                <a:lnTo>
                  <a:pt x="1022400" y="385914"/>
                </a:lnTo>
                <a:lnTo>
                  <a:pt x="1022400" y="386283"/>
                </a:lnTo>
                <a:lnTo>
                  <a:pt x="1020937" y="409978"/>
                </a:lnTo>
                <a:lnTo>
                  <a:pt x="1016638" y="433304"/>
                </a:lnTo>
                <a:lnTo>
                  <a:pt x="1000074" y="477354"/>
                </a:lnTo>
                <a:lnTo>
                  <a:pt x="973883" y="515111"/>
                </a:lnTo>
                <a:lnTo>
                  <a:pt x="939596" y="543953"/>
                </a:lnTo>
                <a:lnTo>
                  <a:pt x="899726" y="562273"/>
                </a:lnTo>
                <a:lnTo>
                  <a:pt x="857161" y="568439"/>
                </a:lnTo>
                <a:lnTo>
                  <a:pt x="840290" y="567493"/>
                </a:lnTo>
                <a:lnTo>
                  <a:pt x="823725" y="564657"/>
                </a:lnTo>
                <a:lnTo>
                  <a:pt x="807497" y="559931"/>
                </a:lnTo>
                <a:lnTo>
                  <a:pt x="791641" y="553313"/>
                </a:lnTo>
                <a:lnTo>
                  <a:pt x="757923" y="588651"/>
                </a:lnTo>
                <a:lnTo>
                  <a:pt x="705237" y="616140"/>
                </a:lnTo>
                <a:lnTo>
                  <a:pt x="662393" y="622439"/>
                </a:lnTo>
                <a:lnTo>
                  <a:pt x="640916" y="620692"/>
                </a:lnTo>
                <a:lnTo>
                  <a:pt x="619872" y="616007"/>
                </a:lnTo>
                <a:lnTo>
                  <a:pt x="580313" y="597954"/>
                </a:lnTo>
                <a:lnTo>
                  <a:pt x="551878" y="574916"/>
                </a:lnTo>
                <a:lnTo>
                  <a:pt x="521152" y="590364"/>
                </a:lnTo>
                <a:lnTo>
                  <a:pt x="489146" y="601557"/>
                </a:lnTo>
                <a:lnTo>
                  <a:pt x="456198" y="608431"/>
                </a:lnTo>
                <a:lnTo>
                  <a:pt x="422643" y="610920"/>
                </a:lnTo>
                <a:lnTo>
                  <a:pt x="386729" y="608104"/>
                </a:lnTo>
                <a:lnTo>
                  <a:pt x="351629" y="600297"/>
                </a:lnTo>
                <a:lnTo>
                  <a:pt x="317746" y="587632"/>
                </a:lnTo>
                <a:lnTo>
                  <a:pt x="285483" y="570242"/>
                </a:lnTo>
                <a:lnTo>
                  <a:pt x="285115" y="570598"/>
                </a:lnTo>
                <a:lnTo>
                  <a:pt x="284403" y="570953"/>
                </a:lnTo>
                <a:lnTo>
                  <a:pt x="284035" y="571322"/>
                </a:lnTo>
                <a:lnTo>
                  <a:pt x="261803" y="583244"/>
                </a:lnTo>
                <a:lnTo>
                  <a:pt x="238493" y="591926"/>
                </a:lnTo>
                <a:lnTo>
                  <a:pt x="214373" y="597234"/>
                </a:lnTo>
                <a:lnTo>
                  <a:pt x="189712" y="599033"/>
                </a:lnTo>
                <a:lnTo>
                  <a:pt x="164846" y="597284"/>
                </a:lnTo>
                <a:lnTo>
                  <a:pt x="140620" y="592059"/>
                </a:lnTo>
                <a:lnTo>
                  <a:pt x="95034" y="571322"/>
                </a:lnTo>
                <a:lnTo>
                  <a:pt x="55706" y="537971"/>
                </a:lnTo>
                <a:lnTo>
                  <a:pt x="25552" y="494639"/>
                </a:lnTo>
                <a:lnTo>
                  <a:pt x="6699" y="444011"/>
                </a:lnTo>
                <a:lnTo>
                  <a:pt x="0" y="389877"/>
                </a:lnTo>
                <a:lnTo>
                  <a:pt x="1663" y="362524"/>
                </a:lnTo>
                <a:lnTo>
                  <a:pt x="6565" y="335743"/>
                </a:lnTo>
                <a:lnTo>
                  <a:pt x="25552" y="285114"/>
                </a:lnTo>
                <a:lnTo>
                  <a:pt x="55706" y="241961"/>
                </a:lnTo>
                <a:lnTo>
                  <a:pt x="95034" y="208800"/>
                </a:lnTo>
                <a:lnTo>
                  <a:pt x="131305" y="190847"/>
                </a:lnTo>
                <a:lnTo>
                  <a:pt x="170281" y="181800"/>
                </a:lnTo>
                <a:lnTo>
                  <a:pt x="203659" y="119506"/>
                </a:lnTo>
                <a:lnTo>
                  <a:pt x="227428" y="89546"/>
                </a:lnTo>
                <a:lnTo>
                  <a:pt x="284759" y="41033"/>
                </a:lnTo>
                <a:lnTo>
                  <a:pt x="351134" y="10663"/>
                </a:lnTo>
                <a:lnTo>
                  <a:pt x="422643" y="0"/>
                </a:lnTo>
                <a:close/>
              </a:path>
            </a:pathLst>
          </a:custGeom>
          <a:ln w="26984">
            <a:solidFill>
              <a:srgbClr val="CCCCCC"/>
            </a:solidFill>
          </a:ln>
        </p:spPr>
        <p:txBody>
          <a:bodyPr wrap="square" lIns="0" tIns="0" rIns="0" bIns="0" rtlCol="0"/>
          <a:lstStyle/>
          <a:p>
            <a:endParaRPr/>
          </a:p>
        </p:txBody>
      </p:sp>
      <p:sp>
        <p:nvSpPr>
          <p:cNvPr id="4" name="object 4"/>
          <p:cNvSpPr txBox="1"/>
          <p:nvPr/>
        </p:nvSpPr>
        <p:spPr>
          <a:xfrm>
            <a:off x="7590142" y="3062067"/>
            <a:ext cx="699770"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Network</a:t>
            </a:r>
            <a:endParaRPr sz="1400">
              <a:latin typeface="Arial MT"/>
              <a:cs typeface="Arial MT"/>
            </a:endParaRPr>
          </a:p>
        </p:txBody>
      </p:sp>
      <p:grpSp>
        <p:nvGrpSpPr>
          <p:cNvPr id="5" name="object 5"/>
          <p:cNvGrpSpPr/>
          <p:nvPr/>
        </p:nvGrpSpPr>
        <p:grpSpPr>
          <a:xfrm>
            <a:off x="5829846" y="3038763"/>
            <a:ext cx="405130" cy="168275"/>
            <a:chOff x="5829846" y="3038763"/>
            <a:chExt cx="405130" cy="168275"/>
          </a:xfrm>
        </p:grpSpPr>
        <p:sp>
          <p:nvSpPr>
            <p:cNvPr id="6" name="object 6"/>
            <p:cNvSpPr/>
            <p:nvPr/>
          </p:nvSpPr>
          <p:spPr>
            <a:xfrm>
              <a:off x="5829846" y="3122646"/>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7" name="object 7"/>
            <p:cNvSpPr/>
            <p:nvPr/>
          </p:nvSpPr>
          <p:spPr>
            <a:xfrm>
              <a:off x="6047282" y="3038763"/>
              <a:ext cx="187960" cy="168275"/>
            </a:xfrm>
            <a:custGeom>
              <a:avLst/>
              <a:gdLst/>
              <a:ahLst/>
              <a:cxnLst/>
              <a:rect l="l" t="t" r="r" b="b"/>
              <a:pathLst>
                <a:path w="187960" h="168275">
                  <a:moveTo>
                    <a:pt x="11163" y="0"/>
                  </a:moveTo>
                  <a:lnTo>
                    <a:pt x="9715" y="0"/>
                  </a:lnTo>
                  <a:lnTo>
                    <a:pt x="6476" y="723"/>
                  </a:lnTo>
                  <a:lnTo>
                    <a:pt x="2882" y="2527"/>
                  </a:lnTo>
                  <a:lnTo>
                    <a:pt x="711" y="5410"/>
                  </a:lnTo>
                  <a:lnTo>
                    <a:pt x="0" y="9004"/>
                  </a:lnTo>
                  <a:lnTo>
                    <a:pt x="0" y="158762"/>
                  </a:lnTo>
                  <a:lnTo>
                    <a:pt x="711" y="162369"/>
                  </a:lnTo>
                  <a:lnTo>
                    <a:pt x="2882" y="165963"/>
                  </a:lnTo>
                  <a:lnTo>
                    <a:pt x="6476" y="167411"/>
                  </a:lnTo>
                  <a:lnTo>
                    <a:pt x="9715" y="168122"/>
                  </a:lnTo>
                  <a:lnTo>
                    <a:pt x="11163" y="168122"/>
                  </a:lnTo>
                  <a:lnTo>
                    <a:pt x="13322" y="167411"/>
                  </a:lnTo>
                  <a:lnTo>
                    <a:pt x="180721" y="92887"/>
                  </a:lnTo>
                  <a:lnTo>
                    <a:pt x="185394" y="89281"/>
                  </a:lnTo>
                  <a:lnTo>
                    <a:pt x="187553" y="84251"/>
                  </a:lnTo>
                  <a:lnTo>
                    <a:pt x="185394" y="78486"/>
                  </a:lnTo>
                  <a:lnTo>
                    <a:pt x="181076"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8" name="object 8"/>
          <p:cNvGrpSpPr/>
          <p:nvPr/>
        </p:nvGrpSpPr>
        <p:grpSpPr>
          <a:xfrm>
            <a:off x="8586355" y="3038763"/>
            <a:ext cx="405130" cy="168275"/>
            <a:chOff x="8586355" y="3038763"/>
            <a:chExt cx="405130" cy="168275"/>
          </a:xfrm>
        </p:grpSpPr>
        <p:sp>
          <p:nvSpPr>
            <p:cNvPr id="9" name="object 9"/>
            <p:cNvSpPr/>
            <p:nvPr/>
          </p:nvSpPr>
          <p:spPr>
            <a:xfrm>
              <a:off x="8586355" y="3122646"/>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10" name="object 10"/>
            <p:cNvSpPr/>
            <p:nvPr/>
          </p:nvSpPr>
          <p:spPr>
            <a:xfrm>
              <a:off x="8803805" y="3038763"/>
              <a:ext cx="187960" cy="168275"/>
            </a:xfrm>
            <a:custGeom>
              <a:avLst/>
              <a:gdLst/>
              <a:ahLst/>
              <a:cxnLst/>
              <a:rect l="l" t="t" r="r" b="b"/>
              <a:pathLst>
                <a:path w="187959" h="168275">
                  <a:moveTo>
                    <a:pt x="11150" y="0"/>
                  </a:moveTo>
                  <a:lnTo>
                    <a:pt x="9715" y="0"/>
                  </a:lnTo>
                  <a:lnTo>
                    <a:pt x="6476" y="723"/>
                  </a:lnTo>
                  <a:lnTo>
                    <a:pt x="2870" y="2527"/>
                  </a:lnTo>
                  <a:lnTo>
                    <a:pt x="711" y="5410"/>
                  </a:lnTo>
                  <a:lnTo>
                    <a:pt x="0" y="9004"/>
                  </a:lnTo>
                  <a:lnTo>
                    <a:pt x="0" y="158762"/>
                  </a:lnTo>
                  <a:lnTo>
                    <a:pt x="711" y="162369"/>
                  </a:lnTo>
                  <a:lnTo>
                    <a:pt x="2870" y="165963"/>
                  </a:lnTo>
                  <a:lnTo>
                    <a:pt x="6476" y="167411"/>
                  </a:lnTo>
                  <a:lnTo>
                    <a:pt x="9715" y="168122"/>
                  </a:lnTo>
                  <a:lnTo>
                    <a:pt x="11150" y="168122"/>
                  </a:lnTo>
                  <a:lnTo>
                    <a:pt x="13309" y="167411"/>
                  </a:lnTo>
                  <a:lnTo>
                    <a:pt x="180721" y="92887"/>
                  </a:lnTo>
                  <a:lnTo>
                    <a:pt x="185394" y="89281"/>
                  </a:lnTo>
                  <a:lnTo>
                    <a:pt x="187553" y="84251"/>
                  </a:lnTo>
                  <a:lnTo>
                    <a:pt x="185394" y="78486"/>
                  </a:lnTo>
                  <a:lnTo>
                    <a:pt x="181076" y="75247"/>
                  </a:lnTo>
                  <a:lnTo>
                    <a:pt x="13309" y="723"/>
                  </a:lnTo>
                  <a:lnTo>
                    <a:pt x="11150" y="0"/>
                  </a:lnTo>
                  <a:close/>
                </a:path>
              </a:pathLst>
            </a:custGeom>
            <a:solidFill>
              <a:srgbClr val="454C4C"/>
            </a:solidFill>
          </p:spPr>
          <p:txBody>
            <a:bodyPr wrap="square" lIns="0" tIns="0" rIns="0" bIns="0" rtlCol="0"/>
            <a:lstStyle/>
            <a:p>
              <a:endParaRPr/>
            </a:p>
          </p:txBody>
        </p:sp>
      </p:grpSp>
      <p:grpSp>
        <p:nvGrpSpPr>
          <p:cNvPr id="11" name="object 11"/>
          <p:cNvGrpSpPr/>
          <p:nvPr/>
        </p:nvGrpSpPr>
        <p:grpSpPr>
          <a:xfrm>
            <a:off x="9113528" y="2854428"/>
            <a:ext cx="411480" cy="536575"/>
            <a:chOff x="9113528" y="2854428"/>
            <a:chExt cx="411480" cy="536575"/>
          </a:xfrm>
        </p:grpSpPr>
        <p:sp>
          <p:nvSpPr>
            <p:cNvPr id="12" name="object 12"/>
            <p:cNvSpPr/>
            <p:nvPr/>
          </p:nvSpPr>
          <p:spPr>
            <a:xfrm>
              <a:off x="9123476" y="3173764"/>
              <a:ext cx="391160" cy="208279"/>
            </a:xfrm>
            <a:custGeom>
              <a:avLst/>
              <a:gdLst/>
              <a:ahLst/>
              <a:cxnLst/>
              <a:rect l="l" t="t" r="r" b="b"/>
              <a:pathLst>
                <a:path w="391159" h="208279">
                  <a:moveTo>
                    <a:pt x="390969" y="110883"/>
                  </a:moveTo>
                  <a:lnTo>
                    <a:pt x="360265" y="166092"/>
                  </a:lnTo>
                  <a:lnTo>
                    <a:pt x="320592" y="187087"/>
                  </a:lnTo>
                  <a:lnTo>
                    <a:pt x="268736" y="201604"/>
                  </a:lnTo>
                  <a:lnTo>
                    <a:pt x="207721" y="208089"/>
                  </a:lnTo>
                  <a:lnTo>
                    <a:pt x="145305" y="205081"/>
                  </a:lnTo>
                  <a:lnTo>
                    <a:pt x="89942" y="193555"/>
                  </a:lnTo>
                  <a:lnTo>
                    <a:pt x="45050" y="174930"/>
                  </a:lnTo>
                  <a:lnTo>
                    <a:pt x="14052" y="150622"/>
                  </a:lnTo>
                  <a:lnTo>
                    <a:pt x="0" y="118808"/>
                  </a:lnTo>
                  <a:lnTo>
                    <a:pt x="0" y="115569"/>
                  </a:lnTo>
                  <a:lnTo>
                    <a:pt x="368" y="112318"/>
                  </a:lnTo>
                </a:path>
                <a:path w="391159" h="208279">
                  <a:moveTo>
                    <a:pt x="390969" y="0"/>
                  </a:moveTo>
                  <a:lnTo>
                    <a:pt x="360265" y="55212"/>
                  </a:lnTo>
                  <a:lnTo>
                    <a:pt x="320592" y="76209"/>
                  </a:lnTo>
                  <a:lnTo>
                    <a:pt x="268736" y="90725"/>
                  </a:lnTo>
                  <a:lnTo>
                    <a:pt x="207721" y="97205"/>
                  </a:lnTo>
                  <a:lnTo>
                    <a:pt x="145305" y="94203"/>
                  </a:lnTo>
                  <a:lnTo>
                    <a:pt x="89942" y="82681"/>
                  </a:lnTo>
                  <a:lnTo>
                    <a:pt x="45050" y="64056"/>
                  </a:lnTo>
                  <a:lnTo>
                    <a:pt x="14052" y="39744"/>
                  </a:lnTo>
                  <a:lnTo>
                    <a:pt x="0" y="7924"/>
                  </a:lnTo>
                  <a:lnTo>
                    <a:pt x="0" y="4686"/>
                  </a:lnTo>
                  <a:lnTo>
                    <a:pt x="368" y="1447"/>
                  </a:lnTo>
                </a:path>
              </a:pathLst>
            </a:custGeom>
            <a:ln w="17959">
              <a:solidFill>
                <a:srgbClr val="454C4C"/>
              </a:solidFill>
            </a:ln>
          </p:spPr>
          <p:txBody>
            <a:bodyPr wrap="square" lIns="0" tIns="0" rIns="0" bIns="0" rtlCol="0"/>
            <a:lstStyle/>
            <a:p>
              <a:endParaRPr/>
            </a:p>
          </p:txBody>
        </p:sp>
        <p:sp>
          <p:nvSpPr>
            <p:cNvPr id="13" name="object 13"/>
            <p:cNvSpPr/>
            <p:nvPr/>
          </p:nvSpPr>
          <p:spPr>
            <a:xfrm>
              <a:off x="9123844" y="2863452"/>
              <a:ext cx="389890" cy="181610"/>
            </a:xfrm>
            <a:custGeom>
              <a:avLst/>
              <a:gdLst/>
              <a:ahLst/>
              <a:cxnLst/>
              <a:rect l="l" t="t" r="r" b="b"/>
              <a:pathLst>
                <a:path w="389890" h="181610">
                  <a:moveTo>
                    <a:pt x="389877" y="90360"/>
                  </a:moveTo>
                  <a:lnTo>
                    <a:pt x="352321" y="143908"/>
                  </a:lnTo>
                  <a:lnTo>
                    <a:pt x="310170" y="163555"/>
                  </a:lnTo>
                  <a:lnTo>
                    <a:pt x="256701" y="176445"/>
                  </a:lnTo>
                  <a:lnTo>
                    <a:pt x="195110" y="181076"/>
                  </a:lnTo>
                  <a:lnTo>
                    <a:pt x="133346" y="176445"/>
                  </a:lnTo>
                  <a:lnTo>
                    <a:pt x="79774" y="163555"/>
                  </a:lnTo>
                  <a:lnTo>
                    <a:pt x="37574" y="143908"/>
                  </a:lnTo>
                  <a:lnTo>
                    <a:pt x="9923" y="119009"/>
                  </a:lnTo>
                  <a:lnTo>
                    <a:pt x="0" y="90360"/>
                  </a:lnTo>
                  <a:lnTo>
                    <a:pt x="9923" y="61748"/>
                  </a:lnTo>
                  <a:lnTo>
                    <a:pt x="37574" y="36937"/>
                  </a:lnTo>
                  <a:lnTo>
                    <a:pt x="79774" y="17395"/>
                  </a:lnTo>
                  <a:lnTo>
                    <a:pt x="133346" y="4593"/>
                  </a:lnTo>
                  <a:lnTo>
                    <a:pt x="195110" y="0"/>
                  </a:lnTo>
                  <a:lnTo>
                    <a:pt x="256701" y="4593"/>
                  </a:lnTo>
                  <a:lnTo>
                    <a:pt x="310170" y="17395"/>
                  </a:lnTo>
                  <a:lnTo>
                    <a:pt x="352321" y="36937"/>
                  </a:lnTo>
                  <a:lnTo>
                    <a:pt x="379955" y="61748"/>
                  </a:lnTo>
                  <a:lnTo>
                    <a:pt x="389877" y="90360"/>
                  </a:lnTo>
                  <a:close/>
                </a:path>
              </a:pathLst>
            </a:custGeom>
            <a:ln w="18046">
              <a:solidFill>
                <a:srgbClr val="454C4C"/>
              </a:solidFill>
            </a:ln>
          </p:spPr>
          <p:txBody>
            <a:bodyPr wrap="square" lIns="0" tIns="0" rIns="0" bIns="0" rtlCol="0"/>
            <a:lstStyle/>
            <a:p>
              <a:endParaRPr/>
            </a:p>
          </p:txBody>
        </p:sp>
        <p:sp>
          <p:nvSpPr>
            <p:cNvPr id="14" name="object 14"/>
            <p:cNvSpPr/>
            <p:nvPr/>
          </p:nvSpPr>
          <p:spPr>
            <a:xfrm>
              <a:off x="9123476" y="2958486"/>
              <a:ext cx="635" cy="333375"/>
            </a:xfrm>
            <a:custGeom>
              <a:avLst/>
              <a:gdLst/>
              <a:ahLst/>
              <a:cxnLst/>
              <a:rect l="l" t="t" r="r" b="b"/>
              <a:pathLst>
                <a:path w="634" h="333375">
                  <a:moveTo>
                    <a:pt x="368" y="333362"/>
                  </a:moveTo>
                  <a:lnTo>
                    <a:pt x="0" y="0"/>
                  </a:lnTo>
                </a:path>
              </a:pathLst>
            </a:custGeom>
            <a:ln w="19896">
              <a:solidFill>
                <a:srgbClr val="454C4C"/>
              </a:solidFill>
            </a:ln>
          </p:spPr>
          <p:txBody>
            <a:bodyPr wrap="square" lIns="0" tIns="0" rIns="0" bIns="0" rtlCol="0"/>
            <a:lstStyle/>
            <a:p>
              <a:endParaRPr/>
            </a:p>
          </p:txBody>
        </p:sp>
        <p:sp>
          <p:nvSpPr>
            <p:cNvPr id="15" name="object 15"/>
            <p:cNvSpPr/>
            <p:nvPr/>
          </p:nvSpPr>
          <p:spPr>
            <a:xfrm>
              <a:off x="9123476" y="3066487"/>
              <a:ext cx="391160" cy="97790"/>
            </a:xfrm>
            <a:custGeom>
              <a:avLst/>
              <a:gdLst/>
              <a:ahLst/>
              <a:cxnLst/>
              <a:rect l="l" t="t" r="r" b="b"/>
              <a:pathLst>
                <a:path w="391159" h="97789">
                  <a:moveTo>
                    <a:pt x="390969" y="0"/>
                  </a:moveTo>
                  <a:lnTo>
                    <a:pt x="360265" y="55315"/>
                  </a:lnTo>
                  <a:lnTo>
                    <a:pt x="320592" y="76363"/>
                  </a:lnTo>
                  <a:lnTo>
                    <a:pt x="268736" y="90862"/>
                  </a:lnTo>
                  <a:lnTo>
                    <a:pt x="207721" y="97205"/>
                  </a:lnTo>
                  <a:lnTo>
                    <a:pt x="145305" y="94374"/>
                  </a:lnTo>
                  <a:lnTo>
                    <a:pt x="89942" y="82937"/>
                  </a:lnTo>
                  <a:lnTo>
                    <a:pt x="45050" y="64312"/>
                  </a:lnTo>
                  <a:lnTo>
                    <a:pt x="14052" y="39915"/>
                  </a:lnTo>
                  <a:lnTo>
                    <a:pt x="0" y="7924"/>
                  </a:lnTo>
                  <a:lnTo>
                    <a:pt x="0" y="4686"/>
                  </a:lnTo>
                  <a:lnTo>
                    <a:pt x="368" y="1447"/>
                  </a:lnTo>
                </a:path>
              </a:pathLst>
            </a:custGeom>
            <a:ln w="17959">
              <a:solidFill>
                <a:srgbClr val="454C4C"/>
              </a:solidFill>
            </a:ln>
          </p:spPr>
          <p:txBody>
            <a:bodyPr wrap="square" lIns="0" tIns="0" rIns="0" bIns="0" rtlCol="0"/>
            <a:lstStyle/>
            <a:p>
              <a:endParaRPr/>
            </a:p>
          </p:txBody>
        </p:sp>
        <p:sp>
          <p:nvSpPr>
            <p:cNvPr id="16" name="object 16"/>
            <p:cNvSpPr/>
            <p:nvPr/>
          </p:nvSpPr>
          <p:spPr>
            <a:xfrm>
              <a:off x="9514445" y="2958486"/>
              <a:ext cx="635" cy="333375"/>
            </a:xfrm>
            <a:custGeom>
              <a:avLst/>
              <a:gdLst/>
              <a:ahLst/>
              <a:cxnLst/>
              <a:rect l="l" t="t" r="r" b="b"/>
              <a:pathLst>
                <a:path w="634" h="333375">
                  <a:moveTo>
                    <a:pt x="355" y="333362"/>
                  </a:moveTo>
                  <a:lnTo>
                    <a:pt x="0" y="0"/>
                  </a:lnTo>
                </a:path>
              </a:pathLst>
            </a:custGeom>
            <a:ln w="19896">
              <a:solidFill>
                <a:srgbClr val="454C4C"/>
              </a:solidFill>
            </a:ln>
          </p:spPr>
          <p:txBody>
            <a:bodyPr wrap="square" lIns="0" tIns="0" rIns="0" bIns="0" rtlCol="0"/>
            <a:lstStyle/>
            <a:p>
              <a:endParaRPr/>
            </a:p>
          </p:txBody>
        </p:sp>
      </p:grpSp>
      <p:sp>
        <p:nvSpPr>
          <p:cNvPr id="17" name="object 17"/>
          <p:cNvSpPr txBox="1"/>
          <p:nvPr/>
        </p:nvSpPr>
        <p:spPr>
          <a:xfrm>
            <a:off x="8735300" y="3517832"/>
            <a:ext cx="116649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Arial MT"/>
                <a:cs typeface="Arial MT"/>
              </a:rPr>
              <a:t>Backup</a:t>
            </a:r>
            <a:r>
              <a:rPr sz="1400" spc="-55" dirty="0">
                <a:solidFill>
                  <a:srgbClr val="454C4C"/>
                </a:solidFill>
                <a:latin typeface="Arial MT"/>
                <a:cs typeface="Arial MT"/>
              </a:rPr>
              <a:t> </a:t>
            </a:r>
            <a:r>
              <a:rPr sz="1400" spc="-10" dirty="0">
                <a:solidFill>
                  <a:srgbClr val="454C4C"/>
                </a:solidFill>
                <a:latin typeface="Arial MT"/>
                <a:cs typeface="Arial MT"/>
              </a:rPr>
              <a:t>Target</a:t>
            </a:r>
            <a:endParaRPr sz="1400">
              <a:latin typeface="Arial MT"/>
              <a:cs typeface="Arial MT"/>
            </a:endParaRPr>
          </a:p>
        </p:txBody>
      </p:sp>
      <p:grpSp>
        <p:nvGrpSpPr>
          <p:cNvPr id="18" name="object 18"/>
          <p:cNvGrpSpPr/>
          <p:nvPr/>
        </p:nvGrpSpPr>
        <p:grpSpPr>
          <a:xfrm>
            <a:off x="525957" y="2870653"/>
            <a:ext cx="5182870" cy="504190"/>
            <a:chOff x="525957" y="2870653"/>
            <a:chExt cx="5182870" cy="504190"/>
          </a:xfrm>
        </p:grpSpPr>
        <p:sp>
          <p:nvSpPr>
            <p:cNvPr id="19" name="object 19"/>
            <p:cNvSpPr/>
            <p:nvPr/>
          </p:nvSpPr>
          <p:spPr>
            <a:xfrm>
              <a:off x="1045794" y="2870653"/>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3623043" y="0"/>
                  </a:moveTo>
                  <a:lnTo>
                    <a:pt x="3119043" y="0"/>
                  </a:lnTo>
                  <a:lnTo>
                    <a:pt x="3119043" y="503999"/>
                  </a:lnTo>
                  <a:lnTo>
                    <a:pt x="3371050" y="503999"/>
                  </a:lnTo>
                  <a:lnTo>
                    <a:pt x="3623043" y="503999"/>
                  </a:lnTo>
                  <a:lnTo>
                    <a:pt x="3623043" y="0"/>
                  </a:lnTo>
                  <a:close/>
                </a:path>
              </a:pathLst>
            </a:custGeom>
            <a:solidFill>
              <a:srgbClr val="FF9000"/>
            </a:solidFill>
          </p:spPr>
          <p:txBody>
            <a:bodyPr wrap="square" lIns="0" tIns="0" rIns="0" bIns="0" rtlCol="0"/>
            <a:lstStyle/>
            <a:p>
              <a:endParaRPr/>
            </a:p>
          </p:txBody>
        </p:sp>
        <p:sp>
          <p:nvSpPr>
            <p:cNvPr id="20" name="object 20"/>
            <p:cNvSpPr/>
            <p:nvPr/>
          </p:nvSpPr>
          <p:spPr>
            <a:xfrm>
              <a:off x="2605316" y="2870653"/>
              <a:ext cx="1543685" cy="504190"/>
            </a:xfrm>
            <a:custGeom>
              <a:avLst/>
              <a:gdLst/>
              <a:ahLst/>
              <a:cxnLst/>
              <a:rect l="l" t="t" r="r" b="b"/>
              <a:pathLst>
                <a:path w="1543685" h="504189">
                  <a:moveTo>
                    <a:pt x="503999" y="0"/>
                  </a:moveTo>
                  <a:lnTo>
                    <a:pt x="0" y="0"/>
                  </a:lnTo>
                  <a:lnTo>
                    <a:pt x="0" y="503999"/>
                  </a:lnTo>
                  <a:lnTo>
                    <a:pt x="252006" y="503999"/>
                  </a:lnTo>
                  <a:lnTo>
                    <a:pt x="503999" y="503999"/>
                  </a:lnTo>
                  <a:lnTo>
                    <a:pt x="503999" y="0"/>
                  </a:lnTo>
                  <a:close/>
                </a:path>
                <a:path w="1543685" h="504189">
                  <a:moveTo>
                    <a:pt x="1543685" y="0"/>
                  </a:moveTo>
                  <a:lnTo>
                    <a:pt x="1039685" y="0"/>
                  </a:lnTo>
                  <a:lnTo>
                    <a:pt x="1039685" y="503999"/>
                  </a:lnTo>
                  <a:lnTo>
                    <a:pt x="1291678" y="503999"/>
                  </a:lnTo>
                  <a:lnTo>
                    <a:pt x="1543685" y="503999"/>
                  </a:lnTo>
                  <a:lnTo>
                    <a:pt x="1543685" y="0"/>
                  </a:lnTo>
                  <a:close/>
                </a:path>
              </a:pathLst>
            </a:custGeom>
            <a:solidFill>
              <a:srgbClr val="DAD6D4"/>
            </a:solidFill>
          </p:spPr>
          <p:txBody>
            <a:bodyPr wrap="square" lIns="0" tIns="0" rIns="0" bIns="0" rtlCol="0"/>
            <a:lstStyle/>
            <a:p>
              <a:endParaRPr/>
            </a:p>
          </p:txBody>
        </p:sp>
        <p:sp>
          <p:nvSpPr>
            <p:cNvPr id="21" name="object 21"/>
            <p:cNvSpPr/>
            <p:nvPr/>
          </p:nvSpPr>
          <p:spPr>
            <a:xfrm>
              <a:off x="525957" y="2870653"/>
              <a:ext cx="1543685" cy="504190"/>
            </a:xfrm>
            <a:custGeom>
              <a:avLst/>
              <a:gdLst/>
              <a:ahLst/>
              <a:cxnLst/>
              <a:rect l="l" t="t" r="r" b="b"/>
              <a:pathLst>
                <a:path w="1543685" h="504189">
                  <a:moveTo>
                    <a:pt x="503999" y="0"/>
                  </a:moveTo>
                  <a:lnTo>
                    <a:pt x="0" y="0"/>
                  </a:lnTo>
                  <a:lnTo>
                    <a:pt x="0" y="503999"/>
                  </a:lnTo>
                  <a:lnTo>
                    <a:pt x="252006" y="503999"/>
                  </a:lnTo>
                  <a:lnTo>
                    <a:pt x="503999" y="503999"/>
                  </a:lnTo>
                  <a:lnTo>
                    <a:pt x="503999" y="0"/>
                  </a:lnTo>
                  <a:close/>
                </a:path>
                <a:path w="1543685" h="504189">
                  <a:moveTo>
                    <a:pt x="1543685" y="0"/>
                  </a:moveTo>
                  <a:lnTo>
                    <a:pt x="1039685" y="0"/>
                  </a:lnTo>
                  <a:lnTo>
                    <a:pt x="1039685" y="503999"/>
                  </a:lnTo>
                  <a:lnTo>
                    <a:pt x="1291678" y="503999"/>
                  </a:lnTo>
                  <a:lnTo>
                    <a:pt x="1543685" y="503999"/>
                  </a:lnTo>
                  <a:lnTo>
                    <a:pt x="1543685" y="0"/>
                  </a:lnTo>
                  <a:close/>
                </a:path>
              </a:pathLst>
            </a:custGeom>
            <a:solidFill>
              <a:srgbClr val="FF9000"/>
            </a:solidFill>
          </p:spPr>
          <p:txBody>
            <a:bodyPr wrap="square" lIns="0" tIns="0" rIns="0" bIns="0" rtlCol="0"/>
            <a:lstStyle/>
            <a:p>
              <a:endParaRPr/>
            </a:p>
          </p:txBody>
        </p:sp>
        <p:sp>
          <p:nvSpPr>
            <p:cNvPr id="22" name="object 22"/>
            <p:cNvSpPr/>
            <p:nvPr/>
          </p:nvSpPr>
          <p:spPr>
            <a:xfrm>
              <a:off x="2085479" y="2870653"/>
              <a:ext cx="3623310" cy="504190"/>
            </a:xfrm>
            <a:custGeom>
              <a:avLst/>
              <a:gdLst/>
              <a:ahLst/>
              <a:cxnLst/>
              <a:rect l="l" t="t" r="r" b="b"/>
              <a:pathLst>
                <a:path w="3623310" h="504189">
                  <a:moveTo>
                    <a:pt x="503999" y="0"/>
                  </a:moveTo>
                  <a:lnTo>
                    <a:pt x="0" y="0"/>
                  </a:lnTo>
                  <a:lnTo>
                    <a:pt x="0" y="503999"/>
                  </a:lnTo>
                  <a:lnTo>
                    <a:pt x="252006" y="503999"/>
                  </a:lnTo>
                  <a:lnTo>
                    <a:pt x="503999" y="503999"/>
                  </a:lnTo>
                  <a:lnTo>
                    <a:pt x="503999" y="0"/>
                  </a:lnTo>
                  <a:close/>
                </a:path>
                <a:path w="3623310" h="504189">
                  <a:moveTo>
                    <a:pt x="1543685" y="0"/>
                  </a:moveTo>
                  <a:lnTo>
                    <a:pt x="1039685" y="0"/>
                  </a:lnTo>
                  <a:lnTo>
                    <a:pt x="1039685" y="503999"/>
                  </a:lnTo>
                  <a:lnTo>
                    <a:pt x="1291678" y="503999"/>
                  </a:lnTo>
                  <a:lnTo>
                    <a:pt x="1543685" y="503999"/>
                  </a:lnTo>
                  <a:lnTo>
                    <a:pt x="1543685" y="0"/>
                  </a:lnTo>
                  <a:close/>
                </a:path>
                <a:path w="3623310" h="504189">
                  <a:moveTo>
                    <a:pt x="3103194" y="0"/>
                  </a:moveTo>
                  <a:lnTo>
                    <a:pt x="2599194" y="0"/>
                  </a:lnTo>
                  <a:lnTo>
                    <a:pt x="2599194" y="503999"/>
                  </a:lnTo>
                  <a:lnTo>
                    <a:pt x="2851200" y="503999"/>
                  </a:lnTo>
                  <a:lnTo>
                    <a:pt x="3103194" y="503999"/>
                  </a:lnTo>
                  <a:lnTo>
                    <a:pt x="3103194" y="0"/>
                  </a:lnTo>
                  <a:close/>
                </a:path>
                <a:path w="3623310" h="504189">
                  <a:moveTo>
                    <a:pt x="3623043" y="0"/>
                  </a:moveTo>
                  <a:lnTo>
                    <a:pt x="3119043" y="0"/>
                  </a:lnTo>
                  <a:lnTo>
                    <a:pt x="3119043" y="503999"/>
                  </a:lnTo>
                  <a:lnTo>
                    <a:pt x="3371037" y="503999"/>
                  </a:lnTo>
                  <a:lnTo>
                    <a:pt x="3623043" y="503999"/>
                  </a:lnTo>
                  <a:lnTo>
                    <a:pt x="3623043" y="0"/>
                  </a:lnTo>
                  <a:close/>
                </a:path>
              </a:pathLst>
            </a:custGeom>
            <a:solidFill>
              <a:srgbClr val="DAD6D4"/>
            </a:solidFill>
          </p:spPr>
          <p:txBody>
            <a:bodyPr wrap="square" lIns="0" tIns="0" rIns="0" bIns="0" rtlCol="0"/>
            <a:lstStyle/>
            <a:p>
              <a:endParaRPr/>
            </a:p>
          </p:txBody>
        </p:sp>
        <p:sp>
          <p:nvSpPr>
            <p:cNvPr id="23" name="object 23"/>
            <p:cNvSpPr/>
            <p:nvPr/>
          </p:nvSpPr>
          <p:spPr>
            <a:xfrm>
              <a:off x="4308843" y="2942293"/>
              <a:ext cx="215900" cy="324485"/>
            </a:xfrm>
            <a:custGeom>
              <a:avLst/>
              <a:gdLst/>
              <a:ahLst/>
              <a:cxnLst/>
              <a:rect l="l" t="t" r="r" b="b"/>
              <a:pathLst>
                <a:path w="215900" h="324485">
                  <a:moveTo>
                    <a:pt x="143992" y="0"/>
                  </a:moveTo>
                  <a:lnTo>
                    <a:pt x="143992" y="36360"/>
                  </a:lnTo>
                  <a:lnTo>
                    <a:pt x="136791" y="36360"/>
                  </a:lnTo>
                  <a:lnTo>
                    <a:pt x="122402" y="37795"/>
                  </a:lnTo>
                  <a:lnTo>
                    <a:pt x="81356" y="50749"/>
                  </a:lnTo>
                  <a:lnTo>
                    <a:pt x="46075" y="74879"/>
                  </a:lnTo>
                  <a:lnTo>
                    <a:pt x="19431" y="108356"/>
                  </a:lnTo>
                  <a:lnTo>
                    <a:pt x="3594" y="148310"/>
                  </a:lnTo>
                  <a:lnTo>
                    <a:pt x="0" y="176758"/>
                  </a:lnTo>
                  <a:lnTo>
                    <a:pt x="0" y="183959"/>
                  </a:lnTo>
                  <a:lnTo>
                    <a:pt x="7556" y="226072"/>
                  </a:lnTo>
                  <a:lnTo>
                    <a:pt x="27000" y="264236"/>
                  </a:lnTo>
                  <a:lnTo>
                    <a:pt x="56870" y="295198"/>
                  </a:lnTo>
                  <a:lnTo>
                    <a:pt x="94678" y="315709"/>
                  </a:lnTo>
                  <a:lnTo>
                    <a:pt x="136791" y="324357"/>
                  </a:lnTo>
                  <a:lnTo>
                    <a:pt x="143992" y="324357"/>
                  </a:lnTo>
                  <a:lnTo>
                    <a:pt x="143992" y="253796"/>
                  </a:lnTo>
                  <a:lnTo>
                    <a:pt x="140398" y="253796"/>
                  </a:lnTo>
                  <a:lnTo>
                    <a:pt x="133197" y="253072"/>
                  </a:lnTo>
                  <a:lnTo>
                    <a:pt x="96837" y="236512"/>
                  </a:lnTo>
                  <a:lnTo>
                    <a:pt x="93954" y="234353"/>
                  </a:lnTo>
                  <a:lnTo>
                    <a:pt x="91439" y="231470"/>
                  </a:lnTo>
                  <a:lnTo>
                    <a:pt x="88912" y="228955"/>
                  </a:lnTo>
                  <a:lnTo>
                    <a:pt x="86753" y="226072"/>
                  </a:lnTo>
                  <a:lnTo>
                    <a:pt x="70561" y="182156"/>
                  </a:lnTo>
                  <a:lnTo>
                    <a:pt x="70561" y="178549"/>
                  </a:lnTo>
                  <a:lnTo>
                    <a:pt x="84239" y="137515"/>
                  </a:lnTo>
                  <a:lnTo>
                    <a:pt x="86753" y="134632"/>
                  </a:lnTo>
                  <a:lnTo>
                    <a:pt x="88912" y="131749"/>
                  </a:lnTo>
                  <a:lnTo>
                    <a:pt x="91439" y="129235"/>
                  </a:lnTo>
                  <a:lnTo>
                    <a:pt x="93954" y="126352"/>
                  </a:lnTo>
                  <a:lnTo>
                    <a:pt x="96837" y="124193"/>
                  </a:lnTo>
                  <a:lnTo>
                    <a:pt x="133197" y="107632"/>
                  </a:lnTo>
                  <a:lnTo>
                    <a:pt x="140398" y="106908"/>
                  </a:lnTo>
                  <a:lnTo>
                    <a:pt x="143992" y="106908"/>
                  </a:lnTo>
                  <a:lnTo>
                    <a:pt x="143992" y="142913"/>
                  </a:lnTo>
                  <a:lnTo>
                    <a:pt x="215277" y="71640"/>
                  </a:lnTo>
                  <a:lnTo>
                    <a:pt x="143992" y="0"/>
                  </a:lnTo>
                  <a:close/>
                </a:path>
              </a:pathLst>
            </a:custGeom>
            <a:solidFill>
              <a:srgbClr val="454C4C"/>
            </a:solidFill>
          </p:spPr>
          <p:txBody>
            <a:bodyPr wrap="square" lIns="0" tIns="0" rIns="0" bIns="0" rtlCol="0"/>
            <a:lstStyle/>
            <a:p>
              <a:endParaRPr/>
            </a:p>
          </p:txBody>
        </p:sp>
      </p:grpSp>
      <p:grpSp>
        <p:nvGrpSpPr>
          <p:cNvPr id="24" name="object 24"/>
          <p:cNvGrpSpPr/>
          <p:nvPr/>
        </p:nvGrpSpPr>
        <p:grpSpPr>
          <a:xfrm>
            <a:off x="6356650" y="2854428"/>
            <a:ext cx="411480" cy="536575"/>
            <a:chOff x="6356650" y="2854428"/>
            <a:chExt cx="411480" cy="536575"/>
          </a:xfrm>
        </p:grpSpPr>
        <p:sp>
          <p:nvSpPr>
            <p:cNvPr id="25" name="object 25"/>
            <p:cNvSpPr/>
            <p:nvPr/>
          </p:nvSpPr>
          <p:spPr>
            <a:xfrm>
              <a:off x="6366598" y="3173764"/>
              <a:ext cx="391160" cy="208279"/>
            </a:xfrm>
            <a:custGeom>
              <a:avLst/>
              <a:gdLst/>
              <a:ahLst/>
              <a:cxnLst/>
              <a:rect l="l" t="t" r="r" b="b"/>
              <a:pathLst>
                <a:path w="391159" h="208279">
                  <a:moveTo>
                    <a:pt x="390956" y="110883"/>
                  </a:moveTo>
                  <a:lnTo>
                    <a:pt x="360263" y="166092"/>
                  </a:lnTo>
                  <a:lnTo>
                    <a:pt x="320591" y="187087"/>
                  </a:lnTo>
                  <a:lnTo>
                    <a:pt x="268736" y="201604"/>
                  </a:lnTo>
                  <a:lnTo>
                    <a:pt x="207721" y="208089"/>
                  </a:lnTo>
                  <a:lnTo>
                    <a:pt x="145305" y="205081"/>
                  </a:lnTo>
                  <a:lnTo>
                    <a:pt x="89941" y="193555"/>
                  </a:lnTo>
                  <a:lnTo>
                    <a:pt x="45047" y="174930"/>
                  </a:lnTo>
                  <a:lnTo>
                    <a:pt x="14045" y="150622"/>
                  </a:lnTo>
                  <a:lnTo>
                    <a:pt x="0" y="118808"/>
                  </a:lnTo>
                  <a:lnTo>
                    <a:pt x="0" y="115569"/>
                  </a:lnTo>
                  <a:lnTo>
                    <a:pt x="355" y="112318"/>
                  </a:lnTo>
                </a:path>
                <a:path w="391159" h="208279">
                  <a:moveTo>
                    <a:pt x="390956" y="0"/>
                  </a:moveTo>
                  <a:lnTo>
                    <a:pt x="360263" y="55212"/>
                  </a:lnTo>
                  <a:lnTo>
                    <a:pt x="320591" y="76209"/>
                  </a:lnTo>
                  <a:lnTo>
                    <a:pt x="268736" y="90725"/>
                  </a:lnTo>
                  <a:lnTo>
                    <a:pt x="207721" y="97205"/>
                  </a:lnTo>
                  <a:lnTo>
                    <a:pt x="145305" y="94203"/>
                  </a:lnTo>
                  <a:lnTo>
                    <a:pt x="89941" y="82681"/>
                  </a:lnTo>
                  <a:lnTo>
                    <a:pt x="45047" y="64056"/>
                  </a:lnTo>
                  <a:lnTo>
                    <a:pt x="14045" y="39744"/>
                  </a:lnTo>
                  <a:lnTo>
                    <a:pt x="0" y="7924"/>
                  </a:lnTo>
                  <a:lnTo>
                    <a:pt x="0" y="4686"/>
                  </a:lnTo>
                  <a:lnTo>
                    <a:pt x="355" y="1447"/>
                  </a:lnTo>
                </a:path>
              </a:pathLst>
            </a:custGeom>
            <a:ln w="17959">
              <a:solidFill>
                <a:srgbClr val="454C4C"/>
              </a:solidFill>
            </a:ln>
          </p:spPr>
          <p:txBody>
            <a:bodyPr wrap="square" lIns="0" tIns="0" rIns="0" bIns="0" rtlCol="0"/>
            <a:lstStyle/>
            <a:p>
              <a:endParaRPr/>
            </a:p>
          </p:txBody>
        </p:sp>
        <p:sp>
          <p:nvSpPr>
            <p:cNvPr id="26" name="object 26"/>
            <p:cNvSpPr/>
            <p:nvPr/>
          </p:nvSpPr>
          <p:spPr>
            <a:xfrm>
              <a:off x="6366954" y="2863452"/>
              <a:ext cx="389890" cy="181610"/>
            </a:xfrm>
            <a:custGeom>
              <a:avLst/>
              <a:gdLst/>
              <a:ahLst/>
              <a:cxnLst/>
              <a:rect l="l" t="t" r="r" b="b"/>
              <a:pathLst>
                <a:path w="389890" h="181610">
                  <a:moveTo>
                    <a:pt x="389889" y="90360"/>
                  </a:moveTo>
                  <a:lnTo>
                    <a:pt x="352333" y="143908"/>
                  </a:lnTo>
                  <a:lnTo>
                    <a:pt x="310183" y="163555"/>
                  </a:lnTo>
                  <a:lnTo>
                    <a:pt x="256714" y="176445"/>
                  </a:lnTo>
                  <a:lnTo>
                    <a:pt x="195122" y="181076"/>
                  </a:lnTo>
                  <a:lnTo>
                    <a:pt x="133357" y="176445"/>
                  </a:lnTo>
                  <a:lnTo>
                    <a:pt x="79783" y="163555"/>
                  </a:lnTo>
                  <a:lnTo>
                    <a:pt x="37578" y="143908"/>
                  </a:lnTo>
                  <a:lnTo>
                    <a:pt x="9924" y="119009"/>
                  </a:lnTo>
                  <a:lnTo>
                    <a:pt x="0" y="90360"/>
                  </a:lnTo>
                  <a:lnTo>
                    <a:pt x="9924" y="61748"/>
                  </a:lnTo>
                  <a:lnTo>
                    <a:pt x="37578" y="36937"/>
                  </a:lnTo>
                  <a:lnTo>
                    <a:pt x="79783" y="17395"/>
                  </a:lnTo>
                  <a:lnTo>
                    <a:pt x="133357" y="4593"/>
                  </a:lnTo>
                  <a:lnTo>
                    <a:pt x="195122" y="0"/>
                  </a:lnTo>
                  <a:lnTo>
                    <a:pt x="256714" y="4593"/>
                  </a:lnTo>
                  <a:lnTo>
                    <a:pt x="310183" y="17395"/>
                  </a:lnTo>
                  <a:lnTo>
                    <a:pt x="352333" y="36937"/>
                  </a:lnTo>
                  <a:lnTo>
                    <a:pt x="379968" y="61748"/>
                  </a:lnTo>
                  <a:lnTo>
                    <a:pt x="389889" y="90360"/>
                  </a:lnTo>
                  <a:close/>
                </a:path>
              </a:pathLst>
            </a:custGeom>
            <a:ln w="18046">
              <a:solidFill>
                <a:srgbClr val="454C4C"/>
              </a:solidFill>
            </a:ln>
          </p:spPr>
          <p:txBody>
            <a:bodyPr wrap="square" lIns="0" tIns="0" rIns="0" bIns="0" rtlCol="0"/>
            <a:lstStyle/>
            <a:p>
              <a:endParaRPr/>
            </a:p>
          </p:txBody>
        </p:sp>
        <p:sp>
          <p:nvSpPr>
            <p:cNvPr id="27" name="object 27"/>
            <p:cNvSpPr/>
            <p:nvPr/>
          </p:nvSpPr>
          <p:spPr>
            <a:xfrm>
              <a:off x="6366598" y="2958486"/>
              <a:ext cx="635" cy="333375"/>
            </a:xfrm>
            <a:custGeom>
              <a:avLst/>
              <a:gdLst/>
              <a:ahLst/>
              <a:cxnLst/>
              <a:rect l="l" t="t" r="r" b="b"/>
              <a:pathLst>
                <a:path w="635" h="333375">
                  <a:moveTo>
                    <a:pt x="355" y="333362"/>
                  </a:moveTo>
                  <a:lnTo>
                    <a:pt x="0" y="0"/>
                  </a:lnTo>
                </a:path>
              </a:pathLst>
            </a:custGeom>
            <a:ln w="19896">
              <a:solidFill>
                <a:srgbClr val="454C4C"/>
              </a:solidFill>
            </a:ln>
          </p:spPr>
          <p:txBody>
            <a:bodyPr wrap="square" lIns="0" tIns="0" rIns="0" bIns="0" rtlCol="0"/>
            <a:lstStyle/>
            <a:p>
              <a:endParaRPr/>
            </a:p>
          </p:txBody>
        </p:sp>
        <p:sp>
          <p:nvSpPr>
            <p:cNvPr id="28" name="object 28"/>
            <p:cNvSpPr/>
            <p:nvPr/>
          </p:nvSpPr>
          <p:spPr>
            <a:xfrm>
              <a:off x="6366598" y="3066487"/>
              <a:ext cx="391160" cy="97790"/>
            </a:xfrm>
            <a:custGeom>
              <a:avLst/>
              <a:gdLst/>
              <a:ahLst/>
              <a:cxnLst/>
              <a:rect l="l" t="t" r="r" b="b"/>
              <a:pathLst>
                <a:path w="391159" h="97789">
                  <a:moveTo>
                    <a:pt x="390956" y="0"/>
                  </a:moveTo>
                  <a:lnTo>
                    <a:pt x="360263" y="55315"/>
                  </a:lnTo>
                  <a:lnTo>
                    <a:pt x="320591" y="76363"/>
                  </a:lnTo>
                  <a:lnTo>
                    <a:pt x="268736" y="90862"/>
                  </a:lnTo>
                  <a:lnTo>
                    <a:pt x="207721" y="97205"/>
                  </a:lnTo>
                  <a:lnTo>
                    <a:pt x="145305" y="94374"/>
                  </a:lnTo>
                  <a:lnTo>
                    <a:pt x="89941" y="82937"/>
                  </a:lnTo>
                  <a:lnTo>
                    <a:pt x="45047" y="64312"/>
                  </a:lnTo>
                  <a:lnTo>
                    <a:pt x="14045" y="39915"/>
                  </a:lnTo>
                  <a:lnTo>
                    <a:pt x="0" y="7924"/>
                  </a:lnTo>
                  <a:lnTo>
                    <a:pt x="0" y="4686"/>
                  </a:lnTo>
                  <a:lnTo>
                    <a:pt x="355" y="1447"/>
                  </a:lnTo>
                </a:path>
              </a:pathLst>
            </a:custGeom>
            <a:ln w="17959">
              <a:solidFill>
                <a:srgbClr val="454C4C"/>
              </a:solidFill>
            </a:ln>
          </p:spPr>
          <p:txBody>
            <a:bodyPr wrap="square" lIns="0" tIns="0" rIns="0" bIns="0" rtlCol="0"/>
            <a:lstStyle/>
            <a:p>
              <a:endParaRPr/>
            </a:p>
          </p:txBody>
        </p:sp>
        <p:sp>
          <p:nvSpPr>
            <p:cNvPr id="29" name="object 29"/>
            <p:cNvSpPr/>
            <p:nvPr/>
          </p:nvSpPr>
          <p:spPr>
            <a:xfrm>
              <a:off x="6757555" y="2958486"/>
              <a:ext cx="635" cy="333375"/>
            </a:xfrm>
            <a:custGeom>
              <a:avLst/>
              <a:gdLst/>
              <a:ahLst/>
              <a:cxnLst/>
              <a:rect l="l" t="t" r="r" b="b"/>
              <a:pathLst>
                <a:path w="634" h="333375">
                  <a:moveTo>
                    <a:pt x="368" y="333362"/>
                  </a:moveTo>
                  <a:lnTo>
                    <a:pt x="0" y="0"/>
                  </a:lnTo>
                </a:path>
              </a:pathLst>
            </a:custGeom>
            <a:ln w="19896">
              <a:solidFill>
                <a:srgbClr val="454C4C"/>
              </a:solidFill>
            </a:ln>
          </p:spPr>
          <p:txBody>
            <a:bodyPr wrap="square" lIns="0" tIns="0" rIns="0" bIns="0" rtlCol="0"/>
            <a:lstStyle/>
            <a:p>
              <a:endParaRPr/>
            </a:p>
          </p:txBody>
        </p:sp>
      </p:grpSp>
      <p:sp>
        <p:nvSpPr>
          <p:cNvPr id="30" name="object 30"/>
          <p:cNvSpPr txBox="1"/>
          <p:nvPr/>
        </p:nvSpPr>
        <p:spPr>
          <a:xfrm>
            <a:off x="5894895" y="3488960"/>
            <a:ext cx="1360170" cy="752475"/>
          </a:xfrm>
          <a:prstGeom prst="rect">
            <a:avLst/>
          </a:prstGeom>
        </p:spPr>
        <p:txBody>
          <a:bodyPr vert="horz" wrap="square" lIns="0" tIns="12700" rIns="0" bIns="0" rtlCol="0">
            <a:spAutoFit/>
          </a:bodyPr>
          <a:lstStyle/>
          <a:p>
            <a:pPr marL="372110" marR="5080" indent="-360045">
              <a:lnSpc>
                <a:spcPct val="113599"/>
              </a:lnSpc>
              <a:spcBef>
                <a:spcPts val="100"/>
              </a:spcBef>
            </a:pPr>
            <a:r>
              <a:rPr sz="1400" dirty="0">
                <a:solidFill>
                  <a:srgbClr val="454C4C"/>
                </a:solidFill>
                <a:latin typeface="Arial MT"/>
                <a:cs typeface="Arial MT"/>
              </a:rPr>
              <a:t>Temporary</a:t>
            </a:r>
            <a:r>
              <a:rPr sz="1400" spc="50" dirty="0">
                <a:solidFill>
                  <a:srgbClr val="454C4C"/>
                </a:solidFill>
                <a:latin typeface="Arial MT"/>
                <a:cs typeface="Arial MT"/>
              </a:rPr>
              <a:t> </a:t>
            </a:r>
            <a:r>
              <a:rPr sz="1400" spc="-20" dirty="0">
                <a:solidFill>
                  <a:srgbClr val="454C4C"/>
                </a:solidFill>
                <a:latin typeface="Arial MT"/>
                <a:cs typeface="Arial MT"/>
              </a:rPr>
              <a:t>Local </a:t>
            </a:r>
            <a:r>
              <a:rPr sz="1400" spc="-10" dirty="0">
                <a:solidFill>
                  <a:srgbClr val="454C4C"/>
                </a:solidFill>
                <a:latin typeface="Arial MT"/>
                <a:cs typeface="Arial MT"/>
              </a:rPr>
              <a:t>Storage</a:t>
            </a:r>
            <a:endParaRPr sz="1400">
              <a:latin typeface="Arial MT"/>
              <a:cs typeface="Arial MT"/>
            </a:endParaRPr>
          </a:p>
          <a:p>
            <a:pPr marL="60960">
              <a:lnSpc>
                <a:spcPct val="100000"/>
              </a:lnSpc>
              <a:spcBef>
                <a:spcPts val="225"/>
              </a:spcBef>
            </a:pPr>
            <a:r>
              <a:rPr sz="1400" spc="-10" dirty="0">
                <a:solidFill>
                  <a:srgbClr val="454C4C"/>
                </a:solidFill>
                <a:latin typeface="Arial MT"/>
                <a:cs typeface="Arial MT"/>
              </a:rPr>
              <a:t>(fleecing</a:t>
            </a:r>
            <a:r>
              <a:rPr sz="1400" spc="-60" dirty="0">
                <a:solidFill>
                  <a:srgbClr val="454C4C"/>
                </a:solidFill>
                <a:latin typeface="Arial MT"/>
                <a:cs typeface="Arial MT"/>
              </a:rPr>
              <a:t> </a:t>
            </a:r>
            <a:r>
              <a:rPr sz="1400" spc="-10" dirty="0">
                <a:solidFill>
                  <a:srgbClr val="454C4C"/>
                </a:solidFill>
                <a:latin typeface="Arial MT"/>
                <a:cs typeface="Arial MT"/>
              </a:rPr>
              <a:t>image)</a:t>
            </a:r>
            <a:endParaRPr sz="1400">
              <a:latin typeface="Arial MT"/>
              <a:cs typeface="Arial MT"/>
            </a:endParaRPr>
          </a:p>
        </p:txBody>
      </p:sp>
      <p:grpSp>
        <p:nvGrpSpPr>
          <p:cNvPr id="31" name="object 31"/>
          <p:cNvGrpSpPr/>
          <p:nvPr/>
        </p:nvGrpSpPr>
        <p:grpSpPr>
          <a:xfrm>
            <a:off x="6889318" y="3038763"/>
            <a:ext cx="405130" cy="168275"/>
            <a:chOff x="6889318" y="3038763"/>
            <a:chExt cx="405130" cy="168275"/>
          </a:xfrm>
        </p:grpSpPr>
        <p:sp>
          <p:nvSpPr>
            <p:cNvPr id="32" name="object 32"/>
            <p:cNvSpPr/>
            <p:nvPr/>
          </p:nvSpPr>
          <p:spPr>
            <a:xfrm>
              <a:off x="6889318" y="3122646"/>
              <a:ext cx="228600" cy="0"/>
            </a:xfrm>
            <a:custGeom>
              <a:avLst/>
              <a:gdLst/>
              <a:ahLst/>
              <a:cxnLst/>
              <a:rect l="l" t="t" r="r" b="b"/>
              <a:pathLst>
                <a:path w="228600">
                  <a:moveTo>
                    <a:pt x="0" y="0"/>
                  </a:moveTo>
                  <a:lnTo>
                    <a:pt x="228600" y="0"/>
                  </a:lnTo>
                </a:path>
              </a:pathLst>
            </a:custGeom>
            <a:ln w="76318">
              <a:solidFill>
                <a:srgbClr val="454C4C"/>
              </a:solidFill>
            </a:ln>
          </p:spPr>
          <p:txBody>
            <a:bodyPr wrap="square" lIns="0" tIns="0" rIns="0" bIns="0" rtlCol="0"/>
            <a:lstStyle/>
            <a:p>
              <a:endParaRPr/>
            </a:p>
          </p:txBody>
        </p:sp>
        <p:sp>
          <p:nvSpPr>
            <p:cNvPr id="33" name="object 33"/>
            <p:cNvSpPr/>
            <p:nvPr/>
          </p:nvSpPr>
          <p:spPr>
            <a:xfrm>
              <a:off x="7106754" y="3038763"/>
              <a:ext cx="187960" cy="168275"/>
            </a:xfrm>
            <a:custGeom>
              <a:avLst/>
              <a:gdLst/>
              <a:ahLst/>
              <a:cxnLst/>
              <a:rect l="l" t="t" r="r" b="b"/>
              <a:pathLst>
                <a:path w="187959" h="168275">
                  <a:moveTo>
                    <a:pt x="11163" y="0"/>
                  </a:moveTo>
                  <a:lnTo>
                    <a:pt x="9728" y="0"/>
                  </a:lnTo>
                  <a:lnTo>
                    <a:pt x="6489" y="723"/>
                  </a:lnTo>
                  <a:lnTo>
                    <a:pt x="2882" y="2527"/>
                  </a:lnTo>
                  <a:lnTo>
                    <a:pt x="723" y="5410"/>
                  </a:lnTo>
                  <a:lnTo>
                    <a:pt x="0" y="9004"/>
                  </a:lnTo>
                  <a:lnTo>
                    <a:pt x="0" y="158762"/>
                  </a:lnTo>
                  <a:lnTo>
                    <a:pt x="723" y="162369"/>
                  </a:lnTo>
                  <a:lnTo>
                    <a:pt x="2882" y="165963"/>
                  </a:lnTo>
                  <a:lnTo>
                    <a:pt x="6489" y="167411"/>
                  </a:lnTo>
                  <a:lnTo>
                    <a:pt x="9728" y="168122"/>
                  </a:lnTo>
                  <a:lnTo>
                    <a:pt x="11163" y="168122"/>
                  </a:lnTo>
                  <a:lnTo>
                    <a:pt x="13322" y="167411"/>
                  </a:lnTo>
                  <a:lnTo>
                    <a:pt x="180721" y="92887"/>
                  </a:lnTo>
                  <a:lnTo>
                    <a:pt x="185407" y="89281"/>
                  </a:lnTo>
                  <a:lnTo>
                    <a:pt x="187566" y="84251"/>
                  </a:lnTo>
                  <a:lnTo>
                    <a:pt x="185407" y="78486"/>
                  </a:lnTo>
                  <a:lnTo>
                    <a:pt x="181089" y="75247"/>
                  </a:lnTo>
                  <a:lnTo>
                    <a:pt x="13322" y="723"/>
                  </a:lnTo>
                  <a:lnTo>
                    <a:pt x="11163" y="0"/>
                  </a:lnTo>
                  <a:close/>
                </a:path>
              </a:pathLst>
            </a:custGeom>
            <a:solidFill>
              <a:srgbClr val="454C4C"/>
            </a:solidFill>
          </p:spPr>
          <p:txBody>
            <a:bodyPr wrap="square" lIns="0" tIns="0" rIns="0" bIns="0" rtlCol="0"/>
            <a:lstStyle/>
            <a:p>
              <a:endParaRPr/>
            </a:p>
          </p:txBody>
        </p:sp>
      </p:grpSp>
      <p:grpSp>
        <p:nvGrpSpPr>
          <p:cNvPr id="34" name="object 34"/>
          <p:cNvGrpSpPr/>
          <p:nvPr/>
        </p:nvGrpSpPr>
        <p:grpSpPr>
          <a:xfrm>
            <a:off x="3958196" y="1515969"/>
            <a:ext cx="911225" cy="631190"/>
            <a:chOff x="3958196" y="1515969"/>
            <a:chExt cx="911225" cy="631190"/>
          </a:xfrm>
        </p:grpSpPr>
        <p:sp>
          <p:nvSpPr>
            <p:cNvPr id="35" name="object 35"/>
            <p:cNvSpPr/>
            <p:nvPr/>
          </p:nvSpPr>
          <p:spPr>
            <a:xfrm>
              <a:off x="3958196" y="1515969"/>
              <a:ext cx="911225" cy="631190"/>
            </a:xfrm>
            <a:custGeom>
              <a:avLst/>
              <a:gdLst/>
              <a:ahLst/>
              <a:cxnLst/>
              <a:rect l="l" t="t" r="r" b="b"/>
              <a:pathLst>
                <a:path w="911225" h="631189">
                  <a:moveTo>
                    <a:pt x="805688" y="0"/>
                  </a:moveTo>
                  <a:lnTo>
                    <a:pt x="105117" y="0"/>
                  </a:lnTo>
                  <a:lnTo>
                    <a:pt x="91391" y="876"/>
                  </a:lnTo>
                  <a:lnTo>
                    <a:pt x="52565" y="14033"/>
                  </a:lnTo>
                  <a:lnTo>
                    <a:pt x="21786" y="41174"/>
                  </a:lnTo>
                  <a:lnTo>
                    <a:pt x="3513" y="77893"/>
                  </a:lnTo>
                  <a:lnTo>
                    <a:pt x="0" y="105117"/>
                  </a:lnTo>
                  <a:lnTo>
                    <a:pt x="0" y="525957"/>
                  </a:lnTo>
                  <a:lnTo>
                    <a:pt x="7902" y="566205"/>
                  </a:lnTo>
                  <a:lnTo>
                    <a:pt x="30876" y="600211"/>
                  </a:lnTo>
                  <a:lnTo>
                    <a:pt x="64877" y="623183"/>
                  </a:lnTo>
                  <a:lnTo>
                    <a:pt x="105117" y="631075"/>
                  </a:lnTo>
                  <a:lnTo>
                    <a:pt x="805688" y="631075"/>
                  </a:lnTo>
                  <a:lnTo>
                    <a:pt x="845928" y="623183"/>
                  </a:lnTo>
                  <a:lnTo>
                    <a:pt x="879929" y="600211"/>
                  </a:lnTo>
                  <a:lnTo>
                    <a:pt x="902903" y="566205"/>
                  </a:lnTo>
                  <a:lnTo>
                    <a:pt x="910805" y="525957"/>
                  </a:lnTo>
                  <a:lnTo>
                    <a:pt x="910805" y="105117"/>
                  </a:lnTo>
                  <a:lnTo>
                    <a:pt x="902903" y="64875"/>
                  </a:lnTo>
                  <a:lnTo>
                    <a:pt x="879929" y="30865"/>
                  </a:lnTo>
                  <a:lnTo>
                    <a:pt x="845928" y="7892"/>
                  </a:lnTo>
                  <a:lnTo>
                    <a:pt x="805688" y="0"/>
                  </a:lnTo>
                  <a:close/>
                </a:path>
              </a:pathLst>
            </a:custGeom>
            <a:solidFill>
              <a:srgbClr val="00607E"/>
            </a:solidFill>
          </p:spPr>
          <p:txBody>
            <a:bodyPr wrap="square" lIns="0" tIns="0" rIns="0" bIns="0" rtlCol="0"/>
            <a:lstStyle/>
            <a:p>
              <a:endParaRPr/>
            </a:p>
          </p:txBody>
        </p:sp>
        <p:sp>
          <p:nvSpPr>
            <p:cNvPr id="36" name="object 36"/>
            <p:cNvSpPr/>
            <p:nvPr/>
          </p:nvSpPr>
          <p:spPr>
            <a:xfrm>
              <a:off x="3958196" y="1515969"/>
              <a:ext cx="911225" cy="631190"/>
            </a:xfrm>
            <a:custGeom>
              <a:avLst/>
              <a:gdLst/>
              <a:ahLst/>
              <a:cxnLst/>
              <a:rect l="l" t="t" r="r" b="b"/>
              <a:pathLst>
                <a:path w="911225" h="631189">
                  <a:moveTo>
                    <a:pt x="105117" y="0"/>
                  </a:moveTo>
                  <a:lnTo>
                    <a:pt x="91391" y="876"/>
                  </a:lnTo>
                  <a:lnTo>
                    <a:pt x="77898" y="3506"/>
                  </a:lnTo>
                  <a:lnTo>
                    <a:pt x="41181" y="21773"/>
                  </a:lnTo>
                  <a:lnTo>
                    <a:pt x="14046" y="52565"/>
                  </a:lnTo>
                  <a:lnTo>
                    <a:pt x="878" y="91386"/>
                  </a:lnTo>
                  <a:lnTo>
                    <a:pt x="0" y="105117"/>
                  </a:lnTo>
                  <a:lnTo>
                    <a:pt x="0" y="525602"/>
                  </a:lnTo>
                  <a:lnTo>
                    <a:pt x="0" y="525957"/>
                  </a:lnTo>
                  <a:lnTo>
                    <a:pt x="7902" y="566205"/>
                  </a:lnTo>
                  <a:lnTo>
                    <a:pt x="30876" y="600211"/>
                  </a:lnTo>
                  <a:lnTo>
                    <a:pt x="64877" y="623183"/>
                  </a:lnTo>
                  <a:lnTo>
                    <a:pt x="105117" y="631075"/>
                  </a:lnTo>
                  <a:lnTo>
                    <a:pt x="805319" y="631075"/>
                  </a:lnTo>
                  <a:lnTo>
                    <a:pt x="805688" y="631075"/>
                  </a:lnTo>
                  <a:lnTo>
                    <a:pt x="845928" y="623183"/>
                  </a:lnTo>
                  <a:lnTo>
                    <a:pt x="879929" y="600211"/>
                  </a:lnTo>
                  <a:lnTo>
                    <a:pt x="902903" y="566205"/>
                  </a:lnTo>
                  <a:lnTo>
                    <a:pt x="910805" y="525957"/>
                  </a:lnTo>
                  <a:lnTo>
                    <a:pt x="910805" y="105117"/>
                  </a:lnTo>
                  <a:lnTo>
                    <a:pt x="909927" y="91386"/>
                  </a:lnTo>
                  <a:lnTo>
                    <a:pt x="907292" y="77893"/>
                  </a:lnTo>
                  <a:lnTo>
                    <a:pt x="889019" y="41174"/>
                  </a:lnTo>
                  <a:lnTo>
                    <a:pt x="858240" y="14033"/>
                  </a:lnTo>
                  <a:lnTo>
                    <a:pt x="819414" y="876"/>
                  </a:lnTo>
                  <a:lnTo>
                    <a:pt x="805688" y="0"/>
                  </a:lnTo>
                  <a:lnTo>
                    <a:pt x="105117" y="0"/>
                  </a:lnTo>
                  <a:close/>
                </a:path>
              </a:pathLst>
            </a:custGeom>
            <a:ln w="3175">
              <a:solidFill>
                <a:srgbClr val="00607E"/>
              </a:solidFill>
            </a:ln>
          </p:spPr>
          <p:txBody>
            <a:bodyPr wrap="square" lIns="0" tIns="0" rIns="0" bIns="0" rtlCol="0"/>
            <a:lstStyle/>
            <a:p>
              <a:endParaRPr/>
            </a:p>
          </p:txBody>
        </p:sp>
      </p:grpSp>
      <p:sp>
        <p:nvSpPr>
          <p:cNvPr id="37" name="object 37"/>
          <p:cNvSpPr txBox="1"/>
          <p:nvPr/>
        </p:nvSpPr>
        <p:spPr>
          <a:xfrm>
            <a:off x="4144936" y="1549676"/>
            <a:ext cx="537845" cy="513715"/>
          </a:xfrm>
          <a:prstGeom prst="rect">
            <a:avLst/>
          </a:prstGeom>
        </p:spPr>
        <p:txBody>
          <a:bodyPr vert="horz" wrap="square" lIns="0" tIns="12700" rIns="0" bIns="0" rtlCol="0">
            <a:spAutoFit/>
          </a:bodyPr>
          <a:lstStyle/>
          <a:p>
            <a:pPr marL="12700">
              <a:lnSpc>
                <a:spcPct val="100000"/>
              </a:lnSpc>
              <a:spcBef>
                <a:spcPts val="100"/>
              </a:spcBef>
            </a:pPr>
            <a:r>
              <a:rPr sz="3200" spc="-145" dirty="0">
                <a:solidFill>
                  <a:srgbClr val="FFFFFF"/>
                </a:solidFill>
                <a:latin typeface="Tahoma"/>
                <a:cs typeface="Tahoma"/>
              </a:rPr>
              <a:t>VM</a:t>
            </a:r>
            <a:endParaRPr sz="3200">
              <a:latin typeface="Tahoma"/>
              <a:cs typeface="Tahoma"/>
            </a:endParaRPr>
          </a:p>
        </p:txBody>
      </p:sp>
      <p:grpSp>
        <p:nvGrpSpPr>
          <p:cNvPr id="38" name="object 38"/>
          <p:cNvGrpSpPr/>
          <p:nvPr/>
        </p:nvGrpSpPr>
        <p:grpSpPr>
          <a:xfrm>
            <a:off x="3688918" y="2139133"/>
            <a:ext cx="1450975" cy="631190"/>
            <a:chOff x="3688918" y="2139133"/>
            <a:chExt cx="1450975" cy="631190"/>
          </a:xfrm>
        </p:grpSpPr>
        <p:sp>
          <p:nvSpPr>
            <p:cNvPr id="39" name="object 39"/>
            <p:cNvSpPr/>
            <p:nvPr/>
          </p:nvSpPr>
          <p:spPr>
            <a:xfrm>
              <a:off x="4413605" y="2139133"/>
              <a:ext cx="0" cy="177165"/>
            </a:xfrm>
            <a:custGeom>
              <a:avLst/>
              <a:gdLst/>
              <a:ahLst/>
              <a:cxnLst/>
              <a:rect l="l" t="t" r="r" b="b"/>
              <a:pathLst>
                <a:path h="177164">
                  <a:moveTo>
                    <a:pt x="0" y="0"/>
                  </a:moveTo>
                  <a:lnTo>
                    <a:pt x="0" y="176758"/>
                  </a:lnTo>
                </a:path>
              </a:pathLst>
            </a:custGeom>
            <a:ln w="76318">
              <a:solidFill>
                <a:srgbClr val="00607E"/>
              </a:solidFill>
            </a:ln>
          </p:spPr>
          <p:txBody>
            <a:bodyPr wrap="square" lIns="0" tIns="0" rIns="0" bIns="0" rtlCol="0"/>
            <a:lstStyle/>
            <a:p>
              <a:endParaRPr/>
            </a:p>
          </p:txBody>
        </p:sp>
        <p:sp>
          <p:nvSpPr>
            <p:cNvPr id="40" name="object 40"/>
            <p:cNvSpPr/>
            <p:nvPr/>
          </p:nvSpPr>
          <p:spPr>
            <a:xfrm>
              <a:off x="4329353" y="2304728"/>
              <a:ext cx="168910" cy="187960"/>
            </a:xfrm>
            <a:custGeom>
              <a:avLst/>
              <a:gdLst/>
              <a:ahLst/>
              <a:cxnLst/>
              <a:rect l="l" t="t" r="r" b="b"/>
              <a:pathLst>
                <a:path w="168910" h="187960">
                  <a:moveTo>
                    <a:pt x="159486" y="0"/>
                  </a:moveTo>
                  <a:lnTo>
                    <a:pt x="9004" y="0"/>
                  </a:lnTo>
                  <a:lnTo>
                    <a:pt x="5765" y="723"/>
                  </a:lnTo>
                  <a:lnTo>
                    <a:pt x="2171" y="2882"/>
                  </a:lnTo>
                  <a:lnTo>
                    <a:pt x="723" y="6477"/>
                  </a:lnTo>
                  <a:lnTo>
                    <a:pt x="0" y="9715"/>
                  </a:lnTo>
                  <a:lnTo>
                    <a:pt x="0" y="11163"/>
                  </a:lnTo>
                  <a:lnTo>
                    <a:pt x="723" y="13322"/>
                  </a:lnTo>
                  <a:lnTo>
                    <a:pt x="75247" y="181076"/>
                  </a:lnTo>
                  <a:lnTo>
                    <a:pt x="78841" y="185762"/>
                  </a:lnTo>
                  <a:lnTo>
                    <a:pt x="83883" y="187921"/>
                  </a:lnTo>
                  <a:lnTo>
                    <a:pt x="89649" y="185762"/>
                  </a:lnTo>
                  <a:lnTo>
                    <a:pt x="92887" y="181444"/>
                  </a:lnTo>
                  <a:lnTo>
                    <a:pt x="167766" y="13322"/>
                  </a:lnTo>
                  <a:lnTo>
                    <a:pt x="168490" y="11163"/>
                  </a:lnTo>
                  <a:lnTo>
                    <a:pt x="168490" y="9715"/>
                  </a:lnTo>
                  <a:lnTo>
                    <a:pt x="167766" y="6477"/>
                  </a:lnTo>
                  <a:lnTo>
                    <a:pt x="165608" y="2882"/>
                  </a:lnTo>
                  <a:lnTo>
                    <a:pt x="162725" y="723"/>
                  </a:lnTo>
                  <a:lnTo>
                    <a:pt x="159486" y="0"/>
                  </a:lnTo>
                  <a:close/>
                </a:path>
              </a:pathLst>
            </a:custGeom>
            <a:solidFill>
              <a:srgbClr val="00607E"/>
            </a:solidFill>
          </p:spPr>
          <p:txBody>
            <a:bodyPr wrap="square" lIns="0" tIns="0" rIns="0" bIns="0" rtlCol="0"/>
            <a:lstStyle/>
            <a:p>
              <a:endParaRPr/>
            </a:p>
          </p:txBody>
        </p:sp>
        <p:sp>
          <p:nvSpPr>
            <p:cNvPr id="41" name="object 41"/>
            <p:cNvSpPr/>
            <p:nvPr/>
          </p:nvSpPr>
          <p:spPr>
            <a:xfrm>
              <a:off x="3688918" y="2535843"/>
              <a:ext cx="1450975" cy="234315"/>
            </a:xfrm>
            <a:custGeom>
              <a:avLst/>
              <a:gdLst/>
              <a:ahLst/>
              <a:cxnLst/>
              <a:rect l="l" t="t" r="r" b="b"/>
              <a:pathLst>
                <a:path w="1450975" h="234314">
                  <a:moveTo>
                    <a:pt x="1418399" y="0"/>
                  </a:moveTo>
                  <a:lnTo>
                    <a:pt x="32042" y="0"/>
                  </a:lnTo>
                  <a:lnTo>
                    <a:pt x="25565" y="1803"/>
                  </a:lnTo>
                  <a:lnTo>
                    <a:pt x="19443" y="5410"/>
                  </a:lnTo>
                  <a:lnTo>
                    <a:pt x="13677" y="8648"/>
                  </a:lnTo>
                  <a:lnTo>
                    <a:pt x="8636" y="13690"/>
                  </a:lnTo>
                  <a:lnTo>
                    <a:pt x="5397" y="19443"/>
                  </a:lnTo>
                  <a:lnTo>
                    <a:pt x="1803" y="25565"/>
                  </a:lnTo>
                  <a:lnTo>
                    <a:pt x="0" y="32042"/>
                  </a:lnTo>
                  <a:lnTo>
                    <a:pt x="0" y="201968"/>
                  </a:lnTo>
                  <a:lnTo>
                    <a:pt x="1803" y="208445"/>
                  </a:lnTo>
                  <a:lnTo>
                    <a:pt x="5397" y="214566"/>
                  </a:lnTo>
                  <a:lnTo>
                    <a:pt x="8636" y="220319"/>
                  </a:lnTo>
                  <a:lnTo>
                    <a:pt x="13677" y="225361"/>
                  </a:lnTo>
                  <a:lnTo>
                    <a:pt x="19443" y="228600"/>
                  </a:lnTo>
                  <a:lnTo>
                    <a:pt x="25565" y="232206"/>
                  </a:lnTo>
                  <a:lnTo>
                    <a:pt x="32042" y="234010"/>
                  </a:lnTo>
                  <a:lnTo>
                    <a:pt x="1418399" y="234010"/>
                  </a:lnTo>
                  <a:lnTo>
                    <a:pt x="1424876" y="232206"/>
                  </a:lnTo>
                  <a:lnTo>
                    <a:pt x="1430997" y="228600"/>
                  </a:lnTo>
                  <a:lnTo>
                    <a:pt x="1436763" y="225361"/>
                  </a:lnTo>
                  <a:lnTo>
                    <a:pt x="1441805" y="220319"/>
                  </a:lnTo>
                  <a:lnTo>
                    <a:pt x="1445044" y="214566"/>
                  </a:lnTo>
                  <a:lnTo>
                    <a:pt x="1448638" y="208445"/>
                  </a:lnTo>
                  <a:lnTo>
                    <a:pt x="1450441" y="201968"/>
                  </a:lnTo>
                  <a:lnTo>
                    <a:pt x="1450441" y="195122"/>
                  </a:lnTo>
                  <a:lnTo>
                    <a:pt x="1450086" y="38887"/>
                  </a:lnTo>
                  <a:lnTo>
                    <a:pt x="1450441" y="38887"/>
                  </a:lnTo>
                  <a:lnTo>
                    <a:pt x="1450441" y="32042"/>
                  </a:lnTo>
                  <a:lnTo>
                    <a:pt x="1448638" y="25565"/>
                  </a:lnTo>
                  <a:lnTo>
                    <a:pt x="1445044" y="19443"/>
                  </a:lnTo>
                  <a:lnTo>
                    <a:pt x="1441805" y="13690"/>
                  </a:lnTo>
                  <a:lnTo>
                    <a:pt x="1436763" y="8648"/>
                  </a:lnTo>
                  <a:lnTo>
                    <a:pt x="1430997" y="5410"/>
                  </a:lnTo>
                  <a:lnTo>
                    <a:pt x="1424876" y="1803"/>
                  </a:lnTo>
                  <a:lnTo>
                    <a:pt x="1418399" y="0"/>
                  </a:lnTo>
                  <a:close/>
                </a:path>
              </a:pathLst>
            </a:custGeom>
            <a:solidFill>
              <a:srgbClr val="EB1E29"/>
            </a:solidFill>
          </p:spPr>
          <p:txBody>
            <a:bodyPr wrap="square" lIns="0" tIns="0" rIns="0" bIns="0" rtlCol="0"/>
            <a:lstStyle/>
            <a:p>
              <a:endParaRPr/>
            </a:p>
          </p:txBody>
        </p:sp>
        <p:sp>
          <p:nvSpPr>
            <p:cNvPr id="42" name="object 42"/>
            <p:cNvSpPr/>
            <p:nvPr/>
          </p:nvSpPr>
          <p:spPr>
            <a:xfrm>
              <a:off x="3688918" y="2535843"/>
              <a:ext cx="1450975" cy="234315"/>
            </a:xfrm>
            <a:custGeom>
              <a:avLst/>
              <a:gdLst/>
              <a:ahLst/>
              <a:cxnLst/>
              <a:rect l="l" t="t" r="r" b="b"/>
              <a:pathLst>
                <a:path w="1450975" h="234314">
                  <a:moveTo>
                    <a:pt x="38887" y="0"/>
                  </a:moveTo>
                  <a:lnTo>
                    <a:pt x="32042" y="0"/>
                  </a:lnTo>
                  <a:lnTo>
                    <a:pt x="25565" y="1803"/>
                  </a:lnTo>
                  <a:lnTo>
                    <a:pt x="19443" y="5410"/>
                  </a:lnTo>
                  <a:lnTo>
                    <a:pt x="13677" y="8648"/>
                  </a:lnTo>
                  <a:lnTo>
                    <a:pt x="8636" y="13690"/>
                  </a:lnTo>
                  <a:lnTo>
                    <a:pt x="5397" y="19443"/>
                  </a:lnTo>
                  <a:lnTo>
                    <a:pt x="1803" y="25565"/>
                  </a:lnTo>
                  <a:lnTo>
                    <a:pt x="0" y="32042"/>
                  </a:lnTo>
                  <a:lnTo>
                    <a:pt x="0" y="38887"/>
                  </a:lnTo>
                  <a:lnTo>
                    <a:pt x="0" y="194767"/>
                  </a:lnTo>
                  <a:lnTo>
                    <a:pt x="0" y="195122"/>
                  </a:lnTo>
                  <a:lnTo>
                    <a:pt x="0" y="201968"/>
                  </a:lnTo>
                  <a:lnTo>
                    <a:pt x="1803" y="208445"/>
                  </a:lnTo>
                  <a:lnTo>
                    <a:pt x="5397" y="214566"/>
                  </a:lnTo>
                  <a:lnTo>
                    <a:pt x="8636" y="220319"/>
                  </a:lnTo>
                  <a:lnTo>
                    <a:pt x="13677" y="225361"/>
                  </a:lnTo>
                  <a:lnTo>
                    <a:pt x="19443" y="228600"/>
                  </a:lnTo>
                  <a:lnTo>
                    <a:pt x="25565" y="232206"/>
                  </a:lnTo>
                  <a:lnTo>
                    <a:pt x="32042" y="234010"/>
                  </a:lnTo>
                  <a:lnTo>
                    <a:pt x="38887" y="234010"/>
                  </a:lnTo>
                  <a:lnTo>
                    <a:pt x="1411198" y="234010"/>
                  </a:lnTo>
                  <a:lnTo>
                    <a:pt x="1411566" y="234010"/>
                  </a:lnTo>
                  <a:lnTo>
                    <a:pt x="1418399" y="234010"/>
                  </a:lnTo>
                  <a:lnTo>
                    <a:pt x="1424876" y="232206"/>
                  </a:lnTo>
                  <a:lnTo>
                    <a:pt x="1430997" y="228600"/>
                  </a:lnTo>
                  <a:lnTo>
                    <a:pt x="1436763" y="225361"/>
                  </a:lnTo>
                  <a:lnTo>
                    <a:pt x="1441805" y="220319"/>
                  </a:lnTo>
                  <a:lnTo>
                    <a:pt x="1445044" y="214566"/>
                  </a:lnTo>
                  <a:lnTo>
                    <a:pt x="1448638" y="208445"/>
                  </a:lnTo>
                  <a:lnTo>
                    <a:pt x="1450441" y="201968"/>
                  </a:lnTo>
                  <a:lnTo>
                    <a:pt x="1450441" y="195122"/>
                  </a:lnTo>
                  <a:lnTo>
                    <a:pt x="1450086" y="38887"/>
                  </a:lnTo>
                  <a:lnTo>
                    <a:pt x="1450441" y="38887"/>
                  </a:lnTo>
                  <a:lnTo>
                    <a:pt x="1450441" y="32042"/>
                  </a:lnTo>
                  <a:lnTo>
                    <a:pt x="1448638" y="25565"/>
                  </a:lnTo>
                  <a:lnTo>
                    <a:pt x="1445044" y="19443"/>
                  </a:lnTo>
                  <a:lnTo>
                    <a:pt x="1441805" y="13690"/>
                  </a:lnTo>
                  <a:lnTo>
                    <a:pt x="1436763" y="8648"/>
                  </a:lnTo>
                  <a:lnTo>
                    <a:pt x="1430997" y="5410"/>
                  </a:lnTo>
                  <a:lnTo>
                    <a:pt x="1424876" y="1803"/>
                  </a:lnTo>
                  <a:lnTo>
                    <a:pt x="1418399" y="0"/>
                  </a:lnTo>
                  <a:lnTo>
                    <a:pt x="1411566" y="0"/>
                  </a:lnTo>
                  <a:lnTo>
                    <a:pt x="38887" y="0"/>
                  </a:lnTo>
                  <a:close/>
                </a:path>
              </a:pathLst>
            </a:custGeom>
            <a:ln w="3175">
              <a:solidFill>
                <a:srgbClr val="FFFFFF"/>
              </a:solidFill>
            </a:ln>
          </p:spPr>
          <p:txBody>
            <a:bodyPr wrap="square" lIns="0" tIns="0" rIns="0" bIns="0" rtlCol="0"/>
            <a:lstStyle/>
            <a:p>
              <a:endParaRPr/>
            </a:p>
          </p:txBody>
        </p:sp>
      </p:grpSp>
      <p:sp>
        <p:nvSpPr>
          <p:cNvPr id="43" name="object 43"/>
          <p:cNvSpPr txBox="1"/>
          <p:nvPr/>
        </p:nvSpPr>
        <p:spPr>
          <a:xfrm>
            <a:off x="4046296" y="2466871"/>
            <a:ext cx="735965" cy="339725"/>
          </a:xfrm>
          <a:prstGeom prst="rect">
            <a:avLst/>
          </a:prstGeom>
        </p:spPr>
        <p:txBody>
          <a:bodyPr vert="horz" wrap="square" lIns="0" tIns="13335" rIns="0" bIns="0" rtlCol="0">
            <a:spAutoFit/>
          </a:bodyPr>
          <a:lstStyle/>
          <a:p>
            <a:pPr marL="12700">
              <a:lnSpc>
                <a:spcPct val="100000"/>
              </a:lnSpc>
              <a:spcBef>
                <a:spcPts val="105"/>
              </a:spcBef>
            </a:pPr>
            <a:r>
              <a:rPr sz="2050" spc="-100" dirty="0">
                <a:solidFill>
                  <a:srgbClr val="FFFFFF"/>
                </a:solidFill>
                <a:latin typeface="Tahoma"/>
                <a:cs typeface="Tahoma"/>
              </a:rPr>
              <a:t>BLOCK</a:t>
            </a:r>
            <a:endParaRPr sz="2050">
              <a:latin typeface="Tahoma"/>
              <a:cs typeface="Tahoma"/>
            </a:endParaRPr>
          </a:p>
        </p:txBody>
      </p:sp>
      <p:sp>
        <p:nvSpPr>
          <p:cNvPr id="44" name="object 4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45" name="object 45"/>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30</a:t>
            </a:fld>
            <a:r>
              <a:rPr spc="-10" dirty="0"/>
              <a:t>/60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0" dirty="0"/>
              <a:t>Network</a:t>
            </a:r>
            <a:r>
              <a:rPr spc="-345" dirty="0"/>
              <a:t> </a:t>
            </a:r>
            <a:r>
              <a:rPr spc="-295" dirty="0"/>
              <a:t>—</a:t>
            </a:r>
            <a:r>
              <a:rPr spc="-345" dirty="0"/>
              <a:t> </a:t>
            </a:r>
            <a:r>
              <a:rPr dirty="0"/>
              <a:t>Star</a:t>
            </a:r>
            <a:r>
              <a:rPr spc="-345" dirty="0"/>
              <a:t> </a:t>
            </a:r>
            <a:r>
              <a:rPr spc="-25" dirty="0"/>
              <a:t>Topology</a:t>
            </a:r>
          </a:p>
        </p:txBody>
      </p:sp>
      <p:grpSp>
        <p:nvGrpSpPr>
          <p:cNvPr id="3" name="object 3"/>
          <p:cNvGrpSpPr/>
          <p:nvPr/>
        </p:nvGrpSpPr>
        <p:grpSpPr>
          <a:xfrm>
            <a:off x="1018628" y="2153598"/>
            <a:ext cx="3655695" cy="1784350"/>
            <a:chOff x="1018628" y="2153598"/>
            <a:chExt cx="3655695" cy="1784350"/>
          </a:xfrm>
        </p:grpSpPr>
        <p:sp>
          <p:nvSpPr>
            <p:cNvPr id="4" name="object 4"/>
            <p:cNvSpPr/>
            <p:nvPr/>
          </p:nvSpPr>
          <p:spPr>
            <a:xfrm>
              <a:off x="1028153" y="2619726"/>
              <a:ext cx="2131060" cy="1308735"/>
            </a:xfrm>
            <a:custGeom>
              <a:avLst/>
              <a:gdLst/>
              <a:ahLst/>
              <a:cxnLst/>
              <a:rect l="l" t="t" r="r" b="b"/>
              <a:pathLst>
                <a:path w="2131060" h="1308735">
                  <a:moveTo>
                    <a:pt x="2130844" y="0"/>
                  </a:moveTo>
                  <a:lnTo>
                    <a:pt x="0" y="1308239"/>
                  </a:lnTo>
                </a:path>
              </a:pathLst>
            </a:custGeom>
            <a:ln w="18718">
              <a:solidFill>
                <a:srgbClr val="00607E"/>
              </a:solidFill>
            </a:ln>
          </p:spPr>
          <p:txBody>
            <a:bodyPr wrap="square" lIns="0" tIns="0" rIns="0" bIns="0" rtlCol="0"/>
            <a:lstStyle/>
            <a:p>
              <a:endParaRPr/>
            </a:p>
          </p:txBody>
        </p:sp>
        <p:sp>
          <p:nvSpPr>
            <p:cNvPr id="5" name="object 5"/>
            <p:cNvSpPr/>
            <p:nvPr/>
          </p:nvSpPr>
          <p:spPr>
            <a:xfrm>
              <a:off x="2881439" y="2162171"/>
              <a:ext cx="1784350" cy="1351280"/>
            </a:xfrm>
            <a:custGeom>
              <a:avLst/>
              <a:gdLst/>
              <a:ahLst/>
              <a:cxnLst/>
              <a:rect l="l" t="t" r="r" b="b"/>
              <a:pathLst>
                <a:path w="1784350" h="1351279">
                  <a:moveTo>
                    <a:pt x="1784159" y="1351076"/>
                  </a:moveTo>
                  <a:lnTo>
                    <a:pt x="1050836" y="565556"/>
                  </a:lnTo>
                  <a:lnTo>
                    <a:pt x="0" y="0"/>
                  </a:lnTo>
                </a:path>
              </a:pathLst>
            </a:custGeom>
            <a:ln w="17147">
              <a:solidFill>
                <a:srgbClr val="00607E"/>
              </a:solidFill>
            </a:ln>
          </p:spPr>
          <p:txBody>
            <a:bodyPr wrap="square" lIns="0" tIns="0" rIns="0" bIns="0" rtlCol="0"/>
            <a:lstStyle/>
            <a:p>
              <a:endParaRPr/>
            </a:p>
          </p:txBody>
        </p:sp>
        <p:sp>
          <p:nvSpPr>
            <p:cNvPr id="6" name="object 6"/>
            <p:cNvSpPr/>
            <p:nvPr/>
          </p:nvSpPr>
          <p:spPr>
            <a:xfrm>
              <a:off x="2997365" y="2375645"/>
              <a:ext cx="1436370" cy="438150"/>
            </a:xfrm>
            <a:custGeom>
              <a:avLst/>
              <a:gdLst/>
              <a:ahLst/>
              <a:cxnLst/>
              <a:rect l="l" t="t" r="r" b="b"/>
              <a:pathLst>
                <a:path w="1436370" h="438150">
                  <a:moveTo>
                    <a:pt x="1347838" y="0"/>
                  </a:moveTo>
                  <a:lnTo>
                    <a:pt x="88188" y="0"/>
                  </a:lnTo>
                  <a:lnTo>
                    <a:pt x="53910" y="6946"/>
                  </a:lnTo>
                  <a:lnTo>
                    <a:pt x="25873" y="25874"/>
                  </a:lnTo>
                  <a:lnTo>
                    <a:pt x="6946" y="53915"/>
                  </a:lnTo>
                  <a:lnTo>
                    <a:pt x="0" y="88201"/>
                  </a:lnTo>
                  <a:lnTo>
                    <a:pt x="0" y="349567"/>
                  </a:lnTo>
                  <a:lnTo>
                    <a:pt x="6946" y="383847"/>
                  </a:lnTo>
                  <a:lnTo>
                    <a:pt x="25873" y="411889"/>
                  </a:lnTo>
                  <a:lnTo>
                    <a:pt x="53910" y="430820"/>
                  </a:lnTo>
                  <a:lnTo>
                    <a:pt x="88188" y="437769"/>
                  </a:lnTo>
                  <a:lnTo>
                    <a:pt x="718197" y="437769"/>
                  </a:lnTo>
                  <a:lnTo>
                    <a:pt x="1347838" y="437769"/>
                  </a:lnTo>
                  <a:lnTo>
                    <a:pt x="1382274" y="430820"/>
                  </a:lnTo>
                  <a:lnTo>
                    <a:pt x="1410298" y="411889"/>
                  </a:lnTo>
                  <a:lnTo>
                    <a:pt x="1429143" y="383847"/>
                  </a:lnTo>
                  <a:lnTo>
                    <a:pt x="1436039" y="349567"/>
                  </a:lnTo>
                  <a:lnTo>
                    <a:pt x="1436039" y="88201"/>
                  </a:lnTo>
                  <a:lnTo>
                    <a:pt x="1429143" y="53915"/>
                  </a:lnTo>
                  <a:lnTo>
                    <a:pt x="1410298" y="25874"/>
                  </a:lnTo>
                  <a:lnTo>
                    <a:pt x="1382274" y="6946"/>
                  </a:lnTo>
                  <a:lnTo>
                    <a:pt x="1347838" y="0"/>
                  </a:lnTo>
                  <a:close/>
                </a:path>
              </a:pathLst>
            </a:custGeom>
            <a:solidFill>
              <a:srgbClr val="00607E"/>
            </a:solidFill>
          </p:spPr>
          <p:txBody>
            <a:bodyPr wrap="square" lIns="0" tIns="0" rIns="0" bIns="0" rtlCol="0"/>
            <a:lstStyle/>
            <a:p>
              <a:endParaRPr/>
            </a:p>
          </p:txBody>
        </p:sp>
        <p:sp>
          <p:nvSpPr>
            <p:cNvPr id="7" name="object 7"/>
            <p:cNvSpPr/>
            <p:nvPr/>
          </p:nvSpPr>
          <p:spPr>
            <a:xfrm>
              <a:off x="2997365" y="2375645"/>
              <a:ext cx="1436370" cy="438150"/>
            </a:xfrm>
            <a:custGeom>
              <a:avLst/>
              <a:gdLst/>
              <a:ahLst/>
              <a:cxnLst/>
              <a:rect l="l" t="t" r="r" b="b"/>
              <a:pathLst>
                <a:path w="1436370" h="438150">
                  <a:moveTo>
                    <a:pt x="718197" y="437769"/>
                  </a:moveTo>
                  <a:lnTo>
                    <a:pt x="1347838" y="437769"/>
                  </a:lnTo>
                  <a:lnTo>
                    <a:pt x="1382274" y="430820"/>
                  </a:lnTo>
                  <a:lnTo>
                    <a:pt x="1410298" y="411889"/>
                  </a:lnTo>
                  <a:lnTo>
                    <a:pt x="1429143" y="383847"/>
                  </a:lnTo>
                  <a:lnTo>
                    <a:pt x="1436039" y="349567"/>
                  </a:lnTo>
                  <a:lnTo>
                    <a:pt x="1436039" y="88201"/>
                  </a:lnTo>
                  <a:lnTo>
                    <a:pt x="1429143" y="53915"/>
                  </a:lnTo>
                  <a:lnTo>
                    <a:pt x="1410298" y="25874"/>
                  </a:lnTo>
                  <a:lnTo>
                    <a:pt x="1382274" y="6946"/>
                  </a:lnTo>
                  <a:lnTo>
                    <a:pt x="1347838" y="0"/>
                  </a:lnTo>
                  <a:lnTo>
                    <a:pt x="88188" y="0"/>
                  </a:lnTo>
                  <a:lnTo>
                    <a:pt x="53910" y="6946"/>
                  </a:lnTo>
                  <a:lnTo>
                    <a:pt x="25873" y="25874"/>
                  </a:lnTo>
                  <a:lnTo>
                    <a:pt x="6946" y="53915"/>
                  </a:lnTo>
                  <a:lnTo>
                    <a:pt x="0" y="88201"/>
                  </a:lnTo>
                  <a:lnTo>
                    <a:pt x="0" y="349567"/>
                  </a:lnTo>
                  <a:lnTo>
                    <a:pt x="6946" y="383847"/>
                  </a:lnTo>
                  <a:lnTo>
                    <a:pt x="25873" y="411889"/>
                  </a:lnTo>
                  <a:lnTo>
                    <a:pt x="53910" y="430820"/>
                  </a:lnTo>
                  <a:lnTo>
                    <a:pt x="88188" y="437769"/>
                  </a:lnTo>
                  <a:lnTo>
                    <a:pt x="718197" y="437769"/>
                  </a:lnTo>
                  <a:close/>
                </a:path>
              </a:pathLst>
            </a:custGeom>
            <a:ln w="28579">
              <a:solidFill>
                <a:srgbClr val="FFFFFF"/>
              </a:solidFill>
            </a:ln>
          </p:spPr>
          <p:txBody>
            <a:bodyPr wrap="square" lIns="0" tIns="0" rIns="0" bIns="0" rtlCol="0"/>
            <a:lstStyle/>
            <a:p>
              <a:endParaRPr/>
            </a:p>
          </p:txBody>
        </p:sp>
      </p:grpSp>
      <p:sp>
        <p:nvSpPr>
          <p:cNvPr id="8" name="object 8"/>
          <p:cNvSpPr txBox="1"/>
          <p:nvPr/>
        </p:nvSpPr>
        <p:spPr>
          <a:xfrm>
            <a:off x="3158972" y="2435513"/>
            <a:ext cx="732790" cy="306070"/>
          </a:xfrm>
          <a:prstGeom prst="rect">
            <a:avLst/>
          </a:prstGeom>
        </p:spPr>
        <p:txBody>
          <a:bodyPr vert="horz" wrap="square" lIns="0" tIns="11430" rIns="0" bIns="0" rtlCol="0">
            <a:spAutoFit/>
          </a:bodyPr>
          <a:lstStyle/>
          <a:p>
            <a:pPr marL="12700">
              <a:lnSpc>
                <a:spcPct val="100000"/>
              </a:lnSpc>
              <a:spcBef>
                <a:spcPts val="90"/>
              </a:spcBef>
            </a:pPr>
            <a:r>
              <a:rPr sz="1850" spc="-30" dirty="0">
                <a:solidFill>
                  <a:srgbClr val="FFFFFF"/>
                </a:solidFill>
                <a:latin typeface="Lucida Sans Unicode"/>
                <a:cs typeface="Lucida Sans Unicode"/>
              </a:rPr>
              <a:t>Switch</a:t>
            </a:r>
            <a:endParaRPr sz="1850">
              <a:latin typeface="Lucida Sans Unicode"/>
              <a:cs typeface="Lucida Sans Unicode"/>
            </a:endParaRPr>
          </a:p>
        </p:txBody>
      </p:sp>
      <p:grpSp>
        <p:nvGrpSpPr>
          <p:cNvPr id="9" name="object 9"/>
          <p:cNvGrpSpPr/>
          <p:nvPr/>
        </p:nvGrpSpPr>
        <p:grpSpPr>
          <a:xfrm>
            <a:off x="503389" y="1583038"/>
            <a:ext cx="4427220" cy="2774950"/>
            <a:chOff x="503389" y="1583038"/>
            <a:chExt cx="4427220" cy="2774950"/>
          </a:xfrm>
        </p:grpSpPr>
        <p:pic>
          <p:nvPicPr>
            <p:cNvPr id="10" name="object 10"/>
            <p:cNvPicPr/>
            <p:nvPr/>
          </p:nvPicPr>
          <p:blipFill>
            <a:blip r:embed="rId2" cstate="print"/>
            <a:stretch>
              <a:fillRect/>
            </a:stretch>
          </p:blipFill>
          <p:spPr>
            <a:xfrm>
              <a:off x="4046042" y="2509566"/>
              <a:ext cx="215633" cy="159118"/>
            </a:xfrm>
            <a:prstGeom prst="rect">
              <a:avLst/>
            </a:prstGeom>
          </p:spPr>
        </p:pic>
        <p:sp>
          <p:nvSpPr>
            <p:cNvPr id="11" name="object 11"/>
            <p:cNvSpPr/>
            <p:nvPr/>
          </p:nvSpPr>
          <p:spPr>
            <a:xfrm>
              <a:off x="4016159" y="2451604"/>
              <a:ext cx="275590" cy="275590"/>
            </a:xfrm>
            <a:custGeom>
              <a:avLst/>
              <a:gdLst/>
              <a:ahLst/>
              <a:cxnLst/>
              <a:rect l="l" t="t" r="r" b="b"/>
              <a:pathLst>
                <a:path w="275589" h="275589">
                  <a:moveTo>
                    <a:pt x="275399" y="137528"/>
                  </a:moveTo>
                  <a:lnTo>
                    <a:pt x="264769" y="190125"/>
                  </a:lnTo>
                  <a:lnTo>
                    <a:pt x="234992" y="234726"/>
                  </a:lnTo>
                  <a:lnTo>
                    <a:pt x="190120" y="264714"/>
                  </a:lnTo>
                  <a:lnTo>
                    <a:pt x="137515" y="275043"/>
                  </a:lnTo>
                  <a:lnTo>
                    <a:pt x="119533" y="273896"/>
                  </a:lnTo>
                  <a:lnTo>
                    <a:pt x="68757" y="256679"/>
                  </a:lnTo>
                  <a:lnTo>
                    <a:pt x="28467" y="221248"/>
                  </a:lnTo>
                  <a:lnTo>
                    <a:pt x="4591" y="173121"/>
                  </a:lnTo>
                  <a:lnTo>
                    <a:pt x="0" y="137528"/>
                  </a:lnTo>
                  <a:lnTo>
                    <a:pt x="1147" y="119546"/>
                  </a:lnTo>
                  <a:lnTo>
                    <a:pt x="18364" y="68770"/>
                  </a:lnTo>
                  <a:lnTo>
                    <a:pt x="53797" y="28311"/>
                  </a:lnTo>
                  <a:lnTo>
                    <a:pt x="101922" y="4591"/>
                  </a:lnTo>
                  <a:lnTo>
                    <a:pt x="137515" y="0"/>
                  </a:lnTo>
                  <a:lnTo>
                    <a:pt x="155502" y="1147"/>
                  </a:lnTo>
                  <a:lnTo>
                    <a:pt x="206286" y="18364"/>
                  </a:lnTo>
                  <a:lnTo>
                    <a:pt x="246782" y="53750"/>
                  </a:lnTo>
                  <a:lnTo>
                    <a:pt x="270630" y="101934"/>
                  </a:lnTo>
                  <a:lnTo>
                    <a:pt x="275399" y="137528"/>
                  </a:lnTo>
                  <a:close/>
                </a:path>
              </a:pathLst>
            </a:custGeom>
            <a:ln w="14953">
              <a:solidFill>
                <a:srgbClr val="FFFFFF"/>
              </a:solidFill>
            </a:ln>
          </p:spPr>
          <p:txBody>
            <a:bodyPr wrap="square" lIns="0" tIns="0" rIns="0" bIns="0" rtlCol="0"/>
            <a:lstStyle/>
            <a:p>
              <a:endParaRPr/>
            </a:p>
          </p:txBody>
        </p:sp>
        <p:sp>
          <p:nvSpPr>
            <p:cNvPr id="12" name="object 12"/>
            <p:cNvSpPr/>
            <p:nvPr/>
          </p:nvSpPr>
          <p:spPr>
            <a:xfrm>
              <a:off x="695883" y="2144886"/>
              <a:ext cx="3882390" cy="1929764"/>
            </a:xfrm>
            <a:custGeom>
              <a:avLst/>
              <a:gdLst/>
              <a:ahLst/>
              <a:cxnLst/>
              <a:rect l="l" t="t" r="r" b="b"/>
              <a:pathLst>
                <a:path w="3882390" h="1929764">
                  <a:moveTo>
                    <a:pt x="0" y="1350721"/>
                  </a:moveTo>
                  <a:lnTo>
                    <a:pt x="824750" y="839165"/>
                  </a:lnTo>
                  <a:lnTo>
                    <a:pt x="1784159" y="0"/>
                  </a:lnTo>
                </a:path>
                <a:path w="3882390" h="1929764">
                  <a:moveTo>
                    <a:pt x="1768309" y="981367"/>
                  </a:moveTo>
                  <a:lnTo>
                    <a:pt x="3882237" y="1929244"/>
                  </a:lnTo>
                </a:path>
              </a:pathLst>
            </a:custGeom>
            <a:ln w="17147">
              <a:solidFill>
                <a:srgbClr val="FF9000"/>
              </a:solidFill>
            </a:ln>
          </p:spPr>
          <p:txBody>
            <a:bodyPr wrap="square" lIns="0" tIns="0" rIns="0" bIns="0" rtlCol="0"/>
            <a:lstStyle/>
            <a:p>
              <a:endParaRPr/>
            </a:p>
          </p:txBody>
        </p:sp>
        <p:sp>
          <p:nvSpPr>
            <p:cNvPr id="13" name="object 13"/>
            <p:cNvSpPr/>
            <p:nvPr/>
          </p:nvSpPr>
          <p:spPr>
            <a:xfrm>
              <a:off x="2354402" y="1597325"/>
              <a:ext cx="551180" cy="891540"/>
            </a:xfrm>
            <a:custGeom>
              <a:avLst/>
              <a:gdLst/>
              <a:ahLst/>
              <a:cxnLst/>
              <a:rect l="l" t="t" r="r" b="b"/>
              <a:pathLst>
                <a:path w="551180" h="891539">
                  <a:moveTo>
                    <a:pt x="550799" y="0"/>
                  </a:moveTo>
                  <a:lnTo>
                    <a:pt x="0" y="0"/>
                  </a:lnTo>
                  <a:lnTo>
                    <a:pt x="0" y="891006"/>
                  </a:lnTo>
                  <a:lnTo>
                    <a:pt x="275399" y="891006"/>
                  </a:lnTo>
                  <a:lnTo>
                    <a:pt x="550799" y="891006"/>
                  </a:lnTo>
                  <a:lnTo>
                    <a:pt x="550799" y="0"/>
                  </a:lnTo>
                  <a:close/>
                </a:path>
              </a:pathLst>
            </a:custGeom>
            <a:solidFill>
              <a:srgbClr val="CCCCCC"/>
            </a:solidFill>
          </p:spPr>
          <p:txBody>
            <a:bodyPr wrap="square" lIns="0" tIns="0" rIns="0" bIns="0" rtlCol="0"/>
            <a:lstStyle/>
            <a:p>
              <a:endParaRPr/>
            </a:p>
          </p:txBody>
        </p:sp>
        <p:sp>
          <p:nvSpPr>
            <p:cNvPr id="14" name="object 14"/>
            <p:cNvSpPr/>
            <p:nvPr/>
          </p:nvSpPr>
          <p:spPr>
            <a:xfrm>
              <a:off x="2354402" y="1597325"/>
              <a:ext cx="551180" cy="891540"/>
            </a:xfrm>
            <a:custGeom>
              <a:avLst/>
              <a:gdLst/>
              <a:ahLst/>
              <a:cxnLst/>
              <a:rect l="l" t="t" r="r" b="b"/>
              <a:pathLst>
                <a:path w="551180" h="891539">
                  <a:moveTo>
                    <a:pt x="275399" y="891006"/>
                  </a:moveTo>
                  <a:lnTo>
                    <a:pt x="0" y="891006"/>
                  </a:lnTo>
                  <a:lnTo>
                    <a:pt x="0" y="0"/>
                  </a:lnTo>
                  <a:lnTo>
                    <a:pt x="550799" y="0"/>
                  </a:lnTo>
                  <a:lnTo>
                    <a:pt x="550799" y="891006"/>
                  </a:lnTo>
                  <a:lnTo>
                    <a:pt x="275399" y="891006"/>
                  </a:lnTo>
                  <a:close/>
                </a:path>
              </a:pathLst>
            </a:custGeom>
            <a:ln w="28579">
              <a:solidFill>
                <a:srgbClr val="FFFFFF"/>
              </a:solidFill>
            </a:ln>
          </p:spPr>
          <p:txBody>
            <a:bodyPr wrap="square" lIns="0" tIns="0" rIns="0" bIns="0" rtlCol="0"/>
            <a:lstStyle/>
            <a:p>
              <a:endParaRPr/>
            </a:p>
          </p:txBody>
        </p:sp>
        <p:sp>
          <p:nvSpPr>
            <p:cNvPr id="15" name="object 15"/>
            <p:cNvSpPr/>
            <p:nvPr/>
          </p:nvSpPr>
          <p:spPr>
            <a:xfrm>
              <a:off x="2425318" y="1960926"/>
              <a:ext cx="405765" cy="50165"/>
            </a:xfrm>
            <a:custGeom>
              <a:avLst/>
              <a:gdLst/>
              <a:ahLst/>
              <a:cxnLst/>
              <a:rect l="l" t="t" r="r" b="b"/>
              <a:pathLst>
                <a:path w="405764" h="50164">
                  <a:moveTo>
                    <a:pt x="405726" y="0"/>
                  </a:moveTo>
                  <a:lnTo>
                    <a:pt x="0" y="0"/>
                  </a:lnTo>
                  <a:lnTo>
                    <a:pt x="0" y="49682"/>
                  </a:lnTo>
                  <a:lnTo>
                    <a:pt x="203034" y="49682"/>
                  </a:lnTo>
                  <a:lnTo>
                    <a:pt x="405726" y="49682"/>
                  </a:lnTo>
                  <a:lnTo>
                    <a:pt x="405726" y="0"/>
                  </a:lnTo>
                  <a:close/>
                </a:path>
              </a:pathLst>
            </a:custGeom>
            <a:solidFill>
              <a:srgbClr val="A5A5A5"/>
            </a:solidFill>
          </p:spPr>
          <p:txBody>
            <a:bodyPr wrap="square" lIns="0" tIns="0" rIns="0" bIns="0" rtlCol="0"/>
            <a:lstStyle/>
            <a:p>
              <a:endParaRPr/>
            </a:p>
          </p:txBody>
        </p:sp>
        <p:pic>
          <p:nvPicPr>
            <p:cNvPr id="16" name="object 16"/>
            <p:cNvPicPr/>
            <p:nvPr/>
          </p:nvPicPr>
          <p:blipFill>
            <a:blip r:embed="rId3" cstate="print"/>
            <a:stretch>
              <a:fillRect/>
            </a:stretch>
          </p:blipFill>
          <p:spPr>
            <a:xfrm>
              <a:off x="2573274" y="2212564"/>
              <a:ext cx="113766" cy="114122"/>
            </a:xfrm>
            <a:prstGeom prst="rect">
              <a:avLst/>
            </a:prstGeom>
          </p:spPr>
        </p:pic>
        <p:sp>
          <p:nvSpPr>
            <p:cNvPr id="17" name="object 17"/>
            <p:cNvSpPr/>
            <p:nvPr/>
          </p:nvSpPr>
          <p:spPr>
            <a:xfrm>
              <a:off x="2425319" y="1725849"/>
              <a:ext cx="405765" cy="167640"/>
            </a:xfrm>
            <a:custGeom>
              <a:avLst/>
              <a:gdLst/>
              <a:ahLst/>
              <a:cxnLst/>
              <a:rect l="l" t="t" r="r" b="b"/>
              <a:pathLst>
                <a:path w="405764" h="167639">
                  <a:moveTo>
                    <a:pt x="405726" y="117360"/>
                  </a:moveTo>
                  <a:lnTo>
                    <a:pt x="0" y="117360"/>
                  </a:lnTo>
                  <a:lnTo>
                    <a:pt x="0" y="167398"/>
                  </a:lnTo>
                  <a:lnTo>
                    <a:pt x="203034" y="167398"/>
                  </a:lnTo>
                  <a:lnTo>
                    <a:pt x="405726" y="167398"/>
                  </a:lnTo>
                  <a:lnTo>
                    <a:pt x="405726" y="117360"/>
                  </a:lnTo>
                  <a:close/>
                </a:path>
                <a:path w="405764" h="167639">
                  <a:moveTo>
                    <a:pt x="405726" y="0"/>
                  </a:moveTo>
                  <a:lnTo>
                    <a:pt x="0" y="0"/>
                  </a:lnTo>
                  <a:lnTo>
                    <a:pt x="0" y="50038"/>
                  </a:lnTo>
                  <a:lnTo>
                    <a:pt x="203034" y="50038"/>
                  </a:lnTo>
                  <a:lnTo>
                    <a:pt x="405726" y="50038"/>
                  </a:lnTo>
                  <a:lnTo>
                    <a:pt x="405726" y="0"/>
                  </a:lnTo>
                  <a:close/>
                </a:path>
              </a:pathLst>
            </a:custGeom>
            <a:solidFill>
              <a:srgbClr val="A5A5A5"/>
            </a:solidFill>
          </p:spPr>
          <p:txBody>
            <a:bodyPr wrap="square" lIns="0" tIns="0" rIns="0" bIns="0" rtlCol="0"/>
            <a:lstStyle/>
            <a:p>
              <a:endParaRPr/>
            </a:p>
          </p:txBody>
        </p:sp>
        <p:sp>
          <p:nvSpPr>
            <p:cNvPr id="18" name="object 18"/>
            <p:cNvSpPr/>
            <p:nvPr/>
          </p:nvSpPr>
          <p:spPr>
            <a:xfrm>
              <a:off x="517677" y="3452415"/>
              <a:ext cx="551180" cy="891540"/>
            </a:xfrm>
            <a:custGeom>
              <a:avLst/>
              <a:gdLst/>
              <a:ahLst/>
              <a:cxnLst/>
              <a:rect l="l" t="t" r="r" b="b"/>
              <a:pathLst>
                <a:path w="551180" h="891539">
                  <a:moveTo>
                    <a:pt x="550799" y="0"/>
                  </a:moveTo>
                  <a:lnTo>
                    <a:pt x="0" y="0"/>
                  </a:lnTo>
                  <a:lnTo>
                    <a:pt x="0" y="890993"/>
                  </a:lnTo>
                  <a:lnTo>
                    <a:pt x="275399" y="890993"/>
                  </a:lnTo>
                  <a:lnTo>
                    <a:pt x="550799" y="890993"/>
                  </a:lnTo>
                  <a:lnTo>
                    <a:pt x="550799" y="0"/>
                  </a:lnTo>
                  <a:close/>
                </a:path>
              </a:pathLst>
            </a:custGeom>
            <a:solidFill>
              <a:srgbClr val="CCCCCC"/>
            </a:solidFill>
          </p:spPr>
          <p:txBody>
            <a:bodyPr wrap="square" lIns="0" tIns="0" rIns="0" bIns="0" rtlCol="0"/>
            <a:lstStyle/>
            <a:p>
              <a:endParaRPr/>
            </a:p>
          </p:txBody>
        </p:sp>
        <p:sp>
          <p:nvSpPr>
            <p:cNvPr id="19" name="object 19"/>
            <p:cNvSpPr/>
            <p:nvPr/>
          </p:nvSpPr>
          <p:spPr>
            <a:xfrm>
              <a:off x="517677" y="3452415"/>
              <a:ext cx="551180" cy="891540"/>
            </a:xfrm>
            <a:custGeom>
              <a:avLst/>
              <a:gdLst/>
              <a:ahLst/>
              <a:cxnLst/>
              <a:rect l="l" t="t" r="r" b="b"/>
              <a:pathLst>
                <a:path w="551180" h="891539">
                  <a:moveTo>
                    <a:pt x="275399" y="890993"/>
                  </a:moveTo>
                  <a:lnTo>
                    <a:pt x="0" y="890993"/>
                  </a:lnTo>
                  <a:lnTo>
                    <a:pt x="0" y="0"/>
                  </a:lnTo>
                  <a:lnTo>
                    <a:pt x="550799" y="0"/>
                  </a:lnTo>
                  <a:lnTo>
                    <a:pt x="550799" y="890993"/>
                  </a:lnTo>
                  <a:lnTo>
                    <a:pt x="275399" y="890993"/>
                  </a:lnTo>
                  <a:close/>
                </a:path>
              </a:pathLst>
            </a:custGeom>
            <a:ln w="28579">
              <a:solidFill>
                <a:srgbClr val="FFFFFF"/>
              </a:solidFill>
            </a:ln>
          </p:spPr>
          <p:txBody>
            <a:bodyPr wrap="square" lIns="0" tIns="0" rIns="0" bIns="0" rtlCol="0"/>
            <a:lstStyle/>
            <a:p>
              <a:endParaRPr/>
            </a:p>
          </p:txBody>
        </p:sp>
        <p:sp>
          <p:nvSpPr>
            <p:cNvPr id="20" name="object 20"/>
            <p:cNvSpPr/>
            <p:nvPr/>
          </p:nvSpPr>
          <p:spPr>
            <a:xfrm>
              <a:off x="588238" y="3816003"/>
              <a:ext cx="405765" cy="50165"/>
            </a:xfrm>
            <a:custGeom>
              <a:avLst/>
              <a:gdLst/>
              <a:ahLst/>
              <a:cxnLst/>
              <a:rect l="l" t="t" r="r" b="b"/>
              <a:pathLst>
                <a:path w="405765" h="50164">
                  <a:moveTo>
                    <a:pt x="405726" y="0"/>
                  </a:moveTo>
                  <a:lnTo>
                    <a:pt x="0" y="0"/>
                  </a:lnTo>
                  <a:lnTo>
                    <a:pt x="0" y="50050"/>
                  </a:lnTo>
                  <a:lnTo>
                    <a:pt x="203047" y="50050"/>
                  </a:lnTo>
                  <a:lnTo>
                    <a:pt x="405726" y="50050"/>
                  </a:lnTo>
                  <a:lnTo>
                    <a:pt x="405726" y="0"/>
                  </a:lnTo>
                  <a:close/>
                </a:path>
              </a:pathLst>
            </a:custGeom>
            <a:solidFill>
              <a:srgbClr val="A5A5A5"/>
            </a:solidFill>
          </p:spPr>
          <p:txBody>
            <a:bodyPr wrap="square" lIns="0" tIns="0" rIns="0" bIns="0" rtlCol="0"/>
            <a:lstStyle/>
            <a:p>
              <a:endParaRPr/>
            </a:p>
          </p:txBody>
        </p:sp>
        <p:pic>
          <p:nvPicPr>
            <p:cNvPr id="21" name="object 21"/>
            <p:cNvPicPr/>
            <p:nvPr/>
          </p:nvPicPr>
          <p:blipFill>
            <a:blip r:embed="rId4" cstate="print"/>
            <a:stretch>
              <a:fillRect/>
            </a:stretch>
          </p:blipFill>
          <p:spPr>
            <a:xfrm>
              <a:off x="735838" y="4067653"/>
              <a:ext cx="114122" cy="114109"/>
            </a:xfrm>
            <a:prstGeom prst="rect">
              <a:avLst/>
            </a:prstGeom>
          </p:spPr>
        </p:pic>
        <p:sp>
          <p:nvSpPr>
            <p:cNvPr id="22" name="object 22"/>
            <p:cNvSpPr/>
            <p:nvPr/>
          </p:nvSpPr>
          <p:spPr>
            <a:xfrm>
              <a:off x="588238" y="3580926"/>
              <a:ext cx="405765" cy="167640"/>
            </a:xfrm>
            <a:custGeom>
              <a:avLst/>
              <a:gdLst/>
              <a:ahLst/>
              <a:cxnLst/>
              <a:rect l="l" t="t" r="r" b="b"/>
              <a:pathLst>
                <a:path w="405765" h="167639">
                  <a:moveTo>
                    <a:pt x="405726" y="117716"/>
                  </a:moveTo>
                  <a:lnTo>
                    <a:pt x="0" y="117716"/>
                  </a:lnTo>
                  <a:lnTo>
                    <a:pt x="0" y="167398"/>
                  </a:lnTo>
                  <a:lnTo>
                    <a:pt x="203047" y="167398"/>
                  </a:lnTo>
                  <a:lnTo>
                    <a:pt x="405726" y="167398"/>
                  </a:lnTo>
                  <a:lnTo>
                    <a:pt x="405726" y="117716"/>
                  </a:lnTo>
                  <a:close/>
                </a:path>
                <a:path w="405765" h="167639">
                  <a:moveTo>
                    <a:pt x="405726" y="0"/>
                  </a:moveTo>
                  <a:lnTo>
                    <a:pt x="0" y="0"/>
                  </a:lnTo>
                  <a:lnTo>
                    <a:pt x="0" y="50038"/>
                  </a:lnTo>
                  <a:lnTo>
                    <a:pt x="203047" y="50038"/>
                  </a:lnTo>
                  <a:lnTo>
                    <a:pt x="405726" y="50038"/>
                  </a:lnTo>
                  <a:lnTo>
                    <a:pt x="405726" y="0"/>
                  </a:lnTo>
                  <a:close/>
                </a:path>
              </a:pathLst>
            </a:custGeom>
            <a:solidFill>
              <a:srgbClr val="A5A5A5"/>
            </a:solidFill>
          </p:spPr>
          <p:txBody>
            <a:bodyPr wrap="square" lIns="0" tIns="0" rIns="0" bIns="0" rtlCol="0"/>
            <a:lstStyle/>
            <a:p>
              <a:endParaRPr/>
            </a:p>
          </p:txBody>
        </p:sp>
        <p:sp>
          <p:nvSpPr>
            <p:cNvPr id="23" name="object 23"/>
            <p:cNvSpPr/>
            <p:nvPr/>
          </p:nvSpPr>
          <p:spPr>
            <a:xfrm>
              <a:off x="4636820" y="4272148"/>
              <a:ext cx="5715" cy="5715"/>
            </a:xfrm>
            <a:custGeom>
              <a:avLst/>
              <a:gdLst/>
              <a:ahLst/>
              <a:cxnLst/>
              <a:rect l="l" t="t" r="r" b="b"/>
              <a:pathLst>
                <a:path w="5714" h="5714">
                  <a:moveTo>
                    <a:pt x="0" y="2857"/>
                  </a:moveTo>
                  <a:lnTo>
                    <a:pt x="837" y="837"/>
                  </a:lnTo>
                  <a:lnTo>
                    <a:pt x="2857" y="0"/>
                  </a:lnTo>
                  <a:lnTo>
                    <a:pt x="4878" y="837"/>
                  </a:lnTo>
                  <a:lnTo>
                    <a:pt x="5715" y="2857"/>
                  </a:lnTo>
                  <a:lnTo>
                    <a:pt x="4878" y="4878"/>
                  </a:lnTo>
                  <a:lnTo>
                    <a:pt x="2857" y="5715"/>
                  </a:lnTo>
                  <a:lnTo>
                    <a:pt x="837" y="4878"/>
                  </a:lnTo>
                  <a:lnTo>
                    <a:pt x="0" y="2857"/>
                  </a:lnTo>
                  <a:close/>
                </a:path>
              </a:pathLst>
            </a:custGeom>
            <a:solidFill>
              <a:srgbClr val="000000"/>
            </a:solidFill>
          </p:spPr>
          <p:txBody>
            <a:bodyPr wrap="square" lIns="0" tIns="0" rIns="0" bIns="0" rtlCol="0"/>
            <a:lstStyle/>
            <a:p>
              <a:endParaRPr/>
            </a:p>
          </p:txBody>
        </p:sp>
        <p:sp>
          <p:nvSpPr>
            <p:cNvPr id="24" name="object 24"/>
            <p:cNvSpPr/>
            <p:nvPr/>
          </p:nvSpPr>
          <p:spPr>
            <a:xfrm>
              <a:off x="4365002" y="3452415"/>
              <a:ext cx="551180" cy="891540"/>
            </a:xfrm>
            <a:custGeom>
              <a:avLst/>
              <a:gdLst/>
              <a:ahLst/>
              <a:cxnLst/>
              <a:rect l="l" t="t" r="r" b="b"/>
              <a:pathLst>
                <a:path w="551179" h="891539">
                  <a:moveTo>
                    <a:pt x="550799" y="0"/>
                  </a:moveTo>
                  <a:lnTo>
                    <a:pt x="0" y="0"/>
                  </a:lnTo>
                  <a:lnTo>
                    <a:pt x="0" y="890993"/>
                  </a:lnTo>
                  <a:lnTo>
                    <a:pt x="275399" y="890993"/>
                  </a:lnTo>
                  <a:lnTo>
                    <a:pt x="550799" y="890993"/>
                  </a:lnTo>
                  <a:lnTo>
                    <a:pt x="550799" y="0"/>
                  </a:lnTo>
                  <a:close/>
                </a:path>
              </a:pathLst>
            </a:custGeom>
            <a:solidFill>
              <a:srgbClr val="CCCCCC"/>
            </a:solidFill>
          </p:spPr>
          <p:txBody>
            <a:bodyPr wrap="square" lIns="0" tIns="0" rIns="0" bIns="0" rtlCol="0"/>
            <a:lstStyle/>
            <a:p>
              <a:endParaRPr/>
            </a:p>
          </p:txBody>
        </p:sp>
        <p:sp>
          <p:nvSpPr>
            <p:cNvPr id="25" name="object 25"/>
            <p:cNvSpPr/>
            <p:nvPr/>
          </p:nvSpPr>
          <p:spPr>
            <a:xfrm>
              <a:off x="4365002" y="3452415"/>
              <a:ext cx="551180" cy="891540"/>
            </a:xfrm>
            <a:custGeom>
              <a:avLst/>
              <a:gdLst/>
              <a:ahLst/>
              <a:cxnLst/>
              <a:rect l="l" t="t" r="r" b="b"/>
              <a:pathLst>
                <a:path w="551179" h="891539">
                  <a:moveTo>
                    <a:pt x="275399" y="890993"/>
                  </a:moveTo>
                  <a:lnTo>
                    <a:pt x="0" y="890993"/>
                  </a:lnTo>
                  <a:lnTo>
                    <a:pt x="0" y="0"/>
                  </a:lnTo>
                  <a:lnTo>
                    <a:pt x="550799" y="0"/>
                  </a:lnTo>
                  <a:lnTo>
                    <a:pt x="550799" y="890993"/>
                  </a:lnTo>
                  <a:lnTo>
                    <a:pt x="275399" y="890993"/>
                  </a:lnTo>
                  <a:close/>
                </a:path>
              </a:pathLst>
            </a:custGeom>
            <a:ln w="28579">
              <a:solidFill>
                <a:srgbClr val="FFFFFF"/>
              </a:solidFill>
            </a:ln>
          </p:spPr>
          <p:txBody>
            <a:bodyPr wrap="square" lIns="0" tIns="0" rIns="0" bIns="0" rtlCol="0"/>
            <a:lstStyle/>
            <a:p>
              <a:endParaRPr/>
            </a:p>
          </p:txBody>
        </p:sp>
        <p:sp>
          <p:nvSpPr>
            <p:cNvPr id="26" name="object 26"/>
            <p:cNvSpPr/>
            <p:nvPr/>
          </p:nvSpPr>
          <p:spPr>
            <a:xfrm>
              <a:off x="4435919" y="3816003"/>
              <a:ext cx="405765" cy="50165"/>
            </a:xfrm>
            <a:custGeom>
              <a:avLst/>
              <a:gdLst/>
              <a:ahLst/>
              <a:cxnLst/>
              <a:rect l="l" t="t" r="r" b="b"/>
              <a:pathLst>
                <a:path w="405764" h="50164">
                  <a:moveTo>
                    <a:pt x="405714" y="0"/>
                  </a:moveTo>
                  <a:lnTo>
                    <a:pt x="0" y="0"/>
                  </a:lnTo>
                  <a:lnTo>
                    <a:pt x="0" y="50050"/>
                  </a:lnTo>
                  <a:lnTo>
                    <a:pt x="202679" y="50050"/>
                  </a:lnTo>
                  <a:lnTo>
                    <a:pt x="405714" y="50050"/>
                  </a:lnTo>
                  <a:lnTo>
                    <a:pt x="405714" y="0"/>
                  </a:lnTo>
                  <a:close/>
                </a:path>
              </a:pathLst>
            </a:custGeom>
            <a:solidFill>
              <a:srgbClr val="A5A5A5"/>
            </a:solidFill>
          </p:spPr>
          <p:txBody>
            <a:bodyPr wrap="square" lIns="0" tIns="0" rIns="0" bIns="0" rtlCol="0"/>
            <a:lstStyle/>
            <a:p>
              <a:endParaRPr/>
            </a:p>
          </p:txBody>
        </p:sp>
        <p:pic>
          <p:nvPicPr>
            <p:cNvPr id="27" name="object 27"/>
            <p:cNvPicPr/>
            <p:nvPr/>
          </p:nvPicPr>
          <p:blipFill>
            <a:blip r:embed="rId5" cstate="print"/>
            <a:stretch>
              <a:fillRect/>
            </a:stretch>
          </p:blipFill>
          <p:spPr>
            <a:xfrm>
              <a:off x="4583518" y="4067653"/>
              <a:ext cx="114122" cy="114109"/>
            </a:xfrm>
            <a:prstGeom prst="rect">
              <a:avLst/>
            </a:prstGeom>
          </p:spPr>
        </p:pic>
        <p:sp>
          <p:nvSpPr>
            <p:cNvPr id="28" name="object 28"/>
            <p:cNvSpPr/>
            <p:nvPr/>
          </p:nvSpPr>
          <p:spPr>
            <a:xfrm>
              <a:off x="4435919" y="3580926"/>
              <a:ext cx="405765" cy="167640"/>
            </a:xfrm>
            <a:custGeom>
              <a:avLst/>
              <a:gdLst/>
              <a:ahLst/>
              <a:cxnLst/>
              <a:rect l="l" t="t" r="r" b="b"/>
              <a:pathLst>
                <a:path w="405764" h="167639">
                  <a:moveTo>
                    <a:pt x="405714" y="117716"/>
                  </a:moveTo>
                  <a:lnTo>
                    <a:pt x="0" y="117716"/>
                  </a:lnTo>
                  <a:lnTo>
                    <a:pt x="0" y="167398"/>
                  </a:lnTo>
                  <a:lnTo>
                    <a:pt x="202679" y="167398"/>
                  </a:lnTo>
                  <a:lnTo>
                    <a:pt x="405714" y="167398"/>
                  </a:lnTo>
                  <a:lnTo>
                    <a:pt x="405714" y="117716"/>
                  </a:lnTo>
                  <a:close/>
                </a:path>
                <a:path w="405764" h="167639">
                  <a:moveTo>
                    <a:pt x="405714" y="0"/>
                  </a:moveTo>
                  <a:lnTo>
                    <a:pt x="0" y="0"/>
                  </a:lnTo>
                  <a:lnTo>
                    <a:pt x="0" y="50038"/>
                  </a:lnTo>
                  <a:lnTo>
                    <a:pt x="202679" y="50038"/>
                  </a:lnTo>
                  <a:lnTo>
                    <a:pt x="405714" y="50038"/>
                  </a:lnTo>
                  <a:lnTo>
                    <a:pt x="405714" y="0"/>
                  </a:lnTo>
                  <a:close/>
                </a:path>
              </a:pathLst>
            </a:custGeom>
            <a:solidFill>
              <a:srgbClr val="A5A5A5"/>
            </a:solidFill>
          </p:spPr>
          <p:txBody>
            <a:bodyPr wrap="square" lIns="0" tIns="0" rIns="0" bIns="0" rtlCol="0"/>
            <a:lstStyle/>
            <a:p>
              <a:endParaRPr/>
            </a:p>
          </p:txBody>
        </p:sp>
        <p:sp>
          <p:nvSpPr>
            <p:cNvPr id="29" name="object 29"/>
            <p:cNvSpPr/>
            <p:nvPr/>
          </p:nvSpPr>
          <p:spPr>
            <a:xfrm>
              <a:off x="4653736" y="4241554"/>
              <a:ext cx="5715" cy="5715"/>
            </a:xfrm>
            <a:custGeom>
              <a:avLst/>
              <a:gdLst/>
              <a:ahLst/>
              <a:cxnLst/>
              <a:rect l="l" t="t" r="r" b="b"/>
              <a:pathLst>
                <a:path w="5714" h="5714">
                  <a:moveTo>
                    <a:pt x="0" y="2857"/>
                  </a:moveTo>
                  <a:lnTo>
                    <a:pt x="837" y="837"/>
                  </a:lnTo>
                  <a:lnTo>
                    <a:pt x="2857" y="0"/>
                  </a:lnTo>
                  <a:lnTo>
                    <a:pt x="4878" y="837"/>
                  </a:lnTo>
                  <a:lnTo>
                    <a:pt x="5715" y="2857"/>
                  </a:lnTo>
                  <a:lnTo>
                    <a:pt x="4878" y="4878"/>
                  </a:lnTo>
                  <a:lnTo>
                    <a:pt x="2857" y="5715"/>
                  </a:lnTo>
                  <a:lnTo>
                    <a:pt x="837" y="4878"/>
                  </a:lnTo>
                  <a:lnTo>
                    <a:pt x="0" y="2857"/>
                  </a:lnTo>
                  <a:close/>
                </a:path>
              </a:pathLst>
            </a:custGeom>
            <a:solidFill>
              <a:srgbClr val="000000"/>
            </a:solidFill>
          </p:spPr>
          <p:txBody>
            <a:bodyPr wrap="square" lIns="0" tIns="0" rIns="0" bIns="0" rtlCol="0"/>
            <a:lstStyle/>
            <a:p>
              <a:endParaRPr/>
            </a:p>
          </p:txBody>
        </p:sp>
        <p:sp>
          <p:nvSpPr>
            <p:cNvPr id="30" name="object 30"/>
            <p:cNvSpPr/>
            <p:nvPr/>
          </p:nvSpPr>
          <p:spPr>
            <a:xfrm>
              <a:off x="1265034" y="2883607"/>
              <a:ext cx="1437005" cy="438150"/>
            </a:xfrm>
            <a:custGeom>
              <a:avLst/>
              <a:gdLst/>
              <a:ahLst/>
              <a:cxnLst/>
              <a:rect l="l" t="t" r="r" b="b"/>
              <a:pathLst>
                <a:path w="1437005" h="438150">
                  <a:moveTo>
                    <a:pt x="1348206" y="0"/>
                  </a:moveTo>
                  <a:lnTo>
                    <a:pt x="88201" y="0"/>
                  </a:lnTo>
                  <a:lnTo>
                    <a:pt x="53921" y="6952"/>
                  </a:lnTo>
                  <a:lnTo>
                    <a:pt x="25879" y="25919"/>
                  </a:lnTo>
                  <a:lnTo>
                    <a:pt x="6948" y="54065"/>
                  </a:lnTo>
                  <a:lnTo>
                    <a:pt x="0" y="88557"/>
                  </a:lnTo>
                  <a:lnTo>
                    <a:pt x="0" y="349567"/>
                  </a:lnTo>
                  <a:lnTo>
                    <a:pt x="6948" y="383845"/>
                  </a:lnTo>
                  <a:lnTo>
                    <a:pt x="25879" y="411883"/>
                  </a:lnTo>
                  <a:lnTo>
                    <a:pt x="53921" y="430809"/>
                  </a:lnTo>
                  <a:lnTo>
                    <a:pt x="88201" y="437756"/>
                  </a:lnTo>
                  <a:lnTo>
                    <a:pt x="718210" y="437756"/>
                  </a:lnTo>
                  <a:lnTo>
                    <a:pt x="1348206" y="437756"/>
                  </a:lnTo>
                  <a:lnTo>
                    <a:pt x="1382492" y="430809"/>
                  </a:lnTo>
                  <a:lnTo>
                    <a:pt x="1410533" y="411883"/>
                  </a:lnTo>
                  <a:lnTo>
                    <a:pt x="1429461" y="383845"/>
                  </a:lnTo>
                  <a:lnTo>
                    <a:pt x="1436408" y="349567"/>
                  </a:lnTo>
                  <a:lnTo>
                    <a:pt x="1436408" y="88557"/>
                  </a:lnTo>
                  <a:lnTo>
                    <a:pt x="1429461" y="54065"/>
                  </a:lnTo>
                  <a:lnTo>
                    <a:pt x="1410533" y="25919"/>
                  </a:lnTo>
                  <a:lnTo>
                    <a:pt x="1382492" y="6952"/>
                  </a:lnTo>
                  <a:lnTo>
                    <a:pt x="1348206" y="0"/>
                  </a:lnTo>
                  <a:close/>
                </a:path>
              </a:pathLst>
            </a:custGeom>
            <a:solidFill>
              <a:srgbClr val="00607E"/>
            </a:solidFill>
          </p:spPr>
          <p:txBody>
            <a:bodyPr wrap="square" lIns="0" tIns="0" rIns="0" bIns="0" rtlCol="0"/>
            <a:lstStyle/>
            <a:p>
              <a:endParaRPr/>
            </a:p>
          </p:txBody>
        </p:sp>
        <p:sp>
          <p:nvSpPr>
            <p:cNvPr id="31" name="object 31"/>
            <p:cNvSpPr/>
            <p:nvPr/>
          </p:nvSpPr>
          <p:spPr>
            <a:xfrm>
              <a:off x="1265034" y="2883607"/>
              <a:ext cx="1437005" cy="438150"/>
            </a:xfrm>
            <a:custGeom>
              <a:avLst/>
              <a:gdLst/>
              <a:ahLst/>
              <a:cxnLst/>
              <a:rect l="l" t="t" r="r" b="b"/>
              <a:pathLst>
                <a:path w="1437005" h="438150">
                  <a:moveTo>
                    <a:pt x="718210" y="437756"/>
                  </a:moveTo>
                  <a:lnTo>
                    <a:pt x="1348206" y="437756"/>
                  </a:lnTo>
                  <a:lnTo>
                    <a:pt x="1382492" y="430809"/>
                  </a:lnTo>
                  <a:lnTo>
                    <a:pt x="1410533" y="411883"/>
                  </a:lnTo>
                  <a:lnTo>
                    <a:pt x="1429461" y="383845"/>
                  </a:lnTo>
                  <a:lnTo>
                    <a:pt x="1436408" y="349567"/>
                  </a:lnTo>
                  <a:lnTo>
                    <a:pt x="1436408" y="88557"/>
                  </a:lnTo>
                  <a:lnTo>
                    <a:pt x="1429461" y="54065"/>
                  </a:lnTo>
                  <a:lnTo>
                    <a:pt x="1410533" y="25919"/>
                  </a:lnTo>
                  <a:lnTo>
                    <a:pt x="1382492" y="6952"/>
                  </a:lnTo>
                  <a:lnTo>
                    <a:pt x="1348206" y="0"/>
                  </a:lnTo>
                  <a:lnTo>
                    <a:pt x="88201" y="0"/>
                  </a:lnTo>
                  <a:lnTo>
                    <a:pt x="53921" y="6952"/>
                  </a:lnTo>
                  <a:lnTo>
                    <a:pt x="25879" y="25919"/>
                  </a:lnTo>
                  <a:lnTo>
                    <a:pt x="6948" y="54065"/>
                  </a:lnTo>
                  <a:lnTo>
                    <a:pt x="0" y="88557"/>
                  </a:lnTo>
                  <a:lnTo>
                    <a:pt x="0" y="349567"/>
                  </a:lnTo>
                  <a:lnTo>
                    <a:pt x="6948" y="383845"/>
                  </a:lnTo>
                  <a:lnTo>
                    <a:pt x="25879" y="411883"/>
                  </a:lnTo>
                  <a:lnTo>
                    <a:pt x="53921" y="430809"/>
                  </a:lnTo>
                  <a:lnTo>
                    <a:pt x="88201" y="437756"/>
                  </a:lnTo>
                  <a:lnTo>
                    <a:pt x="718210" y="437756"/>
                  </a:lnTo>
                  <a:close/>
                </a:path>
              </a:pathLst>
            </a:custGeom>
            <a:ln w="28579">
              <a:solidFill>
                <a:srgbClr val="FFFFFF"/>
              </a:solidFill>
            </a:ln>
          </p:spPr>
          <p:txBody>
            <a:bodyPr wrap="square" lIns="0" tIns="0" rIns="0" bIns="0" rtlCol="0"/>
            <a:lstStyle/>
            <a:p>
              <a:endParaRPr/>
            </a:p>
          </p:txBody>
        </p:sp>
      </p:grpSp>
      <p:sp>
        <p:nvSpPr>
          <p:cNvPr id="32" name="object 32"/>
          <p:cNvSpPr txBox="1"/>
          <p:nvPr/>
        </p:nvSpPr>
        <p:spPr>
          <a:xfrm>
            <a:off x="1426514" y="2943500"/>
            <a:ext cx="732790" cy="306070"/>
          </a:xfrm>
          <a:prstGeom prst="rect">
            <a:avLst/>
          </a:prstGeom>
        </p:spPr>
        <p:txBody>
          <a:bodyPr vert="horz" wrap="square" lIns="0" tIns="11430" rIns="0" bIns="0" rtlCol="0">
            <a:spAutoFit/>
          </a:bodyPr>
          <a:lstStyle/>
          <a:p>
            <a:pPr marL="12700">
              <a:lnSpc>
                <a:spcPct val="100000"/>
              </a:lnSpc>
              <a:spcBef>
                <a:spcPts val="90"/>
              </a:spcBef>
            </a:pPr>
            <a:r>
              <a:rPr sz="1850" spc="-30" dirty="0">
                <a:solidFill>
                  <a:srgbClr val="FFFFFF"/>
                </a:solidFill>
                <a:latin typeface="Lucida Sans Unicode"/>
                <a:cs typeface="Lucida Sans Unicode"/>
              </a:rPr>
              <a:t>Switch</a:t>
            </a:r>
            <a:endParaRPr sz="1850">
              <a:latin typeface="Lucida Sans Unicode"/>
              <a:cs typeface="Lucida Sans Unicode"/>
            </a:endParaRPr>
          </a:p>
        </p:txBody>
      </p:sp>
      <p:grpSp>
        <p:nvGrpSpPr>
          <p:cNvPr id="33" name="object 33"/>
          <p:cNvGrpSpPr/>
          <p:nvPr/>
        </p:nvGrpSpPr>
        <p:grpSpPr>
          <a:xfrm>
            <a:off x="2276364" y="2952089"/>
            <a:ext cx="290830" cy="290830"/>
            <a:chOff x="2276364" y="2952089"/>
            <a:chExt cx="290830" cy="290830"/>
          </a:xfrm>
        </p:grpSpPr>
        <p:pic>
          <p:nvPicPr>
            <p:cNvPr id="34" name="object 34"/>
            <p:cNvPicPr/>
            <p:nvPr/>
          </p:nvPicPr>
          <p:blipFill>
            <a:blip r:embed="rId6" cstate="print"/>
            <a:stretch>
              <a:fillRect/>
            </a:stretch>
          </p:blipFill>
          <p:spPr>
            <a:xfrm>
              <a:off x="2313724" y="3017528"/>
              <a:ext cx="215633" cy="159118"/>
            </a:xfrm>
            <a:prstGeom prst="rect">
              <a:avLst/>
            </a:prstGeom>
          </p:spPr>
        </p:pic>
        <p:sp>
          <p:nvSpPr>
            <p:cNvPr id="35" name="object 35"/>
            <p:cNvSpPr/>
            <p:nvPr/>
          </p:nvSpPr>
          <p:spPr>
            <a:xfrm>
              <a:off x="2283840" y="2959565"/>
              <a:ext cx="275590" cy="275590"/>
            </a:xfrm>
            <a:custGeom>
              <a:avLst/>
              <a:gdLst/>
              <a:ahLst/>
              <a:cxnLst/>
              <a:rect l="l" t="t" r="r" b="b"/>
              <a:pathLst>
                <a:path w="275589" h="275589">
                  <a:moveTo>
                    <a:pt x="275399" y="137528"/>
                  </a:moveTo>
                  <a:lnTo>
                    <a:pt x="264919" y="190125"/>
                  </a:lnTo>
                  <a:lnTo>
                    <a:pt x="235081" y="234992"/>
                  </a:lnTo>
                  <a:lnTo>
                    <a:pt x="190475" y="264769"/>
                  </a:lnTo>
                  <a:lnTo>
                    <a:pt x="137515" y="275399"/>
                  </a:lnTo>
                  <a:lnTo>
                    <a:pt x="119533" y="274196"/>
                  </a:lnTo>
                  <a:lnTo>
                    <a:pt x="68757" y="256679"/>
                  </a:lnTo>
                  <a:lnTo>
                    <a:pt x="28461" y="221448"/>
                  </a:lnTo>
                  <a:lnTo>
                    <a:pt x="4724" y="173121"/>
                  </a:lnTo>
                  <a:lnTo>
                    <a:pt x="0" y="137528"/>
                  </a:lnTo>
                  <a:lnTo>
                    <a:pt x="1197" y="119539"/>
                  </a:lnTo>
                  <a:lnTo>
                    <a:pt x="18364" y="68757"/>
                  </a:lnTo>
                  <a:lnTo>
                    <a:pt x="53795" y="28467"/>
                  </a:lnTo>
                  <a:lnTo>
                    <a:pt x="101922" y="4591"/>
                  </a:lnTo>
                  <a:lnTo>
                    <a:pt x="137515" y="0"/>
                  </a:lnTo>
                  <a:lnTo>
                    <a:pt x="155710" y="1147"/>
                  </a:lnTo>
                  <a:lnTo>
                    <a:pt x="206641" y="18364"/>
                  </a:lnTo>
                  <a:lnTo>
                    <a:pt x="246937" y="53797"/>
                  </a:lnTo>
                  <a:lnTo>
                    <a:pt x="270675" y="101923"/>
                  </a:lnTo>
                  <a:lnTo>
                    <a:pt x="275399" y="137528"/>
                  </a:lnTo>
                  <a:close/>
                </a:path>
              </a:pathLst>
            </a:custGeom>
            <a:ln w="14953">
              <a:solidFill>
                <a:srgbClr val="FFFFFF"/>
              </a:solidFill>
            </a:ln>
          </p:spPr>
          <p:txBody>
            <a:bodyPr wrap="square" lIns="0" tIns="0" rIns="0" bIns="0" rtlCol="0"/>
            <a:lstStyle/>
            <a:p>
              <a:endParaRPr/>
            </a:p>
          </p:txBody>
        </p:sp>
      </p:grpSp>
      <p:sp>
        <p:nvSpPr>
          <p:cNvPr id="36" name="object 36"/>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39" name="object 39"/>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40" name="object 40"/>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31</a:t>
            </a:fld>
            <a:r>
              <a:rPr spc="-10" dirty="0"/>
              <a:t>/60</a:t>
            </a:r>
          </a:p>
        </p:txBody>
      </p:sp>
      <p:sp>
        <p:nvSpPr>
          <p:cNvPr id="37" name="object 37"/>
          <p:cNvSpPr txBox="1"/>
          <p:nvPr/>
        </p:nvSpPr>
        <p:spPr>
          <a:xfrm>
            <a:off x="5571616" y="1149889"/>
            <a:ext cx="3836670" cy="1543685"/>
          </a:xfrm>
          <a:prstGeom prst="rect">
            <a:avLst/>
          </a:prstGeom>
        </p:spPr>
        <p:txBody>
          <a:bodyPr vert="horz" wrap="square" lIns="0" tIns="197485" rIns="0" bIns="0" rtlCol="0">
            <a:spAutoFit/>
          </a:bodyPr>
          <a:lstStyle/>
          <a:p>
            <a:pPr marL="12700">
              <a:lnSpc>
                <a:spcPct val="100000"/>
              </a:lnSpc>
              <a:spcBef>
                <a:spcPts val="1555"/>
              </a:spcBef>
            </a:pPr>
            <a:r>
              <a:rPr sz="2400" spc="-85" dirty="0">
                <a:solidFill>
                  <a:srgbClr val="454C4C"/>
                </a:solidFill>
                <a:latin typeface="Arial MT"/>
                <a:cs typeface="Arial MT"/>
              </a:rPr>
              <a:t>Can </a:t>
            </a:r>
            <a:r>
              <a:rPr sz="2400" spc="-40" dirty="0">
                <a:solidFill>
                  <a:srgbClr val="454C4C"/>
                </a:solidFill>
                <a:latin typeface="Arial MT"/>
                <a:cs typeface="Arial MT"/>
              </a:rPr>
              <a:t>scale</a:t>
            </a:r>
            <a:r>
              <a:rPr sz="2400" spc="-114" dirty="0">
                <a:solidFill>
                  <a:srgbClr val="454C4C"/>
                </a:solidFill>
                <a:latin typeface="Arial MT"/>
                <a:cs typeface="Arial MT"/>
              </a:rPr>
              <a:t> </a:t>
            </a:r>
            <a:r>
              <a:rPr sz="2400" spc="-20" dirty="0">
                <a:solidFill>
                  <a:srgbClr val="454C4C"/>
                </a:solidFill>
                <a:latin typeface="Arial MT"/>
                <a:cs typeface="Arial MT"/>
              </a:rPr>
              <a:t>well</a:t>
            </a:r>
            <a:endParaRPr sz="2400">
              <a:latin typeface="Arial MT"/>
              <a:cs typeface="Arial MT"/>
            </a:endParaRPr>
          </a:p>
          <a:p>
            <a:pPr marL="12700" marR="5080">
              <a:lnSpc>
                <a:spcPct val="113799"/>
              </a:lnSpc>
              <a:spcBef>
                <a:spcPts val="1060"/>
              </a:spcBef>
            </a:pPr>
            <a:r>
              <a:rPr sz="2400" spc="-100" dirty="0">
                <a:solidFill>
                  <a:srgbClr val="454C4C"/>
                </a:solidFill>
                <a:latin typeface="Arial MT"/>
                <a:cs typeface="Arial MT"/>
              </a:rPr>
              <a:t>MLAG</a:t>
            </a:r>
            <a:r>
              <a:rPr sz="2400" spc="-30" dirty="0">
                <a:solidFill>
                  <a:srgbClr val="454C4C"/>
                </a:solidFill>
                <a:latin typeface="Arial MT"/>
                <a:cs typeface="Arial MT"/>
              </a:rPr>
              <a:t> </a:t>
            </a:r>
            <a:r>
              <a:rPr sz="2400" dirty="0">
                <a:solidFill>
                  <a:srgbClr val="454C4C"/>
                </a:solidFill>
                <a:latin typeface="Arial MT"/>
                <a:cs typeface="Arial MT"/>
              </a:rPr>
              <a:t>(multi</a:t>
            </a:r>
            <a:r>
              <a:rPr sz="2400" spc="-30" dirty="0">
                <a:solidFill>
                  <a:srgbClr val="454C4C"/>
                </a:solidFill>
                <a:latin typeface="Arial MT"/>
                <a:cs typeface="Arial MT"/>
              </a:rPr>
              <a:t> </a:t>
            </a:r>
            <a:r>
              <a:rPr sz="2400" spc="-10" dirty="0">
                <a:solidFill>
                  <a:srgbClr val="454C4C"/>
                </a:solidFill>
                <a:latin typeface="Arial MT"/>
                <a:cs typeface="Arial MT"/>
              </a:rPr>
              <a:t>device</a:t>
            </a:r>
            <a:r>
              <a:rPr sz="2400" spc="-30" dirty="0">
                <a:solidFill>
                  <a:srgbClr val="454C4C"/>
                </a:solidFill>
                <a:latin typeface="Arial MT"/>
                <a:cs typeface="Arial MT"/>
              </a:rPr>
              <a:t> </a:t>
            </a:r>
            <a:r>
              <a:rPr sz="2400" spc="-150" dirty="0">
                <a:solidFill>
                  <a:srgbClr val="454C4C"/>
                </a:solidFill>
                <a:latin typeface="Arial MT"/>
                <a:cs typeface="Arial MT"/>
              </a:rPr>
              <a:t>LAG)</a:t>
            </a:r>
            <a:r>
              <a:rPr sz="2400" spc="-25" dirty="0">
                <a:solidFill>
                  <a:srgbClr val="454C4C"/>
                </a:solidFill>
                <a:latin typeface="Arial MT"/>
                <a:cs typeface="Arial MT"/>
              </a:rPr>
              <a:t> </a:t>
            </a:r>
            <a:r>
              <a:rPr sz="2400" spc="50" dirty="0">
                <a:solidFill>
                  <a:srgbClr val="454C4C"/>
                </a:solidFill>
                <a:latin typeface="Arial MT"/>
                <a:cs typeface="Arial MT"/>
              </a:rPr>
              <a:t>for </a:t>
            </a:r>
            <a:r>
              <a:rPr sz="2400" spc="-10" dirty="0">
                <a:solidFill>
                  <a:srgbClr val="454C4C"/>
                </a:solidFill>
                <a:latin typeface="Arial MT"/>
                <a:cs typeface="Arial MT"/>
              </a:rPr>
              <a:t>redundancy</a:t>
            </a:r>
            <a:endParaRPr sz="2400">
              <a:latin typeface="Arial MT"/>
              <a:cs typeface="Arial MT"/>
            </a:endParaRPr>
          </a:p>
        </p:txBody>
      </p:sp>
      <p:sp>
        <p:nvSpPr>
          <p:cNvPr id="38" name="object 38"/>
          <p:cNvSpPr txBox="1"/>
          <p:nvPr/>
        </p:nvSpPr>
        <p:spPr>
          <a:xfrm>
            <a:off x="524761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0" dirty="0"/>
              <a:t>Network</a:t>
            </a:r>
            <a:r>
              <a:rPr spc="-330" dirty="0"/>
              <a:t> </a:t>
            </a:r>
            <a:r>
              <a:rPr spc="-295" dirty="0"/>
              <a:t>—</a:t>
            </a:r>
            <a:r>
              <a:rPr spc="-325" dirty="0"/>
              <a:t> </a:t>
            </a:r>
            <a:r>
              <a:rPr dirty="0"/>
              <a:t>Full</a:t>
            </a:r>
            <a:r>
              <a:rPr spc="-325" dirty="0"/>
              <a:t> </a:t>
            </a:r>
            <a:r>
              <a:rPr spc="70" dirty="0"/>
              <a:t>Mesh</a:t>
            </a:r>
          </a:p>
        </p:txBody>
      </p:sp>
      <p:grpSp>
        <p:nvGrpSpPr>
          <p:cNvPr id="3" name="object 3"/>
          <p:cNvGrpSpPr/>
          <p:nvPr/>
        </p:nvGrpSpPr>
        <p:grpSpPr>
          <a:xfrm>
            <a:off x="503387" y="1583036"/>
            <a:ext cx="4427220" cy="2774950"/>
            <a:chOff x="503387" y="1583036"/>
            <a:chExt cx="4427220" cy="2774950"/>
          </a:xfrm>
        </p:grpSpPr>
        <p:sp>
          <p:nvSpPr>
            <p:cNvPr id="4" name="object 4"/>
            <p:cNvSpPr/>
            <p:nvPr/>
          </p:nvSpPr>
          <p:spPr>
            <a:xfrm>
              <a:off x="2886481" y="2018534"/>
              <a:ext cx="1765935" cy="1465580"/>
            </a:xfrm>
            <a:custGeom>
              <a:avLst/>
              <a:gdLst/>
              <a:ahLst/>
              <a:cxnLst/>
              <a:rect l="l" t="t" r="r" b="b"/>
              <a:pathLst>
                <a:path w="1765935" h="1465579">
                  <a:moveTo>
                    <a:pt x="0" y="0"/>
                  </a:moveTo>
                  <a:lnTo>
                    <a:pt x="1765795" y="1465554"/>
                  </a:lnTo>
                </a:path>
              </a:pathLst>
            </a:custGeom>
            <a:ln w="17233">
              <a:solidFill>
                <a:srgbClr val="00607E"/>
              </a:solidFill>
            </a:ln>
          </p:spPr>
          <p:txBody>
            <a:bodyPr wrap="square" lIns="0" tIns="0" rIns="0" bIns="0" rtlCol="0"/>
            <a:lstStyle/>
            <a:p>
              <a:endParaRPr/>
            </a:p>
          </p:txBody>
        </p:sp>
        <p:sp>
          <p:nvSpPr>
            <p:cNvPr id="5" name="object 5"/>
            <p:cNvSpPr/>
            <p:nvPr/>
          </p:nvSpPr>
          <p:spPr>
            <a:xfrm>
              <a:off x="969124" y="2457369"/>
              <a:ext cx="3460115" cy="1454785"/>
            </a:xfrm>
            <a:custGeom>
              <a:avLst/>
              <a:gdLst/>
              <a:ahLst/>
              <a:cxnLst/>
              <a:rect l="l" t="t" r="r" b="b"/>
              <a:pathLst>
                <a:path w="3460115" h="1454785">
                  <a:moveTo>
                    <a:pt x="1660677" y="0"/>
                  </a:moveTo>
                  <a:lnTo>
                    <a:pt x="0" y="1454759"/>
                  </a:lnTo>
                  <a:lnTo>
                    <a:pt x="3459949" y="1454759"/>
                  </a:lnTo>
                  <a:lnTo>
                    <a:pt x="1660677" y="0"/>
                  </a:lnTo>
                  <a:close/>
                </a:path>
              </a:pathLst>
            </a:custGeom>
            <a:ln w="17147">
              <a:solidFill>
                <a:srgbClr val="FF9000"/>
              </a:solidFill>
            </a:ln>
          </p:spPr>
          <p:txBody>
            <a:bodyPr wrap="square" lIns="0" tIns="0" rIns="0" bIns="0" rtlCol="0"/>
            <a:lstStyle/>
            <a:p>
              <a:endParaRPr/>
            </a:p>
          </p:txBody>
        </p:sp>
        <p:sp>
          <p:nvSpPr>
            <p:cNvPr id="6" name="object 6"/>
            <p:cNvSpPr/>
            <p:nvPr/>
          </p:nvSpPr>
          <p:spPr>
            <a:xfrm>
              <a:off x="744474" y="2024287"/>
              <a:ext cx="1618615" cy="1459865"/>
            </a:xfrm>
            <a:custGeom>
              <a:avLst/>
              <a:gdLst/>
              <a:ahLst/>
              <a:cxnLst/>
              <a:rect l="l" t="t" r="r" b="b"/>
              <a:pathLst>
                <a:path w="1618614" h="1459864">
                  <a:moveTo>
                    <a:pt x="1618208" y="0"/>
                  </a:moveTo>
                  <a:lnTo>
                    <a:pt x="0" y="1459801"/>
                  </a:lnTo>
                </a:path>
              </a:pathLst>
            </a:custGeom>
            <a:ln w="17232">
              <a:solidFill>
                <a:srgbClr val="00607E"/>
              </a:solidFill>
            </a:ln>
          </p:spPr>
          <p:txBody>
            <a:bodyPr wrap="square" lIns="0" tIns="0" rIns="0" bIns="0" rtlCol="0"/>
            <a:lstStyle/>
            <a:p>
              <a:endParaRPr/>
            </a:p>
          </p:txBody>
        </p:sp>
        <p:sp>
          <p:nvSpPr>
            <p:cNvPr id="7" name="object 7"/>
            <p:cNvSpPr/>
            <p:nvPr/>
          </p:nvSpPr>
          <p:spPr>
            <a:xfrm>
              <a:off x="2354402" y="1597325"/>
              <a:ext cx="551180" cy="891540"/>
            </a:xfrm>
            <a:custGeom>
              <a:avLst/>
              <a:gdLst/>
              <a:ahLst/>
              <a:cxnLst/>
              <a:rect l="l" t="t" r="r" b="b"/>
              <a:pathLst>
                <a:path w="551180" h="891539">
                  <a:moveTo>
                    <a:pt x="550799" y="0"/>
                  </a:moveTo>
                  <a:lnTo>
                    <a:pt x="0" y="0"/>
                  </a:lnTo>
                  <a:lnTo>
                    <a:pt x="0" y="891006"/>
                  </a:lnTo>
                  <a:lnTo>
                    <a:pt x="550799" y="891006"/>
                  </a:lnTo>
                  <a:lnTo>
                    <a:pt x="550799" y="0"/>
                  </a:lnTo>
                  <a:close/>
                </a:path>
              </a:pathLst>
            </a:custGeom>
            <a:solidFill>
              <a:srgbClr val="CCCCCC"/>
            </a:solidFill>
          </p:spPr>
          <p:txBody>
            <a:bodyPr wrap="square" lIns="0" tIns="0" rIns="0" bIns="0" rtlCol="0"/>
            <a:lstStyle/>
            <a:p>
              <a:endParaRPr/>
            </a:p>
          </p:txBody>
        </p:sp>
        <p:sp>
          <p:nvSpPr>
            <p:cNvPr id="8" name="object 8"/>
            <p:cNvSpPr/>
            <p:nvPr/>
          </p:nvSpPr>
          <p:spPr>
            <a:xfrm>
              <a:off x="2354402" y="1597325"/>
              <a:ext cx="551180" cy="891540"/>
            </a:xfrm>
            <a:custGeom>
              <a:avLst/>
              <a:gdLst/>
              <a:ahLst/>
              <a:cxnLst/>
              <a:rect l="l" t="t" r="r" b="b"/>
              <a:pathLst>
                <a:path w="551180" h="891539">
                  <a:moveTo>
                    <a:pt x="0" y="0"/>
                  </a:moveTo>
                  <a:lnTo>
                    <a:pt x="550799" y="0"/>
                  </a:lnTo>
                  <a:lnTo>
                    <a:pt x="550799" y="891006"/>
                  </a:lnTo>
                  <a:lnTo>
                    <a:pt x="0" y="891006"/>
                  </a:lnTo>
                  <a:lnTo>
                    <a:pt x="0" y="0"/>
                  </a:lnTo>
                  <a:close/>
                </a:path>
              </a:pathLst>
            </a:custGeom>
            <a:ln w="28579">
              <a:solidFill>
                <a:srgbClr val="FFFFFF"/>
              </a:solidFill>
            </a:ln>
          </p:spPr>
          <p:txBody>
            <a:bodyPr wrap="square" lIns="0" tIns="0" rIns="0" bIns="0" rtlCol="0"/>
            <a:lstStyle/>
            <a:p>
              <a:endParaRPr/>
            </a:p>
          </p:txBody>
        </p:sp>
        <p:sp>
          <p:nvSpPr>
            <p:cNvPr id="9" name="object 9"/>
            <p:cNvSpPr/>
            <p:nvPr/>
          </p:nvSpPr>
          <p:spPr>
            <a:xfrm>
              <a:off x="2425319" y="1960926"/>
              <a:ext cx="405765" cy="50165"/>
            </a:xfrm>
            <a:custGeom>
              <a:avLst/>
              <a:gdLst/>
              <a:ahLst/>
              <a:cxnLst/>
              <a:rect l="l" t="t" r="r" b="b"/>
              <a:pathLst>
                <a:path w="405764" h="50164">
                  <a:moveTo>
                    <a:pt x="405726" y="0"/>
                  </a:moveTo>
                  <a:lnTo>
                    <a:pt x="0" y="0"/>
                  </a:lnTo>
                  <a:lnTo>
                    <a:pt x="0" y="49682"/>
                  </a:lnTo>
                  <a:lnTo>
                    <a:pt x="405726" y="49682"/>
                  </a:lnTo>
                  <a:lnTo>
                    <a:pt x="405726" y="0"/>
                  </a:lnTo>
                  <a:close/>
                </a:path>
              </a:pathLst>
            </a:custGeom>
            <a:solidFill>
              <a:srgbClr val="A5A5A5"/>
            </a:solidFill>
          </p:spPr>
          <p:txBody>
            <a:bodyPr wrap="square" lIns="0" tIns="0" rIns="0" bIns="0" rtlCol="0"/>
            <a:lstStyle/>
            <a:p>
              <a:endParaRPr/>
            </a:p>
          </p:txBody>
        </p:sp>
        <p:pic>
          <p:nvPicPr>
            <p:cNvPr id="10" name="object 10"/>
            <p:cNvPicPr/>
            <p:nvPr/>
          </p:nvPicPr>
          <p:blipFill>
            <a:blip r:embed="rId2" cstate="print"/>
            <a:stretch>
              <a:fillRect/>
            </a:stretch>
          </p:blipFill>
          <p:spPr>
            <a:xfrm>
              <a:off x="2573273" y="2212564"/>
              <a:ext cx="113766" cy="114122"/>
            </a:xfrm>
            <a:prstGeom prst="rect">
              <a:avLst/>
            </a:prstGeom>
          </p:spPr>
        </p:pic>
        <p:sp>
          <p:nvSpPr>
            <p:cNvPr id="11" name="object 11"/>
            <p:cNvSpPr/>
            <p:nvPr/>
          </p:nvSpPr>
          <p:spPr>
            <a:xfrm>
              <a:off x="2425319" y="1725849"/>
              <a:ext cx="405765" cy="167640"/>
            </a:xfrm>
            <a:custGeom>
              <a:avLst/>
              <a:gdLst/>
              <a:ahLst/>
              <a:cxnLst/>
              <a:rect l="l" t="t" r="r" b="b"/>
              <a:pathLst>
                <a:path w="405764" h="167639">
                  <a:moveTo>
                    <a:pt x="405726" y="117360"/>
                  </a:moveTo>
                  <a:lnTo>
                    <a:pt x="0" y="117360"/>
                  </a:lnTo>
                  <a:lnTo>
                    <a:pt x="0" y="167398"/>
                  </a:lnTo>
                  <a:lnTo>
                    <a:pt x="405726" y="167398"/>
                  </a:lnTo>
                  <a:lnTo>
                    <a:pt x="405726" y="117360"/>
                  </a:lnTo>
                  <a:close/>
                </a:path>
                <a:path w="405764" h="167639">
                  <a:moveTo>
                    <a:pt x="405726" y="0"/>
                  </a:moveTo>
                  <a:lnTo>
                    <a:pt x="0" y="0"/>
                  </a:lnTo>
                  <a:lnTo>
                    <a:pt x="0" y="50038"/>
                  </a:lnTo>
                  <a:lnTo>
                    <a:pt x="405726" y="50038"/>
                  </a:lnTo>
                  <a:lnTo>
                    <a:pt x="405726" y="0"/>
                  </a:lnTo>
                  <a:close/>
                </a:path>
              </a:pathLst>
            </a:custGeom>
            <a:solidFill>
              <a:srgbClr val="A5A5A5"/>
            </a:solidFill>
          </p:spPr>
          <p:txBody>
            <a:bodyPr wrap="square" lIns="0" tIns="0" rIns="0" bIns="0" rtlCol="0"/>
            <a:lstStyle/>
            <a:p>
              <a:endParaRPr/>
            </a:p>
          </p:txBody>
        </p:sp>
        <p:sp>
          <p:nvSpPr>
            <p:cNvPr id="12" name="object 12"/>
            <p:cNvSpPr/>
            <p:nvPr/>
          </p:nvSpPr>
          <p:spPr>
            <a:xfrm>
              <a:off x="1068476" y="4256655"/>
              <a:ext cx="3296920" cy="0"/>
            </a:xfrm>
            <a:custGeom>
              <a:avLst/>
              <a:gdLst/>
              <a:ahLst/>
              <a:cxnLst/>
              <a:rect l="l" t="t" r="r" b="b"/>
              <a:pathLst>
                <a:path w="3296920">
                  <a:moveTo>
                    <a:pt x="0" y="0"/>
                  </a:moveTo>
                  <a:lnTo>
                    <a:pt x="3296526" y="0"/>
                  </a:lnTo>
                </a:path>
              </a:pathLst>
            </a:custGeom>
            <a:ln w="17147">
              <a:solidFill>
                <a:srgbClr val="00607E"/>
              </a:solidFill>
            </a:ln>
          </p:spPr>
          <p:txBody>
            <a:bodyPr wrap="square" lIns="0" tIns="0" rIns="0" bIns="0" rtlCol="0"/>
            <a:lstStyle/>
            <a:p>
              <a:endParaRPr/>
            </a:p>
          </p:txBody>
        </p:sp>
        <p:sp>
          <p:nvSpPr>
            <p:cNvPr id="13" name="object 13"/>
            <p:cNvSpPr/>
            <p:nvPr/>
          </p:nvSpPr>
          <p:spPr>
            <a:xfrm>
              <a:off x="517677" y="3452414"/>
              <a:ext cx="551180" cy="891540"/>
            </a:xfrm>
            <a:custGeom>
              <a:avLst/>
              <a:gdLst/>
              <a:ahLst/>
              <a:cxnLst/>
              <a:rect l="l" t="t" r="r" b="b"/>
              <a:pathLst>
                <a:path w="551180" h="891539">
                  <a:moveTo>
                    <a:pt x="550799" y="0"/>
                  </a:moveTo>
                  <a:lnTo>
                    <a:pt x="0" y="0"/>
                  </a:lnTo>
                  <a:lnTo>
                    <a:pt x="0" y="890993"/>
                  </a:lnTo>
                  <a:lnTo>
                    <a:pt x="550799" y="890993"/>
                  </a:lnTo>
                  <a:lnTo>
                    <a:pt x="550799" y="0"/>
                  </a:lnTo>
                  <a:close/>
                </a:path>
              </a:pathLst>
            </a:custGeom>
            <a:solidFill>
              <a:srgbClr val="CCCCCC"/>
            </a:solidFill>
          </p:spPr>
          <p:txBody>
            <a:bodyPr wrap="square" lIns="0" tIns="0" rIns="0" bIns="0" rtlCol="0"/>
            <a:lstStyle/>
            <a:p>
              <a:endParaRPr/>
            </a:p>
          </p:txBody>
        </p:sp>
        <p:sp>
          <p:nvSpPr>
            <p:cNvPr id="14" name="object 14"/>
            <p:cNvSpPr/>
            <p:nvPr/>
          </p:nvSpPr>
          <p:spPr>
            <a:xfrm>
              <a:off x="517677" y="3452414"/>
              <a:ext cx="551180" cy="891540"/>
            </a:xfrm>
            <a:custGeom>
              <a:avLst/>
              <a:gdLst/>
              <a:ahLst/>
              <a:cxnLst/>
              <a:rect l="l" t="t" r="r" b="b"/>
              <a:pathLst>
                <a:path w="551180" h="891539">
                  <a:moveTo>
                    <a:pt x="0" y="0"/>
                  </a:moveTo>
                  <a:lnTo>
                    <a:pt x="550799" y="0"/>
                  </a:lnTo>
                  <a:lnTo>
                    <a:pt x="550799" y="890993"/>
                  </a:lnTo>
                  <a:lnTo>
                    <a:pt x="0" y="890993"/>
                  </a:lnTo>
                  <a:lnTo>
                    <a:pt x="0" y="0"/>
                  </a:lnTo>
                  <a:close/>
                </a:path>
              </a:pathLst>
            </a:custGeom>
            <a:ln w="28579">
              <a:solidFill>
                <a:srgbClr val="FFFFFF"/>
              </a:solidFill>
            </a:ln>
          </p:spPr>
          <p:txBody>
            <a:bodyPr wrap="square" lIns="0" tIns="0" rIns="0" bIns="0" rtlCol="0"/>
            <a:lstStyle/>
            <a:p>
              <a:endParaRPr/>
            </a:p>
          </p:txBody>
        </p:sp>
        <p:sp>
          <p:nvSpPr>
            <p:cNvPr id="15" name="object 15"/>
            <p:cNvSpPr/>
            <p:nvPr/>
          </p:nvSpPr>
          <p:spPr>
            <a:xfrm>
              <a:off x="588238" y="3816003"/>
              <a:ext cx="405765" cy="50165"/>
            </a:xfrm>
            <a:custGeom>
              <a:avLst/>
              <a:gdLst/>
              <a:ahLst/>
              <a:cxnLst/>
              <a:rect l="l" t="t" r="r" b="b"/>
              <a:pathLst>
                <a:path w="405765" h="50164">
                  <a:moveTo>
                    <a:pt x="405726" y="0"/>
                  </a:moveTo>
                  <a:lnTo>
                    <a:pt x="0" y="0"/>
                  </a:lnTo>
                  <a:lnTo>
                    <a:pt x="0" y="50050"/>
                  </a:lnTo>
                  <a:lnTo>
                    <a:pt x="405726" y="50050"/>
                  </a:lnTo>
                  <a:lnTo>
                    <a:pt x="405726" y="0"/>
                  </a:lnTo>
                  <a:close/>
                </a:path>
              </a:pathLst>
            </a:custGeom>
            <a:solidFill>
              <a:srgbClr val="A5A5A5"/>
            </a:solidFill>
          </p:spPr>
          <p:txBody>
            <a:bodyPr wrap="square" lIns="0" tIns="0" rIns="0" bIns="0" rtlCol="0"/>
            <a:lstStyle/>
            <a:p>
              <a:endParaRPr/>
            </a:p>
          </p:txBody>
        </p:sp>
        <p:pic>
          <p:nvPicPr>
            <p:cNvPr id="16" name="object 16"/>
            <p:cNvPicPr/>
            <p:nvPr/>
          </p:nvPicPr>
          <p:blipFill>
            <a:blip r:embed="rId3" cstate="print"/>
            <a:stretch>
              <a:fillRect/>
            </a:stretch>
          </p:blipFill>
          <p:spPr>
            <a:xfrm>
              <a:off x="735838" y="4067653"/>
              <a:ext cx="114122" cy="114109"/>
            </a:xfrm>
            <a:prstGeom prst="rect">
              <a:avLst/>
            </a:prstGeom>
          </p:spPr>
        </p:pic>
        <p:sp>
          <p:nvSpPr>
            <p:cNvPr id="17" name="object 17"/>
            <p:cNvSpPr/>
            <p:nvPr/>
          </p:nvSpPr>
          <p:spPr>
            <a:xfrm>
              <a:off x="588238" y="3580926"/>
              <a:ext cx="405765" cy="167640"/>
            </a:xfrm>
            <a:custGeom>
              <a:avLst/>
              <a:gdLst/>
              <a:ahLst/>
              <a:cxnLst/>
              <a:rect l="l" t="t" r="r" b="b"/>
              <a:pathLst>
                <a:path w="405765" h="167639">
                  <a:moveTo>
                    <a:pt x="405726" y="117716"/>
                  </a:moveTo>
                  <a:lnTo>
                    <a:pt x="0" y="117716"/>
                  </a:lnTo>
                  <a:lnTo>
                    <a:pt x="0" y="167398"/>
                  </a:lnTo>
                  <a:lnTo>
                    <a:pt x="405726" y="167398"/>
                  </a:lnTo>
                  <a:lnTo>
                    <a:pt x="405726" y="117716"/>
                  </a:lnTo>
                  <a:close/>
                </a:path>
                <a:path w="405765" h="167639">
                  <a:moveTo>
                    <a:pt x="405726" y="0"/>
                  </a:moveTo>
                  <a:lnTo>
                    <a:pt x="0" y="0"/>
                  </a:lnTo>
                  <a:lnTo>
                    <a:pt x="0" y="50038"/>
                  </a:lnTo>
                  <a:lnTo>
                    <a:pt x="405726" y="50038"/>
                  </a:lnTo>
                  <a:lnTo>
                    <a:pt x="405726" y="0"/>
                  </a:lnTo>
                  <a:close/>
                </a:path>
              </a:pathLst>
            </a:custGeom>
            <a:solidFill>
              <a:srgbClr val="A5A5A5"/>
            </a:solidFill>
          </p:spPr>
          <p:txBody>
            <a:bodyPr wrap="square" lIns="0" tIns="0" rIns="0" bIns="0" rtlCol="0"/>
            <a:lstStyle/>
            <a:p>
              <a:endParaRPr/>
            </a:p>
          </p:txBody>
        </p:sp>
        <p:sp>
          <p:nvSpPr>
            <p:cNvPr id="18" name="object 18"/>
            <p:cNvSpPr/>
            <p:nvPr/>
          </p:nvSpPr>
          <p:spPr>
            <a:xfrm>
              <a:off x="4365002" y="3452414"/>
              <a:ext cx="551180" cy="891540"/>
            </a:xfrm>
            <a:custGeom>
              <a:avLst/>
              <a:gdLst/>
              <a:ahLst/>
              <a:cxnLst/>
              <a:rect l="l" t="t" r="r" b="b"/>
              <a:pathLst>
                <a:path w="551179" h="891539">
                  <a:moveTo>
                    <a:pt x="550799" y="0"/>
                  </a:moveTo>
                  <a:lnTo>
                    <a:pt x="0" y="0"/>
                  </a:lnTo>
                  <a:lnTo>
                    <a:pt x="0" y="890993"/>
                  </a:lnTo>
                  <a:lnTo>
                    <a:pt x="550799" y="890993"/>
                  </a:lnTo>
                  <a:lnTo>
                    <a:pt x="550799" y="0"/>
                  </a:lnTo>
                  <a:close/>
                </a:path>
              </a:pathLst>
            </a:custGeom>
            <a:solidFill>
              <a:srgbClr val="CCCCCC"/>
            </a:solidFill>
          </p:spPr>
          <p:txBody>
            <a:bodyPr wrap="square" lIns="0" tIns="0" rIns="0" bIns="0" rtlCol="0"/>
            <a:lstStyle/>
            <a:p>
              <a:endParaRPr/>
            </a:p>
          </p:txBody>
        </p:sp>
        <p:sp>
          <p:nvSpPr>
            <p:cNvPr id="19" name="object 19"/>
            <p:cNvSpPr/>
            <p:nvPr/>
          </p:nvSpPr>
          <p:spPr>
            <a:xfrm>
              <a:off x="4365002" y="3452414"/>
              <a:ext cx="551180" cy="891540"/>
            </a:xfrm>
            <a:custGeom>
              <a:avLst/>
              <a:gdLst/>
              <a:ahLst/>
              <a:cxnLst/>
              <a:rect l="l" t="t" r="r" b="b"/>
              <a:pathLst>
                <a:path w="551179" h="891539">
                  <a:moveTo>
                    <a:pt x="0" y="0"/>
                  </a:moveTo>
                  <a:lnTo>
                    <a:pt x="550799" y="0"/>
                  </a:lnTo>
                  <a:lnTo>
                    <a:pt x="550799" y="890993"/>
                  </a:lnTo>
                  <a:lnTo>
                    <a:pt x="0" y="890993"/>
                  </a:lnTo>
                  <a:lnTo>
                    <a:pt x="0" y="0"/>
                  </a:lnTo>
                  <a:close/>
                </a:path>
              </a:pathLst>
            </a:custGeom>
            <a:ln w="28579">
              <a:solidFill>
                <a:srgbClr val="FFFFFF"/>
              </a:solidFill>
            </a:ln>
          </p:spPr>
          <p:txBody>
            <a:bodyPr wrap="square" lIns="0" tIns="0" rIns="0" bIns="0" rtlCol="0"/>
            <a:lstStyle/>
            <a:p>
              <a:endParaRPr/>
            </a:p>
          </p:txBody>
        </p:sp>
        <p:sp>
          <p:nvSpPr>
            <p:cNvPr id="20" name="object 20"/>
            <p:cNvSpPr/>
            <p:nvPr/>
          </p:nvSpPr>
          <p:spPr>
            <a:xfrm>
              <a:off x="4435919" y="3816003"/>
              <a:ext cx="405765" cy="50165"/>
            </a:xfrm>
            <a:custGeom>
              <a:avLst/>
              <a:gdLst/>
              <a:ahLst/>
              <a:cxnLst/>
              <a:rect l="l" t="t" r="r" b="b"/>
              <a:pathLst>
                <a:path w="405764" h="50164">
                  <a:moveTo>
                    <a:pt x="405714" y="0"/>
                  </a:moveTo>
                  <a:lnTo>
                    <a:pt x="0" y="0"/>
                  </a:lnTo>
                  <a:lnTo>
                    <a:pt x="0" y="50050"/>
                  </a:lnTo>
                  <a:lnTo>
                    <a:pt x="405714" y="50050"/>
                  </a:lnTo>
                  <a:lnTo>
                    <a:pt x="405714" y="0"/>
                  </a:lnTo>
                  <a:close/>
                </a:path>
              </a:pathLst>
            </a:custGeom>
            <a:solidFill>
              <a:srgbClr val="A5A5A5"/>
            </a:solidFill>
          </p:spPr>
          <p:txBody>
            <a:bodyPr wrap="square" lIns="0" tIns="0" rIns="0" bIns="0" rtlCol="0"/>
            <a:lstStyle/>
            <a:p>
              <a:endParaRPr/>
            </a:p>
          </p:txBody>
        </p:sp>
        <p:pic>
          <p:nvPicPr>
            <p:cNvPr id="21" name="object 21"/>
            <p:cNvPicPr/>
            <p:nvPr/>
          </p:nvPicPr>
          <p:blipFill>
            <a:blip r:embed="rId4" cstate="print"/>
            <a:stretch>
              <a:fillRect/>
            </a:stretch>
          </p:blipFill>
          <p:spPr>
            <a:xfrm>
              <a:off x="4583519" y="4067653"/>
              <a:ext cx="114122" cy="114109"/>
            </a:xfrm>
            <a:prstGeom prst="rect">
              <a:avLst/>
            </a:prstGeom>
          </p:spPr>
        </p:pic>
        <p:sp>
          <p:nvSpPr>
            <p:cNvPr id="22" name="object 22"/>
            <p:cNvSpPr/>
            <p:nvPr/>
          </p:nvSpPr>
          <p:spPr>
            <a:xfrm>
              <a:off x="4435919" y="3580926"/>
              <a:ext cx="405765" cy="167640"/>
            </a:xfrm>
            <a:custGeom>
              <a:avLst/>
              <a:gdLst/>
              <a:ahLst/>
              <a:cxnLst/>
              <a:rect l="l" t="t" r="r" b="b"/>
              <a:pathLst>
                <a:path w="405764" h="167639">
                  <a:moveTo>
                    <a:pt x="405714" y="117716"/>
                  </a:moveTo>
                  <a:lnTo>
                    <a:pt x="0" y="117716"/>
                  </a:lnTo>
                  <a:lnTo>
                    <a:pt x="0" y="167398"/>
                  </a:lnTo>
                  <a:lnTo>
                    <a:pt x="405714" y="167398"/>
                  </a:lnTo>
                  <a:lnTo>
                    <a:pt x="405714" y="117716"/>
                  </a:lnTo>
                  <a:close/>
                </a:path>
                <a:path w="405764" h="167639">
                  <a:moveTo>
                    <a:pt x="405714" y="0"/>
                  </a:moveTo>
                  <a:lnTo>
                    <a:pt x="0" y="0"/>
                  </a:lnTo>
                  <a:lnTo>
                    <a:pt x="0" y="50038"/>
                  </a:lnTo>
                  <a:lnTo>
                    <a:pt x="405714" y="50038"/>
                  </a:lnTo>
                  <a:lnTo>
                    <a:pt x="405714" y="0"/>
                  </a:lnTo>
                  <a:close/>
                </a:path>
              </a:pathLst>
            </a:custGeom>
            <a:solidFill>
              <a:srgbClr val="A5A5A5"/>
            </a:solidFill>
          </p:spPr>
          <p:txBody>
            <a:bodyPr wrap="square" lIns="0" tIns="0" rIns="0" bIns="0" rtlCol="0"/>
            <a:lstStyle/>
            <a:p>
              <a:endParaRPr/>
            </a:p>
          </p:txBody>
        </p:sp>
        <p:sp>
          <p:nvSpPr>
            <p:cNvPr id="23" name="object 23"/>
            <p:cNvSpPr/>
            <p:nvPr/>
          </p:nvSpPr>
          <p:spPr>
            <a:xfrm>
              <a:off x="4653736" y="4241554"/>
              <a:ext cx="5715" cy="5715"/>
            </a:xfrm>
            <a:custGeom>
              <a:avLst/>
              <a:gdLst/>
              <a:ahLst/>
              <a:cxnLst/>
              <a:rect l="l" t="t" r="r" b="b"/>
              <a:pathLst>
                <a:path w="5714" h="5714">
                  <a:moveTo>
                    <a:pt x="0" y="2857"/>
                  </a:moveTo>
                  <a:lnTo>
                    <a:pt x="837" y="837"/>
                  </a:lnTo>
                  <a:lnTo>
                    <a:pt x="2857" y="0"/>
                  </a:lnTo>
                  <a:lnTo>
                    <a:pt x="4878" y="837"/>
                  </a:lnTo>
                  <a:lnTo>
                    <a:pt x="5715" y="2857"/>
                  </a:lnTo>
                  <a:lnTo>
                    <a:pt x="4878" y="4878"/>
                  </a:lnTo>
                  <a:lnTo>
                    <a:pt x="2857" y="5715"/>
                  </a:lnTo>
                  <a:lnTo>
                    <a:pt x="837" y="4878"/>
                  </a:lnTo>
                  <a:lnTo>
                    <a:pt x="0" y="2857"/>
                  </a:lnTo>
                  <a:close/>
                </a:path>
              </a:pathLst>
            </a:custGeom>
            <a:solidFill>
              <a:srgbClr val="000000"/>
            </a:solidFill>
          </p:spPr>
          <p:txBody>
            <a:bodyPr wrap="square" lIns="0" tIns="0" rIns="0" bIns="0" rtlCol="0"/>
            <a:lstStyle/>
            <a:p>
              <a:endParaRPr/>
            </a:p>
          </p:txBody>
        </p:sp>
      </p:grpSp>
      <p:sp>
        <p:nvSpPr>
          <p:cNvPr id="24" name="object 24"/>
          <p:cNvSpPr txBox="1"/>
          <p:nvPr/>
        </p:nvSpPr>
        <p:spPr>
          <a:xfrm>
            <a:off x="5247614"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9" name="object 29"/>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0" name="object 30"/>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32</a:t>
            </a:fld>
            <a:r>
              <a:rPr spc="-10" dirty="0"/>
              <a:t>/60</a:t>
            </a:r>
          </a:p>
        </p:txBody>
      </p:sp>
      <p:sp>
        <p:nvSpPr>
          <p:cNvPr id="25" name="object 25"/>
          <p:cNvSpPr txBox="1"/>
          <p:nvPr/>
        </p:nvSpPr>
        <p:spPr>
          <a:xfrm>
            <a:off x="5533516" y="1149889"/>
            <a:ext cx="3652520" cy="2564130"/>
          </a:xfrm>
          <a:prstGeom prst="rect">
            <a:avLst/>
          </a:prstGeom>
        </p:spPr>
        <p:txBody>
          <a:bodyPr vert="horz" wrap="square" lIns="0" tIns="197485" rIns="0" bIns="0" rtlCol="0">
            <a:spAutoFit/>
          </a:bodyPr>
          <a:lstStyle/>
          <a:p>
            <a:pPr marL="50800">
              <a:lnSpc>
                <a:spcPct val="100000"/>
              </a:lnSpc>
              <a:spcBef>
                <a:spcPts val="1555"/>
              </a:spcBef>
            </a:pPr>
            <a:r>
              <a:rPr sz="2400" dirty="0">
                <a:solidFill>
                  <a:srgbClr val="454C4C"/>
                </a:solidFill>
                <a:latin typeface="Arial MT"/>
                <a:cs typeface="Arial MT"/>
              </a:rPr>
              <a:t>No</a:t>
            </a:r>
            <a:r>
              <a:rPr sz="2400" spc="-10" dirty="0">
                <a:solidFill>
                  <a:srgbClr val="454C4C"/>
                </a:solidFill>
                <a:latin typeface="Arial MT"/>
                <a:cs typeface="Arial MT"/>
              </a:rPr>
              <a:t> switches</a:t>
            </a:r>
            <a:endParaRPr sz="2400">
              <a:latin typeface="Arial MT"/>
              <a:cs typeface="Arial MT"/>
            </a:endParaRPr>
          </a:p>
          <a:p>
            <a:pPr marL="50800">
              <a:lnSpc>
                <a:spcPct val="100000"/>
              </a:lnSpc>
              <a:spcBef>
                <a:spcPts val="1455"/>
              </a:spcBef>
            </a:pPr>
            <a:r>
              <a:rPr sz="2400" spc="-85" dirty="0">
                <a:solidFill>
                  <a:srgbClr val="454C4C"/>
                </a:solidFill>
                <a:latin typeface="Arial MT"/>
                <a:cs typeface="Arial MT"/>
              </a:rPr>
              <a:t>Can</a:t>
            </a:r>
            <a:r>
              <a:rPr sz="2400" spc="-75" dirty="0">
                <a:solidFill>
                  <a:srgbClr val="454C4C"/>
                </a:solidFill>
                <a:latin typeface="Arial MT"/>
                <a:cs typeface="Arial MT"/>
              </a:rPr>
              <a:t> </a:t>
            </a:r>
            <a:r>
              <a:rPr sz="2400" dirty="0">
                <a:solidFill>
                  <a:srgbClr val="454C4C"/>
                </a:solidFill>
                <a:latin typeface="Arial MT"/>
                <a:cs typeface="Arial MT"/>
              </a:rPr>
              <a:t>only</a:t>
            </a:r>
            <a:r>
              <a:rPr sz="2400" spc="-70" dirty="0">
                <a:solidFill>
                  <a:srgbClr val="454C4C"/>
                </a:solidFill>
                <a:latin typeface="Arial MT"/>
                <a:cs typeface="Arial MT"/>
              </a:rPr>
              <a:t> </a:t>
            </a:r>
            <a:r>
              <a:rPr sz="2400" spc="-50" dirty="0">
                <a:solidFill>
                  <a:srgbClr val="454C4C"/>
                </a:solidFill>
                <a:latin typeface="Arial MT"/>
                <a:cs typeface="Arial MT"/>
              </a:rPr>
              <a:t>scales</a:t>
            </a:r>
            <a:r>
              <a:rPr sz="2400" spc="-65" dirty="0">
                <a:solidFill>
                  <a:srgbClr val="454C4C"/>
                </a:solidFill>
                <a:latin typeface="Arial MT"/>
                <a:cs typeface="Arial MT"/>
              </a:rPr>
              <a:t> </a:t>
            </a:r>
            <a:r>
              <a:rPr sz="2400" dirty="0">
                <a:solidFill>
                  <a:srgbClr val="454C4C"/>
                </a:solidFill>
                <a:latin typeface="Arial MT"/>
                <a:cs typeface="Arial MT"/>
              </a:rPr>
              <a:t>so</a:t>
            </a:r>
            <a:r>
              <a:rPr sz="2400" spc="-75" dirty="0">
                <a:solidFill>
                  <a:srgbClr val="454C4C"/>
                </a:solidFill>
                <a:latin typeface="Arial MT"/>
                <a:cs typeface="Arial MT"/>
              </a:rPr>
              <a:t> </a:t>
            </a:r>
            <a:r>
              <a:rPr sz="2400" spc="-10" dirty="0">
                <a:solidFill>
                  <a:srgbClr val="454C4C"/>
                </a:solidFill>
                <a:latin typeface="Arial MT"/>
                <a:cs typeface="Arial MT"/>
              </a:rPr>
              <a:t>much…</a:t>
            </a:r>
            <a:endParaRPr sz="2400">
              <a:latin typeface="Arial MT"/>
              <a:cs typeface="Arial MT"/>
            </a:endParaRPr>
          </a:p>
          <a:p>
            <a:pPr marL="158750">
              <a:lnSpc>
                <a:spcPct val="100000"/>
              </a:lnSpc>
              <a:spcBef>
                <a:spcPts val="1220"/>
              </a:spcBef>
              <a:tabLst>
                <a:tab pos="482600" algn="l"/>
              </a:tabLst>
            </a:pPr>
            <a:r>
              <a:rPr sz="2325" spc="75" baseline="16129" dirty="0">
                <a:latin typeface="Lucida Sans Unicode"/>
                <a:cs typeface="Lucida Sans Unicode"/>
              </a:rPr>
              <a:t>–</a:t>
            </a:r>
            <a:r>
              <a:rPr sz="2325" baseline="16129" dirty="0">
                <a:latin typeface="Lucida Sans Unicode"/>
                <a:cs typeface="Lucida Sans Unicode"/>
              </a:rPr>
              <a:t>	</a:t>
            </a:r>
            <a:r>
              <a:rPr sz="2100" spc="-20" dirty="0">
                <a:solidFill>
                  <a:srgbClr val="454C4C"/>
                </a:solidFill>
                <a:latin typeface="Arial MT"/>
                <a:cs typeface="Arial MT"/>
              </a:rPr>
              <a:t>Usually</a:t>
            </a:r>
            <a:r>
              <a:rPr sz="2100" spc="-35" dirty="0">
                <a:solidFill>
                  <a:srgbClr val="454C4C"/>
                </a:solidFill>
                <a:latin typeface="Arial MT"/>
                <a:cs typeface="Arial MT"/>
              </a:rPr>
              <a:t> </a:t>
            </a:r>
            <a:r>
              <a:rPr sz="2100" dirty="0">
                <a:solidFill>
                  <a:srgbClr val="454C4C"/>
                </a:solidFill>
                <a:latin typeface="Arial MT"/>
                <a:cs typeface="Arial MT"/>
              </a:rPr>
              <a:t>3</a:t>
            </a:r>
            <a:r>
              <a:rPr sz="2100" spc="-40" dirty="0">
                <a:solidFill>
                  <a:srgbClr val="454C4C"/>
                </a:solidFill>
                <a:latin typeface="Arial MT"/>
                <a:cs typeface="Arial MT"/>
              </a:rPr>
              <a:t> </a:t>
            </a:r>
            <a:r>
              <a:rPr sz="2100" spc="85" dirty="0">
                <a:solidFill>
                  <a:srgbClr val="454C4C"/>
                </a:solidFill>
                <a:latin typeface="Arial MT"/>
                <a:cs typeface="Arial MT"/>
              </a:rPr>
              <a:t>to</a:t>
            </a:r>
            <a:r>
              <a:rPr sz="2100" spc="-30" dirty="0">
                <a:solidFill>
                  <a:srgbClr val="454C4C"/>
                </a:solidFill>
                <a:latin typeface="Arial MT"/>
                <a:cs typeface="Arial MT"/>
              </a:rPr>
              <a:t> </a:t>
            </a:r>
            <a:r>
              <a:rPr sz="2100" dirty="0">
                <a:solidFill>
                  <a:srgbClr val="454C4C"/>
                </a:solidFill>
                <a:latin typeface="Arial MT"/>
                <a:cs typeface="Arial MT"/>
              </a:rPr>
              <a:t>5</a:t>
            </a:r>
            <a:r>
              <a:rPr sz="2100" spc="-40" dirty="0">
                <a:solidFill>
                  <a:srgbClr val="454C4C"/>
                </a:solidFill>
                <a:latin typeface="Arial MT"/>
                <a:cs typeface="Arial MT"/>
              </a:rPr>
              <a:t> </a:t>
            </a:r>
            <a:r>
              <a:rPr sz="2100" spc="-10" dirty="0">
                <a:solidFill>
                  <a:srgbClr val="454C4C"/>
                </a:solidFill>
                <a:latin typeface="Arial MT"/>
                <a:cs typeface="Arial MT"/>
              </a:rPr>
              <a:t>nodes</a:t>
            </a:r>
            <a:endParaRPr sz="2100">
              <a:latin typeface="Arial MT"/>
              <a:cs typeface="Arial MT"/>
            </a:endParaRPr>
          </a:p>
          <a:p>
            <a:pPr marL="50800" marR="268605">
              <a:lnSpc>
                <a:spcPct val="113799"/>
              </a:lnSpc>
              <a:spcBef>
                <a:spcPts val="1025"/>
              </a:spcBef>
            </a:pPr>
            <a:r>
              <a:rPr sz="2400" dirty="0">
                <a:solidFill>
                  <a:srgbClr val="454C4C"/>
                </a:solidFill>
                <a:latin typeface="Arial MT"/>
                <a:cs typeface="Arial MT"/>
              </a:rPr>
              <a:t>Useful</a:t>
            </a:r>
            <a:r>
              <a:rPr sz="2400" spc="5" dirty="0">
                <a:solidFill>
                  <a:srgbClr val="454C4C"/>
                </a:solidFill>
                <a:latin typeface="Arial MT"/>
                <a:cs typeface="Arial MT"/>
              </a:rPr>
              <a:t> </a:t>
            </a:r>
            <a:r>
              <a:rPr sz="2400" dirty="0">
                <a:solidFill>
                  <a:srgbClr val="454C4C"/>
                </a:solidFill>
                <a:latin typeface="Arial MT"/>
                <a:cs typeface="Arial MT"/>
              </a:rPr>
              <a:t>in</a:t>
            </a:r>
            <a:r>
              <a:rPr sz="2400" spc="10" dirty="0">
                <a:solidFill>
                  <a:srgbClr val="454C4C"/>
                </a:solidFill>
                <a:latin typeface="Arial MT"/>
                <a:cs typeface="Arial MT"/>
              </a:rPr>
              <a:t> </a:t>
            </a:r>
            <a:r>
              <a:rPr sz="2400" dirty="0">
                <a:solidFill>
                  <a:srgbClr val="454C4C"/>
                </a:solidFill>
                <a:latin typeface="Arial MT"/>
                <a:cs typeface="Arial MT"/>
              </a:rPr>
              <a:t>cluster</a:t>
            </a:r>
            <a:r>
              <a:rPr sz="2400" spc="10" dirty="0">
                <a:solidFill>
                  <a:srgbClr val="454C4C"/>
                </a:solidFill>
                <a:latin typeface="Arial MT"/>
                <a:cs typeface="Arial MT"/>
              </a:rPr>
              <a:t> </a:t>
            </a:r>
            <a:r>
              <a:rPr sz="2400" spc="-10" dirty="0">
                <a:solidFill>
                  <a:srgbClr val="454C4C"/>
                </a:solidFill>
                <a:latin typeface="Arial MT"/>
                <a:cs typeface="Arial MT"/>
              </a:rPr>
              <a:t>internal </a:t>
            </a:r>
            <a:r>
              <a:rPr sz="2400" dirty="0">
                <a:solidFill>
                  <a:srgbClr val="454C4C"/>
                </a:solidFill>
                <a:latin typeface="Arial MT"/>
                <a:cs typeface="Arial MT"/>
              </a:rPr>
              <a:t>networks</a:t>
            </a:r>
            <a:r>
              <a:rPr sz="2400" spc="150" dirty="0">
                <a:solidFill>
                  <a:srgbClr val="454C4C"/>
                </a:solidFill>
                <a:latin typeface="Arial MT"/>
                <a:cs typeface="Arial MT"/>
              </a:rPr>
              <a:t> </a:t>
            </a:r>
            <a:r>
              <a:rPr sz="2400" spc="-10" dirty="0">
                <a:solidFill>
                  <a:srgbClr val="454C4C"/>
                </a:solidFill>
                <a:latin typeface="Arial MT"/>
                <a:cs typeface="Arial MT"/>
              </a:rPr>
              <a:t>(Ceph)</a:t>
            </a:r>
            <a:endParaRPr sz="2400">
              <a:latin typeface="Arial MT"/>
              <a:cs typeface="Arial MT"/>
            </a:endParaRPr>
          </a:p>
        </p:txBody>
      </p:sp>
      <p:sp>
        <p:nvSpPr>
          <p:cNvPr id="26" name="object 26"/>
          <p:cNvSpPr txBox="1"/>
          <p:nvPr/>
        </p:nvSpPr>
        <p:spPr>
          <a:xfrm>
            <a:off x="5247614" y="196731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7" name="object 27"/>
          <p:cNvSpPr txBox="1"/>
          <p:nvPr/>
        </p:nvSpPr>
        <p:spPr>
          <a:xfrm>
            <a:off x="5247614" y="2988267"/>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28" name="object 28"/>
          <p:cNvSpPr txBox="1"/>
          <p:nvPr/>
        </p:nvSpPr>
        <p:spPr>
          <a:xfrm>
            <a:off x="7657465" y="4882674"/>
            <a:ext cx="1085215" cy="200025"/>
          </a:xfrm>
          <a:prstGeom prst="rect">
            <a:avLst/>
          </a:prstGeom>
        </p:spPr>
        <p:txBody>
          <a:bodyPr vert="horz" wrap="square" lIns="0" tIns="12065" rIns="0" bIns="0" rtlCol="0">
            <a:spAutoFit/>
          </a:bodyPr>
          <a:lstStyle/>
          <a:p>
            <a:pPr marL="12700">
              <a:lnSpc>
                <a:spcPct val="100000"/>
              </a:lnSpc>
              <a:spcBef>
                <a:spcPts val="95"/>
              </a:spcBef>
            </a:pPr>
            <a:r>
              <a:rPr sz="1150" spc="-75" dirty="0">
                <a:solidFill>
                  <a:srgbClr val="287FB8"/>
                </a:solidFill>
                <a:latin typeface="Tahoma"/>
                <a:cs typeface="Tahoma"/>
                <a:hlinkClick r:id="rId5"/>
              </a:rPr>
              <a:t>Full-</a:t>
            </a:r>
            <a:r>
              <a:rPr sz="1150" spc="-60" dirty="0">
                <a:solidFill>
                  <a:srgbClr val="287FB8"/>
                </a:solidFill>
                <a:latin typeface="Tahoma"/>
                <a:cs typeface="Tahoma"/>
                <a:hlinkClick r:id="rId5"/>
              </a:rPr>
              <a:t>Mesh </a:t>
            </a:r>
            <a:r>
              <a:rPr sz="1150" spc="-55" dirty="0">
                <a:solidFill>
                  <a:srgbClr val="287FB8"/>
                </a:solidFill>
                <a:latin typeface="Tahoma"/>
                <a:cs typeface="Tahoma"/>
                <a:hlinkClick r:id="rId5"/>
              </a:rPr>
              <a:t>Guide</a:t>
            </a:r>
            <a:r>
              <a:rPr sz="1150" spc="-70" dirty="0">
                <a:solidFill>
                  <a:srgbClr val="287FB8"/>
                </a:solidFill>
                <a:latin typeface="Tahoma"/>
                <a:cs typeface="Tahoma"/>
                <a:hlinkClick r:id="rId5"/>
              </a:rPr>
              <a:t> </a:t>
            </a:r>
            <a:r>
              <a:rPr sz="1000" spc="-50" dirty="0">
                <a:solidFill>
                  <a:srgbClr val="287FB8"/>
                </a:solidFill>
                <a:latin typeface="Microsoft Sans Serif"/>
                <a:cs typeface="Microsoft Sans Serif"/>
                <a:hlinkClick r:id="rId5"/>
              </a:rPr>
              <a:t>→</a:t>
            </a:r>
            <a:endParaRPr sz="1000">
              <a:latin typeface="Microsoft Sans Serif"/>
              <a:cs typeface="Microsoft Sans Serif"/>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29322" y="1260013"/>
            <a:ext cx="7825740" cy="3260090"/>
            <a:chOff x="1129322" y="1260013"/>
            <a:chExt cx="7825740" cy="3260090"/>
          </a:xfrm>
        </p:grpSpPr>
        <p:sp>
          <p:nvSpPr>
            <p:cNvPr id="3" name="object 3"/>
            <p:cNvSpPr/>
            <p:nvPr/>
          </p:nvSpPr>
          <p:spPr>
            <a:xfrm>
              <a:off x="6562801" y="1512007"/>
              <a:ext cx="1665605" cy="1753870"/>
            </a:xfrm>
            <a:custGeom>
              <a:avLst/>
              <a:gdLst/>
              <a:ahLst/>
              <a:cxnLst/>
              <a:rect l="l" t="t" r="r" b="b"/>
              <a:pathLst>
                <a:path w="1665604" h="1753870">
                  <a:moveTo>
                    <a:pt x="0" y="0"/>
                  </a:moveTo>
                  <a:lnTo>
                    <a:pt x="1665363" y="1753565"/>
                  </a:lnTo>
                </a:path>
              </a:pathLst>
            </a:custGeom>
            <a:ln w="29770">
              <a:solidFill>
                <a:srgbClr val="00607E"/>
              </a:solidFill>
            </a:ln>
          </p:spPr>
          <p:txBody>
            <a:bodyPr wrap="square" lIns="0" tIns="0" rIns="0" bIns="0" rtlCol="0"/>
            <a:lstStyle/>
            <a:p>
              <a:endParaRPr/>
            </a:p>
          </p:txBody>
        </p:sp>
        <p:sp>
          <p:nvSpPr>
            <p:cNvPr id="4" name="object 4"/>
            <p:cNvSpPr/>
            <p:nvPr/>
          </p:nvSpPr>
          <p:spPr>
            <a:xfrm>
              <a:off x="7827835" y="3245049"/>
              <a:ext cx="1127760" cy="706120"/>
            </a:xfrm>
            <a:custGeom>
              <a:avLst/>
              <a:gdLst/>
              <a:ahLst/>
              <a:cxnLst/>
              <a:rect l="l" t="t" r="r" b="b"/>
              <a:pathLst>
                <a:path w="1127759" h="706120">
                  <a:moveTo>
                    <a:pt x="1046162" y="0"/>
                  </a:moveTo>
                  <a:lnTo>
                    <a:pt x="81368" y="0"/>
                  </a:lnTo>
                  <a:lnTo>
                    <a:pt x="49666" y="6328"/>
                  </a:lnTo>
                  <a:lnTo>
                    <a:pt x="23806" y="23626"/>
                  </a:lnTo>
                  <a:lnTo>
                    <a:pt x="6384" y="49361"/>
                  </a:lnTo>
                  <a:lnTo>
                    <a:pt x="0" y="81000"/>
                  </a:lnTo>
                  <a:lnTo>
                    <a:pt x="0" y="624598"/>
                  </a:lnTo>
                  <a:lnTo>
                    <a:pt x="6384" y="656237"/>
                  </a:lnTo>
                  <a:lnTo>
                    <a:pt x="23806" y="681972"/>
                  </a:lnTo>
                  <a:lnTo>
                    <a:pt x="49666" y="699270"/>
                  </a:lnTo>
                  <a:lnTo>
                    <a:pt x="81368" y="705599"/>
                  </a:lnTo>
                  <a:lnTo>
                    <a:pt x="1046162" y="705599"/>
                  </a:lnTo>
                  <a:lnTo>
                    <a:pt x="1077801" y="699270"/>
                  </a:lnTo>
                  <a:lnTo>
                    <a:pt x="1103536" y="681972"/>
                  </a:lnTo>
                  <a:lnTo>
                    <a:pt x="1120834" y="656237"/>
                  </a:lnTo>
                  <a:lnTo>
                    <a:pt x="1127163" y="624598"/>
                  </a:lnTo>
                  <a:lnTo>
                    <a:pt x="1127163" y="81000"/>
                  </a:lnTo>
                  <a:lnTo>
                    <a:pt x="1120834" y="49361"/>
                  </a:lnTo>
                  <a:lnTo>
                    <a:pt x="1103536" y="23626"/>
                  </a:lnTo>
                  <a:lnTo>
                    <a:pt x="1077801" y="6328"/>
                  </a:lnTo>
                  <a:lnTo>
                    <a:pt x="1046162" y="0"/>
                  </a:lnTo>
                  <a:close/>
                </a:path>
              </a:pathLst>
            </a:custGeom>
            <a:solidFill>
              <a:srgbClr val="00607E"/>
            </a:solidFill>
          </p:spPr>
          <p:txBody>
            <a:bodyPr wrap="square" lIns="0" tIns="0" rIns="0" bIns="0" rtlCol="0"/>
            <a:lstStyle/>
            <a:p>
              <a:endParaRPr/>
            </a:p>
          </p:txBody>
        </p:sp>
        <p:pic>
          <p:nvPicPr>
            <p:cNvPr id="5" name="object 5"/>
            <p:cNvPicPr/>
            <p:nvPr/>
          </p:nvPicPr>
          <p:blipFill>
            <a:blip r:embed="rId2" cstate="print"/>
            <a:stretch>
              <a:fillRect/>
            </a:stretch>
          </p:blipFill>
          <p:spPr>
            <a:xfrm>
              <a:off x="8084883" y="3428284"/>
              <a:ext cx="221754" cy="125285"/>
            </a:xfrm>
            <a:prstGeom prst="rect">
              <a:avLst/>
            </a:prstGeom>
          </p:spPr>
        </p:pic>
        <p:pic>
          <p:nvPicPr>
            <p:cNvPr id="6" name="object 6"/>
            <p:cNvPicPr/>
            <p:nvPr/>
          </p:nvPicPr>
          <p:blipFill>
            <a:blip r:embed="rId3" cstate="print"/>
            <a:stretch>
              <a:fillRect/>
            </a:stretch>
          </p:blipFill>
          <p:spPr>
            <a:xfrm>
              <a:off x="8329320" y="3430088"/>
              <a:ext cx="368998" cy="163080"/>
            </a:xfrm>
            <a:prstGeom prst="rect">
              <a:avLst/>
            </a:prstGeom>
          </p:spPr>
        </p:pic>
        <p:pic>
          <p:nvPicPr>
            <p:cNvPr id="7" name="object 7"/>
            <p:cNvPicPr/>
            <p:nvPr/>
          </p:nvPicPr>
          <p:blipFill>
            <a:blip r:embed="rId4" cstate="print"/>
            <a:stretch>
              <a:fillRect/>
            </a:stretch>
          </p:blipFill>
          <p:spPr>
            <a:xfrm>
              <a:off x="8250123" y="3641771"/>
              <a:ext cx="284035" cy="125641"/>
            </a:xfrm>
            <a:prstGeom prst="rect">
              <a:avLst/>
            </a:prstGeom>
          </p:spPr>
        </p:pic>
        <p:sp>
          <p:nvSpPr>
            <p:cNvPr id="8" name="object 8"/>
            <p:cNvSpPr/>
            <p:nvPr/>
          </p:nvSpPr>
          <p:spPr>
            <a:xfrm>
              <a:off x="3144596" y="1532886"/>
              <a:ext cx="5064760" cy="1727835"/>
            </a:xfrm>
            <a:custGeom>
              <a:avLst/>
              <a:gdLst/>
              <a:ahLst/>
              <a:cxnLst/>
              <a:rect l="l" t="t" r="r" b="b"/>
              <a:pathLst>
                <a:path w="5064759" h="1727835">
                  <a:moveTo>
                    <a:pt x="0" y="0"/>
                  </a:moveTo>
                  <a:lnTo>
                    <a:pt x="5064480" y="1727644"/>
                  </a:lnTo>
                </a:path>
              </a:pathLst>
            </a:custGeom>
            <a:ln w="29770">
              <a:solidFill>
                <a:srgbClr val="00607E"/>
              </a:solidFill>
            </a:ln>
          </p:spPr>
          <p:txBody>
            <a:bodyPr wrap="square" lIns="0" tIns="0" rIns="0" bIns="0" rtlCol="0"/>
            <a:lstStyle/>
            <a:p>
              <a:endParaRPr/>
            </a:p>
          </p:txBody>
        </p:sp>
        <p:sp>
          <p:nvSpPr>
            <p:cNvPr id="9" name="object 9"/>
            <p:cNvSpPr/>
            <p:nvPr/>
          </p:nvSpPr>
          <p:spPr>
            <a:xfrm>
              <a:off x="5853594" y="1686962"/>
              <a:ext cx="962660" cy="1722120"/>
            </a:xfrm>
            <a:custGeom>
              <a:avLst/>
              <a:gdLst/>
              <a:ahLst/>
              <a:cxnLst/>
              <a:rect l="l" t="t" r="r" b="b"/>
              <a:pathLst>
                <a:path w="962659" h="1722120">
                  <a:moveTo>
                    <a:pt x="0" y="0"/>
                  </a:moveTo>
                  <a:lnTo>
                    <a:pt x="962647" y="1721891"/>
                  </a:lnTo>
                </a:path>
              </a:pathLst>
            </a:custGeom>
            <a:ln w="32183">
              <a:solidFill>
                <a:srgbClr val="E46F00"/>
              </a:solidFill>
            </a:ln>
          </p:spPr>
          <p:txBody>
            <a:bodyPr wrap="square" lIns="0" tIns="0" rIns="0" bIns="0" rtlCol="0"/>
            <a:lstStyle/>
            <a:p>
              <a:endParaRPr/>
            </a:p>
          </p:txBody>
        </p:sp>
        <p:sp>
          <p:nvSpPr>
            <p:cNvPr id="10" name="object 10"/>
            <p:cNvSpPr/>
            <p:nvPr/>
          </p:nvSpPr>
          <p:spPr>
            <a:xfrm>
              <a:off x="4940642" y="1661054"/>
              <a:ext cx="1003300" cy="1724660"/>
            </a:xfrm>
            <a:custGeom>
              <a:avLst/>
              <a:gdLst/>
              <a:ahLst/>
              <a:cxnLst/>
              <a:rect l="l" t="t" r="r" b="b"/>
              <a:pathLst>
                <a:path w="1003300" h="1724660">
                  <a:moveTo>
                    <a:pt x="1002957" y="0"/>
                  </a:moveTo>
                  <a:lnTo>
                    <a:pt x="0" y="1724393"/>
                  </a:lnTo>
                </a:path>
              </a:pathLst>
            </a:custGeom>
            <a:ln w="32182">
              <a:solidFill>
                <a:srgbClr val="E46F00"/>
              </a:solidFill>
            </a:ln>
          </p:spPr>
          <p:txBody>
            <a:bodyPr wrap="square" lIns="0" tIns="0" rIns="0" bIns="0" rtlCol="0"/>
            <a:lstStyle/>
            <a:p>
              <a:endParaRPr/>
            </a:p>
          </p:txBody>
        </p:sp>
        <p:sp>
          <p:nvSpPr>
            <p:cNvPr id="11" name="object 11"/>
            <p:cNvSpPr/>
            <p:nvPr/>
          </p:nvSpPr>
          <p:spPr>
            <a:xfrm>
              <a:off x="1542237" y="1740251"/>
              <a:ext cx="4326890" cy="1558925"/>
            </a:xfrm>
            <a:custGeom>
              <a:avLst/>
              <a:gdLst/>
              <a:ahLst/>
              <a:cxnLst/>
              <a:rect l="l" t="t" r="r" b="b"/>
              <a:pathLst>
                <a:path w="4326890" h="1558925">
                  <a:moveTo>
                    <a:pt x="4326839" y="0"/>
                  </a:moveTo>
                  <a:lnTo>
                    <a:pt x="0" y="1558797"/>
                  </a:lnTo>
                </a:path>
              </a:pathLst>
            </a:custGeom>
            <a:ln w="32769">
              <a:solidFill>
                <a:srgbClr val="E46F00"/>
              </a:solidFill>
            </a:ln>
          </p:spPr>
          <p:txBody>
            <a:bodyPr wrap="square" lIns="0" tIns="0" rIns="0" bIns="0" rtlCol="0"/>
            <a:lstStyle/>
            <a:p>
              <a:endParaRPr/>
            </a:p>
          </p:txBody>
        </p:sp>
        <p:sp>
          <p:nvSpPr>
            <p:cNvPr id="12" name="object 12"/>
            <p:cNvSpPr/>
            <p:nvPr/>
          </p:nvSpPr>
          <p:spPr>
            <a:xfrm>
              <a:off x="3195002" y="1722967"/>
              <a:ext cx="2741295" cy="1591310"/>
            </a:xfrm>
            <a:custGeom>
              <a:avLst/>
              <a:gdLst/>
              <a:ahLst/>
              <a:cxnLst/>
              <a:rect l="l" t="t" r="r" b="b"/>
              <a:pathLst>
                <a:path w="2741295" h="1591310">
                  <a:moveTo>
                    <a:pt x="2740672" y="0"/>
                  </a:moveTo>
                  <a:lnTo>
                    <a:pt x="0" y="1591195"/>
                  </a:lnTo>
                </a:path>
              </a:pathLst>
            </a:custGeom>
            <a:ln w="32075">
              <a:solidFill>
                <a:srgbClr val="E46F00"/>
              </a:solidFill>
            </a:ln>
          </p:spPr>
          <p:txBody>
            <a:bodyPr wrap="square" lIns="0" tIns="0" rIns="0" bIns="0" rtlCol="0"/>
            <a:lstStyle/>
            <a:p>
              <a:endParaRPr/>
            </a:p>
          </p:txBody>
        </p:sp>
        <p:sp>
          <p:nvSpPr>
            <p:cNvPr id="13" name="object 13"/>
            <p:cNvSpPr/>
            <p:nvPr/>
          </p:nvSpPr>
          <p:spPr>
            <a:xfrm>
              <a:off x="1523517" y="1712172"/>
              <a:ext cx="898525" cy="1600200"/>
            </a:xfrm>
            <a:custGeom>
              <a:avLst/>
              <a:gdLst/>
              <a:ahLst/>
              <a:cxnLst/>
              <a:rect l="l" t="t" r="r" b="b"/>
              <a:pathLst>
                <a:path w="898525" h="1600200">
                  <a:moveTo>
                    <a:pt x="898207" y="0"/>
                  </a:moveTo>
                  <a:lnTo>
                    <a:pt x="0" y="1600200"/>
                  </a:lnTo>
                </a:path>
              </a:pathLst>
            </a:custGeom>
            <a:ln w="35412">
              <a:solidFill>
                <a:srgbClr val="FF9C00"/>
              </a:solidFill>
            </a:ln>
          </p:spPr>
          <p:txBody>
            <a:bodyPr wrap="square" lIns="0" tIns="0" rIns="0" bIns="0" rtlCol="0"/>
            <a:lstStyle/>
            <a:p>
              <a:endParaRPr/>
            </a:p>
          </p:txBody>
        </p:sp>
        <p:sp>
          <p:nvSpPr>
            <p:cNvPr id="14" name="object 14"/>
            <p:cNvSpPr/>
            <p:nvPr/>
          </p:nvSpPr>
          <p:spPr>
            <a:xfrm>
              <a:off x="2394724" y="1738803"/>
              <a:ext cx="880744" cy="1671320"/>
            </a:xfrm>
            <a:custGeom>
              <a:avLst/>
              <a:gdLst/>
              <a:ahLst/>
              <a:cxnLst/>
              <a:rect l="l" t="t" r="r" b="b"/>
              <a:pathLst>
                <a:path w="880745" h="1671320">
                  <a:moveTo>
                    <a:pt x="0" y="0"/>
                  </a:moveTo>
                  <a:lnTo>
                    <a:pt x="880198" y="1670761"/>
                  </a:lnTo>
                </a:path>
              </a:pathLst>
            </a:custGeom>
            <a:ln w="34109">
              <a:solidFill>
                <a:srgbClr val="FF9C00"/>
              </a:solidFill>
            </a:ln>
          </p:spPr>
          <p:txBody>
            <a:bodyPr wrap="square" lIns="0" tIns="0" rIns="0" bIns="0" rtlCol="0"/>
            <a:lstStyle/>
            <a:p>
              <a:endParaRPr/>
            </a:p>
          </p:txBody>
        </p:sp>
        <p:sp>
          <p:nvSpPr>
            <p:cNvPr id="15" name="object 15"/>
            <p:cNvSpPr/>
            <p:nvPr/>
          </p:nvSpPr>
          <p:spPr>
            <a:xfrm>
              <a:off x="2396515" y="1742055"/>
              <a:ext cx="4351655" cy="1550035"/>
            </a:xfrm>
            <a:custGeom>
              <a:avLst/>
              <a:gdLst/>
              <a:ahLst/>
              <a:cxnLst/>
              <a:rect l="l" t="t" r="r" b="b"/>
              <a:pathLst>
                <a:path w="4351655" h="1550035">
                  <a:moveTo>
                    <a:pt x="0" y="0"/>
                  </a:moveTo>
                  <a:lnTo>
                    <a:pt x="4351324" y="1549438"/>
                  </a:lnTo>
                </a:path>
              </a:pathLst>
            </a:custGeom>
            <a:ln w="32165">
              <a:solidFill>
                <a:srgbClr val="FF9C00"/>
              </a:solidFill>
            </a:ln>
          </p:spPr>
          <p:txBody>
            <a:bodyPr wrap="square" lIns="0" tIns="0" rIns="0" bIns="0" rtlCol="0"/>
            <a:lstStyle/>
            <a:p>
              <a:endParaRPr/>
            </a:p>
          </p:txBody>
        </p:sp>
        <p:sp>
          <p:nvSpPr>
            <p:cNvPr id="16" name="object 16"/>
            <p:cNvSpPr/>
            <p:nvPr/>
          </p:nvSpPr>
          <p:spPr>
            <a:xfrm>
              <a:off x="2261514" y="1671125"/>
              <a:ext cx="2854325" cy="1704975"/>
            </a:xfrm>
            <a:custGeom>
              <a:avLst/>
              <a:gdLst/>
              <a:ahLst/>
              <a:cxnLst/>
              <a:rect l="l" t="t" r="r" b="b"/>
              <a:pathLst>
                <a:path w="2854325" h="1704975">
                  <a:moveTo>
                    <a:pt x="2854083" y="1704606"/>
                  </a:moveTo>
                  <a:lnTo>
                    <a:pt x="0" y="0"/>
                  </a:lnTo>
                </a:path>
              </a:pathLst>
            </a:custGeom>
            <a:ln w="33241">
              <a:solidFill>
                <a:srgbClr val="FF9C00"/>
              </a:solidFill>
            </a:ln>
          </p:spPr>
          <p:txBody>
            <a:bodyPr wrap="square" lIns="0" tIns="0" rIns="0" bIns="0" rtlCol="0"/>
            <a:lstStyle/>
            <a:p>
              <a:endParaRPr/>
            </a:p>
          </p:txBody>
        </p:sp>
        <p:sp>
          <p:nvSpPr>
            <p:cNvPr id="17" name="object 17"/>
            <p:cNvSpPr/>
            <p:nvPr/>
          </p:nvSpPr>
          <p:spPr>
            <a:xfrm>
              <a:off x="5025961" y="1260013"/>
              <a:ext cx="1574800" cy="512445"/>
            </a:xfrm>
            <a:custGeom>
              <a:avLst/>
              <a:gdLst/>
              <a:ahLst/>
              <a:cxnLst/>
              <a:rect l="l" t="t" r="r" b="b"/>
              <a:pathLst>
                <a:path w="1574800" h="512444">
                  <a:moveTo>
                    <a:pt x="1471320" y="0"/>
                  </a:moveTo>
                  <a:lnTo>
                    <a:pt x="103314" y="0"/>
                  </a:lnTo>
                  <a:lnTo>
                    <a:pt x="63023" y="8093"/>
                  </a:lnTo>
                  <a:lnTo>
                    <a:pt x="30192" y="30192"/>
                  </a:lnTo>
                  <a:lnTo>
                    <a:pt x="8093" y="63023"/>
                  </a:lnTo>
                  <a:lnTo>
                    <a:pt x="0" y="103314"/>
                  </a:lnTo>
                  <a:lnTo>
                    <a:pt x="0" y="408597"/>
                  </a:lnTo>
                  <a:lnTo>
                    <a:pt x="8093" y="448887"/>
                  </a:lnTo>
                  <a:lnTo>
                    <a:pt x="30192" y="481718"/>
                  </a:lnTo>
                  <a:lnTo>
                    <a:pt x="63023" y="503817"/>
                  </a:lnTo>
                  <a:lnTo>
                    <a:pt x="103314" y="511911"/>
                  </a:lnTo>
                  <a:lnTo>
                    <a:pt x="1471320" y="511911"/>
                  </a:lnTo>
                  <a:lnTo>
                    <a:pt x="1511610" y="503817"/>
                  </a:lnTo>
                  <a:lnTo>
                    <a:pt x="1544442" y="481718"/>
                  </a:lnTo>
                  <a:lnTo>
                    <a:pt x="1566541" y="448887"/>
                  </a:lnTo>
                  <a:lnTo>
                    <a:pt x="1574634" y="408597"/>
                  </a:lnTo>
                  <a:lnTo>
                    <a:pt x="1574634" y="103314"/>
                  </a:lnTo>
                  <a:lnTo>
                    <a:pt x="1566541" y="63023"/>
                  </a:lnTo>
                  <a:lnTo>
                    <a:pt x="1544442" y="30192"/>
                  </a:lnTo>
                  <a:lnTo>
                    <a:pt x="1511610" y="8093"/>
                  </a:lnTo>
                  <a:lnTo>
                    <a:pt x="1471320" y="0"/>
                  </a:lnTo>
                  <a:close/>
                </a:path>
              </a:pathLst>
            </a:custGeom>
            <a:solidFill>
              <a:srgbClr val="00607E"/>
            </a:solidFill>
          </p:spPr>
          <p:txBody>
            <a:bodyPr wrap="square" lIns="0" tIns="0" rIns="0" bIns="0" rtlCol="0"/>
            <a:lstStyle/>
            <a:p>
              <a:endParaRPr/>
            </a:p>
          </p:txBody>
        </p:sp>
        <p:pic>
          <p:nvPicPr>
            <p:cNvPr id="18" name="object 18"/>
            <p:cNvPicPr/>
            <p:nvPr/>
          </p:nvPicPr>
          <p:blipFill>
            <a:blip r:embed="rId5" cstate="print"/>
            <a:stretch>
              <a:fillRect/>
            </a:stretch>
          </p:blipFill>
          <p:spPr>
            <a:xfrm>
              <a:off x="5230076" y="1420567"/>
              <a:ext cx="323646" cy="200520"/>
            </a:xfrm>
            <a:prstGeom prst="rect">
              <a:avLst/>
            </a:prstGeom>
          </p:spPr>
        </p:pic>
        <p:sp>
          <p:nvSpPr>
            <p:cNvPr id="19" name="object 19"/>
            <p:cNvSpPr/>
            <p:nvPr/>
          </p:nvSpPr>
          <p:spPr>
            <a:xfrm>
              <a:off x="5576760" y="1418052"/>
              <a:ext cx="24765" cy="200660"/>
            </a:xfrm>
            <a:custGeom>
              <a:avLst/>
              <a:gdLst/>
              <a:ahLst/>
              <a:cxnLst/>
              <a:rect l="l" t="t" r="r" b="b"/>
              <a:pathLst>
                <a:path w="24764" h="200659">
                  <a:moveTo>
                    <a:pt x="22313" y="54355"/>
                  </a:moveTo>
                  <a:lnTo>
                    <a:pt x="1803" y="54355"/>
                  </a:lnTo>
                  <a:lnTo>
                    <a:pt x="1803" y="200520"/>
                  </a:lnTo>
                  <a:lnTo>
                    <a:pt x="22313" y="200520"/>
                  </a:lnTo>
                  <a:lnTo>
                    <a:pt x="22313" y="54355"/>
                  </a:lnTo>
                  <a:close/>
                </a:path>
                <a:path w="24764" h="200659">
                  <a:moveTo>
                    <a:pt x="15481" y="0"/>
                  </a:moveTo>
                  <a:lnTo>
                    <a:pt x="8636" y="0"/>
                  </a:lnTo>
                  <a:lnTo>
                    <a:pt x="5765" y="1079"/>
                  </a:lnTo>
                  <a:lnTo>
                    <a:pt x="1079" y="5753"/>
                  </a:lnTo>
                  <a:lnTo>
                    <a:pt x="0" y="9715"/>
                  </a:lnTo>
                  <a:lnTo>
                    <a:pt x="0" y="19430"/>
                  </a:lnTo>
                  <a:lnTo>
                    <a:pt x="1079" y="23393"/>
                  </a:lnTo>
                  <a:lnTo>
                    <a:pt x="3238" y="25920"/>
                  </a:lnTo>
                  <a:lnTo>
                    <a:pt x="5765" y="28079"/>
                  </a:lnTo>
                  <a:lnTo>
                    <a:pt x="8636" y="29514"/>
                  </a:lnTo>
                  <a:lnTo>
                    <a:pt x="15481" y="29514"/>
                  </a:lnTo>
                  <a:lnTo>
                    <a:pt x="18364" y="28079"/>
                  </a:lnTo>
                  <a:lnTo>
                    <a:pt x="20878" y="25920"/>
                  </a:lnTo>
                  <a:lnTo>
                    <a:pt x="23037" y="23393"/>
                  </a:lnTo>
                  <a:lnTo>
                    <a:pt x="24485" y="19430"/>
                  </a:lnTo>
                  <a:lnTo>
                    <a:pt x="24485" y="9715"/>
                  </a:lnTo>
                  <a:lnTo>
                    <a:pt x="23037" y="6121"/>
                  </a:lnTo>
                  <a:lnTo>
                    <a:pt x="20878" y="3594"/>
                  </a:lnTo>
                  <a:lnTo>
                    <a:pt x="18364" y="1079"/>
                  </a:lnTo>
                  <a:lnTo>
                    <a:pt x="15481" y="0"/>
                  </a:lnTo>
                  <a:close/>
                </a:path>
              </a:pathLst>
            </a:custGeom>
            <a:solidFill>
              <a:srgbClr val="FFFFFF"/>
            </a:solidFill>
          </p:spPr>
          <p:txBody>
            <a:bodyPr wrap="square" lIns="0" tIns="0" rIns="0" bIns="0" rtlCol="0"/>
            <a:lstStyle/>
            <a:p>
              <a:endParaRPr/>
            </a:p>
          </p:txBody>
        </p:sp>
        <p:pic>
          <p:nvPicPr>
            <p:cNvPr id="20" name="object 20"/>
            <p:cNvPicPr/>
            <p:nvPr/>
          </p:nvPicPr>
          <p:blipFill>
            <a:blip r:embed="rId6" cstate="print"/>
            <a:stretch>
              <a:fillRect/>
            </a:stretch>
          </p:blipFill>
          <p:spPr>
            <a:xfrm>
              <a:off x="5625363" y="1438563"/>
              <a:ext cx="81000" cy="182524"/>
            </a:xfrm>
            <a:prstGeom prst="rect">
              <a:avLst/>
            </a:prstGeom>
          </p:spPr>
        </p:pic>
        <p:pic>
          <p:nvPicPr>
            <p:cNvPr id="21" name="object 21"/>
            <p:cNvPicPr/>
            <p:nvPr/>
          </p:nvPicPr>
          <p:blipFill>
            <a:blip r:embed="rId7" cstate="print"/>
            <a:stretch>
              <a:fillRect/>
            </a:stretch>
          </p:blipFill>
          <p:spPr>
            <a:xfrm>
              <a:off x="5726163" y="1469525"/>
              <a:ext cx="98996" cy="151561"/>
            </a:xfrm>
            <a:prstGeom prst="rect">
              <a:avLst/>
            </a:prstGeom>
          </p:spPr>
        </p:pic>
        <p:pic>
          <p:nvPicPr>
            <p:cNvPr id="22" name="object 22"/>
            <p:cNvPicPr/>
            <p:nvPr/>
          </p:nvPicPr>
          <p:blipFill>
            <a:blip r:embed="rId8" cstate="print"/>
            <a:stretch>
              <a:fillRect/>
            </a:stretch>
          </p:blipFill>
          <p:spPr>
            <a:xfrm>
              <a:off x="5855754" y="1410851"/>
              <a:ext cx="114490" cy="207721"/>
            </a:xfrm>
            <a:prstGeom prst="rect">
              <a:avLst/>
            </a:prstGeom>
          </p:spPr>
        </p:pic>
        <p:pic>
          <p:nvPicPr>
            <p:cNvPr id="23" name="object 23"/>
            <p:cNvPicPr/>
            <p:nvPr/>
          </p:nvPicPr>
          <p:blipFill>
            <a:blip r:embed="rId9" cstate="print"/>
            <a:stretch>
              <a:fillRect/>
            </a:stretch>
          </p:blipFill>
          <p:spPr>
            <a:xfrm>
              <a:off x="6180124" y="1422015"/>
              <a:ext cx="236512" cy="186118"/>
            </a:xfrm>
            <a:prstGeom prst="rect">
              <a:avLst/>
            </a:prstGeom>
          </p:spPr>
        </p:pic>
        <p:sp>
          <p:nvSpPr>
            <p:cNvPr id="24" name="object 24"/>
            <p:cNvSpPr/>
            <p:nvPr/>
          </p:nvSpPr>
          <p:spPr>
            <a:xfrm>
              <a:off x="6142685" y="1359366"/>
              <a:ext cx="311785" cy="311785"/>
            </a:xfrm>
            <a:custGeom>
              <a:avLst/>
              <a:gdLst/>
              <a:ahLst/>
              <a:cxnLst/>
              <a:rect l="l" t="t" r="r" b="b"/>
              <a:pathLst>
                <a:path w="311785" h="311785">
                  <a:moveTo>
                    <a:pt x="311391" y="155524"/>
                  </a:moveTo>
                  <a:lnTo>
                    <a:pt x="310052" y="175929"/>
                  </a:lnTo>
                  <a:lnTo>
                    <a:pt x="306081" y="195930"/>
                  </a:lnTo>
                  <a:lnTo>
                    <a:pt x="290512" y="233641"/>
                  </a:lnTo>
                  <a:lnTo>
                    <a:pt x="265852" y="265731"/>
                  </a:lnTo>
                  <a:lnTo>
                    <a:pt x="233629" y="290525"/>
                  </a:lnTo>
                  <a:lnTo>
                    <a:pt x="196107" y="306093"/>
                  </a:lnTo>
                  <a:lnTo>
                    <a:pt x="155879" y="311404"/>
                  </a:lnTo>
                  <a:lnTo>
                    <a:pt x="135473" y="310065"/>
                  </a:lnTo>
                  <a:lnTo>
                    <a:pt x="115508" y="306093"/>
                  </a:lnTo>
                  <a:lnTo>
                    <a:pt x="78117" y="290525"/>
                  </a:lnTo>
                  <a:lnTo>
                    <a:pt x="45716" y="265731"/>
                  </a:lnTo>
                  <a:lnTo>
                    <a:pt x="20878" y="233641"/>
                  </a:lnTo>
                  <a:lnTo>
                    <a:pt x="5310" y="195930"/>
                  </a:lnTo>
                  <a:lnTo>
                    <a:pt x="0" y="155524"/>
                  </a:lnTo>
                  <a:lnTo>
                    <a:pt x="5310" y="115295"/>
                  </a:lnTo>
                  <a:lnTo>
                    <a:pt x="20878" y="77762"/>
                  </a:lnTo>
                  <a:lnTo>
                    <a:pt x="45716" y="45539"/>
                  </a:lnTo>
                  <a:lnTo>
                    <a:pt x="78117" y="20878"/>
                  </a:lnTo>
                  <a:lnTo>
                    <a:pt x="115508" y="5310"/>
                  </a:lnTo>
                  <a:lnTo>
                    <a:pt x="155879" y="0"/>
                  </a:lnTo>
                  <a:lnTo>
                    <a:pt x="176229" y="1338"/>
                  </a:lnTo>
                  <a:lnTo>
                    <a:pt x="196107" y="5310"/>
                  </a:lnTo>
                  <a:lnTo>
                    <a:pt x="233629" y="20878"/>
                  </a:lnTo>
                  <a:lnTo>
                    <a:pt x="265852" y="45539"/>
                  </a:lnTo>
                  <a:lnTo>
                    <a:pt x="290512" y="77762"/>
                  </a:lnTo>
                  <a:lnTo>
                    <a:pt x="306081" y="115295"/>
                  </a:lnTo>
                  <a:lnTo>
                    <a:pt x="311391" y="155524"/>
                  </a:lnTo>
                  <a:close/>
                </a:path>
              </a:pathLst>
            </a:custGeom>
            <a:ln w="7320">
              <a:solidFill>
                <a:srgbClr val="FFFFFF"/>
              </a:solidFill>
            </a:ln>
          </p:spPr>
          <p:txBody>
            <a:bodyPr wrap="square" lIns="0" tIns="0" rIns="0" bIns="0" rtlCol="0"/>
            <a:lstStyle/>
            <a:p>
              <a:endParaRPr/>
            </a:p>
          </p:txBody>
        </p:sp>
        <p:sp>
          <p:nvSpPr>
            <p:cNvPr id="25" name="object 25"/>
            <p:cNvSpPr/>
            <p:nvPr/>
          </p:nvSpPr>
          <p:spPr>
            <a:xfrm>
              <a:off x="1629003" y="1260013"/>
              <a:ext cx="1574800" cy="512445"/>
            </a:xfrm>
            <a:custGeom>
              <a:avLst/>
              <a:gdLst/>
              <a:ahLst/>
              <a:cxnLst/>
              <a:rect l="l" t="t" r="r" b="b"/>
              <a:pathLst>
                <a:path w="1574800" h="512444">
                  <a:moveTo>
                    <a:pt x="1471320" y="0"/>
                  </a:moveTo>
                  <a:lnTo>
                    <a:pt x="102958" y="0"/>
                  </a:lnTo>
                  <a:lnTo>
                    <a:pt x="62723" y="8093"/>
                  </a:lnTo>
                  <a:lnTo>
                    <a:pt x="30014" y="30192"/>
                  </a:lnTo>
                  <a:lnTo>
                    <a:pt x="8038" y="63023"/>
                  </a:lnTo>
                  <a:lnTo>
                    <a:pt x="0" y="103314"/>
                  </a:lnTo>
                  <a:lnTo>
                    <a:pt x="0" y="408597"/>
                  </a:lnTo>
                  <a:lnTo>
                    <a:pt x="8038" y="448887"/>
                  </a:lnTo>
                  <a:lnTo>
                    <a:pt x="30014" y="481718"/>
                  </a:lnTo>
                  <a:lnTo>
                    <a:pt x="62723" y="503817"/>
                  </a:lnTo>
                  <a:lnTo>
                    <a:pt x="102958" y="511911"/>
                  </a:lnTo>
                  <a:lnTo>
                    <a:pt x="1471320" y="511911"/>
                  </a:lnTo>
                  <a:lnTo>
                    <a:pt x="1511555" y="503817"/>
                  </a:lnTo>
                  <a:lnTo>
                    <a:pt x="1544264" y="481718"/>
                  </a:lnTo>
                  <a:lnTo>
                    <a:pt x="1566241" y="448887"/>
                  </a:lnTo>
                  <a:lnTo>
                    <a:pt x="1574279" y="408597"/>
                  </a:lnTo>
                  <a:lnTo>
                    <a:pt x="1574279" y="103314"/>
                  </a:lnTo>
                  <a:lnTo>
                    <a:pt x="1566241" y="63023"/>
                  </a:lnTo>
                  <a:lnTo>
                    <a:pt x="1544264" y="30192"/>
                  </a:lnTo>
                  <a:lnTo>
                    <a:pt x="1511555" y="8093"/>
                  </a:lnTo>
                  <a:lnTo>
                    <a:pt x="1471320" y="0"/>
                  </a:lnTo>
                  <a:close/>
                </a:path>
              </a:pathLst>
            </a:custGeom>
            <a:solidFill>
              <a:srgbClr val="00607E"/>
            </a:solidFill>
          </p:spPr>
          <p:txBody>
            <a:bodyPr wrap="square" lIns="0" tIns="0" rIns="0" bIns="0" rtlCol="0"/>
            <a:lstStyle/>
            <a:p>
              <a:endParaRPr/>
            </a:p>
          </p:txBody>
        </p:sp>
        <p:pic>
          <p:nvPicPr>
            <p:cNvPr id="26" name="object 26"/>
            <p:cNvPicPr/>
            <p:nvPr/>
          </p:nvPicPr>
          <p:blipFill>
            <a:blip r:embed="rId10" cstate="print"/>
            <a:stretch>
              <a:fillRect/>
            </a:stretch>
          </p:blipFill>
          <p:spPr>
            <a:xfrm>
              <a:off x="1833117" y="1420567"/>
              <a:ext cx="323646" cy="200520"/>
            </a:xfrm>
            <a:prstGeom prst="rect">
              <a:avLst/>
            </a:prstGeom>
          </p:spPr>
        </p:pic>
        <p:sp>
          <p:nvSpPr>
            <p:cNvPr id="27" name="object 27"/>
            <p:cNvSpPr/>
            <p:nvPr/>
          </p:nvSpPr>
          <p:spPr>
            <a:xfrm>
              <a:off x="2179434" y="1418052"/>
              <a:ext cx="25400" cy="200660"/>
            </a:xfrm>
            <a:custGeom>
              <a:avLst/>
              <a:gdLst/>
              <a:ahLst/>
              <a:cxnLst/>
              <a:rect l="l" t="t" r="r" b="b"/>
              <a:pathLst>
                <a:path w="25400" h="200659">
                  <a:moveTo>
                    <a:pt x="22682" y="54355"/>
                  </a:moveTo>
                  <a:lnTo>
                    <a:pt x="1803" y="54355"/>
                  </a:lnTo>
                  <a:lnTo>
                    <a:pt x="1803" y="200520"/>
                  </a:lnTo>
                  <a:lnTo>
                    <a:pt x="22682" y="200520"/>
                  </a:lnTo>
                  <a:lnTo>
                    <a:pt x="22682" y="54355"/>
                  </a:lnTo>
                  <a:close/>
                </a:path>
                <a:path w="25400" h="200659">
                  <a:moveTo>
                    <a:pt x="15849" y="0"/>
                  </a:moveTo>
                  <a:lnTo>
                    <a:pt x="9004" y="0"/>
                  </a:lnTo>
                  <a:lnTo>
                    <a:pt x="6121" y="1079"/>
                  </a:lnTo>
                  <a:lnTo>
                    <a:pt x="1447" y="5753"/>
                  </a:lnTo>
                  <a:lnTo>
                    <a:pt x="0" y="9715"/>
                  </a:lnTo>
                  <a:lnTo>
                    <a:pt x="0" y="19430"/>
                  </a:lnTo>
                  <a:lnTo>
                    <a:pt x="1447" y="23393"/>
                  </a:lnTo>
                  <a:lnTo>
                    <a:pt x="3606" y="25920"/>
                  </a:lnTo>
                  <a:lnTo>
                    <a:pt x="6121" y="28079"/>
                  </a:lnTo>
                  <a:lnTo>
                    <a:pt x="9004" y="29514"/>
                  </a:lnTo>
                  <a:lnTo>
                    <a:pt x="15849" y="29514"/>
                  </a:lnTo>
                  <a:lnTo>
                    <a:pt x="18719" y="28079"/>
                  </a:lnTo>
                  <a:lnTo>
                    <a:pt x="23406" y="23393"/>
                  </a:lnTo>
                  <a:lnTo>
                    <a:pt x="24841" y="19430"/>
                  </a:lnTo>
                  <a:lnTo>
                    <a:pt x="24841" y="9715"/>
                  </a:lnTo>
                  <a:lnTo>
                    <a:pt x="23406" y="6121"/>
                  </a:lnTo>
                  <a:lnTo>
                    <a:pt x="20891" y="3594"/>
                  </a:lnTo>
                  <a:lnTo>
                    <a:pt x="18719" y="1079"/>
                  </a:lnTo>
                  <a:lnTo>
                    <a:pt x="15849" y="0"/>
                  </a:lnTo>
                  <a:close/>
                </a:path>
              </a:pathLst>
            </a:custGeom>
            <a:solidFill>
              <a:srgbClr val="FFFFFF"/>
            </a:solidFill>
          </p:spPr>
          <p:txBody>
            <a:bodyPr wrap="square" lIns="0" tIns="0" rIns="0" bIns="0" rtlCol="0"/>
            <a:lstStyle/>
            <a:p>
              <a:endParaRPr/>
            </a:p>
          </p:txBody>
        </p:sp>
        <p:pic>
          <p:nvPicPr>
            <p:cNvPr id="28" name="object 28"/>
            <p:cNvPicPr/>
            <p:nvPr/>
          </p:nvPicPr>
          <p:blipFill>
            <a:blip r:embed="rId11" cstate="print"/>
            <a:stretch>
              <a:fillRect/>
            </a:stretch>
          </p:blipFill>
          <p:spPr>
            <a:xfrm>
              <a:off x="2228405" y="1438563"/>
              <a:ext cx="81000" cy="182524"/>
            </a:xfrm>
            <a:prstGeom prst="rect">
              <a:avLst/>
            </a:prstGeom>
          </p:spPr>
        </p:pic>
        <p:pic>
          <p:nvPicPr>
            <p:cNvPr id="29" name="object 29"/>
            <p:cNvPicPr/>
            <p:nvPr/>
          </p:nvPicPr>
          <p:blipFill>
            <a:blip r:embed="rId12" cstate="print"/>
            <a:stretch>
              <a:fillRect/>
            </a:stretch>
          </p:blipFill>
          <p:spPr>
            <a:xfrm>
              <a:off x="2329205" y="1469525"/>
              <a:ext cx="98996" cy="151561"/>
            </a:xfrm>
            <a:prstGeom prst="rect">
              <a:avLst/>
            </a:prstGeom>
          </p:spPr>
        </p:pic>
        <p:pic>
          <p:nvPicPr>
            <p:cNvPr id="30" name="object 30"/>
            <p:cNvPicPr/>
            <p:nvPr/>
          </p:nvPicPr>
          <p:blipFill>
            <a:blip r:embed="rId13" cstate="print"/>
            <a:stretch>
              <a:fillRect/>
            </a:stretch>
          </p:blipFill>
          <p:spPr>
            <a:xfrm>
              <a:off x="2458796" y="1410851"/>
              <a:ext cx="114477" cy="207721"/>
            </a:xfrm>
            <a:prstGeom prst="rect">
              <a:avLst/>
            </a:prstGeom>
          </p:spPr>
        </p:pic>
        <p:pic>
          <p:nvPicPr>
            <p:cNvPr id="31" name="object 31"/>
            <p:cNvPicPr/>
            <p:nvPr/>
          </p:nvPicPr>
          <p:blipFill>
            <a:blip r:embed="rId14" cstate="print"/>
            <a:stretch>
              <a:fillRect/>
            </a:stretch>
          </p:blipFill>
          <p:spPr>
            <a:xfrm>
              <a:off x="2783154" y="1422015"/>
              <a:ext cx="236524" cy="186118"/>
            </a:xfrm>
            <a:prstGeom prst="rect">
              <a:avLst/>
            </a:prstGeom>
          </p:spPr>
        </p:pic>
        <p:sp>
          <p:nvSpPr>
            <p:cNvPr id="32" name="object 32"/>
            <p:cNvSpPr/>
            <p:nvPr/>
          </p:nvSpPr>
          <p:spPr>
            <a:xfrm>
              <a:off x="2745714" y="1359366"/>
              <a:ext cx="311785" cy="311785"/>
            </a:xfrm>
            <a:custGeom>
              <a:avLst/>
              <a:gdLst/>
              <a:ahLst/>
              <a:cxnLst/>
              <a:rect l="l" t="t" r="r" b="b"/>
              <a:pathLst>
                <a:path w="311785" h="311785">
                  <a:moveTo>
                    <a:pt x="311403" y="155524"/>
                  </a:moveTo>
                  <a:lnTo>
                    <a:pt x="310065" y="175929"/>
                  </a:lnTo>
                  <a:lnTo>
                    <a:pt x="306093" y="195930"/>
                  </a:lnTo>
                  <a:lnTo>
                    <a:pt x="290525" y="233641"/>
                  </a:lnTo>
                  <a:lnTo>
                    <a:pt x="265731" y="265731"/>
                  </a:lnTo>
                  <a:lnTo>
                    <a:pt x="233641" y="290525"/>
                  </a:lnTo>
                  <a:lnTo>
                    <a:pt x="195930" y="306093"/>
                  </a:lnTo>
                  <a:lnTo>
                    <a:pt x="155524" y="311404"/>
                  </a:lnTo>
                  <a:lnTo>
                    <a:pt x="135324" y="310065"/>
                  </a:lnTo>
                  <a:lnTo>
                    <a:pt x="115428" y="306093"/>
                  </a:lnTo>
                  <a:lnTo>
                    <a:pt x="77762" y="290525"/>
                  </a:lnTo>
                  <a:lnTo>
                    <a:pt x="45683" y="265731"/>
                  </a:lnTo>
                  <a:lnTo>
                    <a:pt x="20891" y="233641"/>
                  </a:lnTo>
                  <a:lnTo>
                    <a:pt x="5311" y="195930"/>
                  </a:lnTo>
                  <a:lnTo>
                    <a:pt x="0" y="155524"/>
                  </a:lnTo>
                  <a:lnTo>
                    <a:pt x="5311" y="115295"/>
                  </a:lnTo>
                  <a:lnTo>
                    <a:pt x="20891" y="77762"/>
                  </a:lnTo>
                  <a:lnTo>
                    <a:pt x="45683" y="45539"/>
                  </a:lnTo>
                  <a:lnTo>
                    <a:pt x="77762" y="20878"/>
                  </a:lnTo>
                  <a:lnTo>
                    <a:pt x="115428" y="5310"/>
                  </a:lnTo>
                  <a:lnTo>
                    <a:pt x="155524" y="0"/>
                  </a:lnTo>
                  <a:lnTo>
                    <a:pt x="175929" y="1338"/>
                  </a:lnTo>
                  <a:lnTo>
                    <a:pt x="195930" y="5310"/>
                  </a:lnTo>
                  <a:lnTo>
                    <a:pt x="233641" y="20878"/>
                  </a:lnTo>
                  <a:lnTo>
                    <a:pt x="265731" y="45539"/>
                  </a:lnTo>
                  <a:lnTo>
                    <a:pt x="290525" y="77762"/>
                  </a:lnTo>
                  <a:lnTo>
                    <a:pt x="306093" y="115295"/>
                  </a:lnTo>
                  <a:lnTo>
                    <a:pt x="311403" y="155524"/>
                  </a:lnTo>
                  <a:close/>
                </a:path>
              </a:pathLst>
            </a:custGeom>
            <a:ln w="7320">
              <a:solidFill>
                <a:srgbClr val="FFFFFF"/>
              </a:solidFill>
            </a:ln>
          </p:spPr>
          <p:txBody>
            <a:bodyPr wrap="square" lIns="0" tIns="0" rIns="0" bIns="0" rtlCol="0"/>
            <a:lstStyle/>
            <a:p>
              <a:endParaRPr/>
            </a:p>
          </p:txBody>
        </p:sp>
        <p:sp>
          <p:nvSpPr>
            <p:cNvPr id="33" name="object 33"/>
            <p:cNvSpPr/>
            <p:nvPr/>
          </p:nvSpPr>
          <p:spPr>
            <a:xfrm>
              <a:off x="3146399" y="1515614"/>
              <a:ext cx="1922780" cy="1270"/>
            </a:xfrm>
            <a:custGeom>
              <a:avLst/>
              <a:gdLst/>
              <a:ahLst/>
              <a:cxnLst/>
              <a:rect l="l" t="t" r="r" b="b"/>
              <a:pathLst>
                <a:path w="1922779" h="1269">
                  <a:moveTo>
                    <a:pt x="0" y="0"/>
                  </a:moveTo>
                  <a:lnTo>
                    <a:pt x="1922399" y="711"/>
                  </a:lnTo>
                </a:path>
              </a:pathLst>
            </a:custGeom>
            <a:ln w="23917">
              <a:solidFill>
                <a:srgbClr val="00607E"/>
              </a:solidFill>
            </a:ln>
          </p:spPr>
          <p:txBody>
            <a:bodyPr wrap="square" lIns="0" tIns="0" rIns="0" bIns="0" rtlCol="0"/>
            <a:lstStyle/>
            <a:p>
              <a:endParaRPr/>
            </a:p>
          </p:txBody>
        </p:sp>
        <p:pic>
          <p:nvPicPr>
            <p:cNvPr id="34" name="object 34"/>
            <p:cNvPicPr/>
            <p:nvPr/>
          </p:nvPicPr>
          <p:blipFill>
            <a:blip r:embed="rId15" cstate="print"/>
            <a:stretch>
              <a:fillRect/>
            </a:stretch>
          </p:blipFill>
          <p:spPr>
            <a:xfrm>
              <a:off x="3810596" y="1278009"/>
              <a:ext cx="139318" cy="151561"/>
            </a:xfrm>
            <a:prstGeom prst="rect">
              <a:avLst/>
            </a:prstGeom>
          </p:spPr>
        </p:pic>
        <p:pic>
          <p:nvPicPr>
            <p:cNvPr id="35" name="object 35"/>
            <p:cNvPicPr/>
            <p:nvPr/>
          </p:nvPicPr>
          <p:blipFill>
            <a:blip r:embed="rId16" cstate="print"/>
            <a:stretch>
              <a:fillRect/>
            </a:stretch>
          </p:blipFill>
          <p:spPr>
            <a:xfrm>
              <a:off x="3988434" y="1275850"/>
              <a:ext cx="333006" cy="155524"/>
            </a:xfrm>
            <a:prstGeom prst="rect">
              <a:avLst/>
            </a:prstGeom>
          </p:spPr>
        </p:pic>
        <p:sp>
          <p:nvSpPr>
            <p:cNvPr id="36" name="object 36"/>
            <p:cNvSpPr/>
            <p:nvPr/>
          </p:nvSpPr>
          <p:spPr>
            <a:xfrm>
              <a:off x="2843999" y="3264848"/>
              <a:ext cx="775970" cy="1254760"/>
            </a:xfrm>
            <a:custGeom>
              <a:avLst/>
              <a:gdLst/>
              <a:ahLst/>
              <a:cxnLst/>
              <a:rect l="l" t="t" r="r" b="b"/>
              <a:pathLst>
                <a:path w="775970" h="1254760">
                  <a:moveTo>
                    <a:pt x="775436" y="0"/>
                  </a:moveTo>
                  <a:lnTo>
                    <a:pt x="0" y="0"/>
                  </a:lnTo>
                  <a:lnTo>
                    <a:pt x="0" y="1254594"/>
                  </a:lnTo>
                  <a:lnTo>
                    <a:pt x="387718" y="1254594"/>
                  </a:lnTo>
                  <a:lnTo>
                    <a:pt x="775436" y="1254594"/>
                  </a:lnTo>
                  <a:lnTo>
                    <a:pt x="775436" y="0"/>
                  </a:lnTo>
                  <a:close/>
                </a:path>
              </a:pathLst>
            </a:custGeom>
            <a:solidFill>
              <a:srgbClr val="CCCCCC"/>
            </a:solidFill>
          </p:spPr>
          <p:txBody>
            <a:bodyPr wrap="square" lIns="0" tIns="0" rIns="0" bIns="0" rtlCol="0"/>
            <a:lstStyle/>
            <a:p>
              <a:endParaRPr/>
            </a:p>
          </p:txBody>
        </p:sp>
        <p:sp>
          <p:nvSpPr>
            <p:cNvPr id="37" name="object 37"/>
            <p:cNvSpPr/>
            <p:nvPr/>
          </p:nvSpPr>
          <p:spPr>
            <a:xfrm>
              <a:off x="2943364" y="3776772"/>
              <a:ext cx="571500" cy="71120"/>
            </a:xfrm>
            <a:custGeom>
              <a:avLst/>
              <a:gdLst/>
              <a:ahLst/>
              <a:cxnLst/>
              <a:rect l="l" t="t" r="r" b="b"/>
              <a:pathLst>
                <a:path w="571500" h="71120">
                  <a:moveTo>
                    <a:pt x="571309" y="0"/>
                  </a:moveTo>
                  <a:lnTo>
                    <a:pt x="0" y="0"/>
                  </a:lnTo>
                  <a:lnTo>
                    <a:pt x="0" y="70561"/>
                  </a:lnTo>
                  <a:lnTo>
                    <a:pt x="285838" y="70561"/>
                  </a:lnTo>
                  <a:lnTo>
                    <a:pt x="571309" y="70561"/>
                  </a:lnTo>
                  <a:lnTo>
                    <a:pt x="571309" y="0"/>
                  </a:lnTo>
                  <a:close/>
                </a:path>
              </a:pathLst>
            </a:custGeom>
            <a:solidFill>
              <a:srgbClr val="A5A5A5"/>
            </a:solidFill>
          </p:spPr>
          <p:txBody>
            <a:bodyPr wrap="square" lIns="0" tIns="0" rIns="0" bIns="0" rtlCol="0"/>
            <a:lstStyle/>
            <a:p>
              <a:endParaRPr/>
            </a:p>
          </p:txBody>
        </p:sp>
        <p:pic>
          <p:nvPicPr>
            <p:cNvPr id="38" name="object 38"/>
            <p:cNvPicPr/>
            <p:nvPr/>
          </p:nvPicPr>
          <p:blipFill>
            <a:blip r:embed="rId17" cstate="print"/>
            <a:stretch>
              <a:fillRect/>
            </a:stretch>
          </p:blipFill>
          <p:spPr>
            <a:xfrm>
              <a:off x="3151441" y="4131369"/>
              <a:ext cx="160553" cy="160553"/>
            </a:xfrm>
            <a:prstGeom prst="rect">
              <a:avLst/>
            </a:prstGeom>
          </p:spPr>
        </p:pic>
        <p:sp>
          <p:nvSpPr>
            <p:cNvPr id="39" name="object 39"/>
            <p:cNvSpPr/>
            <p:nvPr/>
          </p:nvSpPr>
          <p:spPr>
            <a:xfrm>
              <a:off x="2943364" y="3446293"/>
              <a:ext cx="571500" cy="235585"/>
            </a:xfrm>
            <a:custGeom>
              <a:avLst/>
              <a:gdLst/>
              <a:ahLst/>
              <a:cxnLst/>
              <a:rect l="l" t="t" r="r" b="b"/>
              <a:pathLst>
                <a:path w="571500" h="235585">
                  <a:moveTo>
                    <a:pt x="571309" y="165239"/>
                  </a:moveTo>
                  <a:lnTo>
                    <a:pt x="0" y="165239"/>
                  </a:lnTo>
                  <a:lnTo>
                    <a:pt x="0" y="235432"/>
                  </a:lnTo>
                  <a:lnTo>
                    <a:pt x="285838" y="235432"/>
                  </a:lnTo>
                  <a:lnTo>
                    <a:pt x="571309" y="235432"/>
                  </a:lnTo>
                  <a:lnTo>
                    <a:pt x="571309" y="165239"/>
                  </a:lnTo>
                  <a:close/>
                </a:path>
                <a:path w="571500" h="235585">
                  <a:moveTo>
                    <a:pt x="571309" y="0"/>
                  </a:moveTo>
                  <a:lnTo>
                    <a:pt x="0" y="0"/>
                  </a:lnTo>
                  <a:lnTo>
                    <a:pt x="0" y="70192"/>
                  </a:lnTo>
                  <a:lnTo>
                    <a:pt x="285838" y="70192"/>
                  </a:lnTo>
                  <a:lnTo>
                    <a:pt x="571309" y="70192"/>
                  </a:lnTo>
                  <a:lnTo>
                    <a:pt x="571309" y="0"/>
                  </a:lnTo>
                  <a:close/>
                </a:path>
              </a:pathLst>
            </a:custGeom>
            <a:solidFill>
              <a:srgbClr val="A5A5A5"/>
            </a:solidFill>
          </p:spPr>
          <p:txBody>
            <a:bodyPr wrap="square" lIns="0" tIns="0" rIns="0" bIns="0" rtlCol="0"/>
            <a:lstStyle/>
            <a:p>
              <a:endParaRPr/>
            </a:p>
          </p:txBody>
        </p:sp>
        <p:sp>
          <p:nvSpPr>
            <p:cNvPr id="40" name="object 40"/>
            <p:cNvSpPr/>
            <p:nvPr/>
          </p:nvSpPr>
          <p:spPr>
            <a:xfrm>
              <a:off x="4559401" y="3264848"/>
              <a:ext cx="775970" cy="1254760"/>
            </a:xfrm>
            <a:custGeom>
              <a:avLst/>
              <a:gdLst/>
              <a:ahLst/>
              <a:cxnLst/>
              <a:rect l="l" t="t" r="r" b="b"/>
              <a:pathLst>
                <a:path w="775970" h="1254760">
                  <a:moveTo>
                    <a:pt x="775436" y="0"/>
                  </a:moveTo>
                  <a:lnTo>
                    <a:pt x="0" y="0"/>
                  </a:lnTo>
                  <a:lnTo>
                    <a:pt x="0" y="1254594"/>
                  </a:lnTo>
                  <a:lnTo>
                    <a:pt x="387718" y="1254594"/>
                  </a:lnTo>
                  <a:lnTo>
                    <a:pt x="775436" y="1254594"/>
                  </a:lnTo>
                  <a:lnTo>
                    <a:pt x="775436" y="0"/>
                  </a:lnTo>
                  <a:close/>
                </a:path>
              </a:pathLst>
            </a:custGeom>
            <a:solidFill>
              <a:srgbClr val="CCCCCC"/>
            </a:solidFill>
          </p:spPr>
          <p:txBody>
            <a:bodyPr wrap="square" lIns="0" tIns="0" rIns="0" bIns="0" rtlCol="0"/>
            <a:lstStyle/>
            <a:p>
              <a:endParaRPr/>
            </a:p>
          </p:txBody>
        </p:sp>
        <p:sp>
          <p:nvSpPr>
            <p:cNvPr id="41" name="object 41"/>
            <p:cNvSpPr/>
            <p:nvPr/>
          </p:nvSpPr>
          <p:spPr>
            <a:xfrm>
              <a:off x="4658753" y="3776772"/>
              <a:ext cx="571500" cy="71120"/>
            </a:xfrm>
            <a:custGeom>
              <a:avLst/>
              <a:gdLst/>
              <a:ahLst/>
              <a:cxnLst/>
              <a:rect l="l" t="t" r="r" b="b"/>
              <a:pathLst>
                <a:path w="571500" h="71120">
                  <a:moveTo>
                    <a:pt x="571322" y="0"/>
                  </a:moveTo>
                  <a:lnTo>
                    <a:pt x="0" y="0"/>
                  </a:lnTo>
                  <a:lnTo>
                    <a:pt x="0" y="70561"/>
                  </a:lnTo>
                  <a:lnTo>
                    <a:pt x="285851" y="70561"/>
                  </a:lnTo>
                  <a:lnTo>
                    <a:pt x="571322" y="70561"/>
                  </a:lnTo>
                  <a:lnTo>
                    <a:pt x="571322" y="0"/>
                  </a:lnTo>
                  <a:close/>
                </a:path>
              </a:pathLst>
            </a:custGeom>
            <a:solidFill>
              <a:srgbClr val="A5A5A5"/>
            </a:solidFill>
          </p:spPr>
          <p:txBody>
            <a:bodyPr wrap="square" lIns="0" tIns="0" rIns="0" bIns="0" rtlCol="0"/>
            <a:lstStyle/>
            <a:p>
              <a:endParaRPr/>
            </a:p>
          </p:txBody>
        </p:sp>
        <p:pic>
          <p:nvPicPr>
            <p:cNvPr id="42" name="object 42"/>
            <p:cNvPicPr/>
            <p:nvPr/>
          </p:nvPicPr>
          <p:blipFill>
            <a:blip r:embed="rId18" cstate="print"/>
            <a:stretch>
              <a:fillRect/>
            </a:stretch>
          </p:blipFill>
          <p:spPr>
            <a:xfrm>
              <a:off x="4866843" y="4131369"/>
              <a:ext cx="160553" cy="160553"/>
            </a:xfrm>
            <a:prstGeom prst="rect">
              <a:avLst/>
            </a:prstGeom>
          </p:spPr>
        </p:pic>
        <p:sp>
          <p:nvSpPr>
            <p:cNvPr id="43" name="object 43"/>
            <p:cNvSpPr/>
            <p:nvPr/>
          </p:nvSpPr>
          <p:spPr>
            <a:xfrm>
              <a:off x="4658753" y="3446293"/>
              <a:ext cx="571500" cy="235585"/>
            </a:xfrm>
            <a:custGeom>
              <a:avLst/>
              <a:gdLst/>
              <a:ahLst/>
              <a:cxnLst/>
              <a:rect l="l" t="t" r="r" b="b"/>
              <a:pathLst>
                <a:path w="571500" h="235585">
                  <a:moveTo>
                    <a:pt x="571322" y="165239"/>
                  </a:moveTo>
                  <a:lnTo>
                    <a:pt x="0" y="165239"/>
                  </a:lnTo>
                  <a:lnTo>
                    <a:pt x="0" y="235432"/>
                  </a:lnTo>
                  <a:lnTo>
                    <a:pt x="285851" y="235432"/>
                  </a:lnTo>
                  <a:lnTo>
                    <a:pt x="571322" y="235432"/>
                  </a:lnTo>
                  <a:lnTo>
                    <a:pt x="571322" y="165239"/>
                  </a:lnTo>
                  <a:close/>
                </a:path>
                <a:path w="571500" h="235585">
                  <a:moveTo>
                    <a:pt x="571322" y="0"/>
                  </a:moveTo>
                  <a:lnTo>
                    <a:pt x="0" y="0"/>
                  </a:lnTo>
                  <a:lnTo>
                    <a:pt x="0" y="70192"/>
                  </a:lnTo>
                  <a:lnTo>
                    <a:pt x="285851" y="70192"/>
                  </a:lnTo>
                  <a:lnTo>
                    <a:pt x="571322" y="70192"/>
                  </a:lnTo>
                  <a:lnTo>
                    <a:pt x="571322" y="0"/>
                  </a:lnTo>
                  <a:close/>
                </a:path>
              </a:pathLst>
            </a:custGeom>
            <a:solidFill>
              <a:srgbClr val="A5A5A5"/>
            </a:solidFill>
          </p:spPr>
          <p:txBody>
            <a:bodyPr wrap="square" lIns="0" tIns="0" rIns="0" bIns="0" rtlCol="0"/>
            <a:lstStyle/>
            <a:p>
              <a:endParaRPr/>
            </a:p>
          </p:txBody>
        </p:sp>
        <p:sp>
          <p:nvSpPr>
            <p:cNvPr id="44" name="object 44"/>
            <p:cNvSpPr/>
            <p:nvPr/>
          </p:nvSpPr>
          <p:spPr>
            <a:xfrm>
              <a:off x="6274803" y="3264848"/>
              <a:ext cx="775970" cy="1254760"/>
            </a:xfrm>
            <a:custGeom>
              <a:avLst/>
              <a:gdLst/>
              <a:ahLst/>
              <a:cxnLst/>
              <a:rect l="l" t="t" r="r" b="b"/>
              <a:pathLst>
                <a:path w="775970" h="1254760">
                  <a:moveTo>
                    <a:pt x="775436" y="0"/>
                  </a:moveTo>
                  <a:lnTo>
                    <a:pt x="0" y="0"/>
                  </a:lnTo>
                  <a:lnTo>
                    <a:pt x="0" y="1254594"/>
                  </a:lnTo>
                  <a:lnTo>
                    <a:pt x="387718" y="1254594"/>
                  </a:lnTo>
                  <a:lnTo>
                    <a:pt x="775436" y="1254594"/>
                  </a:lnTo>
                  <a:lnTo>
                    <a:pt x="775436" y="0"/>
                  </a:lnTo>
                  <a:close/>
                </a:path>
              </a:pathLst>
            </a:custGeom>
            <a:solidFill>
              <a:srgbClr val="CCCCCC"/>
            </a:solidFill>
          </p:spPr>
          <p:txBody>
            <a:bodyPr wrap="square" lIns="0" tIns="0" rIns="0" bIns="0" rtlCol="0"/>
            <a:lstStyle/>
            <a:p>
              <a:endParaRPr/>
            </a:p>
          </p:txBody>
        </p:sp>
        <p:sp>
          <p:nvSpPr>
            <p:cNvPr id="45" name="object 45"/>
            <p:cNvSpPr/>
            <p:nvPr/>
          </p:nvSpPr>
          <p:spPr>
            <a:xfrm>
              <a:off x="6374523" y="3776772"/>
              <a:ext cx="571500" cy="71120"/>
            </a:xfrm>
            <a:custGeom>
              <a:avLst/>
              <a:gdLst/>
              <a:ahLst/>
              <a:cxnLst/>
              <a:rect l="l" t="t" r="r" b="b"/>
              <a:pathLst>
                <a:path w="571500" h="71120">
                  <a:moveTo>
                    <a:pt x="570953" y="0"/>
                  </a:moveTo>
                  <a:lnTo>
                    <a:pt x="0" y="0"/>
                  </a:lnTo>
                  <a:lnTo>
                    <a:pt x="0" y="70561"/>
                  </a:lnTo>
                  <a:lnTo>
                    <a:pt x="285470" y="70561"/>
                  </a:lnTo>
                  <a:lnTo>
                    <a:pt x="570953" y="70561"/>
                  </a:lnTo>
                  <a:lnTo>
                    <a:pt x="570953" y="0"/>
                  </a:lnTo>
                  <a:close/>
                </a:path>
              </a:pathLst>
            </a:custGeom>
            <a:solidFill>
              <a:srgbClr val="A5A5A5"/>
            </a:solidFill>
          </p:spPr>
          <p:txBody>
            <a:bodyPr wrap="square" lIns="0" tIns="0" rIns="0" bIns="0" rtlCol="0"/>
            <a:lstStyle/>
            <a:p>
              <a:endParaRPr/>
            </a:p>
          </p:txBody>
        </p:sp>
        <p:pic>
          <p:nvPicPr>
            <p:cNvPr id="46" name="object 46"/>
            <p:cNvPicPr/>
            <p:nvPr/>
          </p:nvPicPr>
          <p:blipFill>
            <a:blip r:embed="rId19" cstate="print"/>
            <a:stretch>
              <a:fillRect/>
            </a:stretch>
          </p:blipFill>
          <p:spPr>
            <a:xfrm>
              <a:off x="6582245" y="4131369"/>
              <a:ext cx="160553" cy="160553"/>
            </a:xfrm>
            <a:prstGeom prst="rect">
              <a:avLst/>
            </a:prstGeom>
          </p:spPr>
        </p:pic>
        <p:sp>
          <p:nvSpPr>
            <p:cNvPr id="47" name="object 47"/>
            <p:cNvSpPr/>
            <p:nvPr/>
          </p:nvSpPr>
          <p:spPr>
            <a:xfrm>
              <a:off x="6374523" y="3446293"/>
              <a:ext cx="571500" cy="235585"/>
            </a:xfrm>
            <a:custGeom>
              <a:avLst/>
              <a:gdLst/>
              <a:ahLst/>
              <a:cxnLst/>
              <a:rect l="l" t="t" r="r" b="b"/>
              <a:pathLst>
                <a:path w="571500" h="235585">
                  <a:moveTo>
                    <a:pt x="570953" y="165239"/>
                  </a:moveTo>
                  <a:lnTo>
                    <a:pt x="0" y="165239"/>
                  </a:lnTo>
                  <a:lnTo>
                    <a:pt x="0" y="235432"/>
                  </a:lnTo>
                  <a:lnTo>
                    <a:pt x="285470" y="235432"/>
                  </a:lnTo>
                  <a:lnTo>
                    <a:pt x="570953" y="235432"/>
                  </a:lnTo>
                  <a:lnTo>
                    <a:pt x="570953" y="165239"/>
                  </a:lnTo>
                  <a:close/>
                </a:path>
                <a:path w="571500" h="235585">
                  <a:moveTo>
                    <a:pt x="570953" y="0"/>
                  </a:moveTo>
                  <a:lnTo>
                    <a:pt x="0" y="0"/>
                  </a:lnTo>
                  <a:lnTo>
                    <a:pt x="0" y="70192"/>
                  </a:lnTo>
                  <a:lnTo>
                    <a:pt x="285470" y="70192"/>
                  </a:lnTo>
                  <a:lnTo>
                    <a:pt x="570953" y="70192"/>
                  </a:lnTo>
                  <a:lnTo>
                    <a:pt x="570953" y="0"/>
                  </a:lnTo>
                  <a:close/>
                </a:path>
              </a:pathLst>
            </a:custGeom>
            <a:solidFill>
              <a:srgbClr val="A5A5A5"/>
            </a:solidFill>
          </p:spPr>
          <p:txBody>
            <a:bodyPr wrap="square" lIns="0" tIns="0" rIns="0" bIns="0" rtlCol="0"/>
            <a:lstStyle/>
            <a:p>
              <a:endParaRPr/>
            </a:p>
          </p:txBody>
        </p:sp>
        <p:sp>
          <p:nvSpPr>
            <p:cNvPr id="48" name="object 48"/>
            <p:cNvSpPr/>
            <p:nvPr/>
          </p:nvSpPr>
          <p:spPr>
            <a:xfrm>
              <a:off x="1129322" y="3265572"/>
              <a:ext cx="775970" cy="1254760"/>
            </a:xfrm>
            <a:custGeom>
              <a:avLst/>
              <a:gdLst/>
              <a:ahLst/>
              <a:cxnLst/>
              <a:rect l="l" t="t" r="r" b="b"/>
              <a:pathLst>
                <a:path w="775969" h="1254760">
                  <a:moveTo>
                    <a:pt x="775436" y="0"/>
                  </a:moveTo>
                  <a:lnTo>
                    <a:pt x="0" y="0"/>
                  </a:lnTo>
                  <a:lnTo>
                    <a:pt x="0" y="1254239"/>
                  </a:lnTo>
                  <a:lnTo>
                    <a:pt x="387718" y="1254239"/>
                  </a:lnTo>
                  <a:lnTo>
                    <a:pt x="775436" y="1254239"/>
                  </a:lnTo>
                  <a:lnTo>
                    <a:pt x="775436" y="0"/>
                  </a:lnTo>
                  <a:close/>
                </a:path>
              </a:pathLst>
            </a:custGeom>
            <a:solidFill>
              <a:srgbClr val="CCCCCC"/>
            </a:solidFill>
          </p:spPr>
          <p:txBody>
            <a:bodyPr wrap="square" lIns="0" tIns="0" rIns="0" bIns="0" rtlCol="0"/>
            <a:lstStyle/>
            <a:p>
              <a:endParaRPr/>
            </a:p>
          </p:txBody>
        </p:sp>
        <p:sp>
          <p:nvSpPr>
            <p:cNvPr id="49" name="object 49"/>
            <p:cNvSpPr/>
            <p:nvPr/>
          </p:nvSpPr>
          <p:spPr>
            <a:xfrm>
              <a:off x="1229042" y="3777484"/>
              <a:ext cx="571500" cy="70485"/>
            </a:xfrm>
            <a:custGeom>
              <a:avLst/>
              <a:gdLst/>
              <a:ahLst/>
              <a:cxnLst/>
              <a:rect l="l" t="t" r="r" b="b"/>
              <a:pathLst>
                <a:path w="571500" h="70485">
                  <a:moveTo>
                    <a:pt x="570953" y="0"/>
                  </a:moveTo>
                  <a:lnTo>
                    <a:pt x="0" y="0"/>
                  </a:lnTo>
                  <a:lnTo>
                    <a:pt x="0" y="70205"/>
                  </a:lnTo>
                  <a:lnTo>
                    <a:pt x="285483" y="70205"/>
                  </a:lnTo>
                  <a:lnTo>
                    <a:pt x="570953" y="70205"/>
                  </a:lnTo>
                  <a:lnTo>
                    <a:pt x="570953" y="0"/>
                  </a:lnTo>
                  <a:close/>
                </a:path>
              </a:pathLst>
            </a:custGeom>
            <a:solidFill>
              <a:srgbClr val="A5A5A5"/>
            </a:solidFill>
          </p:spPr>
          <p:txBody>
            <a:bodyPr wrap="square" lIns="0" tIns="0" rIns="0" bIns="0" rtlCol="0"/>
            <a:lstStyle/>
            <a:p>
              <a:endParaRPr/>
            </a:p>
          </p:txBody>
        </p:sp>
        <p:pic>
          <p:nvPicPr>
            <p:cNvPr id="50" name="object 50"/>
            <p:cNvPicPr/>
            <p:nvPr/>
          </p:nvPicPr>
          <p:blipFill>
            <a:blip r:embed="rId20" cstate="print"/>
            <a:stretch>
              <a:fillRect/>
            </a:stretch>
          </p:blipFill>
          <p:spPr>
            <a:xfrm>
              <a:off x="1436763" y="4131725"/>
              <a:ext cx="160553" cy="160566"/>
            </a:xfrm>
            <a:prstGeom prst="rect">
              <a:avLst/>
            </a:prstGeom>
          </p:spPr>
        </p:pic>
        <p:sp>
          <p:nvSpPr>
            <p:cNvPr id="51" name="object 51"/>
            <p:cNvSpPr/>
            <p:nvPr/>
          </p:nvSpPr>
          <p:spPr>
            <a:xfrm>
              <a:off x="1229042" y="3446649"/>
              <a:ext cx="571500" cy="236220"/>
            </a:xfrm>
            <a:custGeom>
              <a:avLst/>
              <a:gdLst/>
              <a:ahLst/>
              <a:cxnLst/>
              <a:rect l="l" t="t" r="r" b="b"/>
              <a:pathLst>
                <a:path w="571500" h="236220">
                  <a:moveTo>
                    <a:pt x="570953" y="165239"/>
                  </a:moveTo>
                  <a:lnTo>
                    <a:pt x="0" y="165239"/>
                  </a:lnTo>
                  <a:lnTo>
                    <a:pt x="0" y="235800"/>
                  </a:lnTo>
                  <a:lnTo>
                    <a:pt x="285483" y="235800"/>
                  </a:lnTo>
                  <a:lnTo>
                    <a:pt x="570953" y="235800"/>
                  </a:lnTo>
                  <a:lnTo>
                    <a:pt x="570953" y="165239"/>
                  </a:lnTo>
                  <a:close/>
                </a:path>
                <a:path w="571500" h="236220">
                  <a:moveTo>
                    <a:pt x="570953" y="0"/>
                  </a:moveTo>
                  <a:lnTo>
                    <a:pt x="0" y="0"/>
                  </a:lnTo>
                  <a:lnTo>
                    <a:pt x="0" y="70205"/>
                  </a:lnTo>
                  <a:lnTo>
                    <a:pt x="285483" y="70205"/>
                  </a:lnTo>
                  <a:lnTo>
                    <a:pt x="570953" y="70205"/>
                  </a:lnTo>
                  <a:lnTo>
                    <a:pt x="570953" y="0"/>
                  </a:lnTo>
                  <a:close/>
                </a:path>
              </a:pathLst>
            </a:custGeom>
            <a:solidFill>
              <a:srgbClr val="A5A5A5"/>
            </a:solidFill>
          </p:spPr>
          <p:txBody>
            <a:bodyPr wrap="square" lIns="0" tIns="0" rIns="0" bIns="0" rtlCol="0"/>
            <a:lstStyle/>
            <a:p>
              <a:endParaRPr/>
            </a:p>
          </p:txBody>
        </p:sp>
      </p:grpSp>
      <p:sp>
        <p:nvSpPr>
          <p:cNvPr id="52" name="object 52"/>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3" name="object 53"/>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33</a:t>
            </a:fld>
            <a:r>
              <a:rPr spc="-10" dirty="0"/>
              <a:t>/60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49525" y="300605"/>
            <a:ext cx="4979670" cy="4766945"/>
            <a:chOff x="2549525" y="300605"/>
            <a:chExt cx="4979670" cy="4766945"/>
          </a:xfrm>
        </p:grpSpPr>
        <p:pic>
          <p:nvPicPr>
            <p:cNvPr id="3" name="object 3"/>
            <p:cNvPicPr/>
            <p:nvPr/>
          </p:nvPicPr>
          <p:blipFill>
            <a:blip r:embed="rId2" cstate="print"/>
            <a:stretch>
              <a:fillRect/>
            </a:stretch>
          </p:blipFill>
          <p:spPr>
            <a:xfrm>
              <a:off x="2549525" y="300605"/>
              <a:ext cx="4979149" cy="4766398"/>
            </a:xfrm>
            <a:prstGeom prst="rect">
              <a:avLst/>
            </a:prstGeom>
          </p:spPr>
        </p:pic>
        <p:sp>
          <p:nvSpPr>
            <p:cNvPr id="4" name="object 4"/>
            <p:cNvSpPr/>
            <p:nvPr/>
          </p:nvSpPr>
          <p:spPr>
            <a:xfrm>
              <a:off x="3319919" y="1465931"/>
              <a:ext cx="2007235" cy="1175385"/>
            </a:xfrm>
            <a:custGeom>
              <a:avLst/>
              <a:gdLst/>
              <a:ahLst/>
              <a:cxnLst/>
              <a:rect l="l" t="t" r="r" b="b"/>
              <a:pathLst>
                <a:path w="2007235" h="1175385">
                  <a:moveTo>
                    <a:pt x="0" y="1175042"/>
                  </a:moveTo>
                  <a:lnTo>
                    <a:pt x="2007006" y="0"/>
                  </a:lnTo>
                </a:path>
              </a:pathLst>
            </a:custGeom>
            <a:ln w="18244">
              <a:solidFill>
                <a:srgbClr val="AAB9B9"/>
              </a:solidFill>
            </a:ln>
          </p:spPr>
          <p:txBody>
            <a:bodyPr wrap="square" lIns="0" tIns="0" rIns="0" bIns="0" rtlCol="0"/>
            <a:lstStyle/>
            <a:p>
              <a:endParaRPr/>
            </a:p>
          </p:txBody>
        </p:sp>
        <p:sp>
          <p:nvSpPr>
            <p:cNvPr id="5" name="object 5"/>
            <p:cNvSpPr/>
            <p:nvPr/>
          </p:nvSpPr>
          <p:spPr>
            <a:xfrm>
              <a:off x="4991760" y="1110966"/>
              <a:ext cx="668655" cy="389255"/>
            </a:xfrm>
            <a:custGeom>
              <a:avLst/>
              <a:gdLst/>
              <a:ahLst/>
              <a:cxnLst/>
              <a:rect l="l" t="t" r="r" b="b"/>
              <a:pathLst>
                <a:path w="668654" h="389255">
                  <a:moveTo>
                    <a:pt x="569518" y="0"/>
                  </a:moveTo>
                  <a:lnTo>
                    <a:pt x="98640" y="0"/>
                  </a:lnTo>
                  <a:lnTo>
                    <a:pt x="60141" y="7717"/>
                  </a:lnTo>
                  <a:lnTo>
                    <a:pt x="28798" y="28798"/>
                  </a:lnTo>
                  <a:lnTo>
                    <a:pt x="7717" y="60141"/>
                  </a:lnTo>
                  <a:lnTo>
                    <a:pt x="0" y="98640"/>
                  </a:lnTo>
                  <a:lnTo>
                    <a:pt x="0" y="290156"/>
                  </a:lnTo>
                  <a:lnTo>
                    <a:pt x="7768" y="328656"/>
                  </a:lnTo>
                  <a:lnTo>
                    <a:pt x="28936" y="359998"/>
                  </a:lnTo>
                  <a:lnTo>
                    <a:pt x="60296" y="381080"/>
                  </a:lnTo>
                  <a:lnTo>
                    <a:pt x="98640" y="388797"/>
                  </a:lnTo>
                  <a:lnTo>
                    <a:pt x="569518" y="388797"/>
                  </a:lnTo>
                  <a:lnTo>
                    <a:pt x="608018" y="381080"/>
                  </a:lnTo>
                  <a:lnTo>
                    <a:pt x="639360" y="359998"/>
                  </a:lnTo>
                  <a:lnTo>
                    <a:pt x="660442" y="328656"/>
                  </a:lnTo>
                  <a:lnTo>
                    <a:pt x="668159" y="290156"/>
                  </a:lnTo>
                  <a:lnTo>
                    <a:pt x="668159" y="98640"/>
                  </a:lnTo>
                  <a:lnTo>
                    <a:pt x="660442" y="60141"/>
                  </a:lnTo>
                  <a:lnTo>
                    <a:pt x="639360" y="28798"/>
                  </a:lnTo>
                  <a:lnTo>
                    <a:pt x="608018" y="7717"/>
                  </a:lnTo>
                  <a:lnTo>
                    <a:pt x="569518" y="0"/>
                  </a:lnTo>
                  <a:close/>
                </a:path>
              </a:pathLst>
            </a:custGeom>
            <a:solidFill>
              <a:srgbClr val="FF9000"/>
            </a:solidFill>
          </p:spPr>
          <p:txBody>
            <a:bodyPr wrap="square" lIns="0" tIns="0" rIns="0" bIns="0" rtlCol="0"/>
            <a:lstStyle/>
            <a:p>
              <a:endParaRPr/>
            </a:p>
          </p:txBody>
        </p:sp>
        <p:pic>
          <p:nvPicPr>
            <p:cNvPr id="6" name="object 6"/>
            <p:cNvPicPr/>
            <p:nvPr/>
          </p:nvPicPr>
          <p:blipFill>
            <a:blip r:embed="rId3" cstate="print"/>
            <a:stretch>
              <a:fillRect/>
            </a:stretch>
          </p:blipFill>
          <p:spPr>
            <a:xfrm>
              <a:off x="5097957" y="1245612"/>
              <a:ext cx="241566" cy="120230"/>
            </a:xfrm>
            <a:prstGeom prst="rect">
              <a:avLst/>
            </a:prstGeom>
          </p:spPr>
        </p:pic>
        <p:pic>
          <p:nvPicPr>
            <p:cNvPr id="7" name="object 7"/>
            <p:cNvPicPr/>
            <p:nvPr/>
          </p:nvPicPr>
          <p:blipFill>
            <a:blip r:embed="rId4" cstate="print"/>
            <a:stretch>
              <a:fillRect/>
            </a:stretch>
          </p:blipFill>
          <p:spPr>
            <a:xfrm>
              <a:off x="5384164" y="1245243"/>
              <a:ext cx="169913" cy="120599"/>
            </a:xfrm>
            <a:prstGeom prst="rect">
              <a:avLst/>
            </a:prstGeom>
          </p:spPr>
        </p:pic>
        <p:sp>
          <p:nvSpPr>
            <p:cNvPr id="8" name="object 8"/>
            <p:cNvSpPr/>
            <p:nvPr/>
          </p:nvSpPr>
          <p:spPr>
            <a:xfrm>
              <a:off x="4212361" y="1110966"/>
              <a:ext cx="668655" cy="389255"/>
            </a:xfrm>
            <a:custGeom>
              <a:avLst/>
              <a:gdLst/>
              <a:ahLst/>
              <a:cxnLst/>
              <a:rect l="l" t="t" r="r" b="b"/>
              <a:pathLst>
                <a:path w="668654" h="389255">
                  <a:moveTo>
                    <a:pt x="569518" y="0"/>
                  </a:moveTo>
                  <a:lnTo>
                    <a:pt x="98996" y="0"/>
                  </a:lnTo>
                  <a:lnTo>
                    <a:pt x="60446" y="7717"/>
                  </a:lnTo>
                  <a:lnTo>
                    <a:pt x="28981" y="28798"/>
                  </a:lnTo>
                  <a:lnTo>
                    <a:pt x="7774" y="60141"/>
                  </a:lnTo>
                  <a:lnTo>
                    <a:pt x="0" y="98640"/>
                  </a:lnTo>
                  <a:lnTo>
                    <a:pt x="0" y="290156"/>
                  </a:lnTo>
                  <a:lnTo>
                    <a:pt x="7774" y="328656"/>
                  </a:lnTo>
                  <a:lnTo>
                    <a:pt x="28981" y="359998"/>
                  </a:lnTo>
                  <a:lnTo>
                    <a:pt x="60446" y="381080"/>
                  </a:lnTo>
                  <a:lnTo>
                    <a:pt x="98996" y="388797"/>
                  </a:lnTo>
                  <a:lnTo>
                    <a:pt x="569518" y="388797"/>
                  </a:lnTo>
                  <a:lnTo>
                    <a:pt x="608018" y="381080"/>
                  </a:lnTo>
                  <a:lnTo>
                    <a:pt x="639360" y="359998"/>
                  </a:lnTo>
                  <a:lnTo>
                    <a:pt x="660442" y="328656"/>
                  </a:lnTo>
                  <a:lnTo>
                    <a:pt x="668159" y="290156"/>
                  </a:lnTo>
                  <a:lnTo>
                    <a:pt x="668159" y="98640"/>
                  </a:lnTo>
                  <a:lnTo>
                    <a:pt x="660442" y="60141"/>
                  </a:lnTo>
                  <a:lnTo>
                    <a:pt x="639360" y="28798"/>
                  </a:lnTo>
                  <a:lnTo>
                    <a:pt x="608018" y="7717"/>
                  </a:lnTo>
                  <a:lnTo>
                    <a:pt x="569518" y="0"/>
                  </a:lnTo>
                  <a:close/>
                </a:path>
              </a:pathLst>
            </a:custGeom>
            <a:solidFill>
              <a:srgbClr val="FF9000"/>
            </a:solidFill>
          </p:spPr>
          <p:txBody>
            <a:bodyPr wrap="square" lIns="0" tIns="0" rIns="0" bIns="0" rtlCol="0"/>
            <a:lstStyle/>
            <a:p>
              <a:endParaRPr/>
            </a:p>
          </p:txBody>
        </p:sp>
        <p:pic>
          <p:nvPicPr>
            <p:cNvPr id="9" name="object 9"/>
            <p:cNvPicPr/>
            <p:nvPr/>
          </p:nvPicPr>
          <p:blipFill>
            <a:blip r:embed="rId5" cstate="print"/>
            <a:stretch>
              <a:fillRect/>
            </a:stretch>
          </p:blipFill>
          <p:spPr>
            <a:xfrm>
              <a:off x="4318203" y="1245243"/>
              <a:ext cx="241553" cy="120243"/>
            </a:xfrm>
            <a:prstGeom prst="rect">
              <a:avLst/>
            </a:prstGeom>
          </p:spPr>
        </p:pic>
        <p:pic>
          <p:nvPicPr>
            <p:cNvPr id="10" name="object 10"/>
            <p:cNvPicPr/>
            <p:nvPr/>
          </p:nvPicPr>
          <p:blipFill>
            <a:blip r:embed="rId6" cstate="print"/>
            <a:stretch>
              <a:fillRect/>
            </a:stretch>
          </p:blipFill>
          <p:spPr>
            <a:xfrm>
              <a:off x="4604397" y="1245243"/>
              <a:ext cx="170637" cy="120599"/>
            </a:xfrm>
            <a:prstGeom prst="rect">
              <a:avLst/>
            </a:prstGeom>
          </p:spPr>
        </p:pic>
        <p:sp>
          <p:nvSpPr>
            <p:cNvPr id="11" name="object 11"/>
            <p:cNvSpPr/>
            <p:nvPr/>
          </p:nvSpPr>
          <p:spPr>
            <a:xfrm>
              <a:off x="3434397" y="1110966"/>
              <a:ext cx="668655" cy="389255"/>
            </a:xfrm>
            <a:custGeom>
              <a:avLst/>
              <a:gdLst/>
              <a:ahLst/>
              <a:cxnLst/>
              <a:rect l="l" t="t" r="r" b="b"/>
              <a:pathLst>
                <a:path w="668654" h="389255">
                  <a:moveTo>
                    <a:pt x="569518" y="0"/>
                  </a:moveTo>
                  <a:lnTo>
                    <a:pt x="98640" y="0"/>
                  </a:lnTo>
                  <a:lnTo>
                    <a:pt x="60141" y="7717"/>
                  </a:lnTo>
                  <a:lnTo>
                    <a:pt x="28798" y="28798"/>
                  </a:lnTo>
                  <a:lnTo>
                    <a:pt x="7717" y="60141"/>
                  </a:lnTo>
                  <a:lnTo>
                    <a:pt x="0" y="98640"/>
                  </a:lnTo>
                  <a:lnTo>
                    <a:pt x="0" y="290156"/>
                  </a:lnTo>
                  <a:lnTo>
                    <a:pt x="7717" y="328656"/>
                  </a:lnTo>
                  <a:lnTo>
                    <a:pt x="28798" y="359998"/>
                  </a:lnTo>
                  <a:lnTo>
                    <a:pt x="60141" y="381080"/>
                  </a:lnTo>
                  <a:lnTo>
                    <a:pt x="98640" y="388797"/>
                  </a:lnTo>
                  <a:lnTo>
                    <a:pt x="569518" y="388797"/>
                  </a:lnTo>
                  <a:lnTo>
                    <a:pt x="608018" y="381080"/>
                  </a:lnTo>
                  <a:lnTo>
                    <a:pt x="639360" y="359998"/>
                  </a:lnTo>
                  <a:lnTo>
                    <a:pt x="660442" y="328656"/>
                  </a:lnTo>
                  <a:lnTo>
                    <a:pt x="668159" y="290156"/>
                  </a:lnTo>
                  <a:lnTo>
                    <a:pt x="668159" y="98640"/>
                  </a:lnTo>
                  <a:lnTo>
                    <a:pt x="660442" y="60141"/>
                  </a:lnTo>
                  <a:lnTo>
                    <a:pt x="639360" y="28798"/>
                  </a:lnTo>
                  <a:lnTo>
                    <a:pt x="608018" y="7717"/>
                  </a:lnTo>
                  <a:lnTo>
                    <a:pt x="569518" y="0"/>
                  </a:lnTo>
                  <a:close/>
                </a:path>
              </a:pathLst>
            </a:custGeom>
            <a:solidFill>
              <a:srgbClr val="FF9000"/>
            </a:solidFill>
          </p:spPr>
          <p:txBody>
            <a:bodyPr wrap="square" lIns="0" tIns="0" rIns="0" bIns="0" rtlCol="0"/>
            <a:lstStyle/>
            <a:p>
              <a:endParaRPr/>
            </a:p>
          </p:txBody>
        </p:sp>
        <p:pic>
          <p:nvPicPr>
            <p:cNvPr id="12" name="object 12"/>
            <p:cNvPicPr/>
            <p:nvPr/>
          </p:nvPicPr>
          <p:blipFill>
            <a:blip r:embed="rId7" cstate="print"/>
            <a:stretch>
              <a:fillRect/>
            </a:stretch>
          </p:blipFill>
          <p:spPr>
            <a:xfrm>
              <a:off x="3522954" y="1246691"/>
              <a:ext cx="229679" cy="117360"/>
            </a:xfrm>
            <a:prstGeom prst="rect">
              <a:avLst/>
            </a:prstGeom>
          </p:spPr>
        </p:pic>
        <p:sp>
          <p:nvSpPr>
            <p:cNvPr id="13" name="object 13"/>
            <p:cNvSpPr/>
            <p:nvPr/>
          </p:nvSpPr>
          <p:spPr>
            <a:xfrm>
              <a:off x="3783964" y="1246691"/>
              <a:ext cx="42545" cy="117475"/>
            </a:xfrm>
            <a:custGeom>
              <a:avLst/>
              <a:gdLst/>
              <a:ahLst/>
              <a:cxnLst/>
              <a:rect l="l" t="t" r="r" b="b"/>
              <a:pathLst>
                <a:path w="42545" h="117475">
                  <a:moveTo>
                    <a:pt x="42113" y="0"/>
                  </a:moveTo>
                  <a:lnTo>
                    <a:pt x="30949" y="0"/>
                  </a:lnTo>
                  <a:lnTo>
                    <a:pt x="0" y="24117"/>
                  </a:lnTo>
                  <a:lnTo>
                    <a:pt x="7200" y="33121"/>
                  </a:lnTo>
                  <a:lnTo>
                    <a:pt x="26276" y="17640"/>
                  </a:lnTo>
                  <a:lnTo>
                    <a:pt x="27355" y="16192"/>
                  </a:lnTo>
                  <a:lnTo>
                    <a:pt x="29870" y="14033"/>
                  </a:lnTo>
                  <a:lnTo>
                    <a:pt x="29159" y="26631"/>
                  </a:lnTo>
                  <a:lnTo>
                    <a:pt x="29159" y="117360"/>
                  </a:lnTo>
                  <a:lnTo>
                    <a:pt x="42113" y="117360"/>
                  </a:lnTo>
                  <a:lnTo>
                    <a:pt x="42113" y="0"/>
                  </a:lnTo>
                  <a:close/>
                </a:path>
              </a:pathLst>
            </a:custGeom>
            <a:solidFill>
              <a:srgbClr val="FFFFFF"/>
            </a:solidFill>
          </p:spPr>
          <p:txBody>
            <a:bodyPr wrap="square" lIns="0" tIns="0" rIns="0" bIns="0" rtlCol="0"/>
            <a:lstStyle/>
            <a:p>
              <a:endParaRPr/>
            </a:p>
          </p:txBody>
        </p:sp>
        <p:pic>
          <p:nvPicPr>
            <p:cNvPr id="14" name="object 14"/>
            <p:cNvPicPr/>
            <p:nvPr/>
          </p:nvPicPr>
          <p:blipFill>
            <a:blip r:embed="rId8" cstate="print"/>
            <a:stretch>
              <a:fillRect/>
            </a:stretch>
          </p:blipFill>
          <p:spPr>
            <a:xfrm>
              <a:off x="3870718" y="1245243"/>
              <a:ext cx="77762" cy="120599"/>
            </a:xfrm>
            <a:prstGeom prst="rect">
              <a:avLst/>
            </a:prstGeom>
          </p:spPr>
        </p:pic>
        <p:sp>
          <p:nvSpPr>
            <p:cNvPr id="15" name="object 15"/>
            <p:cNvSpPr/>
            <p:nvPr/>
          </p:nvSpPr>
          <p:spPr>
            <a:xfrm>
              <a:off x="3971163" y="1246691"/>
              <a:ext cx="42545" cy="117475"/>
            </a:xfrm>
            <a:custGeom>
              <a:avLst/>
              <a:gdLst/>
              <a:ahLst/>
              <a:cxnLst/>
              <a:rect l="l" t="t" r="r" b="b"/>
              <a:pathLst>
                <a:path w="42545" h="117475">
                  <a:moveTo>
                    <a:pt x="42481" y="0"/>
                  </a:moveTo>
                  <a:lnTo>
                    <a:pt x="31318" y="0"/>
                  </a:lnTo>
                  <a:lnTo>
                    <a:pt x="0" y="24117"/>
                  </a:lnTo>
                  <a:lnTo>
                    <a:pt x="7200" y="33121"/>
                  </a:lnTo>
                  <a:lnTo>
                    <a:pt x="26276" y="17640"/>
                  </a:lnTo>
                  <a:lnTo>
                    <a:pt x="29883" y="14033"/>
                  </a:lnTo>
                  <a:lnTo>
                    <a:pt x="29514" y="20154"/>
                  </a:lnTo>
                  <a:lnTo>
                    <a:pt x="29514" y="117360"/>
                  </a:lnTo>
                  <a:lnTo>
                    <a:pt x="42481" y="117360"/>
                  </a:lnTo>
                  <a:lnTo>
                    <a:pt x="42481" y="0"/>
                  </a:lnTo>
                  <a:close/>
                </a:path>
              </a:pathLst>
            </a:custGeom>
            <a:solidFill>
              <a:srgbClr val="FFFFFF"/>
            </a:solidFill>
          </p:spPr>
          <p:txBody>
            <a:bodyPr wrap="square" lIns="0" tIns="0" rIns="0" bIns="0" rtlCol="0"/>
            <a:lstStyle/>
            <a:p>
              <a:endParaRPr/>
            </a:p>
          </p:txBody>
        </p:sp>
        <p:sp>
          <p:nvSpPr>
            <p:cNvPr id="16" name="object 16"/>
            <p:cNvSpPr/>
            <p:nvPr/>
          </p:nvSpPr>
          <p:spPr>
            <a:xfrm>
              <a:off x="2655354" y="1110966"/>
              <a:ext cx="668655" cy="389255"/>
            </a:xfrm>
            <a:custGeom>
              <a:avLst/>
              <a:gdLst/>
              <a:ahLst/>
              <a:cxnLst/>
              <a:rect l="l" t="t" r="r" b="b"/>
              <a:pathLst>
                <a:path w="668654" h="389255">
                  <a:moveTo>
                    <a:pt x="569531" y="0"/>
                  </a:moveTo>
                  <a:lnTo>
                    <a:pt x="98640" y="0"/>
                  </a:lnTo>
                  <a:lnTo>
                    <a:pt x="60146" y="7717"/>
                  </a:lnTo>
                  <a:lnTo>
                    <a:pt x="28803" y="28798"/>
                  </a:lnTo>
                  <a:lnTo>
                    <a:pt x="7718" y="60141"/>
                  </a:lnTo>
                  <a:lnTo>
                    <a:pt x="0" y="98640"/>
                  </a:lnTo>
                  <a:lnTo>
                    <a:pt x="0" y="290156"/>
                  </a:lnTo>
                  <a:lnTo>
                    <a:pt x="7718" y="328656"/>
                  </a:lnTo>
                  <a:lnTo>
                    <a:pt x="28803" y="359998"/>
                  </a:lnTo>
                  <a:lnTo>
                    <a:pt x="60146" y="381080"/>
                  </a:lnTo>
                  <a:lnTo>
                    <a:pt x="98640" y="388797"/>
                  </a:lnTo>
                  <a:lnTo>
                    <a:pt x="569531" y="388797"/>
                  </a:lnTo>
                  <a:lnTo>
                    <a:pt x="608023" y="381080"/>
                  </a:lnTo>
                  <a:lnTo>
                    <a:pt x="639362" y="359998"/>
                  </a:lnTo>
                  <a:lnTo>
                    <a:pt x="660442" y="328656"/>
                  </a:lnTo>
                  <a:lnTo>
                    <a:pt x="668159" y="290156"/>
                  </a:lnTo>
                  <a:lnTo>
                    <a:pt x="668159" y="98640"/>
                  </a:lnTo>
                  <a:lnTo>
                    <a:pt x="660442" y="60141"/>
                  </a:lnTo>
                  <a:lnTo>
                    <a:pt x="639362" y="28798"/>
                  </a:lnTo>
                  <a:lnTo>
                    <a:pt x="608023" y="7717"/>
                  </a:lnTo>
                  <a:lnTo>
                    <a:pt x="569531" y="0"/>
                  </a:lnTo>
                  <a:close/>
                </a:path>
              </a:pathLst>
            </a:custGeom>
            <a:solidFill>
              <a:srgbClr val="FF9000"/>
            </a:solidFill>
          </p:spPr>
          <p:txBody>
            <a:bodyPr wrap="square" lIns="0" tIns="0" rIns="0" bIns="0" rtlCol="0"/>
            <a:lstStyle/>
            <a:p>
              <a:endParaRPr/>
            </a:p>
          </p:txBody>
        </p:sp>
        <p:pic>
          <p:nvPicPr>
            <p:cNvPr id="17" name="object 17"/>
            <p:cNvPicPr/>
            <p:nvPr/>
          </p:nvPicPr>
          <p:blipFill>
            <a:blip r:embed="rId9" cstate="print"/>
            <a:stretch>
              <a:fillRect/>
            </a:stretch>
          </p:blipFill>
          <p:spPr>
            <a:xfrm>
              <a:off x="2729877" y="1246691"/>
              <a:ext cx="229679" cy="117360"/>
            </a:xfrm>
            <a:prstGeom prst="rect">
              <a:avLst/>
            </a:prstGeom>
          </p:spPr>
        </p:pic>
        <p:sp>
          <p:nvSpPr>
            <p:cNvPr id="18" name="object 18"/>
            <p:cNvSpPr/>
            <p:nvPr/>
          </p:nvSpPr>
          <p:spPr>
            <a:xfrm>
              <a:off x="2990875" y="1246691"/>
              <a:ext cx="42545" cy="117475"/>
            </a:xfrm>
            <a:custGeom>
              <a:avLst/>
              <a:gdLst/>
              <a:ahLst/>
              <a:cxnLst/>
              <a:rect l="l" t="t" r="r" b="b"/>
              <a:pathLst>
                <a:path w="42544" h="117475">
                  <a:moveTo>
                    <a:pt x="42125" y="0"/>
                  </a:moveTo>
                  <a:lnTo>
                    <a:pt x="30962" y="0"/>
                  </a:lnTo>
                  <a:lnTo>
                    <a:pt x="0" y="24117"/>
                  </a:lnTo>
                  <a:lnTo>
                    <a:pt x="6845" y="33121"/>
                  </a:lnTo>
                  <a:lnTo>
                    <a:pt x="18364" y="24117"/>
                  </a:lnTo>
                  <a:lnTo>
                    <a:pt x="25920" y="17640"/>
                  </a:lnTo>
                  <a:lnTo>
                    <a:pt x="29883" y="14033"/>
                  </a:lnTo>
                  <a:lnTo>
                    <a:pt x="29159" y="26631"/>
                  </a:lnTo>
                  <a:lnTo>
                    <a:pt x="29159" y="117360"/>
                  </a:lnTo>
                  <a:lnTo>
                    <a:pt x="42125" y="117360"/>
                  </a:lnTo>
                  <a:lnTo>
                    <a:pt x="42125" y="0"/>
                  </a:lnTo>
                  <a:close/>
                </a:path>
              </a:pathLst>
            </a:custGeom>
            <a:solidFill>
              <a:srgbClr val="FFFFFF"/>
            </a:solidFill>
          </p:spPr>
          <p:txBody>
            <a:bodyPr wrap="square" lIns="0" tIns="0" rIns="0" bIns="0" rtlCol="0"/>
            <a:lstStyle/>
            <a:p>
              <a:endParaRPr/>
            </a:p>
          </p:txBody>
        </p:sp>
        <p:pic>
          <p:nvPicPr>
            <p:cNvPr id="19" name="object 19"/>
            <p:cNvPicPr/>
            <p:nvPr/>
          </p:nvPicPr>
          <p:blipFill>
            <a:blip r:embed="rId10" cstate="print"/>
            <a:stretch>
              <a:fillRect/>
            </a:stretch>
          </p:blipFill>
          <p:spPr>
            <a:xfrm>
              <a:off x="3077641" y="1245243"/>
              <a:ext cx="171361" cy="120599"/>
            </a:xfrm>
            <a:prstGeom prst="rect">
              <a:avLst/>
            </a:prstGeom>
          </p:spPr>
        </p:pic>
        <p:sp>
          <p:nvSpPr>
            <p:cNvPr id="20" name="object 20"/>
            <p:cNvSpPr/>
            <p:nvPr/>
          </p:nvSpPr>
          <p:spPr>
            <a:xfrm>
              <a:off x="2908439" y="3648604"/>
              <a:ext cx="351790" cy="1280160"/>
            </a:xfrm>
            <a:custGeom>
              <a:avLst/>
              <a:gdLst/>
              <a:ahLst/>
              <a:cxnLst/>
              <a:rect l="l" t="t" r="r" b="b"/>
              <a:pathLst>
                <a:path w="351789" h="1280160">
                  <a:moveTo>
                    <a:pt x="0" y="0"/>
                  </a:moveTo>
                  <a:lnTo>
                    <a:pt x="351726" y="0"/>
                  </a:lnTo>
                  <a:lnTo>
                    <a:pt x="351726" y="1280159"/>
                  </a:lnTo>
                  <a:lnTo>
                    <a:pt x="0" y="1280159"/>
                  </a:lnTo>
                  <a:lnTo>
                    <a:pt x="0" y="0"/>
                  </a:lnTo>
                  <a:close/>
                </a:path>
              </a:pathLst>
            </a:custGeom>
            <a:ln w="23934">
              <a:solidFill>
                <a:srgbClr val="FFFFFF"/>
              </a:solidFill>
            </a:ln>
          </p:spPr>
          <p:txBody>
            <a:bodyPr wrap="square" lIns="0" tIns="0" rIns="0" bIns="0" rtlCol="0"/>
            <a:lstStyle/>
            <a:p>
              <a:endParaRPr/>
            </a:p>
          </p:txBody>
        </p:sp>
        <p:sp>
          <p:nvSpPr>
            <p:cNvPr id="21" name="object 21"/>
            <p:cNvSpPr/>
            <p:nvPr/>
          </p:nvSpPr>
          <p:spPr>
            <a:xfrm>
              <a:off x="2975762" y="3718086"/>
              <a:ext cx="217170" cy="241300"/>
            </a:xfrm>
            <a:custGeom>
              <a:avLst/>
              <a:gdLst/>
              <a:ahLst/>
              <a:cxnLst/>
              <a:rect l="l" t="t" r="r" b="b"/>
              <a:pathLst>
                <a:path w="217169" h="241300">
                  <a:moveTo>
                    <a:pt x="0" y="0"/>
                  </a:moveTo>
                  <a:lnTo>
                    <a:pt x="216712" y="0"/>
                  </a:lnTo>
                  <a:lnTo>
                    <a:pt x="216712" y="240842"/>
                  </a:lnTo>
                  <a:lnTo>
                    <a:pt x="0" y="240842"/>
                  </a:lnTo>
                  <a:lnTo>
                    <a:pt x="0" y="0"/>
                  </a:lnTo>
                  <a:close/>
                </a:path>
              </a:pathLst>
            </a:custGeom>
            <a:ln w="19172">
              <a:solidFill>
                <a:srgbClr val="FFFFFF"/>
              </a:solidFill>
            </a:ln>
          </p:spPr>
          <p:txBody>
            <a:bodyPr wrap="square" lIns="0" tIns="0" rIns="0" bIns="0" rtlCol="0"/>
            <a:lstStyle/>
            <a:p>
              <a:endParaRPr/>
            </a:p>
          </p:txBody>
        </p:sp>
        <p:pic>
          <p:nvPicPr>
            <p:cNvPr id="22" name="object 22"/>
            <p:cNvPicPr/>
            <p:nvPr/>
          </p:nvPicPr>
          <p:blipFill>
            <a:blip r:embed="rId11" cstate="print"/>
            <a:stretch>
              <a:fillRect/>
            </a:stretch>
          </p:blipFill>
          <p:spPr>
            <a:xfrm>
              <a:off x="3008515" y="4501092"/>
              <a:ext cx="147967" cy="115557"/>
            </a:xfrm>
            <a:prstGeom prst="rect">
              <a:avLst/>
            </a:prstGeom>
          </p:spPr>
        </p:pic>
        <p:sp>
          <p:nvSpPr>
            <p:cNvPr id="23" name="object 23"/>
            <p:cNvSpPr/>
            <p:nvPr/>
          </p:nvSpPr>
          <p:spPr>
            <a:xfrm>
              <a:off x="3009963" y="4655524"/>
              <a:ext cx="147320" cy="18415"/>
            </a:xfrm>
            <a:custGeom>
              <a:avLst/>
              <a:gdLst/>
              <a:ahLst/>
              <a:cxnLst/>
              <a:rect l="l" t="t" r="r" b="b"/>
              <a:pathLst>
                <a:path w="147319" h="18414">
                  <a:moveTo>
                    <a:pt x="146875" y="0"/>
                  </a:moveTo>
                  <a:lnTo>
                    <a:pt x="0" y="1079"/>
                  </a:lnTo>
                  <a:lnTo>
                    <a:pt x="355" y="18364"/>
                  </a:lnTo>
                  <a:lnTo>
                    <a:pt x="146875" y="16929"/>
                  </a:lnTo>
                  <a:lnTo>
                    <a:pt x="146875" y="0"/>
                  </a:lnTo>
                  <a:close/>
                </a:path>
              </a:pathLst>
            </a:custGeom>
            <a:solidFill>
              <a:srgbClr val="FFFFFF"/>
            </a:solidFill>
          </p:spPr>
          <p:txBody>
            <a:bodyPr wrap="square" lIns="0" tIns="0" rIns="0" bIns="0" rtlCol="0"/>
            <a:lstStyle/>
            <a:p>
              <a:endParaRPr/>
            </a:p>
          </p:txBody>
        </p:sp>
        <p:pic>
          <p:nvPicPr>
            <p:cNvPr id="24" name="object 24"/>
            <p:cNvPicPr/>
            <p:nvPr/>
          </p:nvPicPr>
          <p:blipFill>
            <a:blip r:embed="rId12" cstate="print"/>
            <a:stretch>
              <a:fillRect/>
            </a:stretch>
          </p:blipFill>
          <p:spPr>
            <a:xfrm>
              <a:off x="3009239" y="4705930"/>
              <a:ext cx="150806" cy="110515"/>
            </a:xfrm>
            <a:prstGeom prst="rect">
              <a:avLst/>
            </a:prstGeom>
          </p:spPr>
        </p:pic>
        <p:sp>
          <p:nvSpPr>
            <p:cNvPr id="25" name="object 25"/>
            <p:cNvSpPr/>
            <p:nvPr/>
          </p:nvSpPr>
          <p:spPr>
            <a:xfrm>
              <a:off x="5271477" y="3648604"/>
              <a:ext cx="351790" cy="1280160"/>
            </a:xfrm>
            <a:custGeom>
              <a:avLst/>
              <a:gdLst/>
              <a:ahLst/>
              <a:cxnLst/>
              <a:rect l="l" t="t" r="r" b="b"/>
              <a:pathLst>
                <a:path w="351789" h="1280160">
                  <a:moveTo>
                    <a:pt x="0" y="0"/>
                  </a:moveTo>
                  <a:lnTo>
                    <a:pt x="351726" y="0"/>
                  </a:lnTo>
                  <a:lnTo>
                    <a:pt x="351726" y="1280159"/>
                  </a:lnTo>
                  <a:lnTo>
                    <a:pt x="0" y="1280159"/>
                  </a:lnTo>
                  <a:lnTo>
                    <a:pt x="0" y="0"/>
                  </a:lnTo>
                  <a:close/>
                </a:path>
              </a:pathLst>
            </a:custGeom>
            <a:ln w="23934">
              <a:solidFill>
                <a:srgbClr val="FFFFFF"/>
              </a:solidFill>
            </a:ln>
          </p:spPr>
          <p:txBody>
            <a:bodyPr wrap="square" lIns="0" tIns="0" rIns="0" bIns="0" rtlCol="0"/>
            <a:lstStyle/>
            <a:p>
              <a:endParaRPr/>
            </a:p>
          </p:txBody>
        </p:sp>
        <p:sp>
          <p:nvSpPr>
            <p:cNvPr id="26" name="object 26"/>
            <p:cNvSpPr/>
            <p:nvPr/>
          </p:nvSpPr>
          <p:spPr>
            <a:xfrm>
              <a:off x="5339156" y="3718086"/>
              <a:ext cx="216535" cy="241300"/>
            </a:xfrm>
            <a:custGeom>
              <a:avLst/>
              <a:gdLst/>
              <a:ahLst/>
              <a:cxnLst/>
              <a:rect l="l" t="t" r="r" b="b"/>
              <a:pathLst>
                <a:path w="216535" h="241300">
                  <a:moveTo>
                    <a:pt x="0" y="0"/>
                  </a:moveTo>
                  <a:lnTo>
                    <a:pt x="216369" y="0"/>
                  </a:lnTo>
                  <a:lnTo>
                    <a:pt x="216369" y="240842"/>
                  </a:lnTo>
                  <a:lnTo>
                    <a:pt x="0" y="240842"/>
                  </a:lnTo>
                  <a:lnTo>
                    <a:pt x="0" y="0"/>
                  </a:lnTo>
                  <a:close/>
                </a:path>
              </a:pathLst>
            </a:custGeom>
            <a:ln w="19172">
              <a:solidFill>
                <a:srgbClr val="FFFFFF"/>
              </a:solidFill>
            </a:ln>
          </p:spPr>
          <p:txBody>
            <a:bodyPr wrap="square" lIns="0" tIns="0" rIns="0" bIns="0" rtlCol="0"/>
            <a:lstStyle/>
            <a:p>
              <a:endParaRPr/>
            </a:p>
          </p:txBody>
        </p:sp>
        <p:pic>
          <p:nvPicPr>
            <p:cNvPr id="27" name="object 27"/>
            <p:cNvPicPr/>
            <p:nvPr/>
          </p:nvPicPr>
          <p:blipFill>
            <a:blip r:embed="rId13" cstate="print"/>
            <a:stretch>
              <a:fillRect/>
            </a:stretch>
          </p:blipFill>
          <p:spPr>
            <a:xfrm>
              <a:off x="5371922" y="4501092"/>
              <a:ext cx="147599" cy="115557"/>
            </a:xfrm>
            <a:prstGeom prst="rect">
              <a:avLst/>
            </a:prstGeom>
          </p:spPr>
        </p:pic>
        <p:sp>
          <p:nvSpPr>
            <p:cNvPr id="28" name="object 28"/>
            <p:cNvSpPr/>
            <p:nvPr/>
          </p:nvSpPr>
          <p:spPr>
            <a:xfrm>
              <a:off x="5373357" y="4655524"/>
              <a:ext cx="146685" cy="18415"/>
            </a:xfrm>
            <a:custGeom>
              <a:avLst/>
              <a:gdLst/>
              <a:ahLst/>
              <a:cxnLst/>
              <a:rect l="l" t="t" r="r" b="b"/>
              <a:pathLst>
                <a:path w="146685" h="18414">
                  <a:moveTo>
                    <a:pt x="146519" y="0"/>
                  </a:moveTo>
                  <a:lnTo>
                    <a:pt x="0" y="1079"/>
                  </a:lnTo>
                  <a:lnTo>
                    <a:pt x="0" y="18364"/>
                  </a:lnTo>
                  <a:lnTo>
                    <a:pt x="146519" y="16929"/>
                  </a:lnTo>
                  <a:lnTo>
                    <a:pt x="146519" y="0"/>
                  </a:lnTo>
                  <a:close/>
                </a:path>
              </a:pathLst>
            </a:custGeom>
            <a:solidFill>
              <a:srgbClr val="FFFFFF"/>
            </a:solidFill>
          </p:spPr>
          <p:txBody>
            <a:bodyPr wrap="square" lIns="0" tIns="0" rIns="0" bIns="0" rtlCol="0"/>
            <a:lstStyle/>
            <a:p>
              <a:endParaRPr/>
            </a:p>
          </p:txBody>
        </p:sp>
        <p:pic>
          <p:nvPicPr>
            <p:cNvPr id="29" name="object 29"/>
            <p:cNvPicPr/>
            <p:nvPr/>
          </p:nvPicPr>
          <p:blipFill>
            <a:blip r:embed="rId14" cstate="print"/>
            <a:stretch>
              <a:fillRect/>
            </a:stretch>
          </p:blipFill>
          <p:spPr>
            <a:xfrm>
              <a:off x="5372646" y="4705930"/>
              <a:ext cx="150438" cy="110515"/>
            </a:xfrm>
            <a:prstGeom prst="rect">
              <a:avLst/>
            </a:prstGeom>
          </p:spPr>
        </p:pic>
        <p:sp>
          <p:nvSpPr>
            <p:cNvPr id="30" name="object 30"/>
            <p:cNvSpPr/>
            <p:nvPr/>
          </p:nvSpPr>
          <p:spPr>
            <a:xfrm>
              <a:off x="4798796" y="3648604"/>
              <a:ext cx="351790" cy="1280160"/>
            </a:xfrm>
            <a:custGeom>
              <a:avLst/>
              <a:gdLst/>
              <a:ahLst/>
              <a:cxnLst/>
              <a:rect l="l" t="t" r="r" b="b"/>
              <a:pathLst>
                <a:path w="351789" h="1280160">
                  <a:moveTo>
                    <a:pt x="0" y="0"/>
                  </a:moveTo>
                  <a:lnTo>
                    <a:pt x="351726" y="0"/>
                  </a:lnTo>
                  <a:lnTo>
                    <a:pt x="351726" y="1280159"/>
                  </a:lnTo>
                  <a:lnTo>
                    <a:pt x="0" y="1280159"/>
                  </a:lnTo>
                  <a:lnTo>
                    <a:pt x="0" y="0"/>
                  </a:lnTo>
                  <a:close/>
                </a:path>
              </a:pathLst>
            </a:custGeom>
            <a:ln w="23934">
              <a:solidFill>
                <a:srgbClr val="FFFFFF"/>
              </a:solidFill>
            </a:ln>
          </p:spPr>
          <p:txBody>
            <a:bodyPr wrap="square" lIns="0" tIns="0" rIns="0" bIns="0" rtlCol="0"/>
            <a:lstStyle/>
            <a:p>
              <a:endParaRPr/>
            </a:p>
          </p:txBody>
        </p:sp>
        <p:sp>
          <p:nvSpPr>
            <p:cNvPr id="31" name="object 31"/>
            <p:cNvSpPr/>
            <p:nvPr/>
          </p:nvSpPr>
          <p:spPr>
            <a:xfrm>
              <a:off x="4866119" y="3718086"/>
              <a:ext cx="217170" cy="241300"/>
            </a:xfrm>
            <a:custGeom>
              <a:avLst/>
              <a:gdLst/>
              <a:ahLst/>
              <a:cxnLst/>
              <a:rect l="l" t="t" r="r" b="b"/>
              <a:pathLst>
                <a:path w="217170" h="241300">
                  <a:moveTo>
                    <a:pt x="0" y="0"/>
                  </a:moveTo>
                  <a:lnTo>
                    <a:pt x="216725" y="0"/>
                  </a:lnTo>
                  <a:lnTo>
                    <a:pt x="216725" y="240842"/>
                  </a:lnTo>
                  <a:lnTo>
                    <a:pt x="0" y="240842"/>
                  </a:lnTo>
                  <a:lnTo>
                    <a:pt x="0" y="0"/>
                  </a:lnTo>
                  <a:close/>
                </a:path>
              </a:pathLst>
            </a:custGeom>
            <a:ln w="19172">
              <a:solidFill>
                <a:srgbClr val="FFFFFF"/>
              </a:solidFill>
            </a:ln>
          </p:spPr>
          <p:txBody>
            <a:bodyPr wrap="square" lIns="0" tIns="0" rIns="0" bIns="0" rtlCol="0"/>
            <a:lstStyle/>
            <a:p>
              <a:endParaRPr/>
            </a:p>
          </p:txBody>
        </p:sp>
        <p:pic>
          <p:nvPicPr>
            <p:cNvPr id="32" name="object 32"/>
            <p:cNvPicPr/>
            <p:nvPr/>
          </p:nvPicPr>
          <p:blipFill>
            <a:blip r:embed="rId15" cstate="print"/>
            <a:stretch>
              <a:fillRect/>
            </a:stretch>
          </p:blipFill>
          <p:spPr>
            <a:xfrm>
              <a:off x="4898885" y="4501092"/>
              <a:ext cx="147955" cy="115557"/>
            </a:xfrm>
            <a:prstGeom prst="rect">
              <a:avLst/>
            </a:prstGeom>
          </p:spPr>
        </p:pic>
        <p:sp>
          <p:nvSpPr>
            <p:cNvPr id="33" name="object 33"/>
            <p:cNvSpPr/>
            <p:nvPr/>
          </p:nvSpPr>
          <p:spPr>
            <a:xfrm>
              <a:off x="4900320" y="4655524"/>
              <a:ext cx="147320" cy="18415"/>
            </a:xfrm>
            <a:custGeom>
              <a:avLst/>
              <a:gdLst/>
              <a:ahLst/>
              <a:cxnLst/>
              <a:rect l="l" t="t" r="r" b="b"/>
              <a:pathLst>
                <a:path w="147320" h="18414">
                  <a:moveTo>
                    <a:pt x="146875" y="0"/>
                  </a:moveTo>
                  <a:lnTo>
                    <a:pt x="0" y="1079"/>
                  </a:lnTo>
                  <a:lnTo>
                    <a:pt x="355" y="18364"/>
                  </a:lnTo>
                  <a:lnTo>
                    <a:pt x="146875" y="16929"/>
                  </a:lnTo>
                  <a:lnTo>
                    <a:pt x="146875" y="0"/>
                  </a:lnTo>
                  <a:close/>
                </a:path>
              </a:pathLst>
            </a:custGeom>
            <a:solidFill>
              <a:srgbClr val="FFFFFF"/>
            </a:solidFill>
          </p:spPr>
          <p:txBody>
            <a:bodyPr wrap="square" lIns="0" tIns="0" rIns="0" bIns="0" rtlCol="0"/>
            <a:lstStyle/>
            <a:p>
              <a:endParaRPr/>
            </a:p>
          </p:txBody>
        </p:sp>
        <p:pic>
          <p:nvPicPr>
            <p:cNvPr id="34" name="object 34"/>
            <p:cNvPicPr/>
            <p:nvPr/>
          </p:nvPicPr>
          <p:blipFill>
            <a:blip r:embed="rId16" cstate="print"/>
            <a:stretch>
              <a:fillRect/>
            </a:stretch>
          </p:blipFill>
          <p:spPr>
            <a:xfrm>
              <a:off x="4899596" y="4705930"/>
              <a:ext cx="150806" cy="110515"/>
            </a:xfrm>
            <a:prstGeom prst="rect">
              <a:avLst/>
            </a:prstGeom>
          </p:spPr>
        </p:pic>
        <p:sp>
          <p:nvSpPr>
            <p:cNvPr id="35" name="object 35"/>
            <p:cNvSpPr/>
            <p:nvPr/>
          </p:nvSpPr>
          <p:spPr>
            <a:xfrm>
              <a:off x="4326483" y="3648604"/>
              <a:ext cx="351790" cy="1280160"/>
            </a:xfrm>
            <a:custGeom>
              <a:avLst/>
              <a:gdLst/>
              <a:ahLst/>
              <a:cxnLst/>
              <a:rect l="l" t="t" r="r" b="b"/>
              <a:pathLst>
                <a:path w="351789" h="1280160">
                  <a:moveTo>
                    <a:pt x="0" y="0"/>
                  </a:moveTo>
                  <a:lnTo>
                    <a:pt x="351358" y="0"/>
                  </a:lnTo>
                  <a:lnTo>
                    <a:pt x="351358" y="1280159"/>
                  </a:lnTo>
                  <a:lnTo>
                    <a:pt x="0" y="1280159"/>
                  </a:lnTo>
                  <a:lnTo>
                    <a:pt x="0" y="0"/>
                  </a:lnTo>
                  <a:close/>
                </a:path>
              </a:pathLst>
            </a:custGeom>
            <a:ln w="23934">
              <a:solidFill>
                <a:srgbClr val="FFFFFF"/>
              </a:solidFill>
            </a:ln>
          </p:spPr>
          <p:txBody>
            <a:bodyPr wrap="square" lIns="0" tIns="0" rIns="0" bIns="0" rtlCol="0"/>
            <a:lstStyle/>
            <a:p>
              <a:endParaRPr/>
            </a:p>
          </p:txBody>
        </p:sp>
        <p:sp>
          <p:nvSpPr>
            <p:cNvPr id="36" name="object 36"/>
            <p:cNvSpPr/>
            <p:nvPr/>
          </p:nvSpPr>
          <p:spPr>
            <a:xfrm>
              <a:off x="4393806" y="3718086"/>
              <a:ext cx="217170" cy="241300"/>
            </a:xfrm>
            <a:custGeom>
              <a:avLst/>
              <a:gdLst/>
              <a:ahLst/>
              <a:cxnLst/>
              <a:rect l="l" t="t" r="r" b="b"/>
              <a:pathLst>
                <a:path w="217170" h="241300">
                  <a:moveTo>
                    <a:pt x="0" y="0"/>
                  </a:moveTo>
                  <a:lnTo>
                    <a:pt x="216712" y="0"/>
                  </a:lnTo>
                  <a:lnTo>
                    <a:pt x="216712" y="240842"/>
                  </a:lnTo>
                  <a:lnTo>
                    <a:pt x="0" y="240842"/>
                  </a:lnTo>
                  <a:lnTo>
                    <a:pt x="0" y="0"/>
                  </a:lnTo>
                  <a:close/>
                </a:path>
              </a:pathLst>
            </a:custGeom>
            <a:ln w="19172">
              <a:solidFill>
                <a:srgbClr val="FFFFFF"/>
              </a:solidFill>
            </a:ln>
          </p:spPr>
          <p:txBody>
            <a:bodyPr wrap="square" lIns="0" tIns="0" rIns="0" bIns="0" rtlCol="0"/>
            <a:lstStyle/>
            <a:p>
              <a:endParaRPr/>
            </a:p>
          </p:txBody>
        </p:sp>
        <p:pic>
          <p:nvPicPr>
            <p:cNvPr id="37" name="object 37"/>
            <p:cNvPicPr/>
            <p:nvPr/>
          </p:nvPicPr>
          <p:blipFill>
            <a:blip r:embed="rId17" cstate="print"/>
            <a:stretch>
              <a:fillRect/>
            </a:stretch>
          </p:blipFill>
          <p:spPr>
            <a:xfrm>
              <a:off x="4426559" y="4501092"/>
              <a:ext cx="147599" cy="115557"/>
            </a:xfrm>
            <a:prstGeom prst="rect">
              <a:avLst/>
            </a:prstGeom>
          </p:spPr>
        </p:pic>
        <p:sp>
          <p:nvSpPr>
            <p:cNvPr id="38" name="object 38"/>
            <p:cNvSpPr/>
            <p:nvPr/>
          </p:nvSpPr>
          <p:spPr>
            <a:xfrm>
              <a:off x="4427994" y="4655524"/>
              <a:ext cx="147320" cy="18415"/>
            </a:xfrm>
            <a:custGeom>
              <a:avLst/>
              <a:gdLst/>
              <a:ahLst/>
              <a:cxnLst/>
              <a:rect l="l" t="t" r="r" b="b"/>
              <a:pathLst>
                <a:path w="147320" h="18414">
                  <a:moveTo>
                    <a:pt x="146519" y="0"/>
                  </a:moveTo>
                  <a:lnTo>
                    <a:pt x="0" y="1079"/>
                  </a:lnTo>
                  <a:lnTo>
                    <a:pt x="368" y="18364"/>
                  </a:lnTo>
                  <a:lnTo>
                    <a:pt x="146888" y="16929"/>
                  </a:lnTo>
                  <a:lnTo>
                    <a:pt x="146519" y="0"/>
                  </a:lnTo>
                  <a:close/>
                </a:path>
              </a:pathLst>
            </a:custGeom>
            <a:solidFill>
              <a:srgbClr val="FFFFFF"/>
            </a:solidFill>
          </p:spPr>
          <p:txBody>
            <a:bodyPr wrap="square" lIns="0" tIns="0" rIns="0" bIns="0" rtlCol="0"/>
            <a:lstStyle/>
            <a:p>
              <a:endParaRPr/>
            </a:p>
          </p:txBody>
        </p:sp>
        <p:pic>
          <p:nvPicPr>
            <p:cNvPr id="39" name="object 39"/>
            <p:cNvPicPr/>
            <p:nvPr/>
          </p:nvPicPr>
          <p:blipFill>
            <a:blip r:embed="rId18" cstate="print"/>
            <a:stretch>
              <a:fillRect/>
            </a:stretch>
          </p:blipFill>
          <p:spPr>
            <a:xfrm>
              <a:off x="4427283" y="4705930"/>
              <a:ext cx="150791" cy="110515"/>
            </a:xfrm>
            <a:prstGeom prst="rect">
              <a:avLst/>
            </a:prstGeom>
          </p:spPr>
        </p:pic>
        <p:sp>
          <p:nvSpPr>
            <p:cNvPr id="40" name="object 40"/>
            <p:cNvSpPr/>
            <p:nvPr/>
          </p:nvSpPr>
          <p:spPr>
            <a:xfrm>
              <a:off x="3853433" y="3648604"/>
              <a:ext cx="351790" cy="1280160"/>
            </a:xfrm>
            <a:custGeom>
              <a:avLst/>
              <a:gdLst/>
              <a:ahLst/>
              <a:cxnLst/>
              <a:rect l="l" t="t" r="r" b="b"/>
              <a:pathLst>
                <a:path w="351789" h="1280160">
                  <a:moveTo>
                    <a:pt x="0" y="0"/>
                  </a:moveTo>
                  <a:lnTo>
                    <a:pt x="351726" y="0"/>
                  </a:lnTo>
                  <a:lnTo>
                    <a:pt x="351726" y="1280159"/>
                  </a:lnTo>
                  <a:lnTo>
                    <a:pt x="0" y="1280159"/>
                  </a:lnTo>
                  <a:lnTo>
                    <a:pt x="0" y="0"/>
                  </a:lnTo>
                  <a:close/>
                </a:path>
              </a:pathLst>
            </a:custGeom>
            <a:ln w="23934">
              <a:solidFill>
                <a:srgbClr val="FFFFFF"/>
              </a:solidFill>
            </a:ln>
          </p:spPr>
          <p:txBody>
            <a:bodyPr wrap="square" lIns="0" tIns="0" rIns="0" bIns="0" rtlCol="0"/>
            <a:lstStyle/>
            <a:p>
              <a:endParaRPr/>
            </a:p>
          </p:txBody>
        </p:sp>
        <p:sp>
          <p:nvSpPr>
            <p:cNvPr id="41" name="object 41"/>
            <p:cNvSpPr/>
            <p:nvPr/>
          </p:nvSpPr>
          <p:spPr>
            <a:xfrm>
              <a:off x="3921125" y="3718086"/>
              <a:ext cx="217170" cy="241300"/>
            </a:xfrm>
            <a:custGeom>
              <a:avLst/>
              <a:gdLst/>
              <a:ahLst/>
              <a:cxnLst/>
              <a:rect l="l" t="t" r="r" b="b"/>
              <a:pathLst>
                <a:path w="217170" h="241300">
                  <a:moveTo>
                    <a:pt x="0" y="0"/>
                  </a:moveTo>
                  <a:lnTo>
                    <a:pt x="216712" y="0"/>
                  </a:lnTo>
                  <a:lnTo>
                    <a:pt x="216712" y="240842"/>
                  </a:lnTo>
                  <a:lnTo>
                    <a:pt x="0" y="240842"/>
                  </a:lnTo>
                  <a:lnTo>
                    <a:pt x="0" y="0"/>
                  </a:lnTo>
                  <a:close/>
                </a:path>
              </a:pathLst>
            </a:custGeom>
            <a:ln w="19172">
              <a:solidFill>
                <a:srgbClr val="FFFFFF"/>
              </a:solidFill>
            </a:ln>
          </p:spPr>
          <p:txBody>
            <a:bodyPr wrap="square" lIns="0" tIns="0" rIns="0" bIns="0" rtlCol="0"/>
            <a:lstStyle/>
            <a:p>
              <a:endParaRPr/>
            </a:p>
          </p:txBody>
        </p:sp>
        <p:pic>
          <p:nvPicPr>
            <p:cNvPr id="42" name="object 42"/>
            <p:cNvPicPr/>
            <p:nvPr/>
          </p:nvPicPr>
          <p:blipFill>
            <a:blip r:embed="rId19" cstate="print"/>
            <a:stretch>
              <a:fillRect/>
            </a:stretch>
          </p:blipFill>
          <p:spPr>
            <a:xfrm>
              <a:off x="3953878" y="4501092"/>
              <a:ext cx="147599" cy="115557"/>
            </a:xfrm>
            <a:prstGeom prst="rect">
              <a:avLst/>
            </a:prstGeom>
          </p:spPr>
        </p:pic>
        <p:pic>
          <p:nvPicPr>
            <p:cNvPr id="43" name="object 43"/>
            <p:cNvPicPr/>
            <p:nvPr/>
          </p:nvPicPr>
          <p:blipFill>
            <a:blip r:embed="rId20" cstate="print"/>
            <a:stretch>
              <a:fillRect/>
            </a:stretch>
          </p:blipFill>
          <p:spPr>
            <a:xfrm>
              <a:off x="2873514" y="1621087"/>
              <a:ext cx="4553648" cy="1944725"/>
            </a:xfrm>
            <a:prstGeom prst="rect">
              <a:avLst/>
            </a:prstGeom>
          </p:spPr>
        </p:pic>
        <p:sp>
          <p:nvSpPr>
            <p:cNvPr id="44" name="object 44"/>
            <p:cNvSpPr/>
            <p:nvPr/>
          </p:nvSpPr>
          <p:spPr>
            <a:xfrm>
              <a:off x="3955326" y="4655524"/>
              <a:ext cx="147320" cy="18415"/>
            </a:xfrm>
            <a:custGeom>
              <a:avLst/>
              <a:gdLst/>
              <a:ahLst/>
              <a:cxnLst/>
              <a:rect l="l" t="t" r="r" b="b"/>
              <a:pathLst>
                <a:path w="147320" h="18414">
                  <a:moveTo>
                    <a:pt x="146519" y="0"/>
                  </a:moveTo>
                  <a:lnTo>
                    <a:pt x="0" y="1079"/>
                  </a:lnTo>
                  <a:lnTo>
                    <a:pt x="0" y="18364"/>
                  </a:lnTo>
                  <a:lnTo>
                    <a:pt x="146875" y="16929"/>
                  </a:lnTo>
                  <a:lnTo>
                    <a:pt x="146519" y="0"/>
                  </a:lnTo>
                  <a:close/>
                </a:path>
              </a:pathLst>
            </a:custGeom>
            <a:solidFill>
              <a:srgbClr val="FFFFFF"/>
            </a:solidFill>
          </p:spPr>
          <p:txBody>
            <a:bodyPr wrap="square" lIns="0" tIns="0" rIns="0" bIns="0" rtlCol="0"/>
            <a:lstStyle/>
            <a:p>
              <a:endParaRPr/>
            </a:p>
          </p:txBody>
        </p:sp>
        <p:pic>
          <p:nvPicPr>
            <p:cNvPr id="45" name="object 45"/>
            <p:cNvPicPr/>
            <p:nvPr/>
          </p:nvPicPr>
          <p:blipFill>
            <a:blip r:embed="rId21" cstate="print"/>
            <a:stretch>
              <a:fillRect/>
            </a:stretch>
          </p:blipFill>
          <p:spPr>
            <a:xfrm>
              <a:off x="3954602" y="4705930"/>
              <a:ext cx="150791" cy="110515"/>
            </a:xfrm>
            <a:prstGeom prst="rect">
              <a:avLst/>
            </a:prstGeom>
          </p:spPr>
        </p:pic>
        <p:sp>
          <p:nvSpPr>
            <p:cNvPr id="46" name="object 46"/>
            <p:cNvSpPr/>
            <p:nvPr/>
          </p:nvSpPr>
          <p:spPr>
            <a:xfrm>
              <a:off x="3381121" y="3648604"/>
              <a:ext cx="351790" cy="1280160"/>
            </a:xfrm>
            <a:custGeom>
              <a:avLst/>
              <a:gdLst/>
              <a:ahLst/>
              <a:cxnLst/>
              <a:rect l="l" t="t" r="r" b="b"/>
              <a:pathLst>
                <a:path w="351789" h="1280160">
                  <a:moveTo>
                    <a:pt x="0" y="0"/>
                  </a:moveTo>
                  <a:lnTo>
                    <a:pt x="351713" y="0"/>
                  </a:lnTo>
                  <a:lnTo>
                    <a:pt x="351713" y="1280159"/>
                  </a:lnTo>
                  <a:lnTo>
                    <a:pt x="0" y="1280159"/>
                  </a:lnTo>
                  <a:lnTo>
                    <a:pt x="0" y="0"/>
                  </a:lnTo>
                  <a:close/>
                </a:path>
              </a:pathLst>
            </a:custGeom>
            <a:ln w="23934">
              <a:solidFill>
                <a:srgbClr val="FFFFFF"/>
              </a:solidFill>
            </a:ln>
          </p:spPr>
          <p:txBody>
            <a:bodyPr wrap="square" lIns="0" tIns="0" rIns="0" bIns="0" rtlCol="0"/>
            <a:lstStyle/>
            <a:p>
              <a:endParaRPr/>
            </a:p>
          </p:txBody>
        </p:sp>
        <p:sp>
          <p:nvSpPr>
            <p:cNvPr id="47" name="object 47"/>
            <p:cNvSpPr/>
            <p:nvPr/>
          </p:nvSpPr>
          <p:spPr>
            <a:xfrm>
              <a:off x="3448799" y="3718086"/>
              <a:ext cx="217170" cy="241300"/>
            </a:xfrm>
            <a:custGeom>
              <a:avLst/>
              <a:gdLst/>
              <a:ahLst/>
              <a:cxnLst/>
              <a:rect l="l" t="t" r="r" b="b"/>
              <a:pathLst>
                <a:path w="217170" h="241300">
                  <a:moveTo>
                    <a:pt x="0" y="0"/>
                  </a:moveTo>
                  <a:lnTo>
                    <a:pt x="216725" y="0"/>
                  </a:lnTo>
                  <a:lnTo>
                    <a:pt x="216725" y="240842"/>
                  </a:lnTo>
                  <a:lnTo>
                    <a:pt x="0" y="240842"/>
                  </a:lnTo>
                  <a:lnTo>
                    <a:pt x="0" y="0"/>
                  </a:lnTo>
                  <a:close/>
                </a:path>
              </a:pathLst>
            </a:custGeom>
            <a:ln w="19172">
              <a:solidFill>
                <a:srgbClr val="FFFFFF"/>
              </a:solidFill>
            </a:ln>
          </p:spPr>
          <p:txBody>
            <a:bodyPr wrap="square" lIns="0" tIns="0" rIns="0" bIns="0" rtlCol="0"/>
            <a:lstStyle/>
            <a:p>
              <a:endParaRPr/>
            </a:p>
          </p:txBody>
        </p:sp>
        <p:pic>
          <p:nvPicPr>
            <p:cNvPr id="48" name="object 48"/>
            <p:cNvPicPr/>
            <p:nvPr/>
          </p:nvPicPr>
          <p:blipFill>
            <a:blip r:embed="rId22" cstate="print"/>
            <a:stretch>
              <a:fillRect/>
            </a:stretch>
          </p:blipFill>
          <p:spPr>
            <a:xfrm>
              <a:off x="3481565" y="4501092"/>
              <a:ext cx="147599" cy="115557"/>
            </a:xfrm>
            <a:prstGeom prst="rect">
              <a:avLst/>
            </a:prstGeom>
          </p:spPr>
        </p:pic>
        <p:sp>
          <p:nvSpPr>
            <p:cNvPr id="49" name="object 49"/>
            <p:cNvSpPr/>
            <p:nvPr/>
          </p:nvSpPr>
          <p:spPr>
            <a:xfrm>
              <a:off x="3483000" y="4655524"/>
              <a:ext cx="146685" cy="18415"/>
            </a:xfrm>
            <a:custGeom>
              <a:avLst/>
              <a:gdLst/>
              <a:ahLst/>
              <a:cxnLst/>
              <a:rect l="l" t="t" r="r" b="b"/>
              <a:pathLst>
                <a:path w="146685" h="18414">
                  <a:moveTo>
                    <a:pt x="146519" y="0"/>
                  </a:moveTo>
                  <a:lnTo>
                    <a:pt x="0" y="1079"/>
                  </a:lnTo>
                  <a:lnTo>
                    <a:pt x="0" y="18364"/>
                  </a:lnTo>
                  <a:lnTo>
                    <a:pt x="146519" y="16929"/>
                  </a:lnTo>
                  <a:lnTo>
                    <a:pt x="146519" y="0"/>
                  </a:lnTo>
                  <a:close/>
                </a:path>
              </a:pathLst>
            </a:custGeom>
            <a:solidFill>
              <a:srgbClr val="FFFFFF"/>
            </a:solidFill>
          </p:spPr>
          <p:txBody>
            <a:bodyPr wrap="square" lIns="0" tIns="0" rIns="0" bIns="0" rtlCol="0"/>
            <a:lstStyle/>
            <a:p>
              <a:endParaRPr/>
            </a:p>
          </p:txBody>
        </p:sp>
        <p:pic>
          <p:nvPicPr>
            <p:cNvPr id="50" name="object 50"/>
            <p:cNvPicPr/>
            <p:nvPr/>
          </p:nvPicPr>
          <p:blipFill>
            <a:blip r:embed="rId23" cstate="print"/>
            <a:stretch>
              <a:fillRect/>
            </a:stretch>
          </p:blipFill>
          <p:spPr>
            <a:xfrm>
              <a:off x="3482276" y="4705930"/>
              <a:ext cx="150791" cy="110515"/>
            </a:xfrm>
            <a:prstGeom prst="rect">
              <a:avLst/>
            </a:prstGeom>
          </p:spPr>
        </p:pic>
        <p:sp>
          <p:nvSpPr>
            <p:cNvPr id="51" name="object 51"/>
            <p:cNvSpPr/>
            <p:nvPr/>
          </p:nvSpPr>
          <p:spPr>
            <a:xfrm>
              <a:off x="2874238" y="3288610"/>
              <a:ext cx="386080" cy="277495"/>
            </a:xfrm>
            <a:custGeom>
              <a:avLst/>
              <a:gdLst/>
              <a:ahLst/>
              <a:cxnLst/>
              <a:rect l="l" t="t" r="r" b="b"/>
              <a:pathLst>
                <a:path w="386079" h="277495">
                  <a:moveTo>
                    <a:pt x="315721" y="0"/>
                  </a:moveTo>
                  <a:lnTo>
                    <a:pt x="70205" y="0"/>
                  </a:lnTo>
                  <a:lnTo>
                    <a:pt x="42830" y="5500"/>
                  </a:lnTo>
                  <a:lnTo>
                    <a:pt x="20520" y="20518"/>
                  </a:lnTo>
                  <a:lnTo>
                    <a:pt x="5501" y="42824"/>
                  </a:lnTo>
                  <a:lnTo>
                    <a:pt x="0" y="70192"/>
                  </a:lnTo>
                  <a:lnTo>
                    <a:pt x="0" y="206641"/>
                  </a:lnTo>
                  <a:lnTo>
                    <a:pt x="5501" y="234222"/>
                  </a:lnTo>
                  <a:lnTo>
                    <a:pt x="20520" y="256638"/>
                  </a:lnTo>
                  <a:lnTo>
                    <a:pt x="42830" y="271696"/>
                  </a:lnTo>
                  <a:lnTo>
                    <a:pt x="70205" y="277202"/>
                  </a:lnTo>
                  <a:lnTo>
                    <a:pt x="315721" y="277202"/>
                  </a:lnTo>
                  <a:lnTo>
                    <a:pt x="343091" y="271696"/>
                  </a:lnTo>
                  <a:lnTo>
                    <a:pt x="365402" y="256638"/>
                  </a:lnTo>
                  <a:lnTo>
                    <a:pt x="380424" y="234222"/>
                  </a:lnTo>
                  <a:lnTo>
                    <a:pt x="385927" y="206641"/>
                  </a:lnTo>
                  <a:lnTo>
                    <a:pt x="385927" y="70192"/>
                  </a:lnTo>
                  <a:lnTo>
                    <a:pt x="380424" y="42824"/>
                  </a:lnTo>
                  <a:lnTo>
                    <a:pt x="365402" y="20518"/>
                  </a:lnTo>
                  <a:lnTo>
                    <a:pt x="343091" y="5500"/>
                  </a:lnTo>
                  <a:lnTo>
                    <a:pt x="315721" y="0"/>
                  </a:lnTo>
                  <a:close/>
                </a:path>
              </a:pathLst>
            </a:custGeom>
            <a:solidFill>
              <a:srgbClr val="FF9000"/>
            </a:solidFill>
          </p:spPr>
          <p:txBody>
            <a:bodyPr wrap="square" lIns="0" tIns="0" rIns="0" bIns="0" rtlCol="0"/>
            <a:lstStyle/>
            <a:p>
              <a:endParaRPr/>
            </a:p>
          </p:txBody>
        </p:sp>
        <p:pic>
          <p:nvPicPr>
            <p:cNvPr id="52" name="object 52"/>
            <p:cNvPicPr/>
            <p:nvPr/>
          </p:nvPicPr>
          <p:blipFill>
            <a:blip r:embed="rId24" cstate="print"/>
            <a:stretch>
              <a:fillRect/>
            </a:stretch>
          </p:blipFill>
          <p:spPr>
            <a:xfrm>
              <a:off x="2900514" y="3385092"/>
              <a:ext cx="230403" cy="86042"/>
            </a:xfrm>
            <a:prstGeom prst="rect">
              <a:avLst/>
            </a:prstGeom>
          </p:spPr>
        </p:pic>
        <p:sp>
          <p:nvSpPr>
            <p:cNvPr id="53" name="object 53"/>
            <p:cNvSpPr/>
            <p:nvPr/>
          </p:nvSpPr>
          <p:spPr>
            <a:xfrm>
              <a:off x="3163316" y="3383644"/>
              <a:ext cx="55880" cy="86995"/>
            </a:xfrm>
            <a:custGeom>
              <a:avLst/>
              <a:gdLst/>
              <a:ahLst/>
              <a:cxnLst/>
              <a:rect l="l" t="t" r="r" b="b"/>
              <a:pathLst>
                <a:path w="55880" h="86995">
                  <a:moveTo>
                    <a:pt x="35648" y="0"/>
                  </a:moveTo>
                  <a:lnTo>
                    <a:pt x="20167" y="0"/>
                  </a:lnTo>
                  <a:lnTo>
                    <a:pt x="14046" y="1803"/>
                  </a:lnTo>
                  <a:lnTo>
                    <a:pt x="9728" y="5410"/>
                  </a:lnTo>
                  <a:lnTo>
                    <a:pt x="5041" y="9004"/>
                  </a:lnTo>
                  <a:lnTo>
                    <a:pt x="2882" y="14046"/>
                  </a:lnTo>
                  <a:lnTo>
                    <a:pt x="2882" y="24485"/>
                  </a:lnTo>
                  <a:lnTo>
                    <a:pt x="3862" y="28079"/>
                  </a:lnTo>
                  <a:lnTo>
                    <a:pt x="3962" y="28448"/>
                  </a:lnTo>
                  <a:lnTo>
                    <a:pt x="6121" y="32042"/>
                  </a:lnTo>
                  <a:lnTo>
                    <a:pt x="8648" y="35280"/>
                  </a:lnTo>
                  <a:lnTo>
                    <a:pt x="12242" y="38519"/>
                  </a:lnTo>
                  <a:lnTo>
                    <a:pt x="17640" y="41402"/>
                  </a:lnTo>
                  <a:lnTo>
                    <a:pt x="9874" y="45856"/>
                  </a:lnTo>
                  <a:lnTo>
                    <a:pt x="4363" y="51130"/>
                  </a:lnTo>
                  <a:lnTo>
                    <a:pt x="1086" y="57200"/>
                  </a:lnTo>
                  <a:lnTo>
                    <a:pt x="0" y="64084"/>
                  </a:lnTo>
                  <a:lnTo>
                    <a:pt x="0" y="71285"/>
                  </a:lnTo>
                  <a:lnTo>
                    <a:pt x="2527" y="77038"/>
                  </a:lnTo>
                  <a:lnTo>
                    <a:pt x="7200" y="81000"/>
                  </a:lnTo>
                  <a:lnTo>
                    <a:pt x="12242" y="84963"/>
                  </a:lnTo>
                  <a:lnTo>
                    <a:pt x="19088" y="86766"/>
                  </a:lnTo>
                  <a:lnTo>
                    <a:pt x="36728" y="86766"/>
                  </a:lnTo>
                  <a:lnTo>
                    <a:pt x="43205" y="84963"/>
                  </a:lnTo>
                  <a:lnTo>
                    <a:pt x="49922" y="79209"/>
                  </a:lnTo>
                  <a:lnTo>
                    <a:pt x="21958" y="79209"/>
                  </a:lnTo>
                  <a:lnTo>
                    <a:pt x="17640" y="77762"/>
                  </a:lnTo>
                  <a:lnTo>
                    <a:pt x="11163" y="72720"/>
                  </a:lnTo>
                  <a:lnTo>
                    <a:pt x="9359" y="69126"/>
                  </a:lnTo>
                  <a:lnTo>
                    <a:pt x="9359" y="60121"/>
                  </a:lnTo>
                  <a:lnTo>
                    <a:pt x="10807" y="56527"/>
                  </a:lnTo>
                  <a:lnTo>
                    <a:pt x="15849" y="50761"/>
                  </a:lnTo>
                  <a:lnTo>
                    <a:pt x="20167" y="47879"/>
                  </a:lnTo>
                  <a:lnTo>
                    <a:pt x="25920" y="45364"/>
                  </a:lnTo>
                  <a:lnTo>
                    <a:pt x="44968" y="45364"/>
                  </a:lnTo>
                  <a:lnTo>
                    <a:pt x="43560" y="44284"/>
                  </a:lnTo>
                  <a:lnTo>
                    <a:pt x="36728" y="41046"/>
                  </a:lnTo>
                  <a:lnTo>
                    <a:pt x="42125" y="38163"/>
                  </a:lnTo>
                  <a:lnTo>
                    <a:pt x="43091" y="37439"/>
                  </a:lnTo>
                  <a:lnTo>
                    <a:pt x="28079" y="37439"/>
                  </a:lnTo>
                  <a:lnTo>
                    <a:pt x="21958" y="34925"/>
                  </a:lnTo>
                  <a:lnTo>
                    <a:pt x="18008" y="32042"/>
                  </a:lnTo>
                  <a:lnTo>
                    <a:pt x="15481" y="29527"/>
                  </a:lnTo>
                  <a:lnTo>
                    <a:pt x="13322" y="27000"/>
                  </a:lnTo>
                  <a:lnTo>
                    <a:pt x="12242" y="24130"/>
                  </a:lnTo>
                  <a:lnTo>
                    <a:pt x="12242" y="16560"/>
                  </a:lnTo>
                  <a:lnTo>
                    <a:pt x="13677" y="13690"/>
                  </a:lnTo>
                  <a:lnTo>
                    <a:pt x="16205" y="11163"/>
                  </a:lnTo>
                  <a:lnTo>
                    <a:pt x="19088" y="9004"/>
                  </a:lnTo>
                  <a:lnTo>
                    <a:pt x="22682" y="7924"/>
                  </a:lnTo>
                  <a:lnTo>
                    <a:pt x="49109" y="7924"/>
                  </a:lnTo>
                  <a:lnTo>
                    <a:pt x="46088" y="5410"/>
                  </a:lnTo>
                  <a:lnTo>
                    <a:pt x="41401" y="1803"/>
                  </a:lnTo>
                  <a:lnTo>
                    <a:pt x="35648" y="0"/>
                  </a:lnTo>
                  <a:close/>
                </a:path>
                <a:path w="55880" h="86995">
                  <a:moveTo>
                    <a:pt x="44968" y="45364"/>
                  </a:moveTo>
                  <a:lnTo>
                    <a:pt x="25920" y="45364"/>
                  </a:lnTo>
                  <a:lnTo>
                    <a:pt x="33489" y="48247"/>
                  </a:lnTo>
                  <a:lnTo>
                    <a:pt x="38519" y="51130"/>
                  </a:lnTo>
                  <a:lnTo>
                    <a:pt x="41401" y="54000"/>
                  </a:lnTo>
                  <a:lnTo>
                    <a:pt x="44640" y="56883"/>
                  </a:lnTo>
                  <a:lnTo>
                    <a:pt x="46088" y="60121"/>
                  </a:lnTo>
                  <a:lnTo>
                    <a:pt x="46088" y="68770"/>
                  </a:lnTo>
                  <a:lnTo>
                    <a:pt x="44640" y="72364"/>
                  </a:lnTo>
                  <a:lnTo>
                    <a:pt x="41401" y="74879"/>
                  </a:lnTo>
                  <a:lnTo>
                    <a:pt x="38163" y="77762"/>
                  </a:lnTo>
                  <a:lnTo>
                    <a:pt x="33489" y="79209"/>
                  </a:lnTo>
                  <a:lnTo>
                    <a:pt x="49922" y="79209"/>
                  </a:lnTo>
                  <a:lnTo>
                    <a:pt x="53289" y="76327"/>
                  </a:lnTo>
                  <a:lnTo>
                    <a:pt x="55448" y="70929"/>
                  </a:lnTo>
                  <a:lnTo>
                    <a:pt x="55448" y="59042"/>
                  </a:lnTo>
                  <a:lnTo>
                    <a:pt x="54000" y="55079"/>
                  </a:lnTo>
                  <a:lnTo>
                    <a:pt x="48247" y="47879"/>
                  </a:lnTo>
                  <a:lnTo>
                    <a:pt x="44968" y="45364"/>
                  </a:lnTo>
                  <a:close/>
                </a:path>
                <a:path w="55880" h="86995">
                  <a:moveTo>
                    <a:pt x="49109" y="7924"/>
                  </a:moveTo>
                  <a:lnTo>
                    <a:pt x="32397" y="7924"/>
                  </a:lnTo>
                  <a:lnTo>
                    <a:pt x="36360" y="9004"/>
                  </a:lnTo>
                  <a:lnTo>
                    <a:pt x="39242" y="11163"/>
                  </a:lnTo>
                  <a:lnTo>
                    <a:pt x="42125" y="13690"/>
                  </a:lnTo>
                  <a:lnTo>
                    <a:pt x="43205" y="16560"/>
                  </a:lnTo>
                  <a:lnTo>
                    <a:pt x="43205" y="24130"/>
                  </a:lnTo>
                  <a:lnTo>
                    <a:pt x="28079" y="37439"/>
                  </a:lnTo>
                  <a:lnTo>
                    <a:pt x="43091" y="37439"/>
                  </a:lnTo>
                  <a:lnTo>
                    <a:pt x="46443" y="34925"/>
                  </a:lnTo>
                  <a:lnTo>
                    <a:pt x="48958" y="31686"/>
                  </a:lnTo>
                  <a:lnTo>
                    <a:pt x="51485" y="28079"/>
                  </a:lnTo>
                  <a:lnTo>
                    <a:pt x="52920" y="24485"/>
                  </a:lnTo>
                  <a:lnTo>
                    <a:pt x="52920" y="14046"/>
                  </a:lnTo>
                  <a:lnTo>
                    <a:pt x="50406" y="9004"/>
                  </a:lnTo>
                  <a:lnTo>
                    <a:pt x="49109" y="7924"/>
                  </a:lnTo>
                  <a:close/>
                </a:path>
              </a:pathLst>
            </a:custGeom>
            <a:solidFill>
              <a:srgbClr val="FFFFFF"/>
            </a:solidFill>
          </p:spPr>
          <p:txBody>
            <a:bodyPr wrap="square" lIns="0" tIns="0" rIns="0" bIns="0" rtlCol="0"/>
            <a:lstStyle/>
            <a:p>
              <a:endParaRPr/>
            </a:p>
          </p:txBody>
        </p:sp>
        <p:sp>
          <p:nvSpPr>
            <p:cNvPr id="54" name="object 54"/>
            <p:cNvSpPr/>
            <p:nvPr/>
          </p:nvSpPr>
          <p:spPr>
            <a:xfrm>
              <a:off x="3349078" y="3288610"/>
              <a:ext cx="386715" cy="277495"/>
            </a:xfrm>
            <a:custGeom>
              <a:avLst/>
              <a:gdLst/>
              <a:ahLst/>
              <a:cxnLst/>
              <a:rect l="l" t="t" r="r" b="b"/>
              <a:pathLst>
                <a:path w="386714" h="277495">
                  <a:moveTo>
                    <a:pt x="315722" y="0"/>
                  </a:moveTo>
                  <a:lnTo>
                    <a:pt x="70561" y="0"/>
                  </a:lnTo>
                  <a:lnTo>
                    <a:pt x="42980" y="5500"/>
                  </a:lnTo>
                  <a:lnTo>
                    <a:pt x="20564" y="20518"/>
                  </a:lnTo>
                  <a:lnTo>
                    <a:pt x="5506" y="42824"/>
                  </a:lnTo>
                  <a:lnTo>
                    <a:pt x="0" y="70192"/>
                  </a:lnTo>
                  <a:lnTo>
                    <a:pt x="0" y="206641"/>
                  </a:lnTo>
                  <a:lnTo>
                    <a:pt x="5506" y="234222"/>
                  </a:lnTo>
                  <a:lnTo>
                    <a:pt x="20564" y="256638"/>
                  </a:lnTo>
                  <a:lnTo>
                    <a:pt x="42980" y="271696"/>
                  </a:lnTo>
                  <a:lnTo>
                    <a:pt x="70561" y="277202"/>
                  </a:lnTo>
                  <a:lnTo>
                    <a:pt x="315722" y="277202"/>
                  </a:lnTo>
                  <a:lnTo>
                    <a:pt x="343147" y="271696"/>
                  </a:lnTo>
                  <a:lnTo>
                    <a:pt x="365580" y="256638"/>
                  </a:lnTo>
                  <a:lnTo>
                    <a:pt x="380724" y="234222"/>
                  </a:lnTo>
                  <a:lnTo>
                    <a:pt x="386283" y="206641"/>
                  </a:lnTo>
                  <a:lnTo>
                    <a:pt x="386283" y="70192"/>
                  </a:lnTo>
                  <a:lnTo>
                    <a:pt x="380724" y="42824"/>
                  </a:lnTo>
                  <a:lnTo>
                    <a:pt x="365580" y="20518"/>
                  </a:lnTo>
                  <a:lnTo>
                    <a:pt x="343147" y="5500"/>
                  </a:lnTo>
                  <a:lnTo>
                    <a:pt x="315722" y="0"/>
                  </a:lnTo>
                  <a:close/>
                </a:path>
              </a:pathLst>
            </a:custGeom>
            <a:solidFill>
              <a:srgbClr val="FF9000"/>
            </a:solidFill>
          </p:spPr>
          <p:txBody>
            <a:bodyPr wrap="square" lIns="0" tIns="0" rIns="0" bIns="0" rtlCol="0"/>
            <a:lstStyle/>
            <a:p>
              <a:endParaRPr/>
            </a:p>
          </p:txBody>
        </p:sp>
        <p:pic>
          <p:nvPicPr>
            <p:cNvPr id="55" name="object 55"/>
            <p:cNvPicPr/>
            <p:nvPr/>
          </p:nvPicPr>
          <p:blipFill>
            <a:blip r:embed="rId25" cstate="print"/>
            <a:stretch>
              <a:fillRect/>
            </a:stretch>
          </p:blipFill>
          <p:spPr>
            <a:xfrm>
              <a:off x="3375355" y="3385092"/>
              <a:ext cx="230403" cy="86042"/>
            </a:xfrm>
            <a:prstGeom prst="rect">
              <a:avLst/>
            </a:prstGeom>
          </p:spPr>
        </p:pic>
        <p:sp>
          <p:nvSpPr>
            <p:cNvPr id="56" name="object 56"/>
            <p:cNvSpPr/>
            <p:nvPr/>
          </p:nvSpPr>
          <p:spPr>
            <a:xfrm>
              <a:off x="3638524" y="3384012"/>
              <a:ext cx="55244" cy="86995"/>
            </a:xfrm>
            <a:custGeom>
              <a:avLst/>
              <a:gdLst/>
              <a:ahLst/>
              <a:cxnLst/>
              <a:rect l="l" t="t" r="r" b="b"/>
              <a:pathLst>
                <a:path w="55245" h="86995">
                  <a:moveTo>
                    <a:pt x="6121" y="77393"/>
                  </a:moveTo>
                  <a:lnTo>
                    <a:pt x="6121" y="85674"/>
                  </a:lnTo>
                  <a:lnTo>
                    <a:pt x="8636" y="86398"/>
                  </a:lnTo>
                  <a:lnTo>
                    <a:pt x="12230" y="86753"/>
                  </a:lnTo>
                  <a:lnTo>
                    <a:pt x="16916" y="86753"/>
                  </a:lnTo>
                  <a:lnTo>
                    <a:pt x="33664" y="83648"/>
                  </a:lnTo>
                  <a:lnTo>
                    <a:pt x="39815" y="78841"/>
                  </a:lnTo>
                  <a:lnTo>
                    <a:pt x="12598" y="78841"/>
                  </a:lnTo>
                  <a:lnTo>
                    <a:pt x="6121" y="77393"/>
                  </a:lnTo>
                  <a:close/>
                </a:path>
                <a:path w="55245" h="86995">
                  <a:moveTo>
                    <a:pt x="54334" y="43916"/>
                  </a:moveTo>
                  <a:lnTo>
                    <a:pt x="45351" y="43916"/>
                  </a:lnTo>
                  <a:lnTo>
                    <a:pt x="44845" y="49682"/>
                  </a:lnTo>
                  <a:lnTo>
                    <a:pt x="44719" y="51117"/>
                  </a:lnTo>
                  <a:lnTo>
                    <a:pt x="25920" y="78841"/>
                  </a:lnTo>
                  <a:lnTo>
                    <a:pt x="39815" y="78841"/>
                  </a:lnTo>
                  <a:lnTo>
                    <a:pt x="45585" y="74333"/>
                  </a:lnTo>
                  <a:lnTo>
                    <a:pt x="52711" y="58807"/>
                  </a:lnTo>
                  <a:lnTo>
                    <a:pt x="53981" y="47155"/>
                  </a:lnTo>
                  <a:lnTo>
                    <a:pt x="54098" y="46075"/>
                  </a:lnTo>
                  <a:lnTo>
                    <a:pt x="54177" y="45351"/>
                  </a:lnTo>
                  <a:lnTo>
                    <a:pt x="54295" y="44272"/>
                  </a:lnTo>
                  <a:lnTo>
                    <a:pt x="54334" y="43916"/>
                  </a:lnTo>
                  <a:close/>
                </a:path>
                <a:path w="55245" h="86995">
                  <a:moveTo>
                    <a:pt x="32397" y="0"/>
                  </a:moveTo>
                  <a:lnTo>
                    <a:pt x="18719" y="0"/>
                  </a:lnTo>
                  <a:lnTo>
                    <a:pt x="12230" y="2514"/>
                  </a:lnTo>
                  <a:lnTo>
                    <a:pt x="7200" y="7556"/>
                  </a:lnTo>
                  <a:lnTo>
                    <a:pt x="2514" y="12598"/>
                  </a:lnTo>
                  <a:lnTo>
                    <a:pt x="0" y="19431"/>
                  </a:lnTo>
                  <a:lnTo>
                    <a:pt x="0" y="36360"/>
                  </a:lnTo>
                  <a:lnTo>
                    <a:pt x="2159" y="42481"/>
                  </a:lnTo>
                  <a:lnTo>
                    <a:pt x="6476" y="47155"/>
                  </a:lnTo>
                  <a:lnTo>
                    <a:pt x="10795" y="51473"/>
                  </a:lnTo>
                  <a:lnTo>
                    <a:pt x="16916" y="53632"/>
                  </a:lnTo>
                  <a:lnTo>
                    <a:pt x="28790" y="53632"/>
                  </a:lnTo>
                  <a:lnTo>
                    <a:pt x="32753" y="52920"/>
                  </a:lnTo>
                  <a:lnTo>
                    <a:pt x="35991" y="51117"/>
                  </a:lnTo>
                  <a:lnTo>
                    <a:pt x="39598" y="49682"/>
                  </a:lnTo>
                  <a:lnTo>
                    <a:pt x="42481" y="47155"/>
                  </a:lnTo>
                  <a:lnTo>
                    <a:pt x="43201" y="46075"/>
                  </a:lnTo>
                  <a:lnTo>
                    <a:pt x="20510" y="46075"/>
                  </a:lnTo>
                  <a:lnTo>
                    <a:pt x="16192" y="44272"/>
                  </a:lnTo>
                  <a:lnTo>
                    <a:pt x="10795" y="38150"/>
                  </a:lnTo>
                  <a:lnTo>
                    <a:pt x="9359" y="33832"/>
                  </a:lnTo>
                  <a:lnTo>
                    <a:pt x="9359" y="21958"/>
                  </a:lnTo>
                  <a:lnTo>
                    <a:pt x="10693" y="17272"/>
                  </a:lnTo>
                  <a:lnTo>
                    <a:pt x="10795" y="16916"/>
                  </a:lnTo>
                  <a:lnTo>
                    <a:pt x="14033" y="13322"/>
                  </a:lnTo>
                  <a:lnTo>
                    <a:pt x="16916" y="9715"/>
                  </a:lnTo>
                  <a:lnTo>
                    <a:pt x="21234" y="7912"/>
                  </a:lnTo>
                  <a:lnTo>
                    <a:pt x="46608" y="7912"/>
                  </a:lnTo>
                  <a:lnTo>
                    <a:pt x="46075" y="7200"/>
                  </a:lnTo>
                  <a:lnTo>
                    <a:pt x="37439" y="1435"/>
                  </a:lnTo>
                  <a:lnTo>
                    <a:pt x="32397" y="0"/>
                  </a:lnTo>
                  <a:close/>
                </a:path>
                <a:path w="55245" h="86995">
                  <a:moveTo>
                    <a:pt x="46608" y="7912"/>
                  </a:moveTo>
                  <a:lnTo>
                    <a:pt x="30238" y="7912"/>
                  </a:lnTo>
                  <a:lnTo>
                    <a:pt x="33477" y="8991"/>
                  </a:lnTo>
                  <a:lnTo>
                    <a:pt x="36360" y="11150"/>
                  </a:lnTo>
                  <a:lnTo>
                    <a:pt x="45351" y="26276"/>
                  </a:lnTo>
                  <a:lnTo>
                    <a:pt x="45351" y="33121"/>
                  </a:lnTo>
                  <a:lnTo>
                    <a:pt x="29870" y="46075"/>
                  </a:lnTo>
                  <a:lnTo>
                    <a:pt x="43201" y="46075"/>
                  </a:lnTo>
                  <a:lnTo>
                    <a:pt x="44640" y="43916"/>
                  </a:lnTo>
                  <a:lnTo>
                    <a:pt x="54334" y="43916"/>
                  </a:lnTo>
                  <a:lnTo>
                    <a:pt x="54962" y="38150"/>
                  </a:lnTo>
                  <a:lnTo>
                    <a:pt x="55079" y="29514"/>
                  </a:lnTo>
                  <a:lnTo>
                    <a:pt x="54000" y="22682"/>
                  </a:lnTo>
                  <a:lnTo>
                    <a:pt x="51473" y="17272"/>
                  </a:lnTo>
                  <a:lnTo>
                    <a:pt x="49314" y="11518"/>
                  </a:lnTo>
                  <a:lnTo>
                    <a:pt x="46608" y="7912"/>
                  </a:lnTo>
                  <a:close/>
                </a:path>
              </a:pathLst>
            </a:custGeom>
            <a:solidFill>
              <a:srgbClr val="FFFFFF"/>
            </a:solidFill>
          </p:spPr>
          <p:txBody>
            <a:bodyPr wrap="square" lIns="0" tIns="0" rIns="0" bIns="0" rtlCol="0"/>
            <a:lstStyle/>
            <a:p>
              <a:endParaRPr/>
            </a:p>
          </p:txBody>
        </p:sp>
        <p:pic>
          <p:nvPicPr>
            <p:cNvPr id="57" name="object 57"/>
            <p:cNvPicPr/>
            <p:nvPr/>
          </p:nvPicPr>
          <p:blipFill>
            <a:blip r:embed="rId26" cstate="print"/>
            <a:stretch>
              <a:fillRect/>
            </a:stretch>
          </p:blipFill>
          <p:spPr>
            <a:xfrm>
              <a:off x="5716079" y="3043449"/>
              <a:ext cx="264604" cy="96113"/>
            </a:xfrm>
            <a:prstGeom prst="rect">
              <a:avLst/>
            </a:prstGeom>
          </p:spPr>
        </p:pic>
        <p:pic>
          <p:nvPicPr>
            <p:cNvPr id="58" name="object 58"/>
            <p:cNvPicPr/>
            <p:nvPr/>
          </p:nvPicPr>
          <p:blipFill>
            <a:blip r:embed="rId27" cstate="print"/>
            <a:stretch>
              <a:fillRect/>
            </a:stretch>
          </p:blipFill>
          <p:spPr>
            <a:xfrm>
              <a:off x="6033960" y="3041646"/>
              <a:ext cx="289801" cy="97916"/>
            </a:xfrm>
            <a:prstGeom prst="rect">
              <a:avLst/>
            </a:prstGeom>
          </p:spPr>
        </p:pic>
      </p:grpSp>
      <p:sp>
        <p:nvSpPr>
          <p:cNvPr id="59" name="object 59"/>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60" name="object 60"/>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34</a:t>
            </a:fld>
            <a:r>
              <a:rPr spc="-10" dirty="0"/>
              <a:t>/60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75" dirty="0"/>
              <a:t>Multipath</a:t>
            </a:r>
          </a:p>
        </p:txBody>
      </p:sp>
      <p:grpSp>
        <p:nvGrpSpPr>
          <p:cNvPr id="3" name="object 3"/>
          <p:cNvGrpSpPr/>
          <p:nvPr/>
        </p:nvGrpSpPr>
        <p:grpSpPr>
          <a:xfrm>
            <a:off x="3172675" y="1152013"/>
            <a:ext cx="1620520" cy="432434"/>
            <a:chOff x="3172675" y="1152013"/>
            <a:chExt cx="1620520" cy="432434"/>
          </a:xfrm>
        </p:grpSpPr>
        <p:sp>
          <p:nvSpPr>
            <p:cNvPr id="4" name="object 4"/>
            <p:cNvSpPr/>
            <p:nvPr/>
          </p:nvSpPr>
          <p:spPr>
            <a:xfrm>
              <a:off x="3172675" y="1152013"/>
              <a:ext cx="1620520" cy="432434"/>
            </a:xfrm>
            <a:custGeom>
              <a:avLst/>
              <a:gdLst/>
              <a:ahLst/>
              <a:cxnLst/>
              <a:rect l="l" t="t" r="r" b="b"/>
              <a:pathLst>
                <a:path w="1620520" h="432434">
                  <a:moveTo>
                    <a:pt x="1563128" y="0"/>
                  </a:moveTo>
                  <a:lnTo>
                    <a:pt x="56527" y="0"/>
                  </a:lnTo>
                  <a:lnTo>
                    <a:pt x="34482" y="4431"/>
                  </a:lnTo>
                  <a:lnTo>
                    <a:pt x="16519" y="16557"/>
                  </a:lnTo>
                  <a:lnTo>
                    <a:pt x="4428" y="34622"/>
                  </a:lnTo>
                  <a:lnTo>
                    <a:pt x="0" y="56870"/>
                  </a:lnTo>
                  <a:lnTo>
                    <a:pt x="0" y="375119"/>
                  </a:lnTo>
                  <a:lnTo>
                    <a:pt x="4428" y="397368"/>
                  </a:lnTo>
                  <a:lnTo>
                    <a:pt x="16519" y="415432"/>
                  </a:lnTo>
                  <a:lnTo>
                    <a:pt x="34482" y="427558"/>
                  </a:lnTo>
                  <a:lnTo>
                    <a:pt x="56527" y="431990"/>
                  </a:lnTo>
                  <a:lnTo>
                    <a:pt x="1563128" y="431990"/>
                  </a:lnTo>
                  <a:lnTo>
                    <a:pt x="1585227" y="427558"/>
                  </a:lnTo>
                  <a:lnTo>
                    <a:pt x="1603308" y="415432"/>
                  </a:lnTo>
                  <a:lnTo>
                    <a:pt x="1615517" y="397368"/>
                  </a:lnTo>
                  <a:lnTo>
                    <a:pt x="1619999" y="375119"/>
                  </a:lnTo>
                  <a:lnTo>
                    <a:pt x="1619999" y="56870"/>
                  </a:lnTo>
                  <a:lnTo>
                    <a:pt x="1615517" y="34622"/>
                  </a:lnTo>
                  <a:lnTo>
                    <a:pt x="1603308" y="16557"/>
                  </a:lnTo>
                  <a:lnTo>
                    <a:pt x="1585227" y="4431"/>
                  </a:lnTo>
                  <a:lnTo>
                    <a:pt x="1563128" y="0"/>
                  </a:lnTo>
                  <a:close/>
                </a:path>
              </a:pathLst>
            </a:custGeom>
            <a:solidFill>
              <a:srgbClr val="FF9C00"/>
            </a:solidFill>
          </p:spPr>
          <p:txBody>
            <a:bodyPr wrap="square" lIns="0" tIns="0" rIns="0" bIns="0" rtlCol="0"/>
            <a:lstStyle/>
            <a:p>
              <a:endParaRPr/>
            </a:p>
          </p:txBody>
        </p:sp>
        <p:pic>
          <p:nvPicPr>
            <p:cNvPr id="5" name="object 5"/>
            <p:cNvPicPr/>
            <p:nvPr/>
          </p:nvPicPr>
          <p:blipFill>
            <a:blip r:embed="rId2" cstate="print"/>
            <a:stretch>
              <a:fillRect/>
            </a:stretch>
          </p:blipFill>
          <p:spPr>
            <a:xfrm>
              <a:off x="3414598" y="1338131"/>
              <a:ext cx="235800" cy="95402"/>
            </a:xfrm>
            <a:prstGeom prst="rect">
              <a:avLst/>
            </a:prstGeom>
          </p:spPr>
        </p:pic>
        <p:sp>
          <p:nvSpPr>
            <p:cNvPr id="6" name="object 6"/>
            <p:cNvSpPr/>
            <p:nvPr/>
          </p:nvSpPr>
          <p:spPr>
            <a:xfrm>
              <a:off x="3672001" y="1308603"/>
              <a:ext cx="109855" cy="125095"/>
            </a:xfrm>
            <a:custGeom>
              <a:avLst/>
              <a:gdLst/>
              <a:ahLst/>
              <a:cxnLst/>
              <a:rect l="l" t="t" r="r" b="b"/>
              <a:pathLst>
                <a:path w="109854" h="125094">
                  <a:moveTo>
                    <a:pt x="41757" y="71640"/>
                  </a:moveTo>
                  <a:lnTo>
                    <a:pt x="0" y="71640"/>
                  </a:lnTo>
                  <a:lnTo>
                    <a:pt x="0" y="84607"/>
                  </a:lnTo>
                  <a:lnTo>
                    <a:pt x="41757" y="84607"/>
                  </a:lnTo>
                  <a:lnTo>
                    <a:pt x="41757" y="71640"/>
                  </a:lnTo>
                  <a:close/>
                </a:path>
                <a:path w="109854" h="125094">
                  <a:moveTo>
                    <a:pt x="109804" y="0"/>
                  </a:moveTo>
                  <a:lnTo>
                    <a:pt x="97917" y="0"/>
                  </a:lnTo>
                  <a:lnTo>
                    <a:pt x="64795" y="25565"/>
                  </a:lnTo>
                  <a:lnTo>
                    <a:pt x="72351" y="35280"/>
                  </a:lnTo>
                  <a:lnTo>
                    <a:pt x="90779" y="20561"/>
                  </a:lnTo>
                  <a:lnTo>
                    <a:pt x="96837" y="15125"/>
                  </a:lnTo>
                  <a:lnTo>
                    <a:pt x="96113" y="21602"/>
                  </a:lnTo>
                  <a:lnTo>
                    <a:pt x="96113" y="124929"/>
                  </a:lnTo>
                  <a:lnTo>
                    <a:pt x="109804" y="124929"/>
                  </a:lnTo>
                  <a:lnTo>
                    <a:pt x="109804" y="0"/>
                  </a:lnTo>
                  <a:close/>
                </a:path>
              </a:pathLst>
            </a:custGeom>
            <a:solidFill>
              <a:srgbClr val="FFFFFF"/>
            </a:solidFill>
          </p:spPr>
          <p:txBody>
            <a:bodyPr wrap="square" lIns="0" tIns="0" rIns="0" bIns="0" rtlCol="0"/>
            <a:lstStyle/>
            <a:p>
              <a:endParaRPr/>
            </a:p>
          </p:txBody>
        </p:sp>
        <p:pic>
          <p:nvPicPr>
            <p:cNvPr id="7" name="object 7"/>
            <p:cNvPicPr/>
            <p:nvPr/>
          </p:nvPicPr>
          <p:blipFill>
            <a:blip r:embed="rId3" cstate="print"/>
            <a:stretch>
              <a:fillRect/>
            </a:stretch>
          </p:blipFill>
          <p:spPr>
            <a:xfrm>
              <a:off x="3829316" y="1300692"/>
              <a:ext cx="339483" cy="134632"/>
            </a:xfrm>
            <a:prstGeom prst="rect">
              <a:avLst/>
            </a:prstGeom>
          </p:spPr>
        </p:pic>
        <p:sp>
          <p:nvSpPr>
            <p:cNvPr id="8" name="object 8"/>
            <p:cNvSpPr/>
            <p:nvPr/>
          </p:nvSpPr>
          <p:spPr>
            <a:xfrm>
              <a:off x="4197604" y="1305365"/>
              <a:ext cx="17145" cy="128270"/>
            </a:xfrm>
            <a:custGeom>
              <a:avLst/>
              <a:gdLst/>
              <a:ahLst/>
              <a:cxnLst/>
              <a:rect l="l" t="t" r="r" b="b"/>
              <a:pathLst>
                <a:path w="17145" h="128269">
                  <a:moveTo>
                    <a:pt x="15481" y="34569"/>
                  </a:moveTo>
                  <a:lnTo>
                    <a:pt x="1435" y="34569"/>
                  </a:lnTo>
                  <a:lnTo>
                    <a:pt x="1435" y="128168"/>
                  </a:lnTo>
                  <a:lnTo>
                    <a:pt x="15481" y="128168"/>
                  </a:lnTo>
                  <a:lnTo>
                    <a:pt x="15481" y="34569"/>
                  </a:lnTo>
                  <a:close/>
                </a:path>
                <a:path w="17145" h="128269">
                  <a:moveTo>
                    <a:pt x="10795" y="0"/>
                  </a:moveTo>
                  <a:lnTo>
                    <a:pt x="6121" y="0"/>
                  </a:lnTo>
                  <a:lnTo>
                    <a:pt x="3949" y="723"/>
                  </a:lnTo>
                  <a:lnTo>
                    <a:pt x="2514" y="2159"/>
                  </a:lnTo>
                  <a:lnTo>
                    <a:pt x="711" y="3606"/>
                  </a:lnTo>
                  <a:lnTo>
                    <a:pt x="0" y="6121"/>
                  </a:lnTo>
                  <a:lnTo>
                    <a:pt x="0" y="12598"/>
                  </a:lnTo>
                  <a:lnTo>
                    <a:pt x="711" y="14757"/>
                  </a:lnTo>
                  <a:lnTo>
                    <a:pt x="3949" y="18008"/>
                  </a:lnTo>
                  <a:lnTo>
                    <a:pt x="6121" y="18719"/>
                  </a:lnTo>
                  <a:lnTo>
                    <a:pt x="10795" y="18719"/>
                  </a:lnTo>
                  <a:lnTo>
                    <a:pt x="12598" y="18008"/>
                  </a:lnTo>
                  <a:lnTo>
                    <a:pt x="14401" y="16560"/>
                  </a:lnTo>
                  <a:lnTo>
                    <a:pt x="15836" y="14757"/>
                  </a:lnTo>
                  <a:lnTo>
                    <a:pt x="16916" y="12598"/>
                  </a:lnTo>
                  <a:lnTo>
                    <a:pt x="16916" y="6121"/>
                  </a:lnTo>
                  <a:lnTo>
                    <a:pt x="15836" y="3606"/>
                  </a:lnTo>
                  <a:lnTo>
                    <a:pt x="14401" y="2159"/>
                  </a:lnTo>
                  <a:lnTo>
                    <a:pt x="12598" y="723"/>
                  </a:lnTo>
                  <a:lnTo>
                    <a:pt x="10795" y="0"/>
                  </a:lnTo>
                  <a:close/>
                </a:path>
              </a:pathLst>
            </a:custGeom>
            <a:solidFill>
              <a:srgbClr val="FFFFFF"/>
            </a:solidFill>
          </p:spPr>
          <p:txBody>
            <a:bodyPr wrap="square" lIns="0" tIns="0" rIns="0" bIns="0" rtlCol="0"/>
            <a:lstStyle/>
            <a:p>
              <a:endParaRPr/>
            </a:p>
          </p:txBody>
        </p:sp>
        <p:pic>
          <p:nvPicPr>
            <p:cNvPr id="9" name="object 9"/>
            <p:cNvPicPr/>
            <p:nvPr/>
          </p:nvPicPr>
          <p:blipFill>
            <a:blip r:embed="rId4" cstate="print"/>
            <a:stretch>
              <a:fillRect/>
            </a:stretch>
          </p:blipFill>
          <p:spPr>
            <a:xfrm>
              <a:off x="4237202" y="1338131"/>
              <a:ext cx="66243" cy="97193"/>
            </a:xfrm>
            <a:prstGeom prst="rect">
              <a:avLst/>
            </a:prstGeom>
          </p:spPr>
        </p:pic>
        <p:pic>
          <p:nvPicPr>
            <p:cNvPr id="10" name="object 10"/>
            <p:cNvPicPr/>
            <p:nvPr/>
          </p:nvPicPr>
          <p:blipFill>
            <a:blip r:embed="rId5" cstate="print"/>
            <a:stretch>
              <a:fillRect/>
            </a:stretch>
          </p:blipFill>
          <p:spPr>
            <a:xfrm>
              <a:off x="4326483" y="1300692"/>
              <a:ext cx="223913" cy="134632"/>
            </a:xfrm>
            <a:prstGeom prst="rect">
              <a:avLst/>
            </a:prstGeom>
          </p:spPr>
        </p:pic>
      </p:grpSp>
      <p:grpSp>
        <p:nvGrpSpPr>
          <p:cNvPr id="11" name="object 11"/>
          <p:cNvGrpSpPr/>
          <p:nvPr/>
        </p:nvGrpSpPr>
        <p:grpSpPr>
          <a:xfrm>
            <a:off x="5152313" y="1152013"/>
            <a:ext cx="1620520" cy="432434"/>
            <a:chOff x="5152313" y="1152013"/>
            <a:chExt cx="1620520" cy="432434"/>
          </a:xfrm>
        </p:grpSpPr>
        <p:sp>
          <p:nvSpPr>
            <p:cNvPr id="12" name="object 12"/>
            <p:cNvSpPr/>
            <p:nvPr/>
          </p:nvSpPr>
          <p:spPr>
            <a:xfrm>
              <a:off x="5152313" y="1152013"/>
              <a:ext cx="1620520" cy="432434"/>
            </a:xfrm>
            <a:custGeom>
              <a:avLst/>
              <a:gdLst/>
              <a:ahLst/>
              <a:cxnLst/>
              <a:rect l="l" t="t" r="r" b="b"/>
              <a:pathLst>
                <a:path w="1620520" h="432434">
                  <a:moveTo>
                    <a:pt x="1563128" y="0"/>
                  </a:moveTo>
                  <a:lnTo>
                    <a:pt x="56527" y="0"/>
                  </a:lnTo>
                  <a:lnTo>
                    <a:pt x="34482" y="4431"/>
                  </a:lnTo>
                  <a:lnTo>
                    <a:pt x="16519" y="16557"/>
                  </a:lnTo>
                  <a:lnTo>
                    <a:pt x="4428" y="34622"/>
                  </a:lnTo>
                  <a:lnTo>
                    <a:pt x="0" y="56870"/>
                  </a:lnTo>
                  <a:lnTo>
                    <a:pt x="0" y="375119"/>
                  </a:lnTo>
                  <a:lnTo>
                    <a:pt x="4428" y="397368"/>
                  </a:lnTo>
                  <a:lnTo>
                    <a:pt x="16519" y="415432"/>
                  </a:lnTo>
                  <a:lnTo>
                    <a:pt x="34482" y="427558"/>
                  </a:lnTo>
                  <a:lnTo>
                    <a:pt x="56527" y="431990"/>
                  </a:lnTo>
                  <a:lnTo>
                    <a:pt x="1563128" y="431990"/>
                  </a:lnTo>
                  <a:lnTo>
                    <a:pt x="1585229" y="427558"/>
                  </a:lnTo>
                  <a:lnTo>
                    <a:pt x="1603314" y="415432"/>
                  </a:lnTo>
                  <a:lnTo>
                    <a:pt x="1615528" y="397368"/>
                  </a:lnTo>
                  <a:lnTo>
                    <a:pt x="1620012" y="375119"/>
                  </a:lnTo>
                  <a:lnTo>
                    <a:pt x="1620012" y="56870"/>
                  </a:lnTo>
                  <a:lnTo>
                    <a:pt x="1615528" y="34622"/>
                  </a:lnTo>
                  <a:lnTo>
                    <a:pt x="1603314" y="16557"/>
                  </a:lnTo>
                  <a:lnTo>
                    <a:pt x="1585229" y="4431"/>
                  </a:lnTo>
                  <a:lnTo>
                    <a:pt x="1563128" y="0"/>
                  </a:lnTo>
                  <a:close/>
                </a:path>
              </a:pathLst>
            </a:custGeom>
            <a:solidFill>
              <a:srgbClr val="FF9C00"/>
            </a:solidFill>
          </p:spPr>
          <p:txBody>
            <a:bodyPr wrap="square" lIns="0" tIns="0" rIns="0" bIns="0" rtlCol="0"/>
            <a:lstStyle/>
            <a:p>
              <a:endParaRPr/>
            </a:p>
          </p:txBody>
        </p:sp>
        <p:pic>
          <p:nvPicPr>
            <p:cNvPr id="13" name="object 13"/>
            <p:cNvPicPr/>
            <p:nvPr/>
          </p:nvPicPr>
          <p:blipFill>
            <a:blip r:embed="rId6" cstate="print"/>
            <a:stretch>
              <a:fillRect/>
            </a:stretch>
          </p:blipFill>
          <p:spPr>
            <a:xfrm>
              <a:off x="5394236" y="1338131"/>
              <a:ext cx="235800" cy="95402"/>
            </a:xfrm>
            <a:prstGeom prst="rect">
              <a:avLst/>
            </a:prstGeom>
          </p:spPr>
        </p:pic>
        <p:sp>
          <p:nvSpPr>
            <p:cNvPr id="14" name="object 14"/>
            <p:cNvSpPr/>
            <p:nvPr/>
          </p:nvSpPr>
          <p:spPr>
            <a:xfrm>
              <a:off x="5651639" y="1308603"/>
              <a:ext cx="109855" cy="125095"/>
            </a:xfrm>
            <a:custGeom>
              <a:avLst/>
              <a:gdLst/>
              <a:ahLst/>
              <a:cxnLst/>
              <a:rect l="l" t="t" r="r" b="b"/>
              <a:pathLst>
                <a:path w="109854" h="125094">
                  <a:moveTo>
                    <a:pt x="41757" y="71640"/>
                  </a:moveTo>
                  <a:lnTo>
                    <a:pt x="0" y="71640"/>
                  </a:lnTo>
                  <a:lnTo>
                    <a:pt x="0" y="84607"/>
                  </a:lnTo>
                  <a:lnTo>
                    <a:pt x="41757" y="84607"/>
                  </a:lnTo>
                  <a:lnTo>
                    <a:pt x="41757" y="71640"/>
                  </a:lnTo>
                  <a:close/>
                </a:path>
                <a:path w="109854" h="125094">
                  <a:moveTo>
                    <a:pt x="109804" y="0"/>
                  </a:moveTo>
                  <a:lnTo>
                    <a:pt x="97917" y="0"/>
                  </a:lnTo>
                  <a:lnTo>
                    <a:pt x="64795" y="25565"/>
                  </a:lnTo>
                  <a:lnTo>
                    <a:pt x="72364" y="35280"/>
                  </a:lnTo>
                  <a:lnTo>
                    <a:pt x="90779" y="20561"/>
                  </a:lnTo>
                  <a:lnTo>
                    <a:pt x="96837" y="15125"/>
                  </a:lnTo>
                  <a:lnTo>
                    <a:pt x="96126" y="28448"/>
                  </a:lnTo>
                  <a:lnTo>
                    <a:pt x="96126" y="124929"/>
                  </a:lnTo>
                  <a:lnTo>
                    <a:pt x="109804" y="124929"/>
                  </a:lnTo>
                  <a:lnTo>
                    <a:pt x="109804" y="0"/>
                  </a:lnTo>
                  <a:close/>
                </a:path>
              </a:pathLst>
            </a:custGeom>
            <a:solidFill>
              <a:srgbClr val="FFFFFF"/>
            </a:solidFill>
          </p:spPr>
          <p:txBody>
            <a:bodyPr wrap="square" lIns="0" tIns="0" rIns="0" bIns="0" rtlCol="0"/>
            <a:lstStyle/>
            <a:p>
              <a:endParaRPr/>
            </a:p>
          </p:txBody>
        </p:sp>
        <p:pic>
          <p:nvPicPr>
            <p:cNvPr id="15" name="object 15"/>
            <p:cNvPicPr/>
            <p:nvPr/>
          </p:nvPicPr>
          <p:blipFill>
            <a:blip r:embed="rId7" cstate="print"/>
            <a:stretch>
              <a:fillRect/>
            </a:stretch>
          </p:blipFill>
          <p:spPr>
            <a:xfrm>
              <a:off x="5809322" y="1306813"/>
              <a:ext cx="82435" cy="128511"/>
            </a:xfrm>
            <a:prstGeom prst="rect">
              <a:avLst/>
            </a:prstGeom>
          </p:spPr>
        </p:pic>
        <p:sp>
          <p:nvSpPr>
            <p:cNvPr id="16" name="object 16"/>
            <p:cNvSpPr/>
            <p:nvPr/>
          </p:nvSpPr>
          <p:spPr>
            <a:xfrm>
              <a:off x="5916244" y="1300691"/>
              <a:ext cx="278130" cy="135255"/>
            </a:xfrm>
            <a:custGeom>
              <a:avLst/>
              <a:gdLst/>
              <a:ahLst/>
              <a:cxnLst/>
              <a:rect l="l" t="t" r="r" b="b"/>
              <a:pathLst>
                <a:path w="278129" h="135255">
                  <a:moveTo>
                    <a:pt x="44996" y="7912"/>
                  </a:moveTo>
                  <a:lnTo>
                    <a:pt x="33121" y="7912"/>
                  </a:lnTo>
                  <a:lnTo>
                    <a:pt x="0" y="33477"/>
                  </a:lnTo>
                  <a:lnTo>
                    <a:pt x="7556" y="43192"/>
                  </a:lnTo>
                  <a:lnTo>
                    <a:pt x="25971" y="28473"/>
                  </a:lnTo>
                  <a:lnTo>
                    <a:pt x="32042" y="23037"/>
                  </a:lnTo>
                  <a:lnTo>
                    <a:pt x="31318" y="36360"/>
                  </a:lnTo>
                  <a:lnTo>
                    <a:pt x="31318" y="132842"/>
                  </a:lnTo>
                  <a:lnTo>
                    <a:pt x="44996" y="132842"/>
                  </a:lnTo>
                  <a:lnTo>
                    <a:pt x="44996" y="7912"/>
                  </a:lnTo>
                  <a:close/>
                </a:path>
                <a:path w="278129" h="135255">
                  <a:moveTo>
                    <a:pt x="133197" y="79552"/>
                  </a:moveTo>
                  <a:lnTo>
                    <a:pt x="91071" y="79552"/>
                  </a:lnTo>
                  <a:lnTo>
                    <a:pt x="91071" y="92519"/>
                  </a:lnTo>
                  <a:lnTo>
                    <a:pt x="133197" y="92519"/>
                  </a:lnTo>
                  <a:lnTo>
                    <a:pt x="133197" y="79552"/>
                  </a:lnTo>
                  <a:close/>
                </a:path>
                <a:path w="278129" h="135255">
                  <a:moveTo>
                    <a:pt x="232194" y="0"/>
                  </a:moveTo>
                  <a:lnTo>
                    <a:pt x="218160" y="0"/>
                  </a:lnTo>
                  <a:lnTo>
                    <a:pt x="218160" y="38328"/>
                  </a:lnTo>
                  <a:lnTo>
                    <a:pt x="218744" y="49314"/>
                  </a:lnTo>
                  <a:lnTo>
                    <a:pt x="218871" y="51473"/>
                  </a:lnTo>
                  <a:lnTo>
                    <a:pt x="218160" y="51473"/>
                  </a:lnTo>
                  <a:lnTo>
                    <a:pt x="218160" y="86398"/>
                  </a:lnTo>
                  <a:lnTo>
                    <a:pt x="218160" y="89281"/>
                  </a:lnTo>
                  <a:lnTo>
                    <a:pt x="217881" y="94767"/>
                  </a:lnTo>
                  <a:lnTo>
                    <a:pt x="217754" y="97345"/>
                  </a:lnTo>
                  <a:lnTo>
                    <a:pt x="217754" y="97536"/>
                  </a:lnTo>
                  <a:lnTo>
                    <a:pt x="216535" y="104495"/>
                  </a:lnTo>
                  <a:lnTo>
                    <a:pt x="214503" y="110236"/>
                  </a:lnTo>
                  <a:lnTo>
                    <a:pt x="211670" y="114833"/>
                  </a:lnTo>
                  <a:lnTo>
                    <a:pt x="207352" y="119875"/>
                  </a:lnTo>
                  <a:lnTo>
                    <a:pt x="200152" y="122758"/>
                  </a:lnTo>
                  <a:lnTo>
                    <a:pt x="182156" y="122758"/>
                  </a:lnTo>
                  <a:lnTo>
                    <a:pt x="164871" y="86398"/>
                  </a:lnTo>
                  <a:lnTo>
                    <a:pt x="165265" y="78181"/>
                  </a:lnTo>
                  <a:lnTo>
                    <a:pt x="182156" y="49314"/>
                  </a:lnTo>
                  <a:lnTo>
                    <a:pt x="200152" y="49314"/>
                  </a:lnTo>
                  <a:lnTo>
                    <a:pt x="218160" y="86398"/>
                  </a:lnTo>
                  <a:lnTo>
                    <a:pt x="218160" y="51473"/>
                  </a:lnTo>
                  <a:lnTo>
                    <a:pt x="217792" y="51473"/>
                  </a:lnTo>
                  <a:lnTo>
                    <a:pt x="215861" y="49314"/>
                  </a:lnTo>
                  <a:lnTo>
                    <a:pt x="212318" y="45339"/>
                  </a:lnTo>
                  <a:lnTo>
                    <a:pt x="205638" y="40957"/>
                  </a:lnTo>
                  <a:lnTo>
                    <a:pt x="197739" y="38328"/>
                  </a:lnTo>
                  <a:lnTo>
                    <a:pt x="188633" y="37439"/>
                  </a:lnTo>
                  <a:lnTo>
                    <a:pt x="179438" y="38328"/>
                  </a:lnTo>
                  <a:lnTo>
                    <a:pt x="179920" y="38328"/>
                  </a:lnTo>
                  <a:lnTo>
                    <a:pt x="172516" y="40678"/>
                  </a:lnTo>
                  <a:lnTo>
                    <a:pt x="150723" y="75463"/>
                  </a:lnTo>
                  <a:lnTo>
                    <a:pt x="150114" y="86398"/>
                  </a:lnTo>
                  <a:lnTo>
                    <a:pt x="150723" y="97345"/>
                  </a:lnTo>
                  <a:lnTo>
                    <a:pt x="152577" y="106921"/>
                  </a:lnTo>
                  <a:lnTo>
                    <a:pt x="155613" y="114833"/>
                  </a:lnTo>
                  <a:lnTo>
                    <a:pt x="155727" y="115150"/>
                  </a:lnTo>
                  <a:lnTo>
                    <a:pt x="188633" y="134632"/>
                  </a:lnTo>
                  <a:lnTo>
                    <a:pt x="197942" y="133705"/>
                  </a:lnTo>
                  <a:lnTo>
                    <a:pt x="205955" y="130949"/>
                  </a:lnTo>
                  <a:lnTo>
                    <a:pt x="212674" y="126441"/>
                  </a:lnTo>
                  <a:lnTo>
                    <a:pt x="215925" y="122758"/>
                  </a:lnTo>
                  <a:lnTo>
                    <a:pt x="218160" y="120230"/>
                  </a:lnTo>
                  <a:lnTo>
                    <a:pt x="218871" y="120230"/>
                  </a:lnTo>
                  <a:lnTo>
                    <a:pt x="220675" y="132842"/>
                  </a:lnTo>
                  <a:lnTo>
                    <a:pt x="232194" y="132842"/>
                  </a:lnTo>
                  <a:lnTo>
                    <a:pt x="232194" y="120230"/>
                  </a:lnTo>
                  <a:lnTo>
                    <a:pt x="232194" y="51473"/>
                  </a:lnTo>
                  <a:lnTo>
                    <a:pt x="232194" y="0"/>
                  </a:lnTo>
                  <a:close/>
                </a:path>
                <a:path w="278129" h="135255">
                  <a:moveTo>
                    <a:pt x="276479" y="39243"/>
                  </a:moveTo>
                  <a:lnTo>
                    <a:pt x="262432" y="39243"/>
                  </a:lnTo>
                  <a:lnTo>
                    <a:pt x="262432" y="132842"/>
                  </a:lnTo>
                  <a:lnTo>
                    <a:pt x="276479" y="132842"/>
                  </a:lnTo>
                  <a:lnTo>
                    <a:pt x="276479" y="39243"/>
                  </a:lnTo>
                  <a:close/>
                </a:path>
                <a:path w="278129" h="135255">
                  <a:moveTo>
                    <a:pt x="277914" y="10795"/>
                  </a:moveTo>
                  <a:lnTo>
                    <a:pt x="276834" y="8280"/>
                  </a:lnTo>
                  <a:lnTo>
                    <a:pt x="275399" y="6832"/>
                  </a:lnTo>
                  <a:lnTo>
                    <a:pt x="273596" y="5397"/>
                  </a:lnTo>
                  <a:lnTo>
                    <a:pt x="271792" y="4673"/>
                  </a:lnTo>
                  <a:lnTo>
                    <a:pt x="267119" y="4673"/>
                  </a:lnTo>
                  <a:lnTo>
                    <a:pt x="264960" y="5397"/>
                  </a:lnTo>
                  <a:lnTo>
                    <a:pt x="263512" y="6832"/>
                  </a:lnTo>
                  <a:lnTo>
                    <a:pt x="261721" y="8280"/>
                  </a:lnTo>
                  <a:lnTo>
                    <a:pt x="260997" y="10795"/>
                  </a:lnTo>
                  <a:lnTo>
                    <a:pt x="260997" y="17272"/>
                  </a:lnTo>
                  <a:lnTo>
                    <a:pt x="261721" y="19431"/>
                  </a:lnTo>
                  <a:lnTo>
                    <a:pt x="264960" y="22682"/>
                  </a:lnTo>
                  <a:lnTo>
                    <a:pt x="267119" y="23393"/>
                  </a:lnTo>
                  <a:lnTo>
                    <a:pt x="271792" y="23393"/>
                  </a:lnTo>
                  <a:lnTo>
                    <a:pt x="273596" y="22682"/>
                  </a:lnTo>
                  <a:lnTo>
                    <a:pt x="275399" y="21234"/>
                  </a:lnTo>
                  <a:lnTo>
                    <a:pt x="276834" y="19431"/>
                  </a:lnTo>
                  <a:lnTo>
                    <a:pt x="277914" y="17272"/>
                  </a:lnTo>
                  <a:lnTo>
                    <a:pt x="277914" y="10795"/>
                  </a:lnTo>
                  <a:close/>
                </a:path>
              </a:pathLst>
            </a:custGeom>
            <a:solidFill>
              <a:srgbClr val="FFFFFF"/>
            </a:solidFill>
          </p:spPr>
          <p:txBody>
            <a:bodyPr wrap="square" lIns="0" tIns="0" rIns="0" bIns="0" rtlCol="0"/>
            <a:lstStyle/>
            <a:p>
              <a:endParaRPr/>
            </a:p>
          </p:txBody>
        </p:sp>
        <p:pic>
          <p:nvPicPr>
            <p:cNvPr id="17" name="object 17"/>
            <p:cNvPicPr/>
            <p:nvPr/>
          </p:nvPicPr>
          <p:blipFill>
            <a:blip r:embed="rId8" cstate="print"/>
            <a:stretch>
              <a:fillRect/>
            </a:stretch>
          </p:blipFill>
          <p:spPr>
            <a:xfrm>
              <a:off x="6216840" y="1338131"/>
              <a:ext cx="66243" cy="97193"/>
            </a:xfrm>
            <a:prstGeom prst="rect">
              <a:avLst/>
            </a:prstGeom>
          </p:spPr>
        </p:pic>
        <p:pic>
          <p:nvPicPr>
            <p:cNvPr id="18" name="object 18"/>
            <p:cNvPicPr/>
            <p:nvPr/>
          </p:nvPicPr>
          <p:blipFill>
            <a:blip r:embed="rId9" cstate="print"/>
            <a:stretch>
              <a:fillRect/>
            </a:stretch>
          </p:blipFill>
          <p:spPr>
            <a:xfrm>
              <a:off x="6306121" y="1300692"/>
              <a:ext cx="223913" cy="134632"/>
            </a:xfrm>
            <a:prstGeom prst="rect">
              <a:avLst/>
            </a:prstGeom>
          </p:spPr>
        </p:pic>
      </p:grpSp>
      <p:grpSp>
        <p:nvGrpSpPr>
          <p:cNvPr id="19" name="object 19"/>
          <p:cNvGrpSpPr/>
          <p:nvPr/>
        </p:nvGrpSpPr>
        <p:grpSpPr>
          <a:xfrm>
            <a:off x="3172675" y="1698849"/>
            <a:ext cx="3603625" cy="432434"/>
            <a:chOff x="3172675" y="1698849"/>
            <a:chExt cx="3603625" cy="432434"/>
          </a:xfrm>
        </p:grpSpPr>
        <p:sp>
          <p:nvSpPr>
            <p:cNvPr id="20" name="object 20"/>
            <p:cNvSpPr/>
            <p:nvPr/>
          </p:nvSpPr>
          <p:spPr>
            <a:xfrm>
              <a:off x="3172675" y="1698849"/>
              <a:ext cx="3603625" cy="432434"/>
            </a:xfrm>
            <a:custGeom>
              <a:avLst/>
              <a:gdLst/>
              <a:ahLst/>
              <a:cxnLst/>
              <a:rect l="l" t="t" r="r" b="b"/>
              <a:pathLst>
                <a:path w="3603625" h="432435">
                  <a:moveTo>
                    <a:pt x="3546360" y="0"/>
                  </a:moveTo>
                  <a:lnTo>
                    <a:pt x="56527" y="0"/>
                  </a:lnTo>
                  <a:lnTo>
                    <a:pt x="34482" y="4432"/>
                  </a:lnTo>
                  <a:lnTo>
                    <a:pt x="16519" y="16559"/>
                  </a:lnTo>
                  <a:lnTo>
                    <a:pt x="4428" y="34627"/>
                  </a:lnTo>
                  <a:lnTo>
                    <a:pt x="0" y="56883"/>
                  </a:lnTo>
                  <a:lnTo>
                    <a:pt x="0" y="375119"/>
                  </a:lnTo>
                  <a:lnTo>
                    <a:pt x="4428" y="397370"/>
                  </a:lnTo>
                  <a:lnTo>
                    <a:pt x="16519" y="415439"/>
                  </a:lnTo>
                  <a:lnTo>
                    <a:pt x="34482" y="427569"/>
                  </a:lnTo>
                  <a:lnTo>
                    <a:pt x="56527" y="432003"/>
                  </a:lnTo>
                  <a:lnTo>
                    <a:pt x="3546360" y="432003"/>
                  </a:lnTo>
                  <a:lnTo>
                    <a:pt x="3568461" y="427569"/>
                  </a:lnTo>
                  <a:lnTo>
                    <a:pt x="3586546" y="415439"/>
                  </a:lnTo>
                  <a:lnTo>
                    <a:pt x="3598760" y="397370"/>
                  </a:lnTo>
                  <a:lnTo>
                    <a:pt x="3603244" y="375119"/>
                  </a:lnTo>
                  <a:lnTo>
                    <a:pt x="3603244" y="56883"/>
                  </a:lnTo>
                  <a:lnTo>
                    <a:pt x="3598760" y="34627"/>
                  </a:lnTo>
                  <a:lnTo>
                    <a:pt x="3586546" y="16559"/>
                  </a:lnTo>
                  <a:lnTo>
                    <a:pt x="3568461" y="4432"/>
                  </a:lnTo>
                  <a:lnTo>
                    <a:pt x="3546360" y="0"/>
                  </a:lnTo>
                  <a:close/>
                </a:path>
              </a:pathLst>
            </a:custGeom>
            <a:solidFill>
              <a:srgbClr val="FF9C00"/>
            </a:solidFill>
          </p:spPr>
          <p:txBody>
            <a:bodyPr wrap="square" lIns="0" tIns="0" rIns="0" bIns="0" rtlCol="0"/>
            <a:lstStyle/>
            <a:p>
              <a:endParaRPr/>
            </a:p>
          </p:txBody>
        </p:sp>
        <p:pic>
          <p:nvPicPr>
            <p:cNvPr id="21" name="object 21"/>
            <p:cNvPicPr/>
            <p:nvPr/>
          </p:nvPicPr>
          <p:blipFill>
            <a:blip r:embed="rId10" cstate="print"/>
            <a:stretch>
              <a:fillRect/>
            </a:stretch>
          </p:blipFill>
          <p:spPr>
            <a:xfrm>
              <a:off x="4733645" y="1819360"/>
              <a:ext cx="266039" cy="190893"/>
            </a:xfrm>
            <a:prstGeom prst="rect">
              <a:avLst/>
            </a:prstGeom>
          </p:spPr>
        </p:pic>
        <p:pic>
          <p:nvPicPr>
            <p:cNvPr id="22" name="object 22"/>
            <p:cNvPicPr/>
            <p:nvPr/>
          </p:nvPicPr>
          <p:blipFill>
            <a:blip r:embed="rId11" cstate="print"/>
            <a:stretch>
              <a:fillRect/>
            </a:stretch>
          </p:blipFill>
          <p:spPr>
            <a:xfrm>
              <a:off x="5025961" y="1819448"/>
              <a:ext cx="189001" cy="190804"/>
            </a:xfrm>
            <a:prstGeom prst="rect">
              <a:avLst/>
            </a:prstGeom>
          </p:spPr>
        </p:pic>
      </p:grpSp>
      <p:pic>
        <p:nvPicPr>
          <p:cNvPr id="23" name="object 23"/>
          <p:cNvPicPr/>
          <p:nvPr/>
        </p:nvPicPr>
        <p:blipFill>
          <a:blip r:embed="rId12" cstate="print"/>
          <a:stretch>
            <a:fillRect/>
          </a:stretch>
        </p:blipFill>
        <p:spPr>
          <a:xfrm>
            <a:off x="3172675" y="2288167"/>
            <a:ext cx="3603244" cy="432003"/>
          </a:xfrm>
          <a:prstGeom prst="rect">
            <a:avLst/>
          </a:prstGeom>
        </p:spPr>
      </p:pic>
      <p:pic>
        <p:nvPicPr>
          <p:cNvPr id="24" name="object 24"/>
          <p:cNvPicPr/>
          <p:nvPr/>
        </p:nvPicPr>
        <p:blipFill>
          <a:blip r:embed="rId13" cstate="print"/>
          <a:stretch>
            <a:fillRect/>
          </a:stretch>
        </p:blipFill>
        <p:spPr>
          <a:xfrm>
            <a:off x="3168002" y="2896929"/>
            <a:ext cx="3603243" cy="1854720"/>
          </a:xfrm>
          <a:prstGeom prst="rect">
            <a:avLst/>
          </a:prstGeom>
        </p:spPr>
      </p:pic>
      <p:sp>
        <p:nvSpPr>
          <p:cNvPr id="25" name="object 25"/>
          <p:cNvSpPr txBox="1"/>
          <p:nvPr/>
        </p:nvSpPr>
        <p:spPr>
          <a:xfrm>
            <a:off x="7663218" y="4882674"/>
            <a:ext cx="1080135" cy="200025"/>
          </a:xfrm>
          <a:prstGeom prst="rect">
            <a:avLst/>
          </a:prstGeom>
        </p:spPr>
        <p:txBody>
          <a:bodyPr vert="horz" wrap="square" lIns="0" tIns="12065" rIns="0" bIns="0" rtlCol="0">
            <a:spAutoFit/>
          </a:bodyPr>
          <a:lstStyle/>
          <a:p>
            <a:pPr marL="12700">
              <a:lnSpc>
                <a:spcPct val="100000"/>
              </a:lnSpc>
              <a:spcBef>
                <a:spcPts val="95"/>
              </a:spcBef>
            </a:pPr>
            <a:r>
              <a:rPr sz="1150" spc="-60" dirty="0">
                <a:solidFill>
                  <a:srgbClr val="287FB8"/>
                </a:solidFill>
                <a:latin typeface="Tahoma"/>
                <a:cs typeface="Tahoma"/>
                <a:hlinkClick r:id="rId14"/>
              </a:rPr>
              <a:t>Multipath </a:t>
            </a:r>
            <a:r>
              <a:rPr sz="1150" spc="-55" dirty="0">
                <a:solidFill>
                  <a:srgbClr val="287FB8"/>
                </a:solidFill>
                <a:latin typeface="Tahoma"/>
                <a:cs typeface="Tahoma"/>
                <a:hlinkClick r:id="rId14"/>
              </a:rPr>
              <a:t>Guide</a:t>
            </a:r>
            <a:r>
              <a:rPr sz="1150" spc="-60" dirty="0">
                <a:solidFill>
                  <a:srgbClr val="287FB8"/>
                </a:solidFill>
                <a:latin typeface="Tahoma"/>
                <a:cs typeface="Tahoma"/>
                <a:hlinkClick r:id="rId14"/>
              </a:rPr>
              <a:t> </a:t>
            </a:r>
            <a:r>
              <a:rPr sz="1000" spc="-50" dirty="0">
                <a:solidFill>
                  <a:srgbClr val="287FB8"/>
                </a:solidFill>
                <a:latin typeface="Microsoft Sans Serif"/>
                <a:cs typeface="Microsoft Sans Serif"/>
                <a:hlinkClick r:id="rId14"/>
              </a:rPr>
              <a:t>→</a:t>
            </a:r>
            <a:endParaRPr sz="1000">
              <a:latin typeface="Microsoft Sans Serif"/>
              <a:cs typeface="Microsoft Sans Serif"/>
            </a:endParaRPr>
          </a:p>
        </p:txBody>
      </p:sp>
      <p:sp>
        <p:nvSpPr>
          <p:cNvPr id="26" name="object 26"/>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7" name="object 27"/>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35</a:t>
            </a:fld>
            <a:r>
              <a:rPr spc="-10" dirty="0"/>
              <a:t>/60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370" dirty="0"/>
              <a:t> </a:t>
            </a:r>
            <a:r>
              <a:rPr spc="-10" dirty="0"/>
              <a:t>Stack</a:t>
            </a:r>
          </a:p>
        </p:txBody>
      </p:sp>
      <p:pic>
        <p:nvPicPr>
          <p:cNvPr id="3" name="object 3"/>
          <p:cNvPicPr/>
          <p:nvPr/>
        </p:nvPicPr>
        <p:blipFill>
          <a:blip r:embed="rId2" cstate="print"/>
          <a:stretch>
            <a:fillRect/>
          </a:stretch>
        </p:blipFill>
        <p:spPr>
          <a:xfrm>
            <a:off x="2683802" y="1325888"/>
            <a:ext cx="4710595" cy="3288245"/>
          </a:xfrm>
          <a:prstGeom prst="rect">
            <a:avLst/>
          </a:prstGeom>
        </p:spPr>
      </p:pic>
      <p:sp>
        <p:nvSpPr>
          <p:cNvPr id="4" name="object 4"/>
          <p:cNvSpPr txBox="1"/>
          <p:nvPr/>
        </p:nvSpPr>
        <p:spPr>
          <a:xfrm>
            <a:off x="8213661" y="4875741"/>
            <a:ext cx="160591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454C4C"/>
                </a:solidFill>
                <a:latin typeface="Arial MT"/>
                <a:cs typeface="Arial MT"/>
              </a:rPr>
              <a:t>Source:</a:t>
            </a:r>
            <a:r>
              <a:rPr sz="1200" spc="-15" dirty="0">
                <a:solidFill>
                  <a:srgbClr val="454C4C"/>
                </a:solidFill>
                <a:latin typeface="Arial MT"/>
                <a:cs typeface="Arial MT"/>
              </a:rPr>
              <a:t> </a:t>
            </a:r>
            <a:r>
              <a:rPr sz="1200" spc="-10" dirty="0">
                <a:solidFill>
                  <a:srgbClr val="454C4C"/>
                </a:solidFill>
                <a:latin typeface="Arial MT"/>
                <a:cs typeface="Arial MT"/>
              </a:rPr>
              <a:t>docs.ceph.com</a:t>
            </a:r>
            <a:endParaRPr sz="1200">
              <a:latin typeface="Arial MT"/>
              <a:cs typeface="Arial MT"/>
            </a:endParaRPr>
          </a:p>
        </p:txBody>
      </p:sp>
      <p:sp>
        <p:nvSpPr>
          <p:cNvPr id="5" name="object 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6" name="object 6"/>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36</a:t>
            </a:fld>
            <a:r>
              <a:rPr spc="-10" dirty="0"/>
              <a:t>/60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370" dirty="0"/>
              <a:t> </a:t>
            </a:r>
            <a:r>
              <a:rPr spc="-10" dirty="0"/>
              <a:t>Services</a:t>
            </a:r>
          </a:p>
        </p:txBody>
      </p:sp>
      <p:sp>
        <p:nvSpPr>
          <p:cNvPr id="8" name="object 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9" name="object 9"/>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37</a:t>
            </a:fld>
            <a:r>
              <a:rPr spc="-10" dirty="0"/>
              <a:t>/60</a:t>
            </a:r>
          </a:p>
        </p:txBody>
      </p:sp>
      <p:sp>
        <p:nvSpPr>
          <p:cNvPr id="3" name="object 3"/>
          <p:cNvSpPr txBox="1"/>
          <p:nvPr/>
        </p:nvSpPr>
        <p:spPr>
          <a:xfrm>
            <a:off x="562940" y="1336582"/>
            <a:ext cx="118745" cy="166370"/>
          </a:xfrm>
          <a:prstGeom prst="rect">
            <a:avLst/>
          </a:prstGeom>
        </p:spPr>
        <p:txBody>
          <a:bodyPr vert="horz" wrap="square" lIns="0" tIns="15240" rIns="0" bIns="0" rtlCol="0">
            <a:spAutoFit/>
          </a:bodyPr>
          <a:lstStyle/>
          <a:p>
            <a:pPr marL="12700">
              <a:lnSpc>
                <a:spcPct val="100000"/>
              </a:lnSpc>
              <a:spcBef>
                <a:spcPts val="120"/>
              </a:spcBef>
            </a:pPr>
            <a:r>
              <a:rPr sz="900" spc="-50" dirty="0">
                <a:latin typeface="Lucida Sans Unicode"/>
                <a:cs typeface="Lucida Sans Unicode"/>
              </a:rPr>
              <a:t>●</a:t>
            </a:r>
            <a:endParaRPr sz="900">
              <a:latin typeface="Lucida Sans Unicode"/>
              <a:cs typeface="Lucida Sans Unicode"/>
            </a:endParaRPr>
          </a:p>
        </p:txBody>
      </p:sp>
      <p:sp>
        <p:nvSpPr>
          <p:cNvPr id="4" name="object 4"/>
          <p:cNvSpPr txBox="1">
            <a:spLocks noGrp="1"/>
          </p:cNvSpPr>
          <p:nvPr>
            <p:ph type="body" idx="1"/>
          </p:nvPr>
        </p:nvSpPr>
        <p:spPr>
          <a:prstGeom prst="rect">
            <a:avLst/>
          </a:prstGeom>
        </p:spPr>
        <p:txBody>
          <a:bodyPr vert="horz" wrap="square" lIns="0" tIns="45085" rIns="0" bIns="0" rtlCol="0">
            <a:spAutoFit/>
          </a:bodyPr>
          <a:lstStyle/>
          <a:p>
            <a:pPr marL="12700" marR="281940">
              <a:lnSpc>
                <a:spcPts val="2180"/>
              </a:lnSpc>
              <a:spcBef>
                <a:spcPts val="355"/>
              </a:spcBef>
            </a:pPr>
            <a:r>
              <a:rPr sz="2000" spc="-110" dirty="0"/>
              <a:t>OSD</a:t>
            </a:r>
            <a:r>
              <a:rPr sz="2000" spc="-25" dirty="0"/>
              <a:t> </a:t>
            </a:r>
            <a:r>
              <a:rPr sz="2000" dirty="0"/>
              <a:t>(Object</a:t>
            </a:r>
            <a:r>
              <a:rPr sz="2000" spc="-30" dirty="0"/>
              <a:t> </a:t>
            </a:r>
            <a:r>
              <a:rPr sz="2000" spc="-10" dirty="0"/>
              <a:t>Storage</a:t>
            </a:r>
            <a:r>
              <a:rPr sz="2000" spc="-25" dirty="0"/>
              <a:t> </a:t>
            </a:r>
            <a:r>
              <a:rPr sz="2000" dirty="0"/>
              <a:t>Daemon)</a:t>
            </a:r>
            <a:r>
              <a:rPr sz="2000" spc="-30" dirty="0"/>
              <a:t> </a:t>
            </a:r>
            <a:r>
              <a:rPr sz="2000" spc="-25" dirty="0"/>
              <a:t>checks</a:t>
            </a:r>
            <a:r>
              <a:rPr sz="2000" spc="-30" dirty="0"/>
              <a:t> </a:t>
            </a:r>
            <a:r>
              <a:rPr sz="2000" dirty="0"/>
              <a:t>its</a:t>
            </a:r>
            <a:r>
              <a:rPr sz="2000" spc="-20" dirty="0"/>
              <a:t> </a:t>
            </a:r>
            <a:r>
              <a:rPr sz="2000" dirty="0"/>
              <a:t>own</a:t>
            </a:r>
            <a:r>
              <a:rPr sz="2000" spc="-30" dirty="0"/>
              <a:t> </a:t>
            </a:r>
            <a:r>
              <a:rPr sz="2000" dirty="0"/>
              <a:t>state</a:t>
            </a:r>
            <a:r>
              <a:rPr sz="2000" spc="-25" dirty="0"/>
              <a:t> </a:t>
            </a:r>
            <a:r>
              <a:rPr sz="2000" dirty="0"/>
              <a:t>and</a:t>
            </a:r>
            <a:r>
              <a:rPr sz="2000" spc="-25" dirty="0"/>
              <a:t> </a:t>
            </a:r>
            <a:r>
              <a:rPr sz="2000" spc="50" dirty="0"/>
              <a:t>the</a:t>
            </a:r>
            <a:r>
              <a:rPr sz="2000" spc="-25" dirty="0"/>
              <a:t> </a:t>
            </a:r>
            <a:r>
              <a:rPr sz="2000" dirty="0"/>
              <a:t>state</a:t>
            </a:r>
            <a:r>
              <a:rPr sz="2000" spc="-30" dirty="0"/>
              <a:t> </a:t>
            </a:r>
            <a:r>
              <a:rPr sz="2000" spc="50" dirty="0"/>
              <a:t>of</a:t>
            </a:r>
            <a:r>
              <a:rPr sz="2000" spc="-30" dirty="0"/>
              <a:t> </a:t>
            </a:r>
            <a:r>
              <a:rPr sz="2000" spc="55" dirty="0"/>
              <a:t>other </a:t>
            </a:r>
            <a:r>
              <a:rPr sz="2000" spc="-105" dirty="0"/>
              <a:t>OSDs</a:t>
            </a:r>
            <a:r>
              <a:rPr sz="2000" spc="-30" dirty="0"/>
              <a:t> </a:t>
            </a:r>
            <a:r>
              <a:rPr sz="2000" dirty="0"/>
              <a:t>and</a:t>
            </a:r>
            <a:r>
              <a:rPr sz="2000" spc="-30" dirty="0"/>
              <a:t> </a:t>
            </a:r>
            <a:r>
              <a:rPr sz="2000" spc="50" dirty="0"/>
              <a:t>reports</a:t>
            </a:r>
            <a:r>
              <a:rPr sz="2000" spc="-25" dirty="0"/>
              <a:t> </a:t>
            </a:r>
            <a:r>
              <a:rPr sz="2000" dirty="0"/>
              <a:t>back</a:t>
            </a:r>
            <a:r>
              <a:rPr sz="2000" spc="-35" dirty="0"/>
              <a:t> </a:t>
            </a:r>
            <a:r>
              <a:rPr sz="2000" spc="85" dirty="0"/>
              <a:t>to</a:t>
            </a:r>
            <a:r>
              <a:rPr sz="2000" spc="-30" dirty="0"/>
              <a:t> </a:t>
            </a:r>
            <a:r>
              <a:rPr sz="2000" spc="-10" dirty="0"/>
              <a:t>monitors.</a:t>
            </a:r>
            <a:endParaRPr sz="2000" dirty="0"/>
          </a:p>
          <a:p>
            <a:pPr marL="12700" marR="517525">
              <a:lnSpc>
                <a:spcPts val="2180"/>
              </a:lnSpc>
              <a:spcBef>
                <a:spcPts val="680"/>
              </a:spcBef>
            </a:pPr>
            <a:r>
              <a:rPr sz="2000" dirty="0"/>
              <a:t>MON</a:t>
            </a:r>
            <a:r>
              <a:rPr sz="2000" spc="20" dirty="0"/>
              <a:t> </a:t>
            </a:r>
            <a:r>
              <a:rPr sz="2000" dirty="0"/>
              <a:t>(Monitor)</a:t>
            </a:r>
            <a:r>
              <a:rPr sz="2000" spc="15" dirty="0"/>
              <a:t> </a:t>
            </a:r>
            <a:r>
              <a:rPr sz="2000" dirty="0"/>
              <a:t>maintains</a:t>
            </a:r>
            <a:r>
              <a:rPr sz="2000" spc="15" dirty="0"/>
              <a:t> </a:t>
            </a:r>
            <a:r>
              <a:rPr sz="2000" dirty="0"/>
              <a:t>a</a:t>
            </a:r>
            <a:r>
              <a:rPr sz="2000" spc="15" dirty="0"/>
              <a:t> </a:t>
            </a:r>
            <a:r>
              <a:rPr sz="2000" dirty="0"/>
              <a:t>master</a:t>
            </a:r>
            <a:r>
              <a:rPr sz="2000" spc="15" dirty="0"/>
              <a:t> </a:t>
            </a:r>
            <a:r>
              <a:rPr sz="2000" dirty="0"/>
              <a:t>copy</a:t>
            </a:r>
            <a:r>
              <a:rPr sz="2000" spc="20" dirty="0"/>
              <a:t> </a:t>
            </a:r>
            <a:r>
              <a:rPr sz="2000" spc="50" dirty="0"/>
              <a:t>of</a:t>
            </a:r>
            <a:r>
              <a:rPr sz="2000" spc="15" dirty="0"/>
              <a:t> </a:t>
            </a:r>
            <a:r>
              <a:rPr sz="2000" spc="50" dirty="0"/>
              <a:t>the</a:t>
            </a:r>
            <a:r>
              <a:rPr sz="2000" spc="15" dirty="0"/>
              <a:t> </a:t>
            </a:r>
            <a:r>
              <a:rPr sz="2000" dirty="0"/>
              <a:t>cluster</a:t>
            </a:r>
            <a:r>
              <a:rPr sz="2000" spc="15" dirty="0"/>
              <a:t> </a:t>
            </a:r>
            <a:r>
              <a:rPr sz="2000" dirty="0"/>
              <a:t>map.</a:t>
            </a:r>
            <a:r>
              <a:rPr sz="2000" spc="20" dirty="0"/>
              <a:t> </a:t>
            </a:r>
            <a:r>
              <a:rPr sz="2000" spc="-155" dirty="0"/>
              <a:t>A</a:t>
            </a:r>
            <a:r>
              <a:rPr sz="2000" spc="15" dirty="0"/>
              <a:t> </a:t>
            </a:r>
            <a:r>
              <a:rPr sz="2000" dirty="0"/>
              <a:t>cluster</a:t>
            </a:r>
            <a:r>
              <a:rPr sz="2000" spc="20" dirty="0"/>
              <a:t> </a:t>
            </a:r>
            <a:r>
              <a:rPr sz="2000" spc="-25" dirty="0"/>
              <a:t>of </a:t>
            </a:r>
            <a:r>
              <a:rPr sz="2000" spc="-10" dirty="0"/>
              <a:t>Ceph </a:t>
            </a:r>
            <a:r>
              <a:rPr sz="2000" spc="45" dirty="0"/>
              <a:t>monitors</a:t>
            </a:r>
            <a:r>
              <a:rPr sz="2000" spc="-10" dirty="0"/>
              <a:t> </a:t>
            </a:r>
            <a:r>
              <a:rPr sz="2000" dirty="0"/>
              <a:t>ensures</a:t>
            </a:r>
            <a:r>
              <a:rPr sz="2000" spc="-5" dirty="0"/>
              <a:t> </a:t>
            </a:r>
            <a:r>
              <a:rPr sz="2000" dirty="0"/>
              <a:t>high</a:t>
            </a:r>
            <a:r>
              <a:rPr sz="2000" spc="-10" dirty="0"/>
              <a:t> availability </a:t>
            </a:r>
            <a:r>
              <a:rPr sz="2000" dirty="0"/>
              <a:t>should a</a:t>
            </a:r>
            <a:r>
              <a:rPr sz="2000" spc="-10" dirty="0"/>
              <a:t> </a:t>
            </a:r>
            <a:r>
              <a:rPr sz="2000" spc="65" dirty="0"/>
              <a:t>monitor</a:t>
            </a:r>
            <a:r>
              <a:rPr sz="2000" spc="-5" dirty="0"/>
              <a:t> </a:t>
            </a:r>
            <a:r>
              <a:rPr sz="2000" dirty="0"/>
              <a:t>daemon</a:t>
            </a:r>
            <a:r>
              <a:rPr sz="2000" spc="-10" dirty="0"/>
              <a:t> fail.</a:t>
            </a:r>
            <a:endParaRPr sz="2000" dirty="0"/>
          </a:p>
          <a:p>
            <a:pPr marL="12700" marR="509905">
              <a:lnSpc>
                <a:spcPts val="2180"/>
              </a:lnSpc>
            </a:pPr>
            <a:r>
              <a:rPr sz="2000" spc="-10" dirty="0"/>
              <a:t>Storage </a:t>
            </a:r>
            <a:r>
              <a:rPr sz="2000" dirty="0"/>
              <a:t>cluster</a:t>
            </a:r>
            <a:r>
              <a:rPr sz="2000" spc="-10" dirty="0"/>
              <a:t> </a:t>
            </a:r>
            <a:r>
              <a:rPr sz="2000" dirty="0"/>
              <a:t>clients</a:t>
            </a:r>
            <a:r>
              <a:rPr sz="2000" spc="-5" dirty="0"/>
              <a:t> </a:t>
            </a:r>
            <a:r>
              <a:rPr sz="2000" dirty="0"/>
              <a:t>retrieve</a:t>
            </a:r>
            <a:r>
              <a:rPr sz="2000" spc="-10" dirty="0"/>
              <a:t> </a:t>
            </a:r>
            <a:r>
              <a:rPr sz="2000" dirty="0"/>
              <a:t>a</a:t>
            </a:r>
            <a:r>
              <a:rPr sz="2000" spc="-10" dirty="0"/>
              <a:t> </a:t>
            </a:r>
            <a:r>
              <a:rPr sz="2000" dirty="0"/>
              <a:t>copy</a:t>
            </a:r>
            <a:r>
              <a:rPr sz="2000" spc="-5" dirty="0"/>
              <a:t> </a:t>
            </a:r>
            <a:r>
              <a:rPr sz="2000" spc="50" dirty="0"/>
              <a:t>of</a:t>
            </a:r>
            <a:r>
              <a:rPr sz="2000" spc="-10" dirty="0"/>
              <a:t> </a:t>
            </a:r>
            <a:r>
              <a:rPr sz="2000" spc="50" dirty="0"/>
              <a:t>the</a:t>
            </a:r>
            <a:r>
              <a:rPr sz="2000" spc="-10" dirty="0"/>
              <a:t> </a:t>
            </a:r>
            <a:r>
              <a:rPr sz="2000" dirty="0"/>
              <a:t>cluster</a:t>
            </a:r>
            <a:r>
              <a:rPr sz="2000" spc="-5" dirty="0"/>
              <a:t> </a:t>
            </a:r>
            <a:r>
              <a:rPr sz="2000" dirty="0"/>
              <a:t>map</a:t>
            </a:r>
            <a:r>
              <a:rPr sz="2000" spc="-10" dirty="0"/>
              <a:t> </a:t>
            </a:r>
            <a:r>
              <a:rPr sz="2000" spc="70" dirty="0"/>
              <a:t>from</a:t>
            </a:r>
            <a:r>
              <a:rPr sz="2000" dirty="0"/>
              <a:t> </a:t>
            </a:r>
            <a:r>
              <a:rPr sz="2000" spc="50" dirty="0"/>
              <a:t>the</a:t>
            </a:r>
            <a:r>
              <a:rPr sz="2000" spc="-10" dirty="0"/>
              <a:t> </a:t>
            </a:r>
            <a:r>
              <a:rPr sz="2000" spc="-20" dirty="0"/>
              <a:t>Ceph </a:t>
            </a:r>
            <a:r>
              <a:rPr sz="2000" spc="-10" dirty="0"/>
              <a:t>Monitor.</a:t>
            </a:r>
            <a:endParaRPr sz="2000" dirty="0"/>
          </a:p>
          <a:p>
            <a:pPr marL="12700" marR="5080">
              <a:lnSpc>
                <a:spcPts val="2180"/>
              </a:lnSpc>
              <a:spcBef>
                <a:spcPts val="680"/>
              </a:spcBef>
            </a:pPr>
            <a:r>
              <a:rPr sz="2000" spc="-125" dirty="0"/>
              <a:t>MGR</a:t>
            </a:r>
            <a:r>
              <a:rPr sz="2000" spc="5" dirty="0"/>
              <a:t> </a:t>
            </a:r>
            <a:r>
              <a:rPr sz="2000" spc="-25" dirty="0"/>
              <a:t>(Manager)</a:t>
            </a:r>
            <a:r>
              <a:rPr sz="2000" spc="15" dirty="0"/>
              <a:t> </a:t>
            </a:r>
            <a:r>
              <a:rPr sz="2000" dirty="0"/>
              <a:t>acts</a:t>
            </a:r>
            <a:r>
              <a:rPr sz="2000" spc="15" dirty="0"/>
              <a:t> </a:t>
            </a:r>
            <a:r>
              <a:rPr sz="2000" spc="-30" dirty="0"/>
              <a:t>as</a:t>
            </a:r>
            <a:r>
              <a:rPr sz="2000" spc="20" dirty="0"/>
              <a:t> </a:t>
            </a:r>
            <a:r>
              <a:rPr sz="2000" dirty="0"/>
              <a:t>an</a:t>
            </a:r>
            <a:r>
              <a:rPr sz="2000" spc="15" dirty="0"/>
              <a:t> </a:t>
            </a:r>
            <a:r>
              <a:rPr sz="2000" spc="50" dirty="0"/>
              <a:t>endpoint</a:t>
            </a:r>
            <a:r>
              <a:rPr sz="2000" spc="15" dirty="0"/>
              <a:t> </a:t>
            </a:r>
            <a:r>
              <a:rPr sz="2000" spc="65" dirty="0"/>
              <a:t>for</a:t>
            </a:r>
            <a:r>
              <a:rPr sz="2000" spc="15" dirty="0"/>
              <a:t> </a:t>
            </a:r>
            <a:r>
              <a:rPr sz="2000" dirty="0"/>
              <a:t>monitoring,</a:t>
            </a:r>
            <a:r>
              <a:rPr sz="2000" spc="15" dirty="0"/>
              <a:t> </a:t>
            </a:r>
            <a:r>
              <a:rPr sz="2000" dirty="0"/>
              <a:t>orchestration,</a:t>
            </a:r>
            <a:r>
              <a:rPr sz="2000" spc="15" dirty="0"/>
              <a:t> </a:t>
            </a:r>
            <a:r>
              <a:rPr sz="2000" dirty="0"/>
              <a:t>and</a:t>
            </a:r>
            <a:r>
              <a:rPr sz="2000" spc="20" dirty="0"/>
              <a:t> </a:t>
            </a:r>
            <a:r>
              <a:rPr sz="2000" spc="-10" dirty="0"/>
              <a:t>plug- </a:t>
            </a:r>
            <a:r>
              <a:rPr sz="2000" dirty="0"/>
              <a:t>in</a:t>
            </a:r>
            <a:r>
              <a:rPr sz="2000" spc="20" dirty="0"/>
              <a:t> </a:t>
            </a:r>
            <a:r>
              <a:rPr sz="2000" spc="-10" dirty="0"/>
              <a:t>modules.</a:t>
            </a:r>
            <a:endParaRPr sz="2000" dirty="0"/>
          </a:p>
          <a:p>
            <a:pPr marL="12700" marR="563245">
              <a:lnSpc>
                <a:spcPts val="2180"/>
              </a:lnSpc>
              <a:spcBef>
                <a:spcPts val="680"/>
              </a:spcBef>
            </a:pPr>
            <a:r>
              <a:rPr sz="2000" spc="-85" dirty="0"/>
              <a:t>MDS</a:t>
            </a:r>
            <a:r>
              <a:rPr sz="2000" spc="-15" dirty="0"/>
              <a:t> </a:t>
            </a:r>
            <a:r>
              <a:rPr sz="2000" dirty="0"/>
              <a:t>(Metadata</a:t>
            </a:r>
            <a:r>
              <a:rPr sz="2000" spc="-20" dirty="0"/>
              <a:t> </a:t>
            </a:r>
            <a:r>
              <a:rPr sz="2000" spc="-35" dirty="0"/>
              <a:t>Server)</a:t>
            </a:r>
            <a:r>
              <a:rPr sz="2000" spc="-15" dirty="0"/>
              <a:t> </a:t>
            </a:r>
            <a:r>
              <a:rPr sz="2000" spc="-10" dirty="0"/>
              <a:t>manages</a:t>
            </a:r>
            <a:r>
              <a:rPr sz="2000" spc="-20" dirty="0"/>
              <a:t> </a:t>
            </a:r>
            <a:r>
              <a:rPr sz="2000" dirty="0"/>
              <a:t>file</a:t>
            </a:r>
            <a:r>
              <a:rPr sz="2000" spc="-15" dirty="0"/>
              <a:t> </a:t>
            </a:r>
            <a:r>
              <a:rPr sz="2000" dirty="0"/>
              <a:t>metadata</a:t>
            </a:r>
            <a:r>
              <a:rPr sz="2000" spc="-15" dirty="0"/>
              <a:t> </a:t>
            </a:r>
            <a:r>
              <a:rPr sz="2000" dirty="0"/>
              <a:t>when</a:t>
            </a:r>
            <a:r>
              <a:rPr sz="2000" spc="-15" dirty="0"/>
              <a:t> </a:t>
            </a:r>
            <a:r>
              <a:rPr sz="2000" spc="-105" dirty="0"/>
              <a:t>CephFS</a:t>
            </a:r>
            <a:r>
              <a:rPr sz="2000" spc="-20" dirty="0"/>
              <a:t> </a:t>
            </a:r>
            <a:r>
              <a:rPr sz="2000" dirty="0"/>
              <a:t>is</a:t>
            </a:r>
            <a:r>
              <a:rPr sz="2000" spc="-20" dirty="0"/>
              <a:t> </a:t>
            </a:r>
            <a:r>
              <a:rPr sz="2000" dirty="0"/>
              <a:t>used</a:t>
            </a:r>
            <a:r>
              <a:rPr sz="2000" spc="-15" dirty="0"/>
              <a:t> </a:t>
            </a:r>
            <a:r>
              <a:rPr sz="2000" spc="60" dirty="0"/>
              <a:t>to </a:t>
            </a:r>
            <a:r>
              <a:rPr sz="2000" dirty="0"/>
              <a:t>provide</a:t>
            </a:r>
            <a:r>
              <a:rPr sz="2000" spc="55" dirty="0"/>
              <a:t> </a:t>
            </a:r>
            <a:r>
              <a:rPr sz="2000" dirty="0"/>
              <a:t>file</a:t>
            </a:r>
            <a:r>
              <a:rPr sz="2000" spc="60" dirty="0"/>
              <a:t> </a:t>
            </a:r>
            <a:r>
              <a:rPr sz="2000" spc="-10" dirty="0"/>
              <a:t>services.</a:t>
            </a:r>
            <a:endParaRPr sz="2000" dirty="0"/>
          </a:p>
        </p:txBody>
      </p:sp>
      <p:sp>
        <p:nvSpPr>
          <p:cNvPr id="5" name="object 5"/>
          <p:cNvSpPr txBox="1"/>
          <p:nvPr/>
        </p:nvSpPr>
        <p:spPr>
          <a:xfrm>
            <a:off x="562940" y="1976662"/>
            <a:ext cx="118745" cy="166370"/>
          </a:xfrm>
          <a:prstGeom prst="rect">
            <a:avLst/>
          </a:prstGeom>
        </p:spPr>
        <p:txBody>
          <a:bodyPr vert="horz" wrap="square" lIns="0" tIns="15240" rIns="0" bIns="0" rtlCol="0">
            <a:spAutoFit/>
          </a:bodyPr>
          <a:lstStyle/>
          <a:p>
            <a:pPr marL="12700">
              <a:lnSpc>
                <a:spcPct val="100000"/>
              </a:lnSpc>
              <a:spcBef>
                <a:spcPts val="120"/>
              </a:spcBef>
            </a:pPr>
            <a:r>
              <a:rPr sz="900" spc="-50" dirty="0">
                <a:latin typeface="Lucida Sans Unicode"/>
                <a:cs typeface="Lucida Sans Unicode"/>
              </a:rPr>
              <a:t>●</a:t>
            </a:r>
            <a:endParaRPr sz="900">
              <a:latin typeface="Lucida Sans Unicode"/>
              <a:cs typeface="Lucida Sans Unicode"/>
            </a:endParaRPr>
          </a:p>
        </p:txBody>
      </p:sp>
      <p:sp>
        <p:nvSpPr>
          <p:cNvPr id="6" name="object 6"/>
          <p:cNvSpPr txBox="1"/>
          <p:nvPr/>
        </p:nvSpPr>
        <p:spPr>
          <a:xfrm>
            <a:off x="562940" y="3170424"/>
            <a:ext cx="118745" cy="166370"/>
          </a:xfrm>
          <a:prstGeom prst="rect">
            <a:avLst/>
          </a:prstGeom>
        </p:spPr>
        <p:txBody>
          <a:bodyPr vert="horz" wrap="square" lIns="0" tIns="15240" rIns="0" bIns="0" rtlCol="0">
            <a:spAutoFit/>
          </a:bodyPr>
          <a:lstStyle/>
          <a:p>
            <a:pPr marL="12700">
              <a:lnSpc>
                <a:spcPct val="100000"/>
              </a:lnSpc>
              <a:spcBef>
                <a:spcPts val="120"/>
              </a:spcBef>
            </a:pPr>
            <a:r>
              <a:rPr sz="900" spc="-50" dirty="0">
                <a:latin typeface="Lucida Sans Unicode"/>
                <a:cs typeface="Lucida Sans Unicode"/>
              </a:rPr>
              <a:t>●</a:t>
            </a:r>
            <a:endParaRPr sz="900">
              <a:latin typeface="Lucida Sans Unicode"/>
              <a:cs typeface="Lucida Sans Unicode"/>
            </a:endParaRPr>
          </a:p>
        </p:txBody>
      </p:sp>
      <p:sp>
        <p:nvSpPr>
          <p:cNvPr id="7" name="object 7"/>
          <p:cNvSpPr txBox="1"/>
          <p:nvPr/>
        </p:nvSpPr>
        <p:spPr>
          <a:xfrm>
            <a:off x="562940" y="3810504"/>
            <a:ext cx="118745" cy="166370"/>
          </a:xfrm>
          <a:prstGeom prst="rect">
            <a:avLst/>
          </a:prstGeom>
        </p:spPr>
        <p:txBody>
          <a:bodyPr vert="horz" wrap="square" lIns="0" tIns="15240" rIns="0" bIns="0" rtlCol="0">
            <a:spAutoFit/>
          </a:bodyPr>
          <a:lstStyle/>
          <a:p>
            <a:pPr marL="12700">
              <a:lnSpc>
                <a:spcPct val="100000"/>
              </a:lnSpc>
              <a:spcBef>
                <a:spcPts val="120"/>
              </a:spcBef>
            </a:pPr>
            <a:r>
              <a:rPr sz="900" spc="-50" dirty="0">
                <a:latin typeface="Lucida Sans Unicode"/>
                <a:cs typeface="Lucida Sans Unicode"/>
              </a:rPr>
              <a:t>●</a:t>
            </a:r>
            <a:endParaRPr sz="900">
              <a:latin typeface="Lucida Sans Unicode"/>
              <a:cs typeface="Lucida Sans Unicod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51100" y="2177382"/>
            <a:ext cx="5447960" cy="3009688"/>
          </a:xfrm>
          <a:prstGeom prst="rect">
            <a:avLst/>
          </a:prstGeom>
        </p:spPr>
      </p:pic>
      <p:pic>
        <p:nvPicPr>
          <p:cNvPr id="3" name="object 3"/>
          <p:cNvPicPr/>
          <p:nvPr/>
        </p:nvPicPr>
        <p:blipFill>
          <a:blip r:embed="rId3" cstate="print"/>
          <a:stretch>
            <a:fillRect/>
          </a:stretch>
        </p:blipFill>
        <p:spPr>
          <a:xfrm>
            <a:off x="3363807" y="845579"/>
            <a:ext cx="3552374" cy="1142746"/>
          </a:xfrm>
          <a:prstGeom prst="rect">
            <a:avLst/>
          </a:prstGeom>
        </p:spPr>
      </p:pic>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280" dirty="0"/>
              <a:t> </a:t>
            </a:r>
            <a:r>
              <a:rPr dirty="0"/>
              <a:t>Data</a:t>
            </a:r>
            <a:r>
              <a:rPr spc="-280" dirty="0"/>
              <a:t> </a:t>
            </a:r>
            <a:r>
              <a:rPr spc="-10" dirty="0"/>
              <a:t>Organization</a:t>
            </a:r>
          </a:p>
        </p:txBody>
      </p:sp>
      <p:sp>
        <p:nvSpPr>
          <p:cNvPr id="6" name="object 6"/>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7" name="object 7"/>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38</a:t>
            </a:fld>
            <a:r>
              <a:rPr spc="-10" dirty="0"/>
              <a:t>/60</a:t>
            </a:r>
          </a:p>
        </p:txBody>
      </p:sp>
      <p:sp>
        <p:nvSpPr>
          <p:cNvPr id="5" name="object 5"/>
          <p:cNvSpPr txBox="1"/>
          <p:nvPr/>
        </p:nvSpPr>
        <p:spPr>
          <a:xfrm>
            <a:off x="8214017" y="4876097"/>
            <a:ext cx="1605915"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454C4C"/>
                </a:solidFill>
                <a:latin typeface="Arial MT"/>
                <a:cs typeface="Arial MT"/>
              </a:rPr>
              <a:t>Source:</a:t>
            </a:r>
            <a:r>
              <a:rPr sz="1200" spc="-15" dirty="0">
                <a:solidFill>
                  <a:srgbClr val="454C4C"/>
                </a:solidFill>
                <a:latin typeface="Arial MT"/>
                <a:cs typeface="Arial MT"/>
              </a:rPr>
              <a:t> </a:t>
            </a:r>
            <a:r>
              <a:rPr sz="1200" spc="-10" dirty="0">
                <a:solidFill>
                  <a:srgbClr val="454C4C"/>
                </a:solidFill>
                <a:latin typeface="Arial MT"/>
                <a:cs typeface="Arial MT"/>
              </a:rPr>
              <a:t>docs.ceph.com</a:t>
            </a:r>
            <a:endParaRPr sz="1200">
              <a:latin typeface="Arial MT"/>
              <a:cs typeface="Arial M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449080" y="347049"/>
            <a:ext cx="5184140" cy="4727575"/>
            <a:chOff x="2449080" y="347049"/>
            <a:chExt cx="5184140" cy="4727575"/>
          </a:xfrm>
        </p:grpSpPr>
        <p:sp>
          <p:nvSpPr>
            <p:cNvPr id="3" name="object 3"/>
            <p:cNvSpPr/>
            <p:nvPr/>
          </p:nvSpPr>
          <p:spPr>
            <a:xfrm>
              <a:off x="2926435" y="347049"/>
              <a:ext cx="909319" cy="323850"/>
            </a:xfrm>
            <a:custGeom>
              <a:avLst/>
              <a:gdLst/>
              <a:ahLst/>
              <a:cxnLst/>
              <a:rect l="l" t="t" r="r" b="b"/>
              <a:pathLst>
                <a:path w="909320" h="323850">
                  <a:moveTo>
                    <a:pt x="843483" y="0"/>
                  </a:moveTo>
                  <a:lnTo>
                    <a:pt x="65519" y="0"/>
                  </a:lnTo>
                  <a:lnTo>
                    <a:pt x="39942" y="5118"/>
                  </a:lnTo>
                  <a:lnTo>
                    <a:pt x="19124" y="19080"/>
                  </a:lnTo>
                  <a:lnTo>
                    <a:pt x="5124" y="39792"/>
                  </a:lnTo>
                  <a:lnTo>
                    <a:pt x="0" y="65163"/>
                  </a:lnTo>
                  <a:lnTo>
                    <a:pt x="0" y="258483"/>
                  </a:lnTo>
                  <a:lnTo>
                    <a:pt x="5124" y="284002"/>
                  </a:lnTo>
                  <a:lnTo>
                    <a:pt x="19124" y="304693"/>
                  </a:lnTo>
                  <a:lnTo>
                    <a:pt x="39942" y="318567"/>
                  </a:lnTo>
                  <a:lnTo>
                    <a:pt x="65519" y="323634"/>
                  </a:lnTo>
                  <a:lnTo>
                    <a:pt x="843483" y="323634"/>
                  </a:lnTo>
                  <a:lnTo>
                    <a:pt x="869060" y="318567"/>
                  </a:lnTo>
                  <a:lnTo>
                    <a:pt x="889877" y="304693"/>
                  </a:lnTo>
                  <a:lnTo>
                    <a:pt x="903878" y="284002"/>
                  </a:lnTo>
                  <a:lnTo>
                    <a:pt x="909002" y="258483"/>
                  </a:lnTo>
                  <a:lnTo>
                    <a:pt x="909002" y="65163"/>
                  </a:lnTo>
                  <a:lnTo>
                    <a:pt x="903878" y="39792"/>
                  </a:lnTo>
                  <a:lnTo>
                    <a:pt x="889877" y="19080"/>
                  </a:lnTo>
                  <a:lnTo>
                    <a:pt x="869060" y="5118"/>
                  </a:lnTo>
                  <a:lnTo>
                    <a:pt x="843483" y="0"/>
                  </a:lnTo>
                  <a:close/>
                </a:path>
              </a:pathLst>
            </a:custGeom>
            <a:solidFill>
              <a:srgbClr val="918E8D"/>
            </a:solidFill>
          </p:spPr>
          <p:txBody>
            <a:bodyPr wrap="square" lIns="0" tIns="0" rIns="0" bIns="0" rtlCol="0"/>
            <a:lstStyle/>
            <a:p>
              <a:endParaRPr/>
            </a:p>
          </p:txBody>
        </p:sp>
        <p:pic>
          <p:nvPicPr>
            <p:cNvPr id="4" name="object 4"/>
            <p:cNvPicPr/>
            <p:nvPr/>
          </p:nvPicPr>
          <p:blipFill>
            <a:blip r:embed="rId3" cstate="print"/>
            <a:stretch>
              <a:fillRect/>
            </a:stretch>
          </p:blipFill>
          <p:spPr>
            <a:xfrm>
              <a:off x="3258718" y="447125"/>
              <a:ext cx="241922" cy="123482"/>
            </a:xfrm>
            <a:prstGeom prst="rect">
              <a:avLst/>
            </a:prstGeom>
          </p:spPr>
        </p:pic>
        <p:pic>
          <p:nvPicPr>
            <p:cNvPr id="5" name="object 5"/>
            <p:cNvPicPr/>
            <p:nvPr/>
          </p:nvPicPr>
          <p:blipFill>
            <a:blip r:embed="rId4" cstate="print"/>
            <a:stretch>
              <a:fillRect/>
            </a:stretch>
          </p:blipFill>
          <p:spPr>
            <a:xfrm>
              <a:off x="2449080" y="957969"/>
              <a:ext cx="5183644" cy="4116603"/>
            </a:xfrm>
            <a:prstGeom prst="rect">
              <a:avLst/>
            </a:prstGeom>
          </p:spPr>
        </p:pic>
        <p:sp>
          <p:nvSpPr>
            <p:cNvPr id="6" name="object 6"/>
            <p:cNvSpPr/>
            <p:nvPr/>
          </p:nvSpPr>
          <p:spPr>
            <a:xfrm>
              <a:off x="3891965" y="347049"/>
              <a:ext cx="909319" cy="323850"/>
            </a:xfrm>
            <a:custGeom>
              <a:avLst/>
              <a:gdLst/>
              <a:ahLst/>
              <a:cxnLst/>
              <a:rect l="l" t="t" r="r" b="b"/>
              <a:pathLst>
                <a:path w="909320" h="323850">
                  <a:moveTo>
                    <a:pt x="843470" y="0"/>
                  </a:moveTo>
                  <a:lnTo>
                    <a:pt x="65519" y="0"/>
                  </a:lnTo>
                  <a:lnTo>
                    <a:pt x="39942" y="5118"/>
                  </a:lnTo>
                  <a:lnTo>
                    <a:pt x="19124" y="19080"/>
                  </a:lnTo>
                  <a:lnTo>
                    <a:pt x="5124" y="39792"/>
                  </a:lnTo>
                  <a:lnTo>
                    <a:pt x="0" y="65163"/>
                  </a:lnTo>
                  <a:lnTo>
                    <a:pt x="0" y="258483"/>
                  </a:lnTo>
                  <a:lnTo>
                    <a:pt x="5124" y="284002"/>
                  </a:lnTo>
                  <a:lnTo>
                    <a:pt x="19124" y="304693"/>
                  </a:lnTo>
                  <a:lnTo>
                    <a:pt x="39942" y="318567"/>
                  </a:lnTo>
                  <a:lnTo>
                    <a:pt x="65519" y="323634"/>
                  </a:lnTo>
                  <a:lnTo>
                    <a:pt x="843470" y="323634"/>
                  </a:lnTo>
                  <a:lnTo>
                    <a:pt x="869047" y="318567"/>
                  </a:lnTo>
                  <a:lnTo>
                    <a:pt x="889865" y="304693"/>
                  </a:lnTo>
                  <a:lnTo>
                    <a:pt x="903865" y="284002"/>
                  </a:lnTo>
                  <a:lnTo>
                    <a:pt x="908989" y="258483"/>
                  </a:lnTo>
                  <a:lnTo>
                    <a:pt x="908989" y="65163"/>
                  </a:lnTo>
                  <a:lnTo>
                    <a:pt x="903865" y="39792"/>
                  </a:lnTo>
                  <a:lnTo>
                    <a:pt x="889865" y="19080"/>
                  </a:lnTo>
                  <a:lnTo>
                    <a:pt x="869047" y="5118"/>
                  </a:lnTo>
                  <a:lnTo>
                    <a:pt x="843470" y="0"/>
                  </a:lnTo>
                  <a:close/>
                </a:path>
              </a:pathLst>
            </a:custGeom>
            <a:solidFill>
              <a:srgbClr val="918E8D"/>
            </a:solidFill>
          </p:spPr>
          <p:txBody>
            <a:bodyPr wrap="square" lIns="0" tIns="0" rIns="0" bIns="0" rtlCol="0"/>
            <a:lstStyle/>
            <a:p>
              <a:endParaRPr/>
            </a:p>
          </p:txBody>
        </p:sp>
        <p:pic>
          <p:nvPicPr>
            <p:cNvPr id="7" name="object 7"/>
            <p:cNvPicPr/>
            <p:nvPr/>
          </p:nvPicPr>
          <p:blipFill>
            <a:blip r:embed="rId5" cstate="print"/>
            <a:stretch>
              <a:fillRect/>
            </a:stretch>
          </p:blipFill>
          <p:spPr>
            <a:xfrm>
              <a:off x="4248721" y="445334"/>
              <a:ext cx="196557" cy="126720"/>
            </a:xfrm>
            <a:prstGeom prst="rect">
              <a:avLst/>
            </a:prstGeom>
          </p:spPr>
        </p:pic>
        <p:sp>
          <p:nvSpPr>
            <p:cNvPr id="8" name="object 8"/>
            <p:cNvSpPr/>
            <p:nvPr/>
          </p:nvSpPr>
          <p:spPr>
            <a:xfrm>
              <a:off x="2923921" y="704884"/>
              <a:ext cx="688340" cy="214629"/>
            </a:xfrm>
            <a:custGeom>
              <a:avLst/>
              <a:gdLst/>
              <a:ahLst/>
              <a:cxnLst/>
              <a:rect l="l" t="t" r="r" b="b"/>
              <a:pathLst>
                <a:path w="688339" h="214630">
                  <a:moveTo>
                    <a:pt x="645121" y="0"/>
                  </a:moveTo>
                  <a:lnTo>
                    <a:pt x="43192" y="0"/>
                  </a:lnTo>
                  <a:lnTo>
                    <a:pt x="26269" y="3359"/>
                  </a:lnTo>
                  <a:lnTo>
                    <a:pt x="12552" y="12558"/>
                  </a:lnTo>
                  <a:lnTo>
                    <a:pt x="3357" y="26280"/>
                  </a:lnTo>
                  <a:lnTo>
                    <a:pt x="0" y="43205"/>
                  </a:lnTo>
                  <a:lnTo>
                    <a:pt x="0" y="171005"/>
                  </a:lnTo>
                  <a:lnTo>
                    <a:pt x="3357" y="187986"/>
                  </a:lnTo>
                  <a:lnTo>
                    <a:pt x="12552" y="201829"/>
                  </a:lnTo>
                  <a:lnTo>
                    <a:pt x="26269" y="211151"/>
                  </a:lnTo>
                  <a:lnTo>
                    <a:pt x="43192" y="214566"/>
                  </a:lnTo>
                  <a:lnTo>
                    <a:pt x="645121" y="214566"/>
                  </a:lnTo>
                  <a:lnTo>
                    <a:pt x="662045" y="211151"/>
                  </a:lnTo>
                  <a:lnTo>
                    <a:pt x="675762" y="201829"/>
                  </a:lnTo>
                  <a:lnTo>
                    <a:pt x="684957" y="187986"/>
                  </a:lnTo>
                  <a:lnTo>
                    <a:pt x="688314" y="171005"/>
                  </a:lnTo>
                  <a:lnTo>
                    <a:pt x="688314" y="43205"/>
                  </a:lnTo>
                  <a:lnTo>
                    <a:pt x="684957" y="26280"/>
                  </a:lnTo>
                  <a:lnTo>
                    <a:pt x="675762" y="12558"/>
                  </a:lnTo>
                  <a:lnTo>
                    <a:pt x="662045" y="3359"/>
                  </a:lnTo>
                  <a:lnTo>
                    <a:pt x="645121" y="0"/>
                  </a:lnTo>
                  <a:close/>
                </a:path>
              </a:pathLst>
            </a:custGeom>
            <a:solidFill>
              <a:srgbClr val="918E8D"/>
            </a:solidFill>
          </p:spPr>
          <p:txBody>
            <a:bodyPr wrap="square" lIns="0" tIns="0" rIns="0" bIns="0" rtlCol="0"/>
            <a:lstStyle/>
            <a:p>
              <a:endParaRPr/>
            </a:p>
          </p:txBody>
        </p:sp>
        <p:sp>
          <p:nvSpPr>
            <p:cNvPr id="9" name="object 9"/>
            <p:cNvSpPr/>
            <p:nvPr/>
          </p:nvSpPr>
          <p:spPr>
            <a:xfrm>
              <a:off x="3075483" y="770403"/>
              <a:ext cx="70485" cy="83185"/>
            </a:xfrm>
            <a:custGeom>
              <a:avLst/>
              <a:gdLst/>
              <a:ahLst/>
              <a:cxnLst/>
              <a:rect l="l" t="t" r="r" b="b"/>
              <a:pathLst>
                <a:path w="70485" h="83184">
                  <a:moveTo>
                    <a:pt x="46431" y="74168"/>
                  </a:moveTo>
                  <a:lnTo>
                    <a:pt x="9715" y="74168"/>
                  </a:lnTo>
                  <a:lnTo>
                    <a:pt x="9715" y="0"/>
                  </a:lnTo>
                  <a:lnTo>
                    <a:pt x="0" y="0"/>
                  </a:lnTo>
                  <a:lnTo>
                    <a:pt x="0" y="83159"/>
                  </a:lnTo>
                  <a:lnTo>
                    <a:pt x="46431" y="83159"/>
                  </a:lnTo>
                  <a:lnTo>
                    <a:pt x="46431" y="74168"/>
                  </a:lnTo>
                  <a:close/>
                </a:path>
                <a:path w="70485" h="83184">
                  <a:moveTo>
                    <a:pt x="70192" y="0"/>
                  </a:moveTo>
                  <a:lnTo>
                    <a:pt x="60477" y="0"/>
                  </a:lnTo>
                  <a:lnTo>
                    <a:pt x="60477" y="83159"/>
                  </a:lnTo>
                  <a:lnTo>
                    <a:pt x="70192" y="83159"/>
                  </a:lnTo>
                  <a:lnTo>
                    <a:pt x="70192" y="0"/>
                  </a:lnTo>
                  <a:close/>
                </a:path>
              </a:pathLst>
            </a:custGeom>
            <a:solidFill>
              <a:srgbClr val="FFFFFF"/>
            </a:solidFill>
          </p:spPr>
          <p:txBody>
            <a:bodyPr wrap="square" lIns="0" tIns="0" rIns="0" bIns="0" rtlCol="0"/>
            <a:lstStyle/>
            <a:p>
              <a:endParaRPr/>
            </a:p>
          </p:txBody>
        </p:sp>
        <p:pic>
          <p:nvPicPr>
            <p:cNvPr id="10" name="object 10"/>
            <p:cNvPicPr/>
            <p:nvPr/>
          </p:nvPicPr>
          <p:blipFill>
            <a:blip r:embed="rId6" cstate="print"/>
            <a:stretch>
              <a:fillRect/>
            </a:stretch>
          </p:blipFill>
          <p:spPr>
            <a:xfrm>
              <a:off x="3168726" y="770047"/>
              <a:ext cx="289788" cy="83515"/>
            </a:xfrm>
            <a:prstGeom prst="rect">
              <a:avLst/>
            </a:prstGeom>
          </p:spPr>
        </p:pic>
        <p:sp>
          <p:nvSpPr>
            <p:cNvPr id="11" name="object 11"/>
            <p:cNvSpPr/>
            <p:nvPr/>
          </p:nvSpPr>
          <p:spPr>
            <a:xfrm>
              <a:off x="3637445" y="704884"/>
              <a:ext cx="1162050" cy="214629"/>
            </a:xfrm>
            <a:custGeom>
              <a:avLst/>
              <a:gdLst/>
              <a:ahLst/>
              <a:cxnLst/>
              <a:rect l="l" t="t" r="r" b="b"/>
              <a:pathLst>
                <a:path w="1162050" h="214630">
                  <a:moveTo>
                    <a:pt x="1118514" y="0"/>
                  </a:moveTo>
                  <a:lnTo>
                    <a:pt x="43192" y="0"/>
                  </a:lnTo>
                  <a:lnTo>
                    <a:pt x="26269" y="3359"/>
                  </a:lnTo>
                  <a:lnTo>
                    <a:pt x="12552" y="12558"/>
                  </a:lnTo>
                  <a:lnTo>
                    <a:pt x="3357" y="26280"/>
                  </a:lnTo>
                  <a:lnTo>
                    <a:pt x="0" y="43205"/>
                  </a:lnTo>
                  <a:lnTo>
                    <a:pt x="0" y="171005"/>
                  </a:lnTo>
                  <a:lnTo>
                    <a:pt x="3357" y="187986"/>
                  </a:lnTo>
                  <a:lnTo>
                    <a:pt x="12552" y="201829"/>
                  </a:lnTo>
                  <a:lnTo>
                    <a:pt x="26269" y="211151"/>
                  </a:lnTo>
                  <a:lnTo>
                    <a:pt x="43192" y="214566"/>
                  </a:lnTo>
                  <a:lnTo>
                    <a:pt x="1118514" y="214566"/>
                  </a:lnTo>
                  <a:lnTo>
                    <a:pt x="1135439" y="211151"/>
                  </a:lnTo>
                  <a:lnTo>
                    <a:pt x="1149161" y="201829"/>
                  </a:lnTo>
                  <a:lnTo>
                    <a:pt x="1158360" y="187986"/>
                  </a:lnTo>
                  <a:lnTo>
                    <a:pt x="1161719" y="171005"/>
                  </a:lnTo>
                  <a:lnTo>
                    <a:pt x="1161719" y="43205"/>
                  </a:lnTo>
                  <a:lnTo>
                    <a:pt x="1158360" y="26280"/>
                  </a:lnTo>
                  <a:lnTo>
                    <a:pt x="1149161" y="12558"/>
                  </a:lnTo>
                  <a:lnTo>
                    <a:pt x="1135439" y="3359"/>
                  </a:lnTo>
                  <a:lnTo>
                    <a:pt x="1118514" y="0"/>
                  </a:lnTo>
                  <a:close/>
                </a:path>
              </a:pathLst>
            </a:custGeom>
            <a:solidFill>
              <a:srgbClr val="918E8D"/>
            </a:solidFill>
          </p:spPr>
          <p:txBody>
            <a:bodyPr wrap="square" lIns="0" tIns="0" rIns="0" bIns="0" rtlCol="0"/>
            <a:lstStyle/>
            <a:p>
              <a:endParaRPr/>
            </a:p>
          </p:txBody>
        </p:sp>
        <p:pic>
          <p:nvPicPr>
            <p:cNvPr id="12" name="object 12"/>
            <p:cNvPicPr/>
            <p:nvPr/>
          </p:nvPicPr>
          <p:blipFill>
            <a:blip r:embed="rId7" cstate="print"/>
            <a:stretch>
              <a:fillRect/>
            </a:stretch>
          </p:blipFill>
          <p:spPr>
            <a:xfrm>
              <a:off x="4074121" y="770047"/>
              <a:ext cx="200520" cy="83515"/>
            </a:xfrm>
            <a:prstGeom prst="rect">
              <a:avLst/>
            </a:prstGeom>
          </p:spPr>
        </p:pic>
        <p:pic>
          <p:nvPicPr>
            <p:cNvPr id="13" name="object 13"/>
            <p:cNvPicPr/>
            <p:nvPr/>
          </p:nvPicPr>
          <p:blipFill>
            <a:blip r:embed="rId8" cstate="print"/>
            <a:stretch>
              <a:fillRect/>
            </a:stretch>
          </p:blipFill>
          <p:spPr>
            <a:xfrm>
              <a:off x="4293717" y="770403"/>
              <a:ext cx="66598" cy="83159"/>
            </a:xfrm>
            <a:prstGeom prst="rect">
              <a:avLst/>
            </a:prstGeom>
          </p:spPr>
        </p:pic>
        <p:sp>
          <p:nvSpPr>
            <p:cNvPr id="14" name="object 14"/>
            <p:cNvSpPr/>
            <p:nvPr/>
          </p:nvSpPr>
          <p:spPr>
            <a:xfrm>
              <a:off x="5536806" y="704884"/>
              <a:ext cx="909319" cy="214629"/>
            </a:xfrm>
            <a:custGeom>
              <a:avLst/>
              <a:gdLst/>
              <a:ahLst/>
              <a:cxnLst/>
              <a:rect l="l" t="t" r="r" b="b"/>
              <a:pathLst>
                <a:path w="909320" h="214630">
                  <a:moveTo>
                    <a:pt x="865797" y="0"/>
                  </a:moveTo>
                  <a:lnTo>
                    <a:pt x="43548" y="0"/>
                  </a:lnTo>
                  <a:lnTo>
                    <a:pt x="26569" y="3359"/>
                  </a:lnTo>
                  <a:lnTo>
                    <a:pt x="12730" y="12558"/>
                  </a:lnTo>
                  <a:lnTo>
                    <a:pt x="3412" y="26280"/>
                  </a:lnTo>
                  <a:lnTo>
                    <a:pt x="0" y="43205"/>
                  </a:lnTo>
                  <a:lnTo>
                    <a:pt x="0" y="171005"/>
                  </a:lnTo>
                  <a:lnTo>
                    <a:pt x="3412" y="187986"/>
                  </a:lnTo>
                  <a:lnTo>
                    <a:pt x="12730" y="201829"/>
                  </a:lnTo>
                  <a:lnTo>
                    <a:pt x="26569" y="211151"/>
                  </a:lnTo>
                  <a:lnTo>
                    <a:pt x="43548" y="214566"/>
                  </a:lnTo>
                  <a:lnTo>
                    <a:pt x="865797" y="214566"/>
                  </a:lnTo>
                  <a:lnTo>
                    <a:pt x="882570" y="211151"/>
                  </a:lnTo>
                  <a:lnTo>
                    <a:pt x="896304" y="201829"/>
                  </a:lnTo>
                  <a:lnTo>
                    <a:pt x="905582" y="187986"/>
                  </a:lnTo>
                  <a:lnTo>
                    <a:pt x="908989" y="171005"/>
                  </a:lnTo>
                  <a:lnTo>
                    <a:pt x="908989" y="43205"/>
                  </a:lnTo>
                  <a:lnTo>
                    <a:pt x="905582" y="26280"/>
                  </a:lnTo>
                  <a:lnTo>
                    <a:pt x="896304" y="12558"/>
                  </a:lnTo>
                  <a:lnTo>
                    <a:pt x="882570" y="3359"/>
                  </a:lnTo>
                  <a:lnTo>
                    <a:pt x="865797" y="0"/>
                  </a:lnTo>
                  <a:close/>
                </a:path>
              </a:pathLst>
            </a:custGeom>
            <a:solidFill>
              <a:srgbClr val="918E8D"/>
            </a:solidFill>
          </p:spPr>
          <p:txBody>
            <a:bodyPr wrap="square" lIns="0" tIns="0" rIns="0" bIns="0" rtlCol="0"/>
            <a:lstStyle/>
            <a:p>
              <a:endParaRPr/>
            </a:p>
          </p:txBody>
        </p:sp>
        <p:pic>
          <p:nvPicPr>
            <p:cNvPr id="15" name="object 15"/>
            <p:cNvPicPr/>
            <p:nvPr/>
          </p:nvPicPr>
          <p:blipFill>
            <a:blip r:embed="rId9" cstate="print"/>
            <a:stretch>
              <a:fillRect/>
            </a:stretch>
          </p:blipFill>
          <p:spPr>
            <a:xfrm>
              <a:off x="5862599" y="768968"/>
              <a:ext cx="254520" cy="85674"/>
            </a:xfrm>
            <a:prstGeom prst="rect">
              <a:avLst/>
            </a:prstGeom>
          </p:spPr>
        </p:pic>
        <p:sp>
          <p:nvSpPr>
            <p:cNvPr id="16" name="object 16"/>
            <p:cNvSpPr/>
            <p:nvPr/>
          </p:nvSpPr>
          <p:spPr>
            <a:xfrm>
              <a:off x="6502679" y="704884"/>
              <a:ext cx="909319" cy="214629"/>
            </a:xfrm>
            <a:custGeom>
              <a:avLst/>
              <a:gdLst/>
              <a:ahLst/>
              <a:cxnLst/>
              <a:rect l="l" t="t" r="r" b="b"/>
              <a:pathLst>
                <a:path w="909320" h="214630">
                  <a:moveTo>
                    <a:pt x="865797" y="0"/>
                  </a:moveTo>
                  <a:lnTo>
                    <a:pt x="43205" y="0"/>
                  </a:lnTo>
                  <a:lnTo>
                    <a:pt x="26430" y="3359"/>
                  </a:lnTo>
                  <a:lnTo>
                    <a:pt x="12692" y="12558"/>
                  </a:lnTo>
                  <a:lnTo>
                    <a:pt x="3409" y="26280"/>
                  </a:lnTo>
                  <a:lnTo>
                    <a:pt x="0" y="43205"/>
                  </a:lnTo>
                  <a:lnTo>
                    <a:pt x="0" y="171005"/>
                  </a:lnTo>
                  <a:lnTo>
                    <a:pt x="3409" y="187986"/>
                  </a:lnTo>
                  <a:lnTo>
                    <a:pt x="12692" y="201829"/>
                  </a:lnTo>
                  <a:lnTo>
                    <a:pt x="26430" y="211151"/>
                  </a:lnTo>
                  <a:lnTo>
                    <a:pt x="43205" y="214566"/>
                  </a:lnTo>
                  <a:lnTo>
                    <a:pt x="865797" y="214566"/>
                  </a:lnTo>
                  <a:lnTo>
                    <a:pt x="882572" y="211151"/>
                  </a:lnTo>
                  <a:lnTo>
                    <a:pt x="896310" y="201829"/>
                  </a:lnTo>
                  <a:lnTo>
                    <a:pt x="905593" y="187986"/>
                  </a:lnTo>
                  <a:lnTo>
                    <a:pt x="909002" y="171005"/>
                  </a:lnTo>
                  <a:lnTo>
                    <a:pt x="909002" y="43205"/>
                  </a:lnTo>
                  <a:lnTo>
                    <a:pt x="905593" y="26280"/>
                  </a:lnTo>
                  <a:lnTo>
                    <a:pt x="896310" y="12558"/>
                  </a:lnTo>
                  <a:lnTo>
                    <a:pt x="882572" y="3359"/>
                  </a:lnTo>
                  <a:lnTo>
                    <a:pt x="865797" y="0"/>
                  </a:lnTo>
                  <a:close/>
                </a:path>
              </a:pathLst>
            </a:custGeom>
            <a:solidFill>
              <a:srgbClr val="918E8D"/>
            </a:solidFill>
          </p:spPr>
          <p:txBody>
            <a:bodyPr wrap="square" lIns="0" tIns="0" rIns="0" bIns="0" rtlCol="0"/>
            <a:lstStyle/>
            <a:p>
              <a:endParaRPr/>
            </a:p>
          </p:txBody>
        </p:sp>
        <p:pic>
          <p:nvPicPr>
            <p:cNvPr id="17" name="object 17"/>
            <p:cNvPicPr/>
            <p:nvPr/>
          </p:nvPicPr>
          <p:blipFill>
            <a:blip r:embed="rId10" cstate="print"/>
            <a:stretch>
              <a:fillRect/>
            </a:stretch>
          </p:blipFill>
          <p:spPr>
            <a:xfrm>
              <a:off x="6627241" y="766809"/>
              <a:ext cx="327240" cy="90004"/>
            </a:xfrm>
            <a:prstGeom prst="rect">
              <a:avLst/>
            </a:prstGeom>
          </p:spPr>
        </p:pic>
        <p:sp>
          <p:nvSpPr>
            <p:cNvPr id="18" name="object 18"/>
            <p:cNvSpPr/>
            <p:nvPr/>
          </p:nvSpPr>
          <p:spPr>
            <a:xfrm>
              <a:off x="7003085" y="766809"/>
              <a:ext cx="67310" cy="90170"/>
            </a:xfrm>
            <a:custGeom>
              <a:avLst/>
              <a:gdLst/>
              <a:ahLst/>
              <a:cxnLst/>
              <a:rect l="l" t="t" r="r" b="b"/>
              <a:pathLst>
                <a:path w="67309" h="90169">
                  <a:moveTo>
                    <a:pt x="44996" y="28435"/>
                  </a:moveTo>
                  <a:lnTo>
                    <a:pt x="43561" y="27724"/>
                  </a:lnTo>
                  <a:lnTo>
                    <a:pt x="41033" y="27000"/>
                  </a:lnTo>
                  <a:lnTo>
                    <a:pt x="34912" y="25565"/>
                  </a:lnTo>
                  <a:lnTo>
                    <a:pt x="32029" y="25196"/>
                  </a:lnTo>
                  <a:lnTo>
                    <a:pt x="19799" y="25196"/>
                  </a:lnTo>
                  <a:lnTo>
                    <a:pt x="12598" y="28079"/>
                  </a:lnTo>
                  <a:lnTo>
                    <a:pt x="2514" y="39598"/>
                  </a:lnTo>
                  <a:lnTo>
                    <a:pt x="0" y="47523"/>
                  </a:lnTo>
                  <a:lnTo>
                    <a:pt x="0" y="68033"/>
                  </a:lnTo>
                  <a:lnTo>
                    <a:pt x="2514" y="75958"/>
                  </a:lnTo>
                  <a:lnTo>
                    <a:pt x="7556" y="81724"/>
                  </a:lnTo>
                  <a:lnTo>
                    <a:pt x="12598" y="87122"/>
                  </a:lnTo>
                  <a:lnTo>
                    <a:pt x="19431" y="90004"/>
                  </a:lnTo>
                  <a:lnTo>
                    <a:pt x="28435" y="90004"/>
                  </a:lnTo>
                  <a:lnTo>
                    <a:pt x="34912" y="90004"/>
                  </a:lnTo>
                  <a:lnTo>
                    <a:pt x="39954" y="88925"/>
                  </a:lnTo>
                  <a:lnTo>
                    <a:pt x="44272" y="86753"/>
                  </a:lnTo>
                  <a:lnTo>
                    <a:pt x="44272" y="78473"/>
                  </a:lnTo>
                  <a:lnTo>
                    <a:pt x="38874" y="80645"/>
                  </a:lnTo>
                  <a:lnTo>
                    <a:pt x="33477" y="81724"/>
                  </a:lnTo>
                  <a:lnTo>
                    <a:pt x="22313" y="81724"/>
                  </a:lnTo>
                  <a:lnTo>
                    <a:pt x="17640" y="79565"/>
                  </a:lnTo>
                  <a:lnTo>
                    <a:pt x="14389" y="75603"/>
                  </a:lnTo>
                  <a:lnTo>
                    <a:pt x="11518" y="71285"/>
                  </a:lnTo>
                  <a:lnTo>
                    <a:pt x="9715" y="65519"/>
                  </a:lnTo>
                  <a:lnTo>
                    <a:pt x="9715" y="57962"/>
                  </a:lnTo>
                  <a:lnTo>
                    <a:pt x="10922" y="47307"/>
                  </a:lnTo>
                  <a:lnTo>
                    <a:pt x="14528" y="39649"/>
                  </a:lnTo>
                  <a:lnTo>
                    <a:pt x="20485" y="35026"/>
                  </a:lnTo>
                  <a:lnTo>
                    <a:pt x="28790" y="33477"/>
                  </a:lnTo>
                  <a:lnTo>
                    <a:pt x="30594" y="33477"/>
                  </a:lnTo>
                  <a:lnTo>
                    <a:pt x="33108" y="33845"/>
                  </a:lnTo>
                  <a:lnTo>
                    <a:pt x="35280" y="34556"/>
                  </a:lnTo>
                  <a:lnTo>
                    <a:pt x="37795" y="34925"/>
                  </a:lnTo>
                  <a:lnTo>
                    <a:pt x="40309" y="35636"/>
                  </a:lnTo>
                  <a:lnTo>
                    <a:pt x="42113" y="36715"/>
                  </a:lnTo>
                  <a:lnTo>
                    <a:pt x="44996" y="28435"/>
                  </a:lnTo>
                  <a:close/>
                </a:path>
                <a:path w="67309" h="90169">
                  <a:moveTo>
                    <a:pt x="66954" y="0"/>
                  </a:moveTo>
                  <a:lnTo>
                    <a:pt x="57594" y="0"/>
                  </a:lnTo>
                  <a:lnTo>
                    <a:pt x="57594" y="88557"/>
                  </a:lnTo>
                  <a:lnTo>
                    <a:pt x="66954" y="88557"/>
                  </a:lnTo>
                  <a:lnTo>
                    <a:pt x="66954" y="0"/>
                  </a:lnTo>
                  <a:close/>
                </a:path>
              </a:pathLst>
            </a:custGeom>
            <a:solidFill>
              <a:srgbClr val="FFFFFF"/>
            </a:solidFill>
          </p:spPr>
          <p:txBody>
            <a:bodyPr wrap="square" lIns="0" tIns="0" rIns="0" bIns="0" rtlCol="0"/>
            <a:lstStyle/>
            <a:p>
              <a:endParaRPr/>
            </a:p>
          </p:txBody>
        </p:sp>
        <p:pic>
          <p:nvPicPr>
            <p:cNvPr id="19" name="object 19"/>
            <p:cNvPicPr/>
            <p:nvPr/>
          </p:nvPicPr>
          <p:blipFill>
            <a:blip r:embed="rId11" cstate="print"/>
            <a:stretch>
              <a:fillRect/>
            </a:stretch>
          </p:blipFill>
          <p:spPr>
            <a:xfrm>
              <a:off x="7090193" y="769692"/>
              <a:ext cx="195122" cy="87122"/>
            </a:xfrm>
            <a:prstGeom prst="rect">
              <a:avLst/>
            </a:prstGeom>
          </p:spPr>
        </p:pic>
      </p:grpSp>
      <p:sp>
        <p:nvSpPr>
          <p:cNvPr id="20" name="object 20"/>
          <p:cNvSpPr txBox="1"/>
          <p:nvPr/>
        </p:nvSpPr>
        <p:spPr>
          <a:xfrm>
            <a:off x="3118916" y="4334480"/>
            <a:ext cx="464820" cy="234315"/>
          </a:xfrm>
          <a:prstGeom prst="rect">
            <a:avLst/>
          </a:prstGeom>
        </p:spPr>
        <p:txBody>
          <a:bodyPr vert="horz" wrap="square" lIns="0" tIns="14604" rIns="0" bIns="0" rtlCol="0">
            <a:spAutoFit/>
          </a:bodyPr>
          <a:lstStyle/>
          <a:p>
            <a:pPr marL="12700">
              <a:lnSpc>
                <a:spcPct val="100000"/>
              </a:lnSpc>
              <a:spcBef>
                <a:spcPts val="114"/>
              </a:spcBef>
            </a:pPr>
            <a:r>
              <a:rPr sz="1350" spc="-20" dirty="0">
                <a:solidFill>
                  <a:srgbClr val="454C4C"/>
                </a:solidFill>
                <a:latin typeface="Lucida Sans Unicode"/>
                <a:cs typeface="Lucida Sans Unicode"/>
              </a:rPr>
              <a:t>Node</a:t>
            </a:r>
            <a:endParaRPr sz="1350">
              <a:latin typeface="Lucida Sans Unicode"/>
              <a:cs typeface="Lucida Sans Unicode"/>
            </a:endParaRPr>
          </a:p>
        </p:txBody>
      </p:sp>
      <p:sp>
        <p:nvSpPr>
          <p:cNvPr id="21" name="object 21"/>
          <p:cNvSpPr txBox="1"/>
          <p:nvPr/>
        </p:nvSpPr>
        <p:spPr>
          <a:xfrm>
            <a:off x="4275442" y="4334480"/>
            <a:ext cx="464820" cy="234315"/>
          </a:xfrm>
          <a:prstGeom prst="rect">
            <a:avLst/>
          </a:prstGeom>
        </p:spPr>
        <p:txBody>
          <a:bodyPr vert="horz" wrap="square" lIns="0" tIns="14604" rIns="0" bIns="0" rtlCol="0">
            <a:spAutoFit/>
          </a:bodyPr>
          <a:lstStyle/>
          <a:p>
            <a:pPr marL="12700">
              <a:lnSpc>
                <a:spcPct val="100000"/>
              </a:lnSpc>
              <a:spcBef>
                <a:spcPts val="114"/>
              </a:spcBef>
            </a:pPr>
            <a:r>
              <a:rPr sz="1350" spc="-20" dirty="0">
                <a:solidFill>
                  <a:srgbClr val="454C4C"/>
                </a:solidFill>
                <a:latin typeface="Lucida Sans Unicode"/>
                <a:cs typeface="Lucida Sans Unicode"/>
              </a:rPr>
              <a:t>Node</a:t>
            </a:r>
            <a:endParaRPr sz="1350">
              <a:latin typeface="Lucida Sans Unicode"/>
              <a:cs typeface="Lucida Sans Unicode"/>
            </a:endParaRPr>
          </a:p>
        </p:txBody>
      </p:sp>
      <p:sp>
        <p:nvSpPr>
          <p:cNvPr id="22" name="object 22"/>
          <p:cNvSpPr txBox="1"/>
          <p:nvPr/>
        </p:nvSpPr>
        <p:spPr>
          <a:xfrm>
            <a:off x="5431980" y="4334480"/>
            <a:ext cx="464820" cy="234315"/>
          </a:xfrm>
          <a:prstGeom prst="rect">
            <a:avLst/>
          </a:prstGeom>
        </p:spPr>
        <p:txBody>
          <a:bodyPr vert="horz" wrap="square" lIns="0" tIns="14604" rIns="0" bIns="0" rtlCol="0">
            <a:spAutoFit/>
          </a:bodyPr>
          <a:lstStyle/>
          <a:p>
            <a:pPr marL="12700">
              <a:lnSpc>
                <a:spcPct val="100000"/>
              </a:lnSpc>
              <a:spcBef>
                <a:spcPts val="114"/>
              </a:spcBef>
            </a:pPr>
            <a:r>
              <a:rPr sz="1350" spc="-20" dirty="0">
                <a:solidFill>
                  <a:srgbClr val="454C4C"/>
                </a:solidFill>
                <a:latin typeface="Lucida Sans Unicode"/>
                <a:cs typeface="Lucida Sans Unicode"/>
              </a:rPr>
              <a:t>Node</a:t>
            </a:r>
            <a:endParaRPr sz="1350">
              <a:latin typeface="Lucida Sans Unicode"/>
              <a:cs typeface="Lucida Sans Unicode"/>
            </a:endParaRPr>
          </a:p>
        </p:txBody>
      </p:sp>
      <p:sp>
        <p:nvSpPr>
          <p:cNvPr id="23" name="object 23"/>
          <p:cNvSpPr txBox="1"/>
          <p:nvPr/>
        </p:nvSpPr>
        <p:spPr>
          <a:xfrm>
            <a:off x="6588874" y="4334480"/>
            <a:ext cx="464820" cy="234315"/>
          </a:xfrm>
          <a:prstGeom prst="rect">
            <a:avLst/>
          </a:prstGeom>
        </p:spPr>
        <p:txBody>
          <a:bodyPr vert="horz" wrap="square" lIns="0" tIns="14604" rIns="0" bIns="0" rtlCol="0">
            <a:spAutoFit/>
          </a:bodyPr>
          <a:lstStyle/>
          <a:p>
            <a:pPr marL="12700">
              <a:lnSpc>
                <a:spcPct val="100000"/>
              </a:lnSpc>
              <a:spcBef>
                <a:spcPts val="114"/>
              </a:spcBef>
            </a:pPr>
            <a:r>
              <a:rPr sz="1350" spc="-20" dirty="0">
                <a:solidFill>
                  <a:srgbClr val="454C4C"/>
                </a:solidFill>
                <a:latin typeface="Lucida Sans Unicode"/>
                <a:cs typeface="Lucida Sans Unicode"/>
              </a:rPr>
              <a:t>Node</a:t>
            </a:r>
            <a:endParaRPr sz="1350">
              <a:latin typeface="Lucida Sans Unicode"/>
              <a:cs typeface="Lucida Sans Unicode"/>
            </a:endParaRPr>
          </a:p>
        </p:txBody>
      </p:sp>
      <p:sp>
        <p:nvSpPr>
          <p:cNvPr id="24" name="object 24"/>
          <p:cNvSpPr txBox="1"/>
          <p:nvPr/>
        </p:nvSpPr>
        <p:spPr>
          <a:xfrm>
            <a:off x="3196335" y="3355793"/>
            <a:ext cx="844550" cy="165735"/>
          </a:xfrm>
          <a:prstGeom prst="rect">
            <a:avLst/>
          </a:prstGeom>
        </p:spPr>
        <p:txBody>
          <a:bodyPr vert="horz" wrap="square" lIns="0" tIns="15240" rIns="0" bIns="0" rtlCol="0">
            <a:spAutoFit/>
          </a:bodyPr>
          <a:lstStyle/>
          <a:p>
            <a:pPr marL="12700">
              <a:lnSpc>
                <a:spcPct val="100000"/>
              </a:lnSpc>
              <a:spcBef>
                <a:spcPts val="120"/>
              </a:spcBef>
            </a:pPr>
            <a:r>
              <a:rPr sz="900" dirty="0">
                <a:solidFill>
                  <a:srgbClr val="454C4C"/>
                </a:solidFill>
                <a:latin typeface="Lucida Sans Unicode"/>
                <a:cs typeface="Lucida Sans Unicode"/>
              </a:rPr>
              <a:t>Obj</a:t>
            </a:r>
            <a:r>
              <a:rPr sz="900" spc="170" dirty="0">
                <a:solidFill>
                  <a:srgbClr val="454C4C"/>
                </a:solidFill>
                <a:latin typeface="Lucida Sans Unicode"/>
                <a:cs typeface="Lucida Sans Unicode"/>
              </a:rPr>
              <a:t>  </a:t>
            </a:r>
            <a:r>
              <a:rPr sz="900" dirty="0">
                <a:solidFill>
                  <a:srgbClr val="454C4C"/>
                </a:solidFill>
                <a:latin typeface="Lucida Sans Unicode"/>
                <a:cs typeface="Lucida Sans Unicode"/>
              </a:rPr>
              <a:t>Obj</a:t>
            </a:r>
            <a:r>
              <a:rPr sz="900" spc="175" dirty="0">
                <a:solidFill>
                  <a:srgbClr val="454C4C"/>
                </a:solidFill>
                <a:latin typeface="Lucida Sans Unicode"/>
                <a:cs typeface="Lucida Sans Unicode"/>
              </a:rPr>
              <a:t>  </a:t>
            </a:r>
            <a:r>
              <a:rPr sz="900" spc="-25" dirty="0">
                <a:solidFill>
                  <a:srgbClr val="454C4C"/>
                </a:solidFill>
                <a:latin typeface="Lucida Sans Unicode"/>
                <a:cs typeface="Lucida Sans Unicode"/>
              </a:rPr>
              <a:t>Obj</a:t>
            </a:r>
            <a:endParaRPr sz="900">
              <a:latin typeface="Lucida Sans Unicode"/>
              <a:cs typeface="Lucida Sans Unicode"/>
            </a:endParaRPr>
          </a:p>
        </p:txBody>
      </p:sp>
      <p:sp>
        <p:nvSpPr>
          <p:cNvPr id="25" name="object 25"/>
          <p:cNvSpPr txBox="1"/>
          <p:nvPr/>
        </p:nvSpPr>
        <p:spPr>
          <a:xfrm>
            <a:off x="6222949" y="3355793"/>
            <a:ext cx="844550" cy="165735"/>
          </a:xfrm>
          <a:prstGeom prst="rect">
            <a:avLst/>
          </a:prstGeom>
        </p:spPr>
        <p:txBody>
          <a:bodyPr vert="horz" wrap="square" lIns="0" tIns="15240" rIns="0" bIns="0" rtlCol="0">
            <a:spAutoFit/>
          </a:bodyPr>
          <a:lstStyle/>
          <a:p>
            <a:pPr marL="12700">
              <a:lnSpc>
                <a:spcPct val="100000"/>
              </a:lnSpc>
              <a:spcBef>
                <a:spcPts val="120"/>
              </a:spcBef>
            </a:pPr>
            <a:r>
              <a:rPr sz="900" dirty="0">
                <a:solidFill>
                  <a:srgbClr val="454C4C"/>
                </a:solidFill>
                <a:latin typeface="Lucida Sans Unicode"/>
                <a:cs typeface="Lucida Sans Unicode"/>
              </a:rPr>
              <a:t>Obj</a:t>
            </a:r>
            <a:r>
              <a:rPr sz="900" spc="170" dirty="0">
                <a:solidFill>
                  <a:srgbClr val="454C4C"/>
                </a:solidFill>
                <a:latin typeface="Lucida Sans Unicode"/>
                <a:cs typeface="Lucida Sans Unicode"/>
              </a:rPr>
              <a:t>  </a:t>
            </a:r>
            <a:r>
              <a:rPr sz="900" dirty="0">
                <a:solidFill>
                  <a:srgbClr val="454C4C"/>
                </a:solidFill>
                <a:latin typeface="Lucida Sans Unicode"/>
                <a:cs typeface="Lucida Sans Unicode"/>
              </a:rPr>
              <a:t>Obj</a:t>
            </a:r>
            <a:r>
              <a:rPr sz="900" spc="175" dirty="0">
                <a:solidFill>
                  <a:srgbClr val="454C4C"/>
                </a:solidFill>
                <a:latin typeface="Lucida Sans Unicode"/>
                <a:cs typeface="Lucida Sans Unicode"/>
              </a:rPr>
              <a:t>  </a:t>
            </a:r>
            <a:r>
              <a:rPr sz="900" spc="-25" dirty="0">
                <a:solidFill>
                  <a:srgbClr val="454C4C"/>
                </a:solidFill>
                <a:latin typeface="Lucida Sans Unicode"/>
                <a:cs typeface="Lucida Sans Unicode"/>
              </a:rPr>
              <a:t>Obj</a:t>
            </a:r>
            <a:endParaRPr sz="900">
              <a:latin typeface="Lucida Sans Unicode"/>
              <a:cs typeface="Lucida Sans Unicode"/>
            </a:endParaRPr>
          </a:p>
        </p:txBody>
      </p:sp>
      <p:sp>
        <p:nvSpPr>
          <p:cNvPr id="26" name="object 26"/>
          <p:cNvSpPr txBox="1"/>
          <p:nvPr/>
        </p:nvSpPr>
        <p:spPr>
          <a:xfrm>
            <a:off x="4709286" y="3355793"/>
            <a:ext cx="844550" cy="165735"/>
          </a:xfrm>
          <a:prstGeom prst="rect">
            <a:avLst/>
          </a:prstGeom>
        </p:spPr>
        <p:txBody>
          <a:bodyPr vert="horz" wrap="square" lIns="0" tIns="15240" rIns="0" bIns="0" rtlCol="0">
            <a:spAutoFit/>
          </a:bodyPr>
          <a:lstStyle/>
          <a:p>
            <a:pPr marL="12700">
              <a:lnSpc>
                <a:spcPct val="100000"/>
              </a:lnSpc>
              <a:spcBef>
                <a:spcPts val="120"/>
              </a:spcBef>
            </a:pPr>
            <a:r>
              <a:rPr sz="900" dirty="0">
                <a:solidFill>
                  <a:srgbClr val="454C4C"/>
                </a:solidFill>
                <a:latin typeface="Lucida Sans Unicode"/>
                <a:cs typeface="Lucida Sans Unicode"/>
              </a:rPr>
              <a:t>Obj</a:t>
            </a:r>
            <a:r>
              <a:rPr sz="900" spc="170" dirty="0">
                <a:solidFill>
                  <a:srgbClr val="454C4C"/>
                </a:solidFill>
                <a:latin typeface="Lucida Sans Unicode"/>
                <a:cs typeface="Lucida Sans Unicode"/>
              </a:rPr>
              <a:t>  </a:t>
            </a:r>
            <a:r>
              <a:rPr sz="900" dirty="0">
                <a:solidFill>
                  <a:srgbClr val="454C4C"/>
                </a:solidFill>
                <a:latin typeface="Lucida Sans Unicode"/>
                <a:cs typeface="Lucida Sans Unicode"/>
              </a:rPr>
              <a:t>Obj</a:t>
            </a:r>
            <a:r>
              <a:rPr sz="900" spc="175" dirty="0">
                <a:solidFill>
                  <a:srgbClr val="454C4C"/>
                </a:solidFill>
                <a:latin typeface="Lucida Sans Unicode"/>
                <a:cs typeface="Lucida Sans Unicode"/>
              </a:rPr>
              <a:t>  </a:t>
            </a:r>
            <a:r>
              <a:rPr sz="900" spc="-25" dirty="0">
                <a:solidFill>
                  <a:srgbClr val="454C4C"/>
                </a:solidFill>
                <a:latin typeface="Lucida Sans Unicode"/>
                <a:cs typeface="Lucida Sans Unicode"/>
              </a:rPr>
              <a:t>Obj</a:t>
            </a:r>
            <a:endParaRPr sz="900">
              <a:latin typeface="Lucida Sans Unicode"/>
              <a:cs typeface="Lucida Sans Unicode"/>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375" dirty="0"/>
              <a:t> </a:t>
            </a:r>
            <a:r>
              <a:rPr spc="60" dirty="0"/>
              <a:t>Pool</a:t>
            </a:r>
            <a:r>
              <a:rPr spc="-370" dirty="0"/>
              <a:t> </a:t>
            </a:r>
            <a:r>
              <a:rPr spc="-40" dirty="0"/>
              <a:t>Types</a:t>
            </a:r>
          </a:p>
        </p:txBody>
      </p:sp>
      <p:sp>
        <p:nvSpPr>
          <p:cNvPr id="11" name="object 11"/>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2" name="object 12"/>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40</a:t>
            </a:fld>
            <a:r>
              <a:rPr spc="-10" dirty="0"/>
              <a:t>/60</a:t>
            </a:r>
          </a:p>
        </p:txBody>
      </p:sp>
      <p:sp>
        <p:nvSpPr>
          <p:cNvPr id="3" name="object 3"/>
          <p:cNvSpPr txBox="1"/>
          <p:nvPr/>
        </p:nvSpPr>
        <p:spPr>
          <a:xfrm>
            <a:off x="562940"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4" name="object 4"/>
          <p:cNvSpPr txBox="1"/>
          <p:nvPr/>
        </p:nvSpPr>
        <p:spPr>
          <a:xfrm>
            <a:off x="886942" y="1334791"/>
            <a:ext cx="1450340"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54C4C"/>
                </a:solidFill>
                <a:latin typeface="Arial MT"/>
                <a:cs typeface="Arial MT"/>
              </a:rPr>
              <a:t>Replicated</a:t>
            </a:r>
            <a:endParaRPr sz="2400">
              <a:latin typeface="Arial MT"/>
              <a:cs typeface="Arial MT"/>
            </a:endParaRPr>
          </a:p>
        </p:txBody>
      </p:sp>
      <p:sp>
        <p:nvSpPr>
          <p:cNvPr id="5" name="object 5"/>
          <p:cNvSpPr txBox="1"/>
          <p:nvPr/>
        </p:nvSpPr>
        <p:spPr>
          <a:xfrm>
            <a:off x="778941" y="1865791"/>
            <a:ext cx="137160" cy="266065"/>
          </a:xfrm>
          <a:prstGeom prst="rect">
            <a:avLst/>
          </a:prstGeom>
        </p:spPr>
        <p:txBody>
          <a:bodyPr vert="horz" wrap="square" lIns="0" tIns="15875" rIns="0" bIns="0" rtlCol="0">
            <a:spAutoFit/>
          </a:bodyPr>
          <a:lstStyle/>
          <a:p>
            <a:pPr marL="12700">
              <a:lnSpc>
                <a:spcPct val="100000"/>
              </a:lnSpc>
              <a:spcBef>
                <a:spcPts val="125"/>
              </a:spcBef>
            </a:pPr>
            <a:r>
              <a:rPr sz="1550" spc="50" dirty="0">
                <a:latin typeface="Lucida Sans Unicode"/>
                <a:cs typeface="Lucida Sans Unicode"/>
              </a:rPr>
              <a:t>–</a:t>
            </a:r>
            <a:endParaRPr sz="1550">
              <a:latin typeface="Lucida Sans Unicode"/>
              <a:cs typeface="Lucida Sans Unicode"/>
            </a:endParaRPr>
          </a:p>
        </p:txBody>
      </p:sp>
      <p:sp>
        <p:nvSpPr>
          <p:cNvPr id="6" name="object 6"/>
          <p:cNvSpPr txBox="1"/>
          <p:nvPr/>
        </p:nvSpPr>
        <p:spPr>
          <a:xfrm>
            <a:off x="1138936" y="1856063"/>
            <a:ext cx="6828790" cy="346075"/>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454C4C"/>
                </a:solidFill>
                <a:latin typeface="Arial MT"/>
                <a:cs typeface="Arial MT"/>
              </a:rPr>
              <a:t>Stores</a:t>
            </a:r>
            <a:r>
              <a:rPr sz="2100" spc="-5" dirty="0">
                <a:solidFill>
                  <a:srgbClr val="454C4C"/>
                </a:solidFill>
                <a:latin typeface="Arial MT"/>
                <a:cs typeface="Arial MT"/>
              </a:rPr>
              <a:t> </a:t>
            </a:r>
            <a:r>
              <a:rPr sz="2100" dirty="0">
                <a:solidFill>
                  <a:srgbClr val="454C4C"/>
                </a:solidFill>
                <a:latin typeface="Arial MT"/>
                <a:cs typeface="Arial MT"/>
              </a:rPr>
              <a:t>copies</a:t>
            </a:r>
            <a:r>
              <a:rPr sz="2100" spc="-5" dirty="0">
                <a:solidFill>
                  <a:srgbClr val="454C4C"/>
                </a:solidFill>
                <a:latin typeface="Arial MT"/>
                <a:cs typeface="Arial MT"/>
              </a:rPr>
              <a:t> </a:t>
            </a:r>
            <a:r>
              <a:rPr sz="2100" spc="120" dirty="0">
                <a:solidFill>
                  <a:srgbClr val="454C4C"/>
                </a:solidFill>
                <a:latin typeface="Arial MT"/>
                <a:cs typeface="Arial MT"/>
              </a:rPr>
              <a:t>/</a:t>
            </a:r>
            <a:r>
              <a:rPr sz="2100" spc="-5" dirty="0">
                <a:solidFill>
                  <a:srgbClr val="454C4C"/>
                </a:solidFill>
                <a:latin typeface="Arial MT"/>
                <a:cs typeface="Arial MT"/>
              </a:rPr>
              <a:t> </a:t>
            </a:r>
            <a:r>
              <a:rPr sz="2100" dirty="0">
                <a:solidFill>
                  <a:srgbClr val="454C4C"/>
                </a:solidFill>
                <a:latin typeface="Arial MT"/>
                <a:cs typeface="Arial MT"/>
              </a:rPr>
              <a:t>replicas </a:t>
            </a:r>
            <a:r>
              <a:rPr sz="2100" spc="65" dirty="0">
                <a:solidFill>
                  <a:srgbClr val="454C4C"/>
                </a:solidFill>
                <a:latin typeface="Arial MT"/>
                <a:cs typeface="Arial MT"/>
              </a:rPr>
              <a:t>on</a:t>
            </a:r>
            <a:r>
              <a:rPr sz="2100" spc="-10" dirty="0">
                <a:solidFill>
                  <a:srgbClr val="454C4C"/>
                </a:solidFill>
                <a:latin typeface="Arial MT"/>
                <a:cs typeface="Arial MT"/>
              </a:rPr>
              <a:t> </a:t>
            </a:r>
            <a:r>
              <a:rPr sz="2100" dirty="0">
                <a:solidFill>
                  <a:srgbClr val="454C4C"/>
                </a:solidFill>
                <a:latin typeface="Arial MT"/>
                <a:cs typeface="Arial MT"/>
              </a:rPr>
              <a:t>multiple</a:t>
            </a:r>
            <a:r>
              <a:rPr sz="2100" spc="-5" dirty="0">
                <a:solidFill>
                  <a:srgbClr val="454C4C"/>
                </a:solidFill>
                <a:latin typeface="Arial MT"/>
                <a:cs typeface="Arial MT"/>
              </a:rPr>
              <a:t> </a:t>
            </a:r>
            <a:r>
              <a:rPr sz="2100" dirty="0">
                <a:solidFill>
                  <a:srgbClr val="454C4C"/>
                </a:solidFill>
                <a:latin typeface="Arial MT"/>
                <a:cs typeface="Arial MT"/>
              </a:rPr>
              <a:t>hosts</a:t>
            </a:r>
            <a:r>
              <a:rPr sz="2100" spc="-5" dirty="0">
                <a:solidFill>
                  <a:srgbClr val="454C4C"/>
                </a:solidFill>
                <a:latin typeface="Arial MT"/>
                <a:cs typeface="Arial MT"/>
              </a:rPr>
              <a:t> </a:t>
            </a:r>
            <a:r>
              <a:rPr sz="2100" spc="70" dirty="0">
                <a:solidFill>
                  <a:srgbClr val="454C4C"/>
                </a:solidFill>
                <a:latin typeface="Arial MT"/>
                <a:cs typeface="Arial MT"/>
              </a:rPr>
              <a:t>for</a:t>
            </a:r>
            <a:r>
              <a:rPr sz="2100" dirty="0">
                <a:solidFill>
                  <a:srgbClr val="454C4C"/>
                </a:solidFill>
                <a:latin typeface="Arial MT"/>
                <a:cs typeface="Arial MT"/>
              </a:rPr>
              <a:t> </a:t>
            </a:r>
            <a:r>
              <a:rPr sz="2100" spc="-10" dirty="0">
                <a:solidFill>
                  <a:srgbClr val="454C4C"/>
                </a:solidFill>
                <a:latin typeface="Arial MT"/>
                <a:cs typeface="Arial MT"/>
              </a:rPr>
              <a:t>redundancy</a:t>
            </a:r>
            <a:endParaRPr sz="2100">
              <a:latin typeface="Arial MT"/>
              <a:cs typeface="Arial MT"/>
            </a:endParaRPr>
          </a:p>
        </p:txBody>
      </p:sp>
      <p:sp>
        <p:nvSpPr>
          <p:cNvPr id="7" name="object 7"/>
          <p:cNvSpPr txBox="1"/>
          <p:nvPr/>
        </p:nvSpPr>
        <p:spPr>
          <a:xfrm>
            <a:off x="562940" y="2303547"/>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8" name="object 8"/>
          <p:cNvSpPr txBox="1"/>
          <p:nvPr/>
        </p:nvSpPr>
        <p:spPr>
          <a:xfrm>
            <a:off x="886942" y="2221835"/>
            <a:ext cx="2477770"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54C4C"/>
                </a:solidFill>
                <a:latin typeface="Arial MT"/>
                <a:cs typeface="Arial MT"/>
              </a:rPr>
              <a:t>Erasure</a:t>
            </a:r>
            <a:r>
              <a:rPr sz="2400" spc="-135" dirty="0">
                <a:solidFill>
                  <a:srgbClr val="454C4C"/>
                </a:solidFill>
                <a:latin typeface="Arial MT"/>
                <a:cs typeface="Arial MT"/>
              </a:rPr>
              <a:t> </a:t>
            </a:r>
            <a:r>
              <a:rPr sz="2400" spc="-10" dirty="0">
                <a:solidFill>
                  <a:srgbClr val="454C4C"/>
                </a:solidFill>
                <a:latin typeface="Arial MT"/>
                <a:cs typeface="Arial MT"/>
              </a:rPr>
              <a:t>Code</a:t>
            </a:r>
            <a:r>
              <a:rPr sz="2400" spc="-135" dirty="0">
                <a:solidFill>
                  <a:srgbClr val="454C4C"/>
                </a:solidFill>
                <a:latin typeface="Arial MT"/>
                <a:cs typeface="Arial MT"/>
              </a:rPr>
              <a:t> </a:t>
            </a:r>
            <a:r>
              <a:rPr sz="2400" spc="-180" dirty="0">
                <a:solidFill>
                  <a:srgbClr val="454C4C"/>
                </a:solidFill>
                <a:latin typeface="Arial MT"/>
                <a:cs typeface="Arial MT"/>
              </a:rPr>
              <a:t>(EC)</a:t>
            </a:r>
            <a:endParaRPr sz="2400">
              <a:latin typeface="Arial MT"/>
              <a:cs typeface="Arial MT"/>
            </a:endParaRPr>
          </a:p>
        </p:txBody>
      </p:sp>
      <p:sp>
        <p:nvSpPr>
          <p:cNvPr id="9" name="object 9"/>
          <p:cNvSpPr txBox="1"/>
          <p:nvPr/>
        </p:nvSpPr>
        <p:spPr>
          <a:xfrm>
            <a:off x="778941" y="2752822"/>
            <a:ext cx="137160" cy="266065"/>
          </a:xfrm>
          <a:prstGeom prst="rect">
            <a:avLst/>
          </a:prstGeom>
        </p:spPr>
        <p:txBody>
          <a:bodyPr vert="horz" wrap="square" lIns="0" tIns="15875" rIns="0" bIns="0" rtlCol="0">
            <a:spAutoFit/>
          </a:bodyPr>
          <a:lstStyle/>
          <a:p>
            <a:pPr marL="12700">
              <a:lnSpc>
                <a:spcPct val="100000"/>
              </a:lnSpc>
              <a:spcBef>
                <a:spcPts val="125"/>
              </a:spcBef>
            </a:pPr>
            <a:r>
              <a:rPr sz="1550" spc="50" dirty="0">
                <a:latin typeface="Lucida Sans Unicode"/>
                <a:cs typeface="Lucida Sans Unicode"/>
              </a:rPr>
              <a:t>–</a:t>
            </a:r>
            <a:endParaRPr sz="1550">
              <a:latin typeface="Lucida Sans Unicode"/>
              <a:cs typeface="Lucida Sans Unicode"/>
            </a:endParaRPr>
          </a:p>
        </p:txBody>
      </p:sp>
      <p:sp>
        <p:nvSpPr>
          <p:cNvPr id="10" name="object 10"/>
          <p:cNvSpPr txBox="1"/>
          <p:nvPr/>
        </p:nvSpPr>
        <p:spPr>
          <a:xfrm>
            <a:off x="1138936" y="2700346"/>
            <a:ext cx="8223250" cy="751205"/>
          </a:xfrm>
          <a:prstGeom prst="rect">
            <a:avLst/>
          </a:prstGeom>
        </p:spPr>
        <p:txBody>
          <a:bodyPr vert="horz" wrap="square" lIns="0" tIns="12700" rIns="0" bIns="0" rtlCol="0">
            <a:spAutoFit/>
          </a:bodyPr>
          <a:lstStyle/>
          <a:p>
            <a:pPr marL="12700" marR="5080">
              <a:lnSpc>
                <a:spcPct val="113399"/>
              </a:lnSpc>
              <a:spcBef>
                <a:spcPts val="100"/>
              </a:spcBef>
            </a:pPr>
            <a:r>
              <a:rPr sz="2100" spc="-20" dirty="0">
                <a:solidFill>
                  <a:srgbClr val="454C4C"/>
                </a:solidFill>
                <a:latin typeface="Arial MT"/>
                <a:cs typeface="Arial MT"/>
              </a:rPr>
              <a:t>Splits</a:t>
            </a:r>
            <a:r>
              <a:rPr sz="2100" spc="-40" dirty="0">
                <a:solidFill>
                  <a:srgbClr val="454C4C"/>
                </a:solidFill>
                <a:latin typeface="Arial MT"/>
                <a:cs typeface="Arial MT"/>
              </a:rPr>
              <a:t> </a:t>
            </a:r>
            <a:r>
              <a:rPr sz="2100" dirty="0">
                <a:solidFill>
                  <a:srgbClr val="454C4C"/>
                </a:solidFill>
                <a:latin typeface="Arial MT"/>
                <a:cs typeface="Arial MT"/>
              </a:rPr>
              <a:t>data</a:t>
            </a:r>
            <a:r>
              <a:rPr sz="2100" spc="-40" dirty="0">
                <a:solidFill>
                  <a:srgbClr val="454C4C"/>
                </a:solidFill>
                <a:latin typeface="Arial MT"/>
                <a:cs typeface="Arial MT"/>
              </a:rPr>
              <a:t> </a:t>
            </a:r>
            <a:r>
              <a:rPr sz="2100" spc="55" dirty="0">
                <a:solidFill>
                  <a:srgbClr val="454C4C"/>
                </a:solidFill>
                <a:latin typeface="Arial MT"/>
                <a:cs typeface="Arial MT"/>
              </a:rPr>
              <a:t>into</a:t>
            </a:r>
            <a:r>
              <a:rPr sz="2100" spc="-20" dirty="0">
                <a:solidFill>
                  <a:srgbClr val="454C4C"/>
                </a:solidFill>
                <a:latin typeface="Arial MT"/>
                <a:cs typeface="Arial MT"/>
              </a:rPr>
              <a:t> </a:t>
            </a:r>
            <a:r>
              <a:rPr sz="2100" dirty="0">
                <a:solidFill>
                  <a:srgbClr val="454C4C"/>
                </a:solidFill>
                <a:latin typeface="Segoe UI Symbol"/>
                <a:cs typeface="Segoe UI Symbol"/>
              </a:rPr>
              <a:t>k</a:t>
            </a:r>
            <a:r>
              <a:rPr sz="2100" spc="-30" dirty="0">
                <a:solidFill>
                  <a:srgbClr val="454C4C"/>
                </a:solidFill>
                <a:latin typeface="Segoe UI Symbol"/>
                <a:cs typeface="Segoe UI Symbol"/>
              </a:rPr>
              <a:t> </a:t>
            </a:r>
            <a:r>
              <a:rPr sz="2100" dirty="0">
                <a:solidFill>
                  <a:srgbClr val="454C4C"/>
                </a:solidFill>
                <a:latin typeface="Arial MT"/>
                <a:cs typeface="Arial MT"/>
              </a:rPr>
              <a:t>chunks</a:t>
            </a:r>
            <a:r>
              <a:rPr sz="2100" spc="-35" dirty="0">
                <a:solidFill>
                  <a:srgbClr val="454C4C"/>
                </a:solidFill>
                <a:latin typeface="Arial MT"/>
                <a:cs typeface="Arial MT"/>
              </a:rPr>
              <a:t> </a:t>
            </a:r>
            <a:r>
              <a:rPr sz="2100" dirty="0">
                <a:solidFill>
                  <a:srgbClr val="454C4C"/>
                </a:solidFill>
                <a:latin typeface="Arial MT"/>
                <a:cs typeface="Arial MT"/>
              </a:rPr>
              <a:t>and</a:t>
            </a:r>
            <a:r>
              <a:rPr sz="2100" spc="-35" dirty="0">
                <a:solidFill>
                  <a:srgbClr val="454C4C"/>
                </a:solidFill>
                <a:latin typeface="Arial MT"/>
                <a:cs typeface="Arial MT"/>
              </a:rPr>
              <a:t> </a:t>
            </a:r>
            <a:r>
              <a:rPr sz="2100" dirty="0">
                <a:solidFill>
                  <a:srgbClr val="454C4C"/>
                </a:solidFill>
                <a:latin typeface="Arial MT"/>
                <a:cs typeface="Arial MT"/>
              </a:rPr>
              <a:t>creates</a:t>
            </a:r>
            <a:r>
              <a:rPr sz="2100" spc="-15" dirty="0">
                <a:solidFill>
                  <a:srgbClr val="454C4C"/>
                </a:solidFill>
                <a:latin typeface="Arial MT"/>
                <a:cs typeface="Arial MT"/>
              </a:rPr>
              <a:t> </a:t>
            </a:r>
            <a:r>
              <a:rPr sz="2100" dirty="0">
                <a:solidFill>
                  <a:srgbClr val="454C4C"/>
                </a:solidFill>
                <a:latin typeface="Segoe UI Symbol"/>
                <a:cs typeface="Segoe UI Symbol"/>
              </a:rPr>
              <a:t>m</a:t>
            </a:r>
            <a:r>
              <a:rPr sz="2100" spc="-30" dirty="0">
                <a:solidFill>
                  <a:srgbClr val="454C4C"/>
                </a:solidFill>
                <a:latin typeface="Segoe UI Symbol"/>
                <a:cs typeface="Segoe UI Symbol"/>
              </a:rPr>
              <a:t> </a:t>
            </a:r>
            <a:r>
              <a:rPr sz="2100" dirty="0">
                <a:solidFill>
                  <a:srgbClr val="454C4C"/>
                </a:solidFill>
                <a:latin typeface="Arial MT"/>
                <a:cs typeface="Arial MT"/>
              </a:rPr>
              <a:t>coding</a:t>
            </a:r>
            <a:r>
              <a:rPr sz="2100" spc="-45" dirty="0">
                <a:solidFill>
                  <a:srgbClr val="454C4C"/>
                </a:solidFill>
                <a:latin typeface="Arial MT"/>
                <a:cs typeface="Arial MT"/>
              </a:rPr>
              <a:t> </a:t>
            </a:r>
            <a:r>
              <a:rPr sz="2100" dirty="0">
                <a:solidFill>
                  <a:srgbClr val="454C4C"/>
                </a:solidFill>
                <a:latin typeface="Arial MT"/>
                <a:cs typeface="Arial MT"/>
              </a:rPr>
              <a:t>chunks.</a:t>
            </a:r>
            <a:r>
              <a:rPr sz="2100" spc="-35" dirty="0">
                <a:solidFill>
                  <a:srgbClr val="454C4C"/>
                </a:solidFill>
                <a:latin typeface="Arial MT"/>
                <a:cs typeface="Arial MT"/>
              </a:rPr>
              <a:t> </a:t>
            </a:r>
            <a:r>
              <a:rPr sz="2100" spc="-70" dirty="0">
                <a:solidFill>
                  <a:srgbClr val="454C4C"/>
                </a:solidFill>
                <a:latin typeface="Arial MT"/>
                <a:cs typeface="Arial MT"/>
              </a:rPr>
              <a:t>Each</a:t>
            </a:r>
            <a:r>
              <a:rPr sz="2100" spc="-40" dirty="0">
                <a:solidFill>
                  <a:srgbClr val="454C4C"/>
                </a:solidFill>
                <a:latin typeface="Arial MT"/>
                <a:cs typeface="Arial MT"/>
              </a:rPr>
              <a:t> </a:t>
            </a:r>
            <a:r>
              <a:rPr sz="2100" dirty="0">
                <a:solidFill>
                  <a:srgbClr val="454C4C"/>
                </a:solidFill>
                <a:latin typeface="Arial MT"/>
                <a:cs typeface="Arial MT"/>
              </a:rPr>
              <a:t>chunk</a:t>
            </a:r>
            <a:r>
              <a:rPr sz="2100" spc="-35" dirty="0">
                <a:solidFill>
                  <a:srgbClr val="454C4C"/>
                </a:solidFill>
                <a:latin typeface="Arial MT"/>
                <a:cs typeface="Arial MT"/>
              </a:rPr>
              <a:t> </a:t>
            </a:r>
            <a:r>
              <a:rPr sz="2100" spc="-25" dirty="0">
                <a:solidFill>
                  <a:srgbClr val="454C4C"/>
                </a:solidFill>
                <a:latin typeface="Arial MT"/>
                <a:cs typeface="Arial MT"/>
              </a:rPr>
              <a:t>is </a:t>
            </a:r>
            <a:r>
              <a:rPr sz="2100" dirty="0">
                <a:solidFill>
                  <a:srgbClr val="454C4C"/>
                </a:solidFill>
                <a:latin typeface="Arial MT"/>
                <a:cs typeface="Arial MT"/>
              </a:rPr>
              <a:t>stored</a:t>
            </a:r>
            <a:r>
              <a:rPr sz="2100" spc="20" dirty="0">
                <a:solidFill>
                  <a:srgbClr val="454C4C"/>
                </a:solidFill>
                <a:latin typeface="Arial MT"/>
                <a:cs typeface="Arial MT"/>
              </a:rPr>
              <a:t> </a:t>
            </a:r>
            <a:r>
              <a:rPr sz="2100" spc="65" dirty="0">
                <a:solidFill>
                  <a:srgbClr val="454C4C"/>
                </a:solidFill>
                <a:latin typeface="Arial MT"/>
                <a:cs typeface="Arial MT"/>
              </a:rPr>
              <a:t>on</a:t>
            </a:r>
            <a:r>
              <a:rPr sz="2100" spc="25" dirty="0">
                <a:solidFill>
                  <a:srgbClr val="454C4C"/>
                </a:solidFill>
                <a:latin typeface="Arial MT"/>
                <a:cs typeface="Arial MT"/>
              </a:rPr>
              <a:t> </a:t>
            </a:r>
            <a:r>
              <a:rPr sz="2100" dirty="0">
                <a:solidFill>
                  <a:srgbClr val="454C4C"/>
                </a:solidFill>
                <a:latin typeface="Arial MT"/>
                <a:cs typeface="Arial MT"/>
              </a:rPr>
              <a:t>a</a:t>
            </a:r>
            <a:r>
              <a:rPr sz="2100" spc="20" dirty="0">
                <a:solidFill>
                  <a:srgbClr val="454C4C"/>
                </a:solidFill>
                <a:latin typeface="Arial MT"/>
                <a:cs typeface="Arial MT"/>
              </a:rPr>
              <a:t> </a:t>
            </a:r>
            <a:r>
              <a:rPr sz="2100" dirty="0">
                <a:solidFill>
                  <a:srgbClr val="454C4C"/>
                </a:solidFill>
                <a:latin typeface="Arial MT"/>
                <a:cs typeface="Arial MT"/>
              </a:rPr>
              <a:t>separate</a:t>
            </a:r>
            <a:r>
              <a:rPr sz="2100" spc="20" dirty="0">
                <a:solidFill>
                  <a:srgbClr val="454C4C"/>
                </a:solidFill>
                <a:latin typeface="Arial MT"/>
                <a:cs typeface="Arial MT"/>
              </a:rPr>
              <a:t> </a:t>
            </a:r>
            <a:r>
              <a:rPr sz="2100" spc="-10" dirty="0">
                <a:solidFill>
                  <a:srgbClr val="454C4C"/>
                </a:solidFill>
                <a:latin typeface="Arial MT"/>
                <a:cs typeface="Arial MT"/>
              </a:rPr>
              <a:t>node.</a:t>
            </a:r>
            <a:endParaRPr sz="2100">
              <a:latin typeface="Arial MT"/>
              <a:cs typeface="Arial M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370" dirty="0"/>
              <a:t> </a:t>
            </a:r>
            <a:r>
              <a:rPr spc="125" dirty="0"/>
              <a:t>Write</a:t>
            </a:r>
          </a:p>
        </p:txBody>
      </p:sp>
      <p:pic>
        <p:nvPicPr>
          <p:cNvPr id="3" name="object 3"/>
          <p:cNvPicPr/>
          <p:nvPr/>
        </p:nvPicPr>
        <p:blipFill>
          <a:blip r:embed="rId2" cstate="print"/>
          <a:stretch>
            <a:fillRect/>
          </a:stretch>
        </p:blipFill>
        <p:spPr>
          <a:xfrm>
            <a:off x="3413280" y="1352989"/>
            <a:ext cx="3450741" cy="3234044"/>
          </a:xfrm>
          <a:prstGeom prst="rect">
            <a:avLst/>
          </a:prstGeom>
        </p:spPr>
      </p:pic>
      <p:sp>
        <p:nvSpPr>
          <p:cNvPr id="4" name="object 4"/>
          <p:cNvSpPr txBox="1">
            <a:spLocks noGrp="1"/>
          </p:cNvSpPr>
          <p:nvPr>
            <p:ph type="sldNum" sz="quarter" idx="7"/>
          </p:nvPr>
        </p:nvSpPr>
        <p:spPr>
          <a:prstGeom prst="rect">
            <a:avLst/>
          </a:prstGeom>
        </p:spPr>
        <p:txBody>
          <a:bodyPr vert="horz" wrap="square" lIns="0" tIns="22860" rIns="0" bIns="0" rtlCol="0">
            <a:spAutoFit/>
          </a:bodyPr>
          <a:lstStyle/>
          <a:p>
            <a:pPr marL="12700">
              <a:lnSpc>
                <a:spcPct val="100000"/>
              </a:lnSpc>
              <a:spcBef>
                <a:spcPts val="180"/>
              </a:spcBef>
            </a:pPr>
            <a:r>
              <a:rPr spc="-20" dirty="0">
                <a:solidFill>
                  <a:srgbClr val="454C4C"/>
                </a:solidFill>
              </a:rPr>
              <a:t>Source:</a:t>
            </a:r>
            <a:r>
              <a:rPr spc="-15" dirty="0">
                <a:solidFill>
                  <a:srgbClr val="454C4C"/>
                </a:solidFill>
              </a:rPr>
              <a:t> </a:t>
            </a:r>
            <a:r>
              <a:rPr spc="-10" dirty="0">
                <a:solidFill>
                  <a:srgbClr val="454C4C"/>
                </a:solidFill>
              </a:rPr>
              <a:t>docs.ceph.com</a:t>
            </a:r>
          </a:p>
          <a:p>
            <a:pPr marL="962025">
              <a:lnSpc>
                <a:spcPct val="100000"/>
              </a:lnSpc>
              <a:spcBef>
                <a:spcPts val="819"/>
              </a:spcBef>
            </a:pPr>
            <a:fld id="{81D60167-4931-47E6-BA6A-407CBD079E47}" type="slidenum">
              <a:rPr spc="-10" dirty="0"/>
              <a:t>41</a:t>
            </a:fld>
            <a:r>
              <a:rPr spc="-10" dirty="0"/>
              <a:t>/60</a:t>
            </a:r>
          </a:p>
        </p:txBody>
      </p:sp>
      <p:sp>
        <p:nvSpPr>
          <p:cNvPr id="5" name="object 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370" dirty="0"/>
              <a:t> </a:t>
            </a:r>
            <a:r>
              <a:rPr spc="70" dirty="0"/>
              <a:t>Networks</a:t>
            </a:r>
          </a:p>
        </p:txBody>
      </p:sp>
      <p:pic>
        <p:nvPicPr>
          <p:cNvPr id="3" name="object 3"/>
          <p:cNvPicPr/>
          <p:nvPr/>
        </p:nvPicPr>
        <p:blipFill>
          <a:blip r:embed="rId2" cstate="print"/>
          <a:stretch>
            <a:fillRect/>
          </a:stretch>
        </p:blipFill>
        <p:spPr>
          <a:xfrm>
            <a:off x="1733450" y="1351985"/>
            <a:ext cx="6803058" cy="3236051"/>
          </a:xfrm>
          <a:prstGeom prst="rect">
            <a:avLst/>
          </a:prstGeom>
        </p:spPr>
      </p:pic>
      <p:sp>
        <p:nvSpPr>
          <p:cNvPr id="4" name="object 4"/>
          <p:cNvSpPr txBox="1">
            <a:spLocks noGrp="1"/>
          </p:cNvSpPr>
          <p:nvPr>
            <p:ph type="sldNum" sz="quarter" idx="7"/>
          </p:nvPr>
        </p:nvSpPr>
        <p:spPr>
          <a:prstGeom prst="rect">
            <a:avLst/>
          </a:prstGeom>
        </p:spPr>
        <p:txBody>
          <a:bodyPr vert="horz" wrap="square" lIns="0" tIns="22860" rIns="0" bIns="0" rtlCol="0">
            <a:spAutoFit/>
          </a:bodyPr>
          <a:lstStyle/>
          <a:p>
            <a:pPr marL="12700">
              <a:lnSpc>
                <a:spcPct val="100000"/>
              </a:lnSpc>
              <a:spcBef>
                <a:spcPts val="180"/>
              </a:spcBef>
            </a:pPr>
            <a:r>
              <a:rPr spc="-20" dirty="0">
                <a:solidFill>
                  <a:srgbClr val="454C4C"/>
                </a:solidFill>
              </a:rPr>
              <a:t>Source:</a:t>
            </a:r>
            <a:r>
              <a:rPr spc="-15" dirty="0">
                <a:solidFill>
                  <a:srgbClr val="454C4C"/>
                </a:solidFill>
              </a:rPr>
              <a:t> </a:t>
            </a:r>
            <a:r>
              <a:rPr spc="-10" dirty="0">
                <a:solidFill>
                  <a:srgbClr val="454C4C"/>
                </a:solidFill>
              </a:rPr>
              <a:t>docs.ceph.com</a:t>
            </a:r>
          </a:p>
          <a:p>
            <a:pPr marL="962025">
              <a:lnSpc>
                <a:spcPct val="100000"/>
              </a:lnSpc>
              <a:spcBef>
                <a:spcPts val="819"/>
              </a:spcBef>
            </a:pPr>
            <a:fld id="{81D60167-4931-47E6-BA6A-407CBD079E47}" type="slidenum">
              <a:rPr spc="-10" dirty="0"/>
              <a:t>42</a:t>
            </a:fld>
            <a:r>
              <a:rPr spc="-10" dirty="0"/>
              <a:t>/60</a:t>
            </a:r>
          </a:p>
        </p:txBody>
      </p:sp>
      <p:sp>
        <p:nvSpPr>
          <p:cNvPr id="5" name="object 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Ceph</a:t>
            </a:r>
            <a:r>
              <a:rPr spc="-375" dirty="0"/>
              <a:t> </a:t>
            </a:r>
            <a:r>
              <a:rPr spc="100" dirty="0"/>
              <a:t>WAL/DB/Block</a:t>
            </a:r>
            <a:r>
              <a:rPr spc="-370" dirty="0"/>
              <a:t> </a:t>
            </a:r>
            <a:r>
              <a:rPr dirty="0"/>
              <a:t>on</a:t>
            </a:r>
            <a:r>
              <a:rPr spc="-375" dirty="0"/>
              <a:t> </a:t>
            </a:r>
            <a:r>
              <a:rPr spc="-25" dirty="0"/>
              <a:t>SSD</a:t>
            </a:r>
          </a:p>
        </p:txBody>
      </p:sp>
      <p:grpSp>
        <p:nvGrpSpPr>
          <p:cNvPr id="3" name="object 3"/>
          <p:cNvGrpSpPr/>
          <p:nvPr/>
        </p:nvGrpSpPr>
        <p:grpSpPr>
          <a:xfrm>
            <a:off x="2714764" y="1610456"/>
            <a:ext cx="4649470" cy="3004185"/>
            <a:chOff x="2714764" y="1610456"/>
            <a:chExt cx="4649470" cy="3004185"/>
          </a:xfrm>
        </p:grpSpPr>
        <p:sp>
          <p:nvSpPr>
            <p:cNvPr id="4" name="object 4"/>
            <p:cNvSpPr/>
            <p:nvPr/>
          </p:nvSpPr>
          <p:spPr>
            <a:xfrm>
              <a:off x="7255078" y="1929964"/>
              <a:ext cx="83185" cy="111760"/>
            </a:xfrm>
            <a:custGeom>
              <a:avLst/>
              <a:gdLst/>
              <a:ahLst/>
              <a:cxnLst/>
              <a:rect l="l" t="t" r="r" b="b"/>
              <a:pathLst>
                <a:path w="83184" h="111760">
                  <a:moveTo>
                    <a:pt x="17995" y="97929"/>
                  </a:moveTo>
                  <a:lnTo>
                    <a:pt x="17284" y="95402"/>
                  </a:lnTo>
                  <a:lnTo>
                    <a:pt x="14046" y="92163"/>
                  </a:lnTo>
                  <a:lnTo>
                    <a:pt x="11887" y="91084"/>
                  </a:lnTo>
                  <a:lnTo>
                    <a:pt x="6121" y="91084"/>
                  </a:lnTo>
                  <a:lnTo>
                    <a:pt x="3962" y="92163"/>
                  </a:lnTo>
                  <a:lnTo>
                    <a:pt x="2159" y="93599"/>
                  </a:lnTo>
                  <a:lnTo>
                    <a:pt x="723" y="95402"/>
                  </a:lnTo>
                  <a:lnTo>
                    <a:pt x="0" y="97929"/>
                  </a:lnTo>
                  <a:lnTo>
                    <a:pt x="0" y="101168"/>
                  </a:lnTo>
                  <a:lnTo>
                    <a:pt x="0" y="104762"/>
                  </a:lnTo>
                  <a:lnTo>
                    <a:pt x="723" y="107645"/>
                  </a:lnTo>
                  <a:lnTo>
                    <a:pt x="4318" y="110528"/>
                  </a:lnTo>
                  <a:lnTo>
                    <a:pt x="6477" y="111239"/>
                  </a:lnTo>
                  <a:lnTo>
                    <a:pt x="11887" y="111239"/>
                  </a:lnTo>
                  <a:lnTo>
                    <a:pt x="14046" y="110528"/>
                  </a:lnTo>
                  <a:lnTo>
                    <a:pt x="15481" y="108724"/>
                  </a:lnTo>
                  <a:lnTo>
                    <a:pt x="17284" y="106921"/>
                  </a:lnTo>
                  <a:lnTo>
                    <a:pt x="17995" y="104406"/>
                  </a:lnTo>
                  <a:lnTo>
                    <a:pt x="17995" y="97929"/>
                  </a:lnTo>
                  <a:close/>
                </a:path>
                <a:path w="83184" h="111760">
                  <a:moveTo>
                    <a:pt x="82804" y="0"/>
                  </a:moveTo>
                  <a:lnTo>
                    <a:pt x="72364" y="0"/>
                  </a:lnTo>
                  <a:lnTo>
                    <a:pt x="43561" y="22326"/>
                  </a:lnTo>
                  <a:lnTo>
                    <a:pt x="50038" y="30607"/>
                  </a:lnTo>
                  <a:lnTo>
                    <a:pt x="66598" y="17284"/>
                  </a:lnTo>
                  <a:lnTo>
                    <a:pt x="67678" y="16205"/>
                  </a:lnTo>
                  <a:lnTo>
                    <a:pt x="69126" y="15125"/>
                  </a:lnTo>
                  <a:lnTo>
                    <a:pt x="71285" y="12966"/>
                  </a:lnTo>
                  <a:lnTo>
                    <a:pt x="70561" y="24841"/>
                  </a:lnTo>
                  <a:lnTo>
                    <a:pt x="70561" y="109080"/>
                  </a:lnTo>
                  <a:lnTo>
                    <a:pt x="82804" y="109080"/>
                  </a:lnTo>
                  <a:lnTo>
                    <a:pt x="82804" y="0"/>
                  </a:lnTo>
                  <a:close/>
                </a:path>
              </a:pathLst>
            </a:custGeom>
            <a:solidFill>
              <a:srgbClr val="454C4C"/>
            </a:solidFill>
          </p:spPr>
          <p:txBody>
            <a:bodyPr wrap="square" lIns="0" tIns="0" rIns="0" bIns="0" rtlCol="0"/>
            <a:lstStyle/>
            <a:p>
              <a:endParaRPr/>
            </a:p>
          </p:txBody>
        </p:sp>
        <p:pic>
          <p:nvPicPr>
            <p:cNvPr id="5" name="object 5"/>
            <p:cNvPicPr/>
            <p:nvPr/>
          </p:nvPicPr>
          <p:blipFill>
            <a:blip r:embed="rId2" cstate="print"/>
            <a:stretch>
              <a:fillRect/>
            </a:stretch>
          </p:blipFill>
          <p:spPr>
            <a:xfrm>
              <a:off x="2714764" y="1610456"/>
              <a:ext cx="4649038" cy="3003857"/>
            </a:xfrm>
            <a:prstGeom prst="rect">
              <a:avLst/>
            </a:prstGeom>
          </p:spPr>
        </p:pic>
        <p:pic>
          <p:nvPicPr>
            <p:cNvPr id="6" name="object 6"/>
            <p:cNvPicPr/>
            <p:nvPr/>
          </p:nvPicPr>
          <p:blipFill>
            <a:blip r:embed="rId3" cstate="print"/>
            <a:stretch>
              <a:fillRect/>
            </a:stretch>
          </p:blipFill>
          <p:spPr>
            <a:xfrm>
              <a:off x="4774679" y="2356925"/>
              <a:ext cx="106921" cy="174599"/>
            </a:xfrm>
            <a:prstGeom prst="rect">
              <a:avLst/>
            </a:prstGeom>
          </p:spPr>
        </p:pic>
        <p:pic>
          <p:nvPicPr>
            <p:cNvPr id="7" name="object 7"/>
            <p:cNvPicPr/>
            <p:nvPr/>
          </p:nvPicPr>
          <p:blipFill>
            <a:blip r:embed="rId4" cstate="print"/>
            <a:stretch>
              <a:fillRect/>
            </a:stretch>
          </p:blipFill>
          <p:spPr>
            <a:xfrm>
              <a:off x="4905362" y="2356925"/>
              <a:ext cx="106921" cy="174599"/>
            </a:xfrm>
            <a:prstGeom prst="rect">
              <a:avLst/>
            </a:prstGeom>
          </p:spPr>
        </p:pic>
        <p:pic>
          <p:nvPicPr>
            <p:cNvPr id="8" name="object 8"/>
            <p:cNvPicPr/>
            <p:nvPr/>
          </p:nvPicPr>
          <p:blipFill>
            <a:blip r:embed="rId5" cstate="print"/>
            <a:stretch>
              <a:fillRect/>
            </a:stretch>
          </p:blipFill>
          <p:spPr>
            <a:xfrm>
              <a:off x="5047195" y="2359084"/>
              <a:ext cx="135724" cy="170281"/>
            </a:xfrm>
            <a:prstGeom prst="rect">
              <a:avLst/>
            </a:prstGeom>
          </p:spPr>
        </p:pic>
        <p:sp>
          <p:nvSpPr>
            <p:cNvPr id="9" name="object 9"/>
            <p:cNvSpPr/>
            <p:nvPr/>
          </p:nvSpPr>
          <p:spPr>
            <a:xfrm>
              <a:off x="3598557" y="4074854"/>
              <a:ext cx="2713990" cy="353060"/>
            </a:xfrm>
            <a:custGeom>
              <a:avLst/>
              <a:gdLst/>
              <a:ahLst/>
              <a:cxnLst/>
              <a:rect l="l" t="t" r="r" b="b"/>
              <a:pathLst>
                <a:path w="2713990" h="353060">
                  <a:moveTo>
                    <a:pt x="2682366" y="340550"/>
                  </a:moveTo>
                  <a:lnTo>
                    <a:pt x="2681287" y="348475"/>
                  </a:lnTo>
                  <a:lnTo>
                    <a:pt x="2712605" y="352437"/>
                  </a:lnTo>
                  <a:lnTo>
                    <a:pt x="2713685" y="344512"/>
                  </a:lnTo>
                  <a:lnTo>
                    <a:pt x="2682366" y="340550"/>
                  </a:lnTo>
                  <a:close/>
                </a:path>
                <a:path w="2713990" h="353060">
                  <a:moveTo>
                    <a:pt x="2620086" y="332638"/>
                  </a:moveTo>
                  <a:lnTo>
                    <a:pt x="2619006" y="340550"/>
                  </a:lnTo>
                  <a:lnTo>
                    <a:pt x="2650324" y="344512"/>
                  </a:lnTo>
                  <a:lnTo>
                    <a:pt x="2651404" y="336588"/>
                  </a:lnTo>
                  <a:lnTo>
                    <a:pt x="2620086" y="332638"/>
                  </a:lnTo>
                  <a:close/>
                </a:path>
                <a:path w="2713990" h="353060">
                  <a:moveTo>
                    <a:pt x="2557805" y="324713"/>
                  </a:moveTo>
                  <a:lnTo>
                    <a:pt x="2556725" y="332638"/>
                  </a:lnTo>
                  <a:lnTo>
                    <a:pt x="2588044" y="336588"/>
                  </a:lnTo>
                  <a:lnTo>
                    <a:pt x="2589123" y="328675"/>
                  </a:lnTo>
                  <a:lnTo>
                    <a:pt x="2557805" y="324713"/>
                  </a:lnTo>
                  <a:close/>
                </a:path>
                <a:path w="2713990" h="353060">
                  <a:moveTo>
                    <a:pt x="2495524" y="316788"/>
                  </a:moveTo>
                  <a:lnTo>
                    <a:pt x="2494445" y="324713"/>
                  </a:lnTo>
                  <a:lnTo>
                    <a:pt x="2525407" y="328675"/>
                  </a:lnTo>
                  <a:lnTo>
                    <a:pt x="2526487" y="320751"/>
                  </a:lnTo>
                  <a:lnTo>
                    <a:pt x="2495524" y="316788"/>
                  </a:lnTo>
                  <a:close/>
                </a:path>
                <a:path w="2713990" h="353060">
                  <a:moveTo>
                    <a:pt x="2433243" y="308876"/>
                  </a:moveTo>
                  <a:lnTo>
                    <a:pt x="2432164" y="316788"/>
                  </a:lnTo>
                  <a:lnTo>
                    <a:pt x="2463126" y="320751"/>
                  </a:lnTo>
                  <a:lnTo>
                    <a:pt x="2464206" y="312839"/>
                  </a:lnTo>
                  <a:lnTo>
                    <a:pt x="2433243" y="308876"/>
                  </a:lnTo>
                  <a:close/>
                </a:path>
                <a:path w="2713990" h="353060">
                  <a:moveTo>
                    <a:pt x="2370607" y="300951"/>
                  </a:moveTo>
                  <a:lnTo>
                    <a:pt x="2369527" y="308876"/>
                  </a:lnTo>
                  <a:lnTo>
                    <a:pt x="2400846" y="312839"/>
                  </a:lnTo>
                  <a:lnTo>
                    <a:pt x="2401925" y="304914"/>
                  </a:lnTo>
                  <a:lnTo>
                    <a:pt x="2370607" y="300951"/>
                  </a:lnTo>
                  <a:close/>
                </a:path>
                <a:path w="2713990" h="353060">
                  <a:moveTo>
                    <a:pt x="2308326" y="293039"/>
                  </a:moveTo>
                  <a:lnTo>
                    <a:pt x="2307247" y="300951"/>
                  </a:lnTo>
                  <a:lnTo>
                    <a:pt x="2338565" y="304914"/>
                  </a:lnTo>
                  <a:lnTo>
                    <a:pt x="2339276" y="296989"/>
                  </a:lnTo>
                  <a:lnTo>
                    <a:pt x="2308326" y="293039"/>
                  </a:lnTo>
                  <a:close/>
                </a:path>
                <a:path w="2713990" h="353060">
                  <a:moveTo>
                    <a:pt x="2246045" y="285114"/>
                  </a:moveTo>
                  <a:lnTo>
                    <a:pt x="2244966" y="293039"/>
                  </a:lnTo>
                  <a:lnTo>
                    <a:pt x="2276284" y="296989"/>
                  </a:lnTo>
                  <a:lnTo>
                    <a:pt x="2277008" y="289077"/>
                  </a:lnTo>
                  <a:lnTo>
                    <a:pt x="2246045" y="285114"/>
                  </a:lnTo>
                  <a:close/>
                </a:path>
                <a:path w="2713990" h="353060">
                  <a:moveTo>
                    <a:pt x="2183396" y="277190"/>
                  </a:moveTo>
                  <a:lnTo>
                    <a:pt x="2182685" y="285114"/>
                  </a:lnTo>
                  <a:lnTo>
                    <a:pt x="2213648" y="289077"/>
                  </a:lnTo>
                  <a:lnTo>
                    <a:pt x="2214727" y="281152"/>
                  </a:lnTo>
                  <a:lnTo>
                    <a:pt x="2183396" y="277190"/>
                  </a:lnTo>
                  <a:close/>
                </a:path>
                <a:path w="2713990" h="353060">
                  <a:moveTo>
                    <a:pt x="2121128" y="269278"/>
                  </a:moveTo>
                  <a:lnTo>
                    <a:pt x="2120404" y="277190"/>
                  </a:lnTo>
                  <a:lnTo>
                    <a:pt x="2151367" y="281152"/>
                  </a:lnTo>
                  <a:lnTo>
                    <a:pt x="2152446" y="273240"/>
                  </a:lnTo>
                  <a:lnTo>
                    <a:pt x="2121128" y="269278"/>
                  </a:lnTo>
                  <a:close/>
                </a:path>
                <a:path w="2713990" h="353060">
                  <a:moveTo>
                    <a:pt x="2058847" y="261353"/>
                  </a:moveTo>
                  <a:lnTo>
                    <a:pt x="2057768" y="269278"/>
                  </a:lnTo>
                  <a:lnTo>
                    <a:pt x="2089086" y="273240"/>
                  </a:lnTo>
                  <a:lnTo>
                    <a:pt x="2090165" y="265315"/>
                  </a:lnTo>
                  <a:lnTo>
                    <a:pt x="2058847" y="261353"/>
                  </a:lnTo>
                  <a:close/>
                </a:path>
                <a:path w="2713990" h="353060">
                  <a:moveTo>
                    <a:pt x="1996566" y="253428"/>
                  </a:moveTo>
                  <a:lnTo>
                    <a:pt x="1995487" y="261353"/>
                  </a:lnTo>
                  <a:lnTo>
                    <a:pt x="2026805" y="265315"/>
                  </a:lnTo>
                  <a:lnTo>
                    <a:pt x="2027516" y="257390"/>
                  </a:lnTo>
                  <a:lnTo>
                    <a:pt x="1996566" y="253428"/>
                  </a:lnTo>
                  <a:close/>
                </a:path>
                <a:path w="2713990" h="353060">
                  <a:moveTo>
                    <a:pt x="1934286" y="245516"/>
                  </a:moveTo>
                  <a:lnTo>
                    <a:pt x="1933206" y="253428"/>
                  </a:lnTo>
                  <a:lnTo>
                    <a:pt x="1964524" y="257390"/>
                  </a:lnTo>
                  <a:lnTo>
                    <a:pt x="1965236" y="249478"/>
                  </a:lnTo>
                  <a:lnTo>
                    <a:pt x="1934286" y="245516"/>
                  </a:lnTo>
                  <a:close/>
                </a:path>
                <a:path w="2713990" h="353060">
                  <a:moveTo>
                    <a:pt x="1871637" y="237591"/>
                  </a:moveTo>
                  <a:lnTo>
                    <a:pt x="1870925" y="245516"/>
                  </a:lnTo>
                  <a:lnTo>
                    <a:pt x="1901888" y="249478"/>
                  </a:lnTo>
                  <a:lnTo>
                    <a:pt x="1902967" y="241553"/>
                  </a:lnTo>
                  <a:lnTo>
                    <a:pt x="1871637" y="237591"/>
                  </a:lnTo>
                  <a:close/>
                </a:path>
                <a:path w="2713990" h="353060">
                  <a:moveTo>
                    <a:pt x="1809356" y="229679"/>
                  </a:moveTo>
                  <a:lnTo>
                    <a:pt x="1808645" y="237591"/>
                  </a:lnTo>
                  <a:lnTo>
                    <a:pt x="1839607" y="241553"/>
                  </a:lnTo>
                  <a:lnTo>
                    <a:pt x="1840687" y="233629"/>
                  </a:lnTo>
                  <a:lnTo>
                    <a:pt x="1809356" y="229679"/>
                  </a:lnTo>
                  <a:close/>
                </a:path>
                <a:path w="2713990" h="353060">
                  <a:moveTo>
                    <a:pt x="1747088" y="221754"/>
                  </a:moveTo>
                  <a:lnTo>
                    <a:pt x="1745996" y="229679"/>
                  </a:lnTo>
                  <a:lnTo>
                    <a:pt x="1777326" y="233629"/>
                  </a:lnTo>
                  <a:lnTo>
                    <a:pt x="1778038" y="225717"/>
                  </a:lnTo>
                  <a:lnTo>
                    <a:pt x="1747088" y="221754"/>
                  </a:lnTo>
                  <a:close/>
                </a:path>
                <a:path w="2713990" h="353060">
                  <a:moveTo>
                    <a:pt x="1684807" y="213829"/>
                  </a:moveTo>
                  <a:lnTo>
                    <a:pt x="1683727" y="221754"/>
                  </a:lnTo>
                  <a:lnTo>
                    <a:pt x="1714677" y="225717"/>
                  </a:lnTo>
                  <a:lnTo>
                    <a:pt x="1715757" y="217792"/>
                  </a:lnTo>
                  <a:lnTo>
                    <a:pt x="1684807" y="213829"/>
                  </a:lnTo>
                  <a:close/>
                </a:path>
                <a:path w="2713990" h="353060">
                  <a:moveTo>
                    <a:pt x="1622158" y="205917"/>
                  </a:moveTo>
                  <a:lnTo>
                    <a:pt x="1621447" y="213829"/>
                  </a:lnTo>
                  <a:lnTo>
                    <a:pt x="1652397" y="217792"/>
                  </a:lnTo>
                  <a:lnTo>
                    <a:pt x="1653476" y="209880"/>
                  </a:lnTo>
                  <a:lnTo>
                    <a:pt x="1622158" y="205917"/>
                  </a:lnTo>
                  <a:close/>
                </a:path>
                <a:path w="2713990" h="353060">
                  <a:moveTo>
                    <a:pt x="1559877" y="197992"/>
                  </a:moveTo>
                  <a:lnTo>
                    <a:pt x="1558798" y="205917"/>
                  </a:lnTo>
                  <a:lnTo>
                    <a:pt x="1590116" y="209880"/>
                  </a:lnTo>
                  <a:lnTo>
                    <a:pt x="1591208" y="201955"/>
                  </a:lnTo>
                  <a:lnTo>
                    <a:pt x="1559877" y="197992"/>
                  </a:lnTo>
                  <a:close/>
                </a:path>
                <a:path w="2713990" h="353060">
                  <a:moveTo>
                    <a:pt x="1497596" y="190068"/>
                  </a:moveTo>
                  <a:lnTo>
                    <a:pt x="1496517" y="197992"/>
                  </a:lnTo>
                  <a:lnTo>
                    <a:pt x="1527848" y="201955"/>
                  </a:lnTo>
                  <a:lnTo>
                    <a:pt x="1528927" y="194030"/>
                  </a:lnTo>
                  <a:lnTo>
                    <a:pt x="1497596" y="190068"/>
                  </a:lnTo>
                  <a:close/>
                </a:path>
                <a:path w="2713990" h="353060">
                  <a:moveTo>
                    <a:pt x="1435328" y="182156"/>
                  </a:moveTo>
                  <a:lnTo>
                    <a:pt x="1434236" y="190068"/>
                  </a:lnTo>
                  <a:lnTo>
                    <a:pt x="1465567" y="194030"/>
                  </a:lnTo>
                  <a:lnTo>
                    <a:pt x="1466278" y="186118"/>
                  </a:lnTo>
                  <a:lnTo>
                    <a:pt x="1435328" y="182156"/>
                  </a:lnTo>
                  <a:close/>
                </a:path>
                <a:path w="2713990" h="353060">
                  <a:moveTo>
                    <a:pt x="1373047" y="174599"/>
                  </a:moveTo>
                  <a:lnTo>
                    <a:pt x="1371968" y="182156"/>
                  </a:lnTo>
                  <a:lnTo>
                    <a:pt x="1402918" y="186118"/>
                  </a:lnTo>
                  <a:lnTo>
                    <a:pt x="1403997" y="178193"/>
                  </a:lnTo>
                  <a:lnTo>
                    <a:pt x="1373047" y="174599"/>
                  </a:lnTo>
                  <a:close/>
                </a:path>
                <a:path w="2713990" h="353060">
                  <a:moveTo>
                    <a:pt x="1310398" y="166319"/>
                  </a:moveTo>
                  <a:lnTo>
                    <a:pt x="1309687" y="174231"/>
                  </a:lnTo>
                  <a:lnTo>
                    <a:pt x="1340637" y="178193"/>
                  </a:lnTo>
                  <a:lnTo>
                    <a:pt x="1341716" y="170268"/>
                  </a:lnTo>
                  <a:lnTo>
                    <a:pt x="1310398" y="166319"/>
                  </a:lnTo>
                  <a:close/>
                </a:path>
                <a:path w="2713990" h="353060">
                  <a:moveTo>
                    <a:pt x="1248117" y="158394"/>
                  </a:moveTo>
                  <a:lnTo>
                    <a:pt x="1247038" y="166674"/>
                  </a:lnTo>
                  <a:lnTo>
                    <a:pt x="1278356" y="170268"/>
                  </a:lnTo>
                  <a:lnTo>
                    <a:pt x="1279436" y="162356"/>
                  </a:lnTo>
                  <a:lnTo>
                    <a:pt x="1248117" y="158394"/>
                  </a:lnTo>
                  <a:close/>
                </a:path>
                <a:path w="2713990" h="353060">
                  <a:moveTo>
                    <a:pt x="1185837" y="150469"/>
                  </a:moveTo>
                  <a:lnTo>
                    <a:pt x="1184757" y="158749"/>
                  </a:lnTo>
                  <a:lnTo>
                    <a:pt x="1216088" y="162712"/>
                  </a:lnTo>
                  <a:lnTo>
                    <a:pt x="1217167" y="154431"/>
                  </a:lnTo>
                  <a:lnTo>
                    <a:pt x="1185837" y="150469"/>
                  </a:lnTo>
                  <a:close/>
                </a:path>
                <a:path w="2713990" h="353060">
                  <a:moveTo>
                    <a:pt x="1123556" y="142557"/>
                  </a:moveTo>
                  <a:lnTo>
                    <a:pt x="1122476" y="150469"/>
                  </a:lnTo>
                  <a:lnTo>
                    <a:pt x="1153439" y="154431"/>
                  </a:lnTo>
                  <a:lnTo>
                    <a:pt x="1154518" y="146519"/>
                  </a:lnTo>
                  <a:lnTo>
                    <a:pt x="1123556" y="142557"/>
                  </a:lnTo>
                  <a:close/>
                </a:path>
                <a:path w="2713990" h="353060">
                  <a:moveTo>
                    <a:pt x="1060919" y="134632"/>
                  </a:moveTo>
                  <a:lnTo>
                    <a:pt x="1060196" y="142557"/>
                  </a:lnTo>
                  <a:lnTo>
                    <a:pt x="1091158" y="146519"/>
                  </a:lnTo>
                  <a:lnTo>
                    <a:pt x="1092238" y="138595"/>
                  </a:lnTo>
                  <a:lnTo>
                    <a:pt x="1060919" y="134632"/>
                  </a:lnTo>
                  <a:close/>
                </a:path>
                <a:path w="2713990" h="353060">
                  <a:moveTo>
                    <a:pt x="998639" y="126707"/>
                  </a:moveTo>
                  <a:lnTo>
                    <a:pt x="997559" y="134632"/>
                  </a:lnTo>
                  <a:lnTo>
                    <a:pt x="1028877" y="138595"/>
                  </a:lnTo>
                  <a:lnTo>
                    <a:pt x="1029957" y="130670"/>
                  </a:lnTo>
                  <a:lnTo>
                    <a:pt x="998639" y="126707"/>
                  </a:lnTo>
                  <a:close/>
                </a:path>
                <a:path w="2713990" h="353060">
                  <a:moveTo>
                    <a:pt x="936358" y="118795"/>
                  </a:moveTo>
                  <a:lnTo>
                    <a:pt x="935278" y="126707"/>
                  </a:lnTo>
                  <a:lnTo>
                    <a:pt x="966597" y="130670"/>
                  </a:lnTo>
                  <a:lnTo>
                    <a:pt x="967676" y="122758"/>
                  </a:lnTo>
                  <a:lnTo>
                    <a:pt x="936358" y="118795"/>
                  </a:lnTo>
                  <a:close/>
                </a:path>
                <a:path w="2713990" h="353060">
                  <a:moveTo>
                    <a:pt x="874077" y="110870"/>
                  </a:moveTo>
                  <a:lnTo>
                    <a:pt x="872998" y="118795"/>
                  </a:lnTo>
                  <a:lnTo>
                    <a:pt x="904316" y="122758"/>
                  </a:lnTo>
                  <a:lnTo>
                    <a:pt x="905040" y="114833"/>
                  </a:lnTo>
                  <a:lnTo>
                    <a:pt x="874077" y="110870"/>
                  </a:lnTo>
                  <a:close/>
                </a:path>
                <a:path w="2713990" h="353060">
                  <a:moveTo>
                    <a:pt x="811441" y="103314"/>
                  </a:moveTo>
                  <a:lnTo>
                    <a:pt x="810717" y="111239"/>
                  </a:lnTo>
                  <a:lnTo>
                    <a:pt x="841679" y="114833"/>
                  </a:lnTo>
                  <a:lnTo>
                    <a:pt x="842759" y="106908"/>
                  </a:lnTo>
                  <a:lnTo>
                    <a:pt x="811441" y="103314"/>
                  </a:lnTo>
                  <a:close/>
                </a:path>
                <a:path w="2713990" h="353060">
                  <a:moveTo>
                    <a:pt x="749160" y="95034"/>
                  </a:moveTo>
                  <a:lnTo>
                    <a:pt x="748436" y="103314"/>
                  </a:lnTo>
                  <a:lnTo>
                    <a:pt x="779399" y="107276"/>
                  </a:lnTo>
                  <a:lnTo>
                    <a:pt x="780478" y="99352"/>
                  </a:lnTo>
                  <a:lnTo>
                    <a:pt x="749160" y="95034"/>
                  </a:lnTo>
                  <a:close/>
                </a:path>
                <a:path w="2713990" h="353060">
                  <a:moveTo>
                    <a:pt x="686879" y="87109"/>
                  </a:moveTo>
                  <a:lnTo>
                    <a:pt x="685800" y="95389"/>
                  </a:lnTo>
                  <a:lnTo>
                    <a:pt x="717118" y="98996"/>
                  </a:lnTo>
                  <a:lnTo>
                    <a:pt x="718197" y="91071"/>
                  </a:lnTo>
                  <a:lnTo>
                    <a:pt x="686879" y="87109"/>
                  </a:lnTo>
                  <a:close/>
                </a:path>
                <a:path w="2713990" h="353060">
                  <a:moveTo>
                    <a:pt x="624598" y="79197"/>
                  </a:moveTo>
                  <a:lnTo>
                    <a:pt x="623519" y="87477"/>
                  </a:lnTo>
                  <a:lnTo>
                    <a:pt x="654837" y="91439"/>
                  </a:lnTo>
                  <a:lnTo>
                    <a:pt x="655561" y="83159"/>
                  </a:lnTo>
                  <a:lnTo>
                    <a:pt x="624598" y="79197"/>
                  </a:lnTo>
                  <a:close/>
                </a:path>
                <a:path w="2713990" h="353060">
                  <a:moveTo>
                    <a:pt x="562317" y="71272"/>
                  </a:moveTo>
                  <a:lnTo>
                    <a:pt x="561238" y="79197"/>
                  </a:lnTo>
                  <a:lnTo>
                    <a:pt x="592556" y="83515"/>
                  </a:lnTo>
                  <a:lnTo>
                    <a:pt x="593280" y="75234"/>
                  </a:lnTo>
                  <a:lnTo>
                    <a:pt x="562317" y="71272"/>
                  </a:lnTo>
                  <a:close/>
                </a:path>
                <a:path w="2713990" h="353060">
                  <a:moveTo>
                    <a:pt x="499681" y="63360"/>
                  </a:moveTo>
                  <a:lnTo>
                    <a:pt x="498957" y="71272"/>
                  </a:lnTo>
                  <a:lnTo>
                    <a:pt x="529920" y="75234"/>
                  </a:lnTo>
                  <a:lnTo>
                    <a:pt x="530999" y="67309"/>
                  </a:lnTo>
                  <a:lnTo>
                    <a:pt x="499681" y="63360"/>
                  </a:lnTo>
                  <a:close/>
                </a:path>
                <a:path w="2713990" h="353060">
                  <a:moveTo>
                    <a:pt x="437400" y="55435"/>
                  </a:moveTo>
                  <a:lnTo>
                    <a:pt x="436676" y="63715"/>
                  </a:lnTo>
                  <a:lnTo>
                    <a:pt x="467639" y="67309"/>
                  </a:lnTo>
                  <a:lnTo>
                    <a:pt x="468718" y="59397"/>
                  </a:lnTo>
                  <a:lnTo>
                    <a:pt x="437400" y="55435"/>
                  </a:lnTo>
                  <a:close/>
                </a:path>
                <a:path w="2713990" h="353060">
                  <a:moveTo>
                    <a:pt x="375119" y="47878"/>
                  </a:moveTo>
                  <a:lnTo>
                    <a:pt x="374040" y="55435"/>
                  </a:lnTo>
                  <a:lnTo>
                    <a:pt x="405358" y="59397"/>
                  </a:lnTo>
                  <a:lnTo>
                    <a:pt x="406082" y="51828"/>
                  </a:lnTo>
                  <a:lnTo>
                    <a:pt x="375119" y="47878"/>
                  </a:lnTo>
                  <a:close/>
                </a:path>
                <a:path w="2713990" h="353060">
                  <a:moveTo>
                    <a:pt x="312839" y="39954"/>
                  </a:moveTo>
                  <a:lnTo>
                    <a:pt x="311759" y="47878"/>
                  </a:lnTo>
                  <a:lnTo>
                    <a:pt x="343077" y="51473"/>
                  </a:lnTo>
                  <a:lnTo>
                    <a:pt x="343801" y="43916"/>
                  </a:lnTo>
                  <a:lnTo>
                    <a:pt x="312839" y="39954"/>
                  </a:lnTo>
                  <a:close/>
                </a:path>
                <a:path w="2713990" h="353060">
                  <a:moveTo>
                    <a:pt x="250202" y="32029"/>
                  </a:moveTo>
                  <a:lnTo>
                    <a:pt x="249478" y="39954"/>
                  </a:lnTo>
                  <a:lnTo>
                    <a:pt x="280441" y="43916"/>
                  </a:lnTo>
                  <a:lnTo>
                    <a:pt x="281520" y="35991"/>
                  </a:lnTo>
                  <a:lnTo>
                    <a:pt x="250202" y="32029"/>
                  </a:lnTo>
                  <a:close/>
                </a:path>
                <a:path w="2713990" h="353060">
                  <a:moveTo>
                    <a:pt x="187921" y="24117"/>
                  </a:moveTo>
                  <a:lnTo>
                    <a:pt x="186842" y="32029"/>
                  </a:lnTo>
                  <a:lnTo>
                    <a:pt x="218160" y="35991"/>
                  </a:lnTo>
                  <a:lnTo>
                    <a:pt x="219240" y="28079"/>
                  </a:lnTo>
                  <a:lnTo>
                    <a:pt x="187921" y="24117"/>
                  </a:lnTo>
                  <a:close/>
                </a:path>
                <a:path w="2713990" h="353060">
                  <a:moveTo>
                    <a:pt x="125641" y="15836"/>
                  </a:moveTo>
                  <a:lnTo>
                    <a:pt x="124561" y="24117"/>
                  </a:lnTo>
                  <a:lnTo>
                    <a:pt x="155879" y="28079"/>
                  </a:lnTo>
                  <a:lnTo>
                    <a:pt x="156959" y="20154"/>
                  </a:lnTo>
                  <a:lnTo>
                    <a:pt x="125641" y="15836"/>
                  </a:lnTo>
                  <a:close/>
                </a:path>
                <a:path w="2713990" h="353060">
                  <a:moveTo>
                    <a:pt x="63360" y="7912"/>
                  </a:moveTo>
                  <a:lnTo>
                    <a:pt x="62280" y="16192"/>
                  </a:lnTo>
                  <a:lnTo>
                    <a:pt x="93599" y="20154"/>
                  </a:lnTo>
                  <a:lnTo>
                    <a:pt x="94322" y="11874"/>
                  </a:lnTo>
                  <a:lnTo>
                    <a:pt x="63360" y="7912"/>
                  </a:lnTo>
                  <a:close/>
                </a:path>
                <a:path w="2713990" h="353060">
                  <a:moveTo>
                    <a:pt x="723" y="0"/>
                  </a:moveTo>
                  <a:lnTo>
                    <a:pt x="0" y="8280"/>
                  </a:lnTo>
                  <a:lnTo>
                    <a:pt x="30962" y="12230"/>
                  </a:lnTo>
                  <a:lnTo>
                    <a:pt x="32042" y="4317"/>
                  </a:lnTo>
                  <a:lnTo>
                    <a:pt x="723" y="0"/>
                  </a:lnTo>
                  <a:close/>
                </a:path>
              </a:pathLst>
            </a:custGeom>
            <a:solidFill>
              <a:srgbClr val="00607E"/>
            </a:solidFill>
          </p:spPr>
          <p:txBody>
            <a:bodyPr wrap="square" lIns="0" tIns="0" rIns="0" bIns="0" rtlCol="0"/>
            <a:lstStyle/>
            <a:p>
              <a:endParaRPr/>
            </a:p>
          </p:txBody>
        </p:sp>
        <p:pic>
          <p:nvPicPr>
            <p:cNvPr id="10" name="object 10"/>
            <p:cNvPicPr/>
            <p:nvPr/>
          </p:nvPicPr>
          <p:blipFill>
            <a:blip r:embed="rId6" cstate="print"/>
            <a:stretch>
              <a:fillRect/>
            </a:stretch>
          </p:blipFill>
          <p:spPr>
            <a:xfrm>
              <a:off x="3528809" y="4041454"/>
              <a:ext cx="66420" cy="72185"/>
            </a:xfrm>
            <a:prstGeom prst="rect">
              <a:avLst/>
            </a:prstGeom>
          </p:spPr>
        </p:pic>
        <p:sp>
          <p:nvSpPr>
            <p:cNvPr id="11" name="object 11"/>
            <p:cNvSpPr/>
            <p:nvPr/>
          </p:nvSpPr>
          <p:spPr>
            <a:xfrm>
              <a:off x="3579837" y="1789210"/>
              <a:ext cx="2734945" cy="1255395"/>
            </a:xfrm>
            <a:custGeom>
              <a:avLst/>
              <a:gdLst/>
              <a:ahLst/>
              <a:cxnLst/>
              <a:rect l="l" t="t" r="r" b="b"/>
              <a:pathLst>
                <a:path w="2734945" h="1255395">
                  <a:moveTo>
                    <a:pt x="1797837" y="1254963"/>
                  </a:moveTo>
                  <a:lnTo>
                    <a:pt x="2734564" y="1254963"/>
                  </a:lnTo>
                </a:path>
                <a:path w="2734945" h="1255395">
                  <a:moveTo>
                    <a:pt x="0" y="1254963"/>
                  </a:moveTo>
                  <a:lnTo>
                    <a:pt x="1004036" y="1254963"/>
                  </a:lnTo>
                </a:path>
                <a:path w="2734945" h="1255395">
                  <a:moveTo>
                    <a:pt x="1803" y="476999"/>
                  </a:moveTo>
                  <a:lnTo>
                    <a:pt x="2734919" y="0"/>
                  </a:lnTo>
                </a:path>
              </a:pathLst>
            </a:custGeom>
            <a:ln w="7199">
              <a:solidFill>
                <a:srgbClr val="00607E"/>
              </a:solidFill>
              <a:prstDash val="dash"/>
            </a:ln>
          </p:spPr>
          <p:txBody>
            <a:bodyPr wrap="square" lIns="0" tIns="0" rIns="0" bIns="0" rtlCol="0"/>
            <a:lstStyle/>
            <a:p>
              <a:endParaRPr/>
            </a:p>
          </p:txBody>
        </p:sp>
      </p:grpSp>
      <p:sp>
        <p:nvSpPr>
          <p:cNvPr id="12" name="object 12"/>
          <p:cNvSpPr/>
          <p:nvPr/>
        </p:nvSpPr>
        <p:spPr>
          <a:xfrm>
            <a:off x="6373076" y="1326599"/>
            <a:ext cx="128905" cy="170180"/>
          </a:xfrm>
          <a:custGeom>
            <a:avLst/>
            <a:gdLst/>
            <a:ahLst/>
            <a:cxnLst/>
            <a:rect l="l" t="t" r="r" b="b"/>
            <a:pathLst>
              <a:path w="128904" h="170180">
                <a:moveTo>
                  <a:pt x="128879" y="0"/>
                </a:moveTo>
                <a:lnTo>
                  <a:pt x="109080" y="0"/>
                </a:lnTo>
                <a:lnTo>
                  <a:pt x="109080" y="72390"/>
                </a:lnTo>
                <a:lnTo>
                  <a:pt x="19799" y="72390"/>
                </a:lnTo>
                <a:lnTo>
                  <a:pt x="19799" y="0"/>
                </a:lnTo>
                <a:lnTo>
                  <a:pt x="0" y="0"/>
                </a:lnTo>
                <a:lnTo>
                  <a:pt x="0" y="72390"/>
                </a:lnTo>
                <a:lnTo>
                  <a:pt x="0" y="90170"/>
                </a:lnTo>
                <a:lnTo>
                  <a:pt x="0" y="170180"/>
                </a:lnTo>
                <a:lnTo>
                  <a:pt x="19799" y="170180"/>
                </a:lnTo>
                <a:lnTo>
                  <a:pt x="19799" y="90170"/>
                </a:lnTo>
                <a:lnTo>
                  <a:pt x="109080" y="90170"/>
                </a:lnTo>
                <a:lnTo>
                  <a:pt x="109080" y="170180"/>
                </a:lnTo>
                <a:lnTo>
                  <a:pt x="128879" y="170180"/>
                </a:lnTo>
                <a:lnTo>
                  <a:pt x="128879" y="90170"/>
                </a:lnTo>
                <a:lnTo>
                  <a:pt x="128879" y="72390"/>
                </a:lnTo>
                <a:lnTo>
                  <a:pt x="128879" y="0"/>
                </a:lnTo>
                <a:close/>
              </a:path>
            </a:pathLst>
          </a:custGeom>
          <a:solidFill>
            <a:srgbClr val="454C4C"/>
          </a:solidFill>
        </p:spPr>
        <p:txBody>
          <a:bodyPr wrap="square" lIns="0" tIns="0" rIns="0" bIns="0" rtlCol="0"/>
          <a:lstStyle/>
          <a:p>
            <a:endParaRPr/>
          </a:p>
        </p:txBody>
      </p:sp>
      <p:grpSp>
        <p:nvGrpSpPr>
          <p:cNvPr id="13" name="object 13"/>
          <p:cNvGrpSpPr/>
          <p:nvPr/>
        </p:nvGrpSpPr>
        <p:grpSpPr>
          <a:xfrm>
            <a:off x="6548755" y="1326244"/>
            <a:ext cx="309245" cy="170180"/>
            <a:chOff x="6548755" y="1326244"/>
            <a:chExt cx="309245" cy="170180"/>
          </a:xfrm>
        </p:grpSpPr>
        <p:pic>
          <p:nvPicPr>
            <p:cNvPr id="14" name="object 14"/>
            <p:cNvPicPr/>
            <p:nvPr/>
          </p:nvPicPr>
          <p:blipFill>
            <a:blip r:embed="rId7" cstate="print"/>
            <a:stretch>
              <a:fillRect/>
            </a:stretch>
          </p:blipFill>
          <p:spPr>
            <a:xfrm>
              <a:off x="6548755" y="1326244"/>
              <a:ext cx="135724" cy="169925"/>
            </a:xfrm>
            <a:prstGeom prst="rect">
              <a:avLst/>
            </a:prstGeom>
          </p:spPr>
        </p:pic>
        <p:pic>
          <p:nvPicPr>
            <p:cNvPr id="15" name="object 15"/>
            <p:cNvPicPr/>
            <p:nvPr/>
          </p:nvPicPr>
          <p:blipFill>
            <a:blip r:embed="rId8" cstate="print"/>
            <a:stretch>
              <a:fillRect/>
            </a:stretch>
          </p:blipFill>
          <p:spPr>
            <a:xfrm>
              <a:off x="6722275" y="1326244"/>
              <a:ext cx="135724" cy="169925"/>
            </a:xfrm>
            <a:prstGeom prst="rect">
              <a:avLst/>
            </a:prstGeom>
          </p:spPr>
        </p:pic>
      </p:grpSp>
      <p:sp>
        <p:nvSpPr>
          <p:cNvPr id="16" name="object 16"/>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7" name="object 17"/>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43</a:t>
            </a:fld>
            <a:r>
              <a:rPr spc="-10" dirty="0"/>
              <a:t>/60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OSDs</a:t>
            </a:r>
            <a:r>
              <a:rPr spc="-305" dirty="0"/>
              <a:t> </a:t>
            </a:r>
            <a:r>
              <a:rPr dirty="0"/>
              <a:t>in</a:t>
            </a:r>
            <a:r>
              <a:rPr spc="-300" dirty="0"/>
              <a:t> </a:t>
            </a:r>
            <a:r>
              <a:rPr spc="-75" dirty="0"/>
              <a:t>a</a:t>
            </a:r>
            <a:r>
              <a:rPr spc="-300" dirty="0"/>
              <a:t> </a:t>
            </a:r>
            <a:r>
              <a:rPr dirty="0"/>
              <a:t>Three–Node</a:t>
            </a:r>
            <a:r>
              <a:rPr spc="-300" dirty="0"/>
              <a:t> </a:t>
            </a:r>
            <a:r>
              <a:rPr spc="50" dirty="0"/>
              <a:t>Ceph</a:t>
            </a:r>
            <a:r>
              <a:rPr spc="-300" dirty="0"/>
              <a:t> </a:t>
            </a:r>
            <a:r>
              <a:rPr spc="55" dirty="0"/>
              <a:t>Cluster</a:t>
            </a:r>
          </a:p>
        </p:txBody>
      </p:sp>
      <p:grpSp>
        <p:nvGrpSpPr>
          <p:cNvPr id="3" name="object 3"/>
          <p:cNvGrpSpPr/>
          <p:nvPr/>
        </p:nvGrpSpPr>
        <p:grpSpPr>
          <a:xfrm>
            <a:off x="788034" y="1326244"/>
            <a:ext cx="2662555" cy="3288665"/>
            <a:chOff x="788034" y="1326244"/>
            <a:chExt cx="2662555" cy="3288665"/>
          </a:xfrm>
        </p:grpSpPr>
        <p:sp>
          <p:nvSpPr>
            <p:cNvPr id="4" name="object 4"/>
            <p:cNvSpPr/>
            <p:nvPr/>
          </p:nvSpPr>
          <p:spPr>
            <a:xfrm>
              <a:off x="788034" y="1326244"/>
              <a:ext cx="2662555" cy="3288665"/>
            </a:xfrm>
            <a:custGeom>
              <a:avLst/>
              <a:gdLst/>
              <a:ahLst/>
              <a:cxnLst/>
              <a:rect l="l" t="t" r="r" b="b"/>
              <a:pathLst>
                <a:path w="2662554" h="3288665">
                  <a:moveTo>
                    <a:pt x="2387879" y="0"/>
                  </a:moveTo>
                  <a:lnTo>
                    <a:pt x="274320" y="0"/>
                  </a:lnTo>
                  <a:lnTo>
                    <a:pt x="224998" y="4417"/>
                  </a:lnTo>
                  <a:lnTo>
                    <a:pt x="178582" y="17155"/>
                  </a:lnTo>
                  <a:lnTo>
                    <a:pt x="135844" y="37439"/>
                  </a:lnTo>
                  <a:lnTo>
                    <a:pt x="97560" y="64497"/>
                  </a:lnTo>
                  <a:lnTo>
                    <a:pt x="64501" y="97554"/>
                  </a:lnTo>
                  <a:lnTo>
                    <a:pt x="37442" y="135839"/>
                  </a:lnTo>
                  <a:lnTo>
                    <a:pt x="17156" y="178577"/>
                  </a:lnTo>
                  <a:lnTo>
                    <a:pt x="4418" y="224995"/>
                  </a:lnTo>
                  <a:lnTo>
                    <a:pt x="0" y="274320"/>
                  </a:lnTo>
                  <a:lnTo>
                    <a:pt x="0" y="3013925"/>
                  </a:lnTo>
                  <a:lnTo>
                    <a:pt x="4418" y="3063250"/>
                  </a:lnTo>
                  <a:lnTo>
                    <a:pt x="17156" y="3109668"/>
                  </a:lnTo>
                  <a:lnTo>
                    <a:pt x="37442" y="3152406"/>
                  </a:lnTo>
                  <a:lnTo>
                    <a:pt x="64501" y="3190691"/>
                  </a:lnTo>
                  <a:lnTo>
                    <a:pt x="97560" y="3223748"/>
                  </a:lnTo>
                  <a:lnTo>
                    <a:pt x="135844" y="3250806"/>
                  </a:lnTo>
                  <a:lnTo>
                    <a:pt x="178582" y="3271090"/>
                  </a:lnTo>
                  <a:lnTo>
                    <a:pt x="224998" y="3283828"/>
                  </a:lnTo>
                  <a:lnTo>
                    <a:pt x="274320" y="3288245"/>
                  </a:lnTo>
                  <a:lnTo>
                    <a:pt x="1331290"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5" name="object 5"/>
            <p:cNvSpPr/>
            <p:nvPr/>
          </p:nvSpPr>
          <p:spPr>
            <a:xfrm>
              <a:off x="1124280" y="2141647"/>
              <a:ext cx="821055" cy="2381250"/>
            </a:xfrm>
            <a:custGeom>
              <a:avLst/>
              <a:gdLst/>
              <a:ahLst/>
              <a:cxnLst/>
              <a:rect l="l" t="t" r="r" b="b"/>
              <a:pathLst>
                <a:path w="821055" h="2381250">
                  <a:moveTo>
                    <a:pt x="820801" y="1190523"/>
                  </a:moveTo>
                  <a:lnTo>
                    <a:pt x="820801" y="165595"/>
                  </a:lnTo>
                  <a:lnTo>
                    <a:pt x="814911" y="121578"/>
                  </a:lnTo>
                  <a:lnTo>
                    <a:pt x="798281" y="82023"/>
                  </a:lnTo>
                  <a:lnTo>
                    <a:pt x="772471" y="48507"/>
                  </a:lnTo>
                  <a:lnTo>
                    <a:pt x="739041" y="22612"/>
                  </a:lnTo>
                  <a:lnTo>
                    <a:pt x="699551" y="5916"/>
                  </a:lnTo>
                  <a:lnTo>
                    <a:pt x="655561" y="0"/>
                  </a:lnTo>
                  <a:lnTo>
                    <a:pt x="165595" y="0"/>
                  </a:lnTo>
                  <a:lnTo>
                    <a:pt x="121578" y="5916"/>
                  </a:lnTo>
                  <a:lnTo>
                    <a:pt x="82023" y="22612"/>
                  </a:lnTo>
                  <a:lnTo>
                    <a:pt x="48507" y="48507"/>
                  </a:lnTo>
                  <a:lnTo>
                    <a:pt x="22612" y="82023"/>
                  </a:lnTo>
                  <a:lnTo>
                    <a:pt x="5916" y="121578"/>
                  </a:lnTo>
                  <a:lnTo>
                    <a:pt x="0" y="165595"/>
                  </a:lnTo>
                  <a:lnTo>
                    <a:pt x="0" y="2215438"/>
                  </a:lnTo>
                  <a:lnTo>
                    <a:pt x="5916" y="2259456"/>
                  </a:lnTo>
                  <a:lnTo>
                    <a:pt x="22612" y="2299014"/>
                  </a:lnTo>
                  <a:lnTo>
                    <a:pt x="48507" y="2332532"/>
                  </a:lnTo>
                  <a:lnTo>
                    <a:pt x="82023" y="2358431"/>
                  </a:lnTo>
                  <a:lnTo>
                    <a:pt x="121578" y="2375129"/>
                  </a:lnTo>
                  <a:lnTo>
                    <a:pt x="165595" y="2381046"/>
                  </a:lnTo>
                  <a:lnTo>
                    <a:pt x="655561" y="2381046"/>
                  </a:lnTo>
                  <a:lnTo>
                    <a:pt x="699551" y="2375129"/>
                  </a:lnTo>
                  <a:lnTo>
                    <a:pt x="739041" y="2358431"/>
                  </a:lnTo>
                  <a:lnTo>
                    <a:pt x="772471" y="2332532"/>
                  </a:lnTo>
                  <a:lnTo>
                    <a:pt x="798281" y="2299014"/>
                  </a:lnTo>
                  <a:lnTo>
                    <a:pt x="814911"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6" name="object 6"/>
            <p:cNvSpPr/>
            <p:nvPr/>
          </p:nvSpPr>
          <p:spPr>
            <a:xfrm>
              <a:off x="1127163" y="3330723"/>
              <a:ext cx="824230" cy="1208405"/>
            </a:xfrm>
            <a:custGeom>
              <a:avLst/>
              <a:gdLst/>
              <a:ahLst/>
              <a:cxnLst/>
              <a:rect l="l" t="t" r="r" b="b"/>
              <a:pathLst>
                <a:path w="824230" h="1208404">
                  <a:moveTo>
                    <a:pt x="823671" y="0"/>
                  </a:moveTo>
                  <a:lnTo>
                    <a:pt x="1435" y="2527"/>
                  </a:lnTo>
                  <a:lnTo>
                    <a:pt x="0" y="1041844"/>
                  </a:lnTo>
                  <a:lnTo>
                    <a:pt x="5917" y="1086011"/>
                  </a:lnTo>
                  <a:lnTo>
                    <a:pt x="22625" y="1125670"/>
                  </a:lnTo>
                  <a:lnTo>
                    <a:pt x="48552" y="1159249"/>
                  </a:lnTo>
                  <a:lnTo>
                    <a:pt x="82128" y="1185179"/>
                  </a:lnTo>
                  <a:lnTo>
                    <a:pt x="121784" y="1201889"/>
                  </a:lnTo>
                  <a:lnTo>
                    <a:pt x="165950" y="1207808"/>
                  </a:lnTo>
                  <a:lnTo>
                    <a:pt x="656640" y="1207808"/>
                  </a:lnTo>
                  <a:lnTo>
                    <a:pt x="700780" y="1201889"/>
                  </a:lnTo>
                  <a:lnTo>
                    <a:pt x="740370" y="1185179"/>
                  </a:lnTo>
                  <a:lnTo>
                    <a:pt x="773861" y="1159249"/>
                  </a:lnTo>
                  <a:lnTo>
                    <a:pt x="799703" y="1125670"/>
                  </a:lnTo>
                  <a:lnTo>
                    <a:pt x="816344" y="1086011"/>
                  </a:lnTo>
                  <a:lnTo>
                    <a:pt x="822236" y="1041844"/>
                  </a:lnTo>
                  <a:lnTo>
                    <a:pt x="822154" y="743889"/>
                  </a:lnTo>
                  <a:lnTo>
                    <a:pt x="822682" y="400773"/>
                  </a:lnTo>
                  <a:lnTo>
                    <a:pt x="823345" y="117732"/>
                  </a:lnTo>
                  <a:lnTo>
                    <a:pt x="823664" y="2527"/>
                  </a:lnTo>
                  <a:lnTo>
                    <a:pt x="823671" y="0"/>
                  </a:lnTo>
                  <a:close/>
                </a:path>
              </a:pathLst>
            </a:custGeom>
            <a:solidFill>
              <a:srgbClr val="00607E"/>
            </a:solidFill>
          </p:spPr>
          <p:txBody>
            <a:bodyPr wrap="square" lIns="0" tIns="0" rIns="0" bIns="0" rtlCol="0"/>
            <a:lstStyle/>
            <a:p>
              <a:endParaRPr/>
            </a:p>
          </p:txBody>
        </p:sp>
        <p:sp>
          <p:nvSpPr>
            <p:cNvPr id="7" name="object 7"/>
            <p:cNvSpPr/>
            <p:nvPr/>
          </p:nvSpPr>
          <p:spPr>
            <a:xfrm>
              <a:off x="2293200" y="2141647"/>
              <a:ext cx="821055" cy="2381250"/>
            </a:xfrm>
            <a:custGeom>
              <a:avLst/>
              <a:gdLst/>
              <a:ahLst/>
              <a:cxnLst/>
              <a:rect l="l" t="t" r="r" b="b"/>
              <a:pathLst>
                <a:path w="821055" h="2381250">
                  <a:moveTo>
                    <a:pt x="820801" y="1190523"/>
                  </a:moveTo>
                  <a:lnTo>
                    <a:pt x="820801" y="165595"/>
                  </a:lnTo>
                  <a:lnTo>
                    <a:pt x="814883" y="121578"/>
                  </a:lnTo>
                  <a:lnTo>
                    <a:pt x="798185" y="82023"/>
                  </a:lnTo>
                  <a:lnTo>
                    <a:pt x="772287" y="48507"/>
                  </a:lnTo>
                  <a:lnTo>
                    <a:pt x="738768" y="22612"/>
                  </a:lnTo>
                  <a:lnTo>
                    <a:pt x="699210" y="5916"/>
                  </a:lnTo>
                  <a:lnTo>
                    <a:pt x="655193" y="0"/>
                  </a:lnTo>
                  <a:lnTo>
                    <a:pt x="165239" y="0"/>
                  </a:lnTo>
                  <a:lnTo>
                    <a:pt x="121373" y="5916"/>
                  </a:lnTo>
                  <a:lnTo>
                    <a:pt x="81917" y="22612"/>
                  </a:lnTo>
                  <a:lnTo>
                    <a:pt x="48463" y="48507"/>
                  </a:lnTo>
                  <a:lnTo>
                    <a:pt x="22598" y="82023"/>
                  </a:lnTo>
                  <a:lnTo>
                    <a:pt x="5914" y="121578"/>
                  </a:lnTo>
                  <a:lnTo>
                    <a:pt x="0" y="165595"/>
                  </a:lnTo>
                  <a:lnTo>
                    <a:pt x="0" y="2215438"/>
                  </a:lnTo>
                  <a:lnTo>
                    <a:pt x="5914" y="2259456"/>
                  </a:lnTo>
                  <a:lnTo>
                    <a:pt x="22598" y="2299014"/>
                  </a:lnTo>
                  <a:lnTo>
                    <a:pt x="48463" y="2332532"/>
                  </a:lnTo>
                  <a:lnTo>
                    <a:pt x="81917" y="2358431"/>
                  </a:lnTo>
                  <a:lnTo>
                    <a:pt x="121373" y="2375129"/>
                  </a:lnTo>
                  <a:lnTo>
                    <a:pt x="165239" y="2381046"/>
                  </a:lnTo>
                  <a:lnTo>
                    <a:pt x="655193" y="2381046"/>
                  </a:lnTo>
                  <a:lnTo>
                    <a:pt x="699210" y="2375129"/>
                  </a:lnTo>
                  <a:lnTo>
                    <a:pt x="738768" y="2358431"/>
                  </a:lnTo>
                  <a:lnTo>
                    <a:pt x="772287" y="2332532"/>
                  </a:lnTo>
                  <a:lnTo>
                    <a:pt x="798185" y="2299014"/>
                  </a:lnTo>
                  <a:lnTo>
                    <a:pt x="814883"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8" name="object 8"/>
            <p:cNvSpPr/>
            <p:nvPr/>
          </p:nvSpPr>
          <p:spPr>
            <a:xfrm>
              <a:off x="2296083" y="3330723"/>
              <a:ext cx="824230" cy="1208405"/>
            </a:xfrm>
            <a:custGeom>
              <a:avLst/>
              <a:gdLst/>
              <a:ahLst/>
              <a:cxnLst/>
              <a:rect l="l" t="t" r="r" b="b"/>
              <a:pathLst>
                <a:path w="824230" h="1208404">
                  <a:moveTo>
                    <a:pt x="823671" y="0"/>
                  </a:moveTo>
                  <a:lnTo>
                    <a:pt x="1079" y="2527"/>
                  </a:lnTo>
                  <a:lnTo>
                    <a:pt x="0" y="1041844"/>
                  </a:lnTo>
                  <a:lnTo>
                    <a:pt x="5763" y="1086011"/>
                  </a:lnTo>
                  <a:lnTo>
                    <a:pt x="22369" y="1125670"/>
                  </a:lnTo>
                  <a:lnTo>
                    <a:pt x="48236" y="1159249"/>
                  </a:lnTo>
                  <a:lnTo>
                    <a:pt x="81783" y="1185179"/>
                  </a:lnTo>
                  <a:lnTo>
                    <a:pt x="121429" y="1201889"/>
                  </a:lnTo>
                  <a:lnTo>
                    <a:pt x="165595" y="1207808"/>
                  </a:lnTo>
                  <a:lnTo>
                    <a:pt x="656272" y="1207808"/>
                  </a:lnTo>
                  <a:lnTo>
                    <a:pt x="700443" y="1201889"/>
                  </a:lnTo>
                  <a:lnTo>
                    <a:pt x="740103" y="1185179"/>
                  </a:lnTo>
                  <a:lnTo>
                    <a:pt x="773682" y="1159249"/>
                  </a:lnTo>
                  <a:lnTo>
                    <a:pt x="799610" y="1125670"/>
                  </a:lnTo>
                  <a:lnTo>
                    <a:pt x="816318" y="1086011"/>
                  </a:lnTo>
                  <a:lnTo>
                    <a:pt x="822236" y="1041844"/>
                  </a:lnTo>
                  <a:lnTo>
                    <a:pt x="822154" y="743889"/>
                  </a:lnTo>
                  <a:lnTo>
                    <a:pt x="822682" y="400773"/>
                  </a:lnTo>
                  <a:lnTo>
                    <a:pt x="823345" y="117732"/>
                  </a:lnTo>
                  <a:lnTo>
                    <a:pt x="823664" y="2527"/>
                  </a:lnTo>
                  <a:lnTo>
                    <a:pt x="823671" y="0"/>
                  </a:lnTo>
                  <a:close/>
                </a:path>
              </a:pathLst>
            </a:custGeom>
            <a:solidFill>
              <a:srgbClr val="00607E"/>
            </a:solidFill>
          </p:spPr>
          <p:txBody>
            <a:bodyPr wrap="square" lIns="0" tIns="0" rIns="0" bIns="0" rtlCol="0"/>
            <a:lstStyle/>
            <a:p>
              <a:endParaRPr/>
            </a:p>
          </p:txBody>
        </p:sp>
      </p:grpSp>
      <p:sp>
        <p:nvSpPr>
          <p:cNvPr id="9" name="object 9"/>
          <p:cNvSpPr txBox="1"/>
          <p:nvPr/>
        </p:nvSpPr>
        <p:spPr>
          <a:xfrm>
            <a:off x="1279080" y="1270276"/>
            <a:ext cx="1706880" cy="724535"/>
          </a:xfrm>
          <a:prstGeom prst="rect">
            <a:avLst/>
          </a:prstGeom>
        </p:spPr>
        <p:txBody>
          <a:bodyPr vert="horz" wrap="square" lIns="0" tIns="127000" rIns="0" bIns="0" rtlCol="0">
            <a:spAutoFit/>
          </a:bodyPr>
          <a:lstStyle/>
          <a:p>
            <a:pPr algn="ctr">
              <a:lnSpc>
                <a:spcPct val="100000"/>
              </a:lnSpc>
              <a:spcBef>
                <a:spcPts val="100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1</a:t>
            </a:r>
            <a:endParaRPr sz="1900">
              <a:latin typeface="Lucida Sans Unicode"/>
              <a:cs typeface="Lucida Sans Unicode"/>
            </a:endParaRPr>
          </a:p>
          <a:p>
            <a:pPr algn="ctr">
              <a:lnSpc>
                <a:spcPct val="100000"/>
              </a:lnSpc>
              <a:spcBef>
                <a:spcPts val="640"/>
              </a:spcBef>
              <a:tabLst>
                <a:tab pos="1168400" algn="l"/>
              </a:tabLst>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1</a:t>
            </a:r>
            <a:r>
              <a:rPr sz="1400" dirty="0">
                <a:solidFill>
                  <a:srgbClr val="454C4C"/>
                </a:solidFill>
                <a:latin typeface="Lucida Sans Unicode"/>
                <a:cs typeface="Lucida Sans Unicode"/>
              </a:rPr>
              <a:t>	</a:t>
            </a: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2</a:t>
            </a:r>
            <a:endParaRPr sz="1400">
              <a:latin typeface="Lucida Sans Unicode"/>
              <a:cs typeface="Lucida Sans Unicode"/>
            </a:endParaRPr>
          </a:p>
        </p:txBody>
      </p:sp>
      <p:sp>
        <p:nvSpPr>
          <p:cNvPr id="10" name="object 10"/>
          <p:cNvSpPr/>
          <p:nvPr/>
        </p:nvSpPr>
        <p:spPr>
          <a:xfrm>
            <a:off x="3708006"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1277" y="3288245"/>
                </a:lnTo>
                <a:lnTo>
                  <a:pt x="2387879" y="3288245"/>
                </a:lnTo>
                <a:lnTo>
                  <a:pt x="2437200" y="3283828"/>
                </a:lnTo>
                <a:lnTo>
                  <a:pt x="2483617" y="3271090"/>
                </a:lnTo>
                <a:lnTo>
                  <a:pt x="2526354" y="3250806"/>
                </a:lnTo>
                <a:lnTo>
                  <a:pt x="2564639" y="3223748"/>
                </a:lnTo>
                <a:lnTo>
                  <a:pt x="2597698" y="3190691"/>
                </a:lnTo>
                <a:lnTo>
                  <a:pt x="2624756" y="3152406"/>
                </a:lnTo>
                <a:lnTo>
                  <a:pt x="2645042" y="3109668"/>
                </a:lnTo>
                <a:lnTo>
                  <a:pt x="2657781" y="3063250"/>
                </a:lnTo>
                <a:lnTo>
                  <a:pt x="2662199" y="3013925"/>
                </a:lnTo>
                <a:lnTo>
                  <a:pt x="2662199" y="274320"/>
                </a:lnTo>
                <a:lnTo>
                  <a:pt x="2657781" y="224995"/>
                </a:lnTo>
                <a:lnTo>
                  <a:pt x="2645042" y="178577"/>
                </a:lnTo>
                <a:lnTo>
                  <a:pt x="2624756" y="135839"/>
                </a:lnTo>
                <a:lnTo>
                  <a:pt x="2597698" y="97554"/>
                </a:lnTo>
                <a:lnTo>
                  <a:pt x="2564639" y="64497"/>
                </a:lnTo>
                <a:lnTo>
                  <a:pt x="2526354" y="37439"/>
                </a:lnTo>
                <a:lnTo>
                  <a:pt x="2483617" y="17155"/>
                </a:lnTo>
                <a:lnTo>
                  <a:pt x="2437200" y="4417"/>
                </a:lnTo>
                <a:lnTo>
                  <a:pt x="2387879" y="0"/>
                </a:lnTo>
                <a:close/>
              </a:path>
            </a:pathLst>
          </a:custGeom>
          <a:solidFill>
            <a:srgbClr val="ECECEC"/>
          </a:solidFill>
        </p:spPr>
        <p:txBody>
          <a:bodyPr wrap="square" lIns="0" tIns="0" rIns="0" bIns="0" rtlCol="0"/>
          <a:lstStyle/>
          <a:p>
            <a:endParaRPr/>
          </a:p>
        </p:txBody>
      </p:sp>
      <p:sp>
        <p:nvSpPr>
          <p:cNvPr id="11" name="object 11"/>
          <p:cNvSpPr txBox="1"/>
          <p:nvPr/>
        </p:nvSpPr>
        <p:spPr>
          <a:xfrm>
            <a:off x="4607686" y="1381159"/>
            <a:ext cx="848360" cy="320040"/>
          </a:xfrm>
          <a:prstGeom prst="rect">
            <a:avLst/>
          </a:prstGeom>
        </p:spPr>
        <p:txBody>
          <a:bodyPr vert="horz" wrap="square" lIns="0" tIns="16510" rIns="0" bIns="0" rtlCol="0">
            <a:spAutoFit/>
          </a:bodyPr>
          <a:lstStyle/>
          <a:p>
            <a:pPr marL="12700">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2</a:t>
            </a:r>
            <a:endParaRPr sz="1900">
              <a:latin typeface="Lucida Sans Unicode"/>
              <a:cs typeface="Lucida Sans Unicode"/>
            </a:endParaRPr>
          </a:p>
        </p:txBody>
      </p:sp>
      <p:sp>
        <p:nvSpPr>
          <p:cNvPr id="12" name="object 12"/>
          <p:cNvSpPr txBox="1"/>
          <p:nvPr/>
        </p:nvSpPr>
        <p:spPr>
          <a:xfrm>
            <a:off x="4198924"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3</a:t>
            </a:r>
            <a:endParaRPr sz="1400">
              <a:latin typeface="Lucida Sans Unicode"/>
              <a:cs typeface="Lucida Sans Unicode"/>
            </a:endParaRPr>
          </a:p>
        </p:txBody>
      </p:sp>
      <p:grpSp>
        <p:nvGrpSpPr>
          <p:cNvPr id="13" name="object 13"/>
          <p:cNvGrpSpPr/>
          <p:nvPr/>
        </p:nvGrpSpPr>
        <p:grpSpPr>
          <a:xfrm>
            <a:off x="4029599" y="2127009"/>
            <a:ext cx="2019300" cy="2411730"/>
            <a:chOff x="4029599" y="2127009"/>
            <a:chExt cx="2019300" cy="2411730"/>
          </a:xfrm>
        </p:grpSpPr>
        <p:sp>
          <p:nvSpPr>
            <p:cNvPr id="14" name="object 14"/>
            <p:cNvSpPr/>
            <p:nvPr/>
          </p:nvSpPr>
          <p:spPr>
            <a:xfrm>
              <a:off x="4044238" y="2141647"/>
              <a:ext cx="821055" cy="2381250"/>
            </a:xfrm>
            <a:custGeom>
              <a:avLst/>
              <a:gdLst/>
              <a:ahLst/>
              <a:cxnLst/>
              <a:rect l="l" t="t" r="r" b="b"/>
              <a:pathLst>
                <a:path w="821054" h="2381250">
                  <a:moveTo>
                    <a:pt x="820801" y="1190523"/>
                  </a:moveTo>
                  <a:lnTo>
                    <a:pt x="820801" y="165595"/>
                  </a:lnTo>
                  <a:lnTo>
                    <a:pt x="814911" y="121578"/>
                  </a:lnTo>
                  <a:lnTo>
                    <a:pt x="798281" y="82023"/>
                  </a:lnTo>
                  <a:lnTo>
                    <a:pt x="772471" y="48507"/>
                  </a:lnTo>
                  <a:lnTo>
                    <a:pt x="739041" y="22612"/>
                  </a:lnTo>
                  <a:lnTo>
                    <a:pt x="699551" y="5916"/>
                  </a:lnTo>
                  <a:lnTo>
                    <a:pt x="655561" y="0"/>
                  </a:lnTo>
                  <a:lnTo>
                    <a:pt x="165595" y="0"/>
                  </a:lnTo>
                  <a:lnTo>
                    <a:pt x="121578" y="5916"/>
                  </a:lnTo>
                  <a:lnTo>
                    <a:pt x="82023" y="22612"/>
                  </a:lnTo>
                  <a:lnTo>
                    <a:pt x="48507" y="48507"/>
                  </a:lnTo>
                  <a:lnTo>
                    <a:pt x="22612" y="82023"/>
                  </a:lnTo>
                  <a:lnTo>
                    <a:pt x="5916" y="121578"/>
                  </a:lnTo>
                  <a:lnTo>
                    <a:pt x="0" y="165595"/>
                  </a:lnTo>
                  <a:lnTo>
                    <a:pt x="0" y="2215438"/>
                  </a:lnTo>
                  <a:lnTo>
                    <a:pt x="5916" y="2259456"/>
                  </a:lnTo>
                  <a:lnTo>
                    <a:pt x="22612" y="2299014"/>
                  </a:lnTo>
                  <a:lnTo>
                    <a:pt x="48507" y="2332532"/>
                  </a:lnTo>
                  <a:lnTo>
                    <a:pt x="82023" y="2358431"/>
                  </a:lnTo>
                  <a:lnTo>
                    <a:pt x="121578" y="2375129"/>
                  </a:lnTo>
                  <a:lnTo>
                    <a:pt x="165595" y="2381046"/>
                  </a:lnTo>
                  <a:lnTo>
                    <a:pt x="655561" y="2381046"/>
                  </a:lnTo>
                  <a:lnTo>
                    <a:pt x="699551" y="2375129"/>
                  </a:lnTo>
                  <a:lnTo>
                    <a:pt x="739041" y="2358431"/>
                  </a:lnTo>
                  <a:lnTo>
                    <a:pt x="772471" y="2332532"/>
                  </a:lnTo>
                  <a:lnTo>
                    <a:pt x="798281" y="2299014"/>
                  </a:lnTo>
                  <a:lnTo>
                    <a:pt x="814911"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15" name="object 15"/>
            <p:cNvSpPr/>
            <p:nvPr/>
          </p:nvSpPr>
          <p:spPr>
            <a:xfrm>
              <a:off x="4047121" y="3330723"/>
              <a:ext cx="824230" cy="1208405"/>
            </a:xfrm>
            <a:custGeom>
              <a:avLst/>
              <a:gdLst/>
              <a:ahLst/>
              <a:cxnLst/>
              <a:rect l="l" t="t" r="r" b="b"/>
              <a:pathLst>
                <a:path w="824229" h="1208404">
                  <a:moveTo>
                    <a:pt x="823683" y="0"/>
                  </a:moveTo>
                  <a:lnTo>
                    <a:pt x="1435" y="2527"/>
                  </a:lnTo>
                  <a:lnTo>
                    <a:pt x="0" y="1041844"/>
                  </a:lnTo>
                  <a:lnTo>
                    <a:pt x="5893" y="1086011"/>
                  </a:lnTo>
                  <a:lnTo>
                    <a:pt x="22546" y="1125670"/>
                  </a:lnTo>
                  <a:lnTo>
                    <a:pt x="48420" y="1159249"/>
                  </a:lnTo>
                  <a:lnTo>
                    <a:pt x="81974" y="1185179"/>
                  </a:lnTo>
                  <a:lnTo>
                    <a:pt x="121668" y="1201889"/>
                  </a:lnTo>
                  <a:lnTo>
                    <a:pt x="165963" y="1207808"/>
                  </a:lnTo>
                  <a:lnTo>
                    <a:pt x="656640" y="1207808"/>
                  </a:lnTo>
                  <a:lnTo>
                    <a:pt x="700780" y="1201889"/>
                  </a:lnTo>
                  <a:lnTo>
                    <a:pt x="740370" y="1185179"/>
                  </a:lnTo>
                  <a:lnTo>
                    <a:pt x="773861" y="1159249"/>
                  </a:lnTo>
                  <a:lnTo>
                    <a:pt x="799703" y="1125670"/>
                  </a:lnTo>
                  <a:lnTo>
                    <a:pt x="816344" y="1086011"/>
                  </a:lnTo>
                  <a:lnTo>
                    <a:pt x="822236" y="1041844"/>
                  </a:lnTo>
                  <a:lnTo>
                    <a:pt x="822156" y="743889"/>
                  </a:lnTo>
                  <a:lnTo>
                    <a:pt x="822688" y="400773"/>
                  </a:lnTo>
                  <a:lnTo>
                    <a:pt x="823355" y="117732"/>
                  </a:lnTo>
                  <a:lnTo>
                    <a:pt x="823676" y="2527"/>
                  </a:lnTo>
                  <a:lnTo>
                    <a:pt x="823683" y="0"/>
                  </a:lnTo>
                  <a:close/>
                </a:path>
              </a:pathLst>
            </a:custGeom>
            <a:solidFill>
              <a:srgbClr val="00607E"/>
            </a:solidFill>
          </p:spPr>
          <p:txBody>
            <a:bodyPr wrap="square" lIns="0" tIns="0" rIns="0" bIns="0" rtlCol="0"/>
            <a:lstStyle/>
            <a:p>
              <a:endParaRPr/>
            </a:p>
          </p:txBody>
        </p:sp>
        <p:sp>
          <p:nvSpPr>
            <p:cNvPr id="16" name="object 16"/>
            <p:cNvSpPr/>
            <p:nvPr/>
          </p:nvSpPr>
          <p:spPr>
            <a:xfrm>
              <a:off x="5213159" y="2141647"/>
              <a:ext cx="821055" cy="2381250"/>
            </a:xfrm>
            <a:custGeom>
              <a:avLst/>
              <a:gdLst/>
              <a:ahLst/>
              <a:cxnLst/>
              <a:rect l="l" t="t" r="r" b="b"/>
              <a:pathLst>
                <a:path w="821054" h="2381250">
                  <a:moveTo>
                    <a:pt x="820801" y="1190523"/>
                  </a:moveTo>
                  <a:lnTo>
                    <a:pt x="820801" y="165595"/>
                  </a:lnTo>
                  <a:lnTo>
                    <a:pt x="814884" y="121578"/>
                  </a:lnTo>
                  <a:lnTo>
                    <a:pt x="798188" y="82023"/>
                  </a:lnTo>
                  <a:lnTo>
                    <a:pt x="772293" y="48507"/>
                  </a:lnTo>
                  <a:lnTo>
                    <a:pt x="738777" y="22612"/>
                  </a:lnTo>
                  <a:lnTo>
                    <a:pt x="699222" y="5916"/>
                  </a:lnTo>
                  <a:lnTo>
                    <a:pt x="655205" y="0"/>
                  </a:lnTo>
                  <a:lnTo>
                    <a:pt x="165239" y="0"/>
                  </a:lnTo>
                  <a:lnTo>
                    <a:pt x="121249" y="5916"/>
                  </a:lnTo>
                  <a:lnTo>
                    <a:pt x="81759" y="22612"/>
                  </a:lnTo>
                  <a:lnTo>
                    <a:pt x="48329" y="48507"/>
                  </a:lnTo>
                  <a:lnTo>
                    <a:pt x="22519" y="82023"/>
                  </a:lnTo>
                  <a:lnTo>
                    <a:pt x="5889" y="121578"/>
                  </a:lnTo>
                  <a:lnTo>
                    <a:pt x="0" y="165595"/>
                  </a:lnTo>
                  <a:lnTo>
                    <a:pt x="0" y="2215438"/>
                  </a:lnTo>
                  <a:lnTo>
                    <a:pt x="5889" y="2259456"/>
                  </a:lnTo>
                  <a:lnTo>
                    <a:pt x="22519" y="2299014"/>
                  </a:lnTo>
                  <a:lnTo>
                    <a:pt x="48329" y="2332532"/>
                  </a:lnTo>
                  <a:lnTo>
                    <a:pt x="81759" y="2358431"/>
                  </a:lnTo>
                  <a:lnTo>
                    <a:pt x="121249" y="2375129"/>
                  </a:lnTo>
                  <a:lnTo>
                    <a:pt x="165239" y="2381046"/>
                  </a:lnTo>
                  <a:lnTo>
                    <a:pt x="655205" y="2381046"/>
                  </a:lnTo>
                  <a:lnTo>
                    <a:pt x="699222" y="2375129"/>
                  </a:lnTo>
                  <a:lnTo>
                    <a:pt x="738777" y="2358431"/>
                  </a:lnTo>
                  <a:lnTo>
                    <a:pt x="772293" y="2332532"/>
                  </a:lnTo>
                  <a:lnTo>
                    <a:pt x="798188" y="2299014"/>
                  </a:lnTo>
                  <a:lnTo>
                    <a:pt x="814884"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17" name="object 17"/>
            <p:cNvSpPr/>
            <p:nvPr/>
          </p:nvSpPr>
          <p:spPr>
            <a:xfrm>
              <a:off x="5216042" y="3330723"/>
              <a:ext cx="824230" cy="1208405"/>
            </a:xfrm>
            <a:custGeom>
              <a:avLst/>
              <a:gdLst/>
              <a:ahLst/>
              <a:cxnLst/>
              <a:rect l="l" t="t" r="r" b="b"/>
              <a:pathLst>
                <a:path w="824229" h="1208404">
                  <a:moveTo>
                    <a:pt x="823683" y="0"/>
                  </a:moveTo>
                  <a:lnTo>
                    <a:pt x="1079" y="2527"/>
                  </a:lnTo>
                  <a:lnTo>
                    <a:pt x="0" y="1041844"/>
                  </a:lnTo>
                  <a:lnTo>
                    <a:pt x="5763" y="1086011"/>
                  </a:lnTo>
                  <a:lnTo>
                    <a:pt x="22369" y="1125670"/>
                  </a:lnTo>
                  <a:lnTo>
                    <a:pt x="48236" y="1159249"/>
                  </a:lnTo>
                  <a:lnTo>
                    <a:pt x="81783" y="1185179"/>
                  </a:lnTo>
                  <a:lnTo>
                    <a:pt x="121429" y="1201889"/>
                  </a:lnTo>
                  <a:lnTo>
                    <a:pt x="165595" y="1207808"/>
                  </a:lnTo>
                  <a:lnTo>
                    <a:pt x="656272" y="1207808"/>
                  </a:lnTo>
                  <a:lnTo>
                    <a:pt x="700443" y="1201889"/>
                  </a:lnTo>
                  <a:lnTo>
                    <a:pt x="740103" y="1185179"/>
                  </a:lnTo>
                  <a:lnTo>
                    <a:pt x="773682" y="1159249"/>
                  </a:lnTo>
                  <a:lnTo>
                    <a:pt x="799610" y="1125670"/>
                  </a:lnTo>
                  <a:lnTo>
                    <a:pt x="816318" y="1086011"/>
                  </a:lnTo>
                  <a:lnTo>
                    <a:pt x="822236" y="1041844"/>
                  </a:lnTo>
                  <a:lnTo>
                    <a:pt x="822156" y="743889"/>
                  </a:lnTo>
                  <a:lnTo>
                    <a:pt x="822688" y="400773"/>
                  </a:lnTo>
                  <a:lnTo>
                    <a:pt x="823355" y="117732"/>
                  </a:lnTo>
                  <a:lnTo>
                    <a:pt x="823676" y="2527"/>
                  </a:lnTo>
                  <a:lnTo>
                    <a:pt x="823683" y="0"/>
                  </a:lnTo>
                  <a:close/>
                </a:path>
              </a:pathLst>
            </a:custGeom>
            <a:solidFill>
              <a:srgbClr val="00607E"/>
            </a:solidFill>
          </p:spPr>
          <p:txBody>
            <a:bodyPr wrap="square" lIns="0" tIns="0" rIns="0" bIns="0" rtlCol="0"/>
            <a:lstStyle/>
            <a:p>
              <a:endParaRPr/>
            </a:p>
          </p:txBody>
        </p:sp>
      </p:grpSp>
      <p:sp>
        <p:nvSpPr>
          <p:cNvPr id="18" name="object 18"/>
          <p:cNvSpPr txBox="1"/>
          <p:nvPr/>
        </p:nvSpPr>
        <p:spPr>
          <a:xfrm>
            <a:off x="5367578"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4</a:t>
            </a:r>
            <a:endParaRPr sz="1400">
              <a:latin typeface="Lucida Sans Unicode"/>
              <a:cs typeface="Lucida Sans Unicode"/>
            </a:endParaRPr>
          </a:p>
        </p:txBody>
      </p:sp>
      <p:sp>
        <p:nvSpPr>
          <p:cNvPr id="19" name="object 19"/>
          <p:cNvSpPr/>
          <p:nvPr/>
        </p:nvSpPr>
        <p:spPr>
          <a:xfrm>
            <a:off x="6627965"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0909"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20" name="object 20"/>
          <p:cNvSpPr txBox="1"/>
          <p:nvPr/>
        </p:nvSpPr>
        <p:spPr>
          <a:xfrm>
            <a:off x="7528318" y="1381159"/>
            <a:ext cx="848360" cy="320040"/>
          </a:xfrm>
          <a:prstGeom prst="rect">
            <a:avLst/>
          </a:prstGeom>
        </p:spPr>
        <p:txBody>
          <a:bodyPr vert="horz" wrap="square" lIns="0" tIns="16510" rIns="0" bIns="0" rtlCol="0">
            <a:spAutoFit/>
          </a:bodyPr>
          <a:lstStyle/>
          <a:p>
            <a:pPr marL="12700">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3</a:t>
            </a:r>
            <a:endParaRPr sz="1900">
              <a:latin typeface="Lucida Sans Unicode"/>
              <a:cs typeface="Lucida Sans Unicode"/>
            </a:endParaRPr>
          </a:p>
        </p:txBody>
      </p:sp>
      <p:sp>
        <p:nvSpPr>
          <p:cNvPr id="21" name="object 21"/>
          <p:cNvSpPr txBox="1"/>
          <p:nvPr/>
        </p:nvSpPr>
        <p:spPr>
          <a:xfrm>
            <a:off x="7118769"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5</a:t>
            </a:r>
            <a:endParaRPr sz="1400">
              <a:latin typeface="Lucida Sans Unicode"/>
              <a:cs typeface="Lucida Sans Unicode"/>
            </a:endParaRPr>
          </a:p>
        </p:txBody>
      </p:sp>
      <p:grpSp>
        <p:nvGrpSpPr>
          <p:cNvPr id="22" name="object 22"/>
          <p:cNvGrpSpPr/>
          <p:nvPr/>
        </p:nvGrpSpPr>
        <p:grpSpPr>
          <a:xfrm>
            <a:off x="6949558" y="2127009"/>
            <a:ext cx="2019300" cy="2411730"/>
            <a:chOff x="6949558" y="2127009"/>
            <a:chExt cx="2019300" cy="2411730"/>
          </a:xfrm>
        </p:grpSpPr>
        <p:sp>
          <p:nvSpPr>
            <p:cNvPr id="23" name="object 23"/>
            <p:cNvSpPr/>
            <p:nvPr/>
          </p:nvSpPr>
          <p:spPr>
            <a:xfrm>
              <a:off x="6964197" y="2141647"/>
              <a:ext cx="821055" cy="2381250"/>
            </a:xfrm>
            <a:custGeom>
              <a:avLst/>
              <a:gdLst/>
              <a:ahLst/>
              <a:cxnLst/>
              <a:rect l="l" t="t" r="r" b="b"/>
              <a:pathLst>
                <a:path w="821054" h="2381250">
                  <a:moveTo>
                    <a:pt x="820801" y="1190523"/>
                  </a:moveTo>
                  <a:lnTo>
                    <a:pt x="820801" y="165595"/>
                  </a:lnTo>
                  <a:lnTo>
                    <a:pt x="814886" y="121578"/>
                  </a:lnTo>
                  <a:lnTo>
                    <a:pt x="798202" y="82023"/>
                  </a:lnTo>
                  <a:lnTo>
                    <a:pt x="772337" y="48507"/>
                  </a:lnTo>
                  <a:lnTo>
                    <a:pt x="738883" y="22612"/>
                  </a:lnTo>
                  <a:lnTo>
                    <a:pt x="699427" y="5916"/>
                  </a:lnTo>
                  <a:lnTo>
                    <a:pt x="655561" y="0"/>
                  </a:lnTo>
                  <a:lnTo>
                    <a:pt x="165608" y="0"/>
                  </a:lnTo>
                  <a:lnTo>
                    <a:pt x="121590" y="5916"/>
                  </a:lnTo>
                  <a:lnTo>
                    <a:pt x="82032" y="22612"/>
                  </a:lnTo>
                  <a:lnTo>
                    <a:pt x="48514" y="48507"/>
                  </a:lnTo>
                  <a:lnTo>
                    <a:pt x="22615" y="82023"/>
                  </a:lnTo>
                  <a:lnTo>
                    <a:pt x="5917" y="121578"/>
                  </a:lnTo>
                  <a:lnTo>
                    <a:pt x="0" y="165595"/>
                  </a:lnTo>
                  <a:lnTo>
                    <a:pt x="0" y="2215438"/>
                  </a:lnTo>
                  <a:lnTo>
                    <a:pt x="5917" y="2259456"/>
                  </a:lnTo>
                  <a:lnTo>
                    <a:pt x="22615" y="2299014"/>
                  </a:lnTo>
                  <a:lnTo>
                    <a:pt x="48514" y="2332532"/>
                  </a:lnTo>
                  <a:lnTo>
                    <a:pt x="82032" y="2358431"/>
                  </a:lnTo>
                  <a:lnTo>
                    <a:pt x="121590" y="2375129"/>
                  </a:lnTo>
                  <a:lnTo>
                    <a:pt x="165608" y="2381046"/>
                  </a:lnTo>
                  <a:lnTo>
                    <a:pt x="655561" y="2381046"/>
                  </a:lnTo>
                  <a:lnTo>
                    <a:pt x="699427" y="2375129"/>
                  </a:lnTo>
                  <a:lnTo>
                    <a:pt x="738883" y="2358431"/>
                  </a:lnTo>
                  <a:lnTo>
                    <a:pt x="772337" y="2332532"/>
                  </a:lnTo>
                  <a:lnTo>
                    <a:pt x="798202" y="2299014"/>
                  </a:lnTo>
                  <a:lnTo>
                    <a:pt x="814886"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24" name="object 24"/>
            <p:cNvSpPr/>
            <p:nvPr/>
          </p:nvSpPr>
          <p:spPr>
            <a:xfrm>
              <a:off x="6967080" y="3330723"/>
              <a:ext cx="824230" cy="1208405"/>
            </a:xfrm>
            <a:custGeom>
              <a:avLst/>
              <a:gdLst/>
              <a:ahLst/>
              <a:cxnLst/>
              <a:rect l="l" t="t" r="r" b="b"/>
              <a:pathLst>
                <a:path w="824229" h="1208404">
                  <a:moveTo>
                    <a:pt x="823683" y="0"/>
                  </a:moveTo>
                  <a:lnTo>
                    <a:pt x="1435" y="2527"/>
                  </a:lnTo>
                  <a:lnTo>
                    <a:pt x="0" y="1041844"/>
                  </a:lnTo>
                  <a:lnTo>
                    <a:pt x="5893" y="1086011"/>
                  </a:lnTo>
                  <a:lnTo>
                    <a:pt x="22546" y="1125670"/>
                  </a:lnTo>
                  <a:lnTo>
                    <a:pt x="48420" y="1159249"/>
                  </a:lnTo>
                  <a:lnTo>
                    <a:pt x="81974" y="1185179"/>
                  </a:lnTo>
                  <a:lnTo>
                    <a:pt x="121668" y="1201889"/>
                  </a:lnTo>
                  <a:lnTo>
                    <a:pt x="165963" y="1207808"/>
                  </a:lnTo>
                  <a:lnTo>
                    <a:pt x="656640" y="1207808"/>
                  </a:lnTo>
                  <a:lnTo>
                    <a:pt x="700780" y="1201889"/>
                  </a:lnTo>
                  <a:lnTo>
                    <a:pt x="740370" y="1185179"/>
                  </a:lnTo>
                  <a:lnTo>
                    <a:pt x="773861" y="1159249"/>
                  </a:lnTo>
                  <a:lnTo>
                    <a:pt x="799703" y="1125670"/>
                  </a:lnTo>
                  <a:lnTo>
                    <a:pt x="816344" y="1086011"/>
                  </a:lnTo>
                  <a:lnTo>
                    <a:pt x="822236" y="1041844"/>
                  </a:lnTo>
                  <a:lnTo>
                    <a:pt x="822162" y="743889"/>
                  </a:lnTo>
                  <a:lnTo>
                    <a:pt x="822693" y="400773"/>
                  </a:lnTo>
                  <a:lnTo>
                    <a:pt x="823357" y="117732"/>
                  </a:lnTo>
                  <a:lnTo>
                    <a:pt x="823676" y="2527"/>
                  </a:lnTo>
                  <a:lnTo>
                    <a:pt x="823683" y="0"/>
                  </a:lnTo>
                  <a:close/>
                </a:path>
              </a:pathLst>
            </a:custGeom>
            <a:solidFill>
              <a:srgbClr val="00607E"/>
            </a:solidFill>
          </p:spPr>
          <p:txBody>
            <a:bodyPr wrap="square" lIns="0" tIns="0" rIns="0" bIns="0" rtlCol="0"/>
            <a:lstStyle/>
            <a:p>
              <a:endParaRPr/>
            </a:p>
          </p:txBody>
        </p:sp>
        <p:sp>
          <p:nvSpPr>
            <p:cNvPr id="25" name="object 25"/>
            <p:cNvSpPr/>
            <p:nvPr/>
          </p:nvSpPr>
          <p:spPr>
            <a:xfrm>
              <a:off x="8133118" y="2141647"/>
              <a:ext cx="821055" cy="2381250"/>
            </a:xfrm>
            <a:custGeom>
              <a:avLst/>
              <a:gdLst/>
              <a:ahLst/>
              <a:cxnLst/>
              <a:rect l="l" t="t" r="r" b="b"/>
              <a:pathLst>
                <a:path w="821054" h="2381250">
                  <a:moveTo>
                    <a:pt x="820801" y="1190523"/>
                  </a:moveTo>
                  <a:lnTo>
                    <a:pt x="820801" y="165595"/>
                  </a:lnTo>
                  <a:lnTo>
                    <a:pt x="814884" y="121578"/>
                  </a:lnTo>
                  <a:lnTo>
                    <a:pt x="798188" y="82023"/>
                  </a:lnTo>
                  <a:lnTo>
                    <a:pt x="772293" y="48507"/>
                  </a:lnTo>
                  <a:lnTo>
                    <a:pt x="738777" y="22612"/>
                  </a:lnTo>
                  <a:lnTo>
                    <a:pt x="699222" y="5916"/>
                  </a:lnTo>
                  <a:lnTo>
                    <a:pt x="655205" y="0"/>
                  </a:lnTo>
                  <a:lnTo>
                    <a:pt x="165239" y="0"/>
                  </a:lnTo>
                  <a:lnTo>
                    <a:pt x="121249" y="5916"/>
                  </a:lnTo>
                  <a:lnTo>
                    <a:pt x="81759" y="22612"/>
                  </a:lnTo>
                  <a:lnTo>
                    <a:pt x="48329" y="48507"/>
                  </a:lnTo>
                  <a:lnTo>
                    <a:pt x="22519" y="82023"/>
                  </a:lnTo>
                  <a:lnTo>
                    <a:pt x="5889" y="121578"/>
                  </a:lnTo>
                  <a:lnTo>
                    <a:pt x="0" y="165595"/>
                  </a:lnTo>
                  <a:lnTo>
                    <a:pt x="0" y="2215438"/>
                  </a:lnTo>
                  <a:lnTo>
                    <a:pt x="5889" y="2259456"/>
                  </a:lnTo>
                  <a:lnTo>
                    <a:pt x="22519" y="2299014"/>
                  </a:lnTo>
                  <a:lnTo>
                    <a:pt x="48329" y="2332532"/>
                  </a:lnTo>
                  <a:lnTo>
                    <a:pt x="81759" y="2358431"/>
                  </a:lnTo>
                  <a:lnTo>
                    <a:pt x="121249" y="2375129"/>
                  </a:lnTo>
                  <a:lnTo>
                    <a:pt x="165239" y="2381046"/>
                  </a:lnTo>
                  <a:lnTo>
                    <a:pt x="655205" y="2381046"/>
                  </a:lnTo>
                  <a:lnTo>
                    <a:pt x="699222" y="2375129"/>
                  </a:lnTo>
                  <a:lnTo>
                    <a:pt x="738777" y="2358431"/>
                  </a:lnTo>
                  <a:lnTo>
                    <a:pt x="772293" y="2332532"/>
                  </a:lnTo>
                  <a:lnTo>
                    <a:pt x="798188" y="2299014"/>
                  </a:lnTo>
                  <a:lnTo>
                    <a:pt x="814884"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26" name="object 26"/>
            <p:cNvSpPr/>
            <p:nvPr/>
          </p:nvSpPr>
          <p:spPr>
            <a:xfrm>
              <a:off x="8136001" y="3330723"/>
              <a:ext cx="824230" cy="1208405"/>
            </a:xfrm>
            <a:custGeom>
              <a:avLst/>
              <a:gdLst/>
              <a:ahLst/>
              <a:cxnLst/>
              <a:rect l="l" t="t" r="r" b="b"/>
              <a:pathLst>
                <a:path w="824229" h="1208404">
                  <a:moveTo>
                    <a:pt x="823683" y="0"/>
                  </a:moveTo>
                  <a:lnTo>
                    <a:pt x="1079" y="2527"/>
                  </a:lnTo>
                  <a:lnTo>
                    <a:pt x="0" y="1041844"/>
                  </a:lnTo>
                  <a:lnTo>
                    <a:pt x="5768" y="1086011"/>
                  </a:lnTo>
                  <a:lnTo>
                    <a:pt x="22375" y="1125670"/>
                  </a:lnTo>
                  <a:lnTo>
                    <a:pt x="48240" y="1159249"/>
                  </a:lnTo>
                  <a:lnTo>
                    <a:pt x="81786" y="1185179"/>
                  </a:lnTo>
                  <a:lnTo>
                    <a:pt x="121430" y="1201889"/>
                  </a:lnTo>
                  <a:lnTo>
                    <a:pt x="165595" y="1207808"/>
                  </a:lnTo>
                  <a:lnTo>
                    <a:pt x="656285" y="1207808"/>
                  </a:lnTo>
                  <a:lnTo>
                    <a:pt x="700451" y="1201889"/>
                  </a:lnTo>
                  <a:lnTo>
                    <a:pt x="740107" y="1185179"/>
                  </a:lnTo>
                  <a:lnTo>
                    <a:pt x="773684" y="1159249"/>
                  </a:lnTo>
                  <a:lnTo>
                    <a:pt x="799610" y="1125670"/>
                  </a:lnTo>
                  <a:lnTo>
                    <a:pt x="816318" y="1086011"/>
                  </a:lnTo>
                  <a:lnTo>
                    <a:pt x="822236" y="1041844"/>
                  </a:lnTo>
                  <a:lnTo>
                    <a:pt x="822006" y="743889"/>
                  </a:lnTo>
                  <a:lnTo>
                    <a:pt x="822555" y="400773"/>
                  </a:lnTo>
                  <a:lnTo>
                    <a:pt x="823305" y="117732"/>
                  </a:lnTo>
                  <a:lnTo>
                    <a:pt x="823675" y="2527"/>
                  </a:lnTo>
                  <a:lnTo>
                    <a:pt x="823683" y="0"/>
                  </a:lnTo>
                  <a:close/>
                </a:path>
              </a:pathLst>
            </a:custGeom>
            <a:solidFill>
              <a:srgbClr val="00607E"/>
            </a:solidFill>
          </p:spPr>
          <p:txBody>
            <a:bodyPr wrap="square" lIns="0" tIns="0" rIns="0" bIns="0" rtlCol="0"/>
            <a:lstStyle/>
            <a:p>
              <a:endParaRPr/>
            </a:p>
          </p:txBody>
        </p:sp>
      </p:grpSp>
      <p:sp>
        <p:nvSpPr>
          <p:cNvPr id="27" name="object 27"/>
          <p:cNvSpPr txBox="1"/>
          <p:nvPr/>
        </p:nvSpPr>
        <p:spPr>
          <a:xfrm>
            <a:off x="8287778"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6</a:t>
            </a:r>
            <a:endParaRPr sz="1400">
              <a:latin typeface="Lucida Sans Unicode"/>
              <a:cs typeface="Lucida Sans Unicode"/>
            </a:endParaRPr>
          </a:p>
        </p:txBody>
      </p:sp>
      <p:sp>
        <p:nvSpPr>
          <p:cNvPr id="28" name="object 2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9" name="object 29"/>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44</a:t>
            </a:fld>
            <a:r>
              <a:rPr spc="-10" dirty="0"/>
              <a:t>/60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OSDs</a:t>
            </a:r>
            <a:r>
              <a:rPr spc="-305" dirty="0"/>
              <a:t> </a:t>
            </a:r>
            <a:r>
              <a:rPr dirty="0"/>
              <a:t>in</a:t>
            </a:r>
            <a:r>
              <a:rPr spc="-300" dirty="0"/>
              <a:t> </a:t>
            </a:r>
            <a:r>
              <a:rPr spc="-75" dirty="0"/>
              <a:t>a</a:t>
            </a:r>
            <a:r>
              <a:rPr spc="-300" dirty="0"/>
              <a:t> </a:t>
            </a:r>
            <a:r>
              <a:rPr dirty="0"/>
              <a:t>Three–Node</a:t>
            </a:r>
            <a:r>
              <a:rPr spc="-300" dirty="0"/>
              <a:t> </a:t>
            </a:r>
            <a:r>
              <a:rPr spc="50" dirty="0"/>
              <a:t>Ceph</a:t>
            </a:r>
            <a:r>
              <a:rPr spc="-300" dirty="0"/>
              <a:t> </a:t>
            </a:r>
            <a:r>
              <a:rPr spc="55" dirty="0"/>
              <a:t>Cluster</a:t>
            </a:r>
          </a:p>
        </p:txBody>
      </p:sp>
      <p:grpSp>
        <p:nvGrpSpPr>
          <p:cNvPr id="3" name="object 3"/>
          <p:cNvGrpSpPr/>
          <p:nvPr/>
        </p:nvGrpSpPr>
        <p:grpSpPr>
          <a:xfrm>
            <a:off x="788034" y="1326244"/>
            <a:ext cx="2662555" cy="3288665"/>
            <a:chOff x="788034" y="1326244"/>
            <a:chExt cx="2662555" cy="3288665"/>
          </a:xfrm>
        </p:grpSpPr>
        <p:sp>
          <p:nvSpPr>
            <p:cNvPr id="4" name="object 4"/>
            <p:cNvSpPr/>
            <p:nvPr/>
          </p:nvSpPr>
          <p:spPr>
            <a:xfrm>
              <a:off x="788034" y="1326244"/>
              <a:ext cx="2662555" cy="3288665"/>
            </a:xfrm>
            <a:custGeom>
              <a:avLst/>
              <a:gdLst/>
              <a:ahLst/>
              <a:cxnLst/>
              <a:rect l="l" t="t" r="r" b="b"/>
              <a:pathLst>
                <a:path w="2662554" h="3288665">
                  <a:moveTo>
                    <a:pt x="2387879" y="0"/>
                  </a:moveTo>
                  <a:lnTo>
                    <a:pt x="274320" y="0"/>
                  </a:lnTo>
                  <a:lnTo>
                    <a:pt x="224998" y="4417"/>
                  </a:lnTo>
                  <a:lnTo>
                    <a:pt x="178582" y="17155"/>
                  </a:lnTo>
                  <a:lnTo>
                    <a:pt x="135844" y="37439"/>
                  </a:lnTo>
                  <a:lnTo>
                    <a:pt x="97560" y="64497"/>
                  </a:lnTo>
                  <a:lnTo>
                    <a:pt x="64501" y="97554"/>
                  </a:lnTo>
                  <a:lnTo>
                    <a:pt x="37442" y="135839"/>
                  </a:lnTo>
                  <a:lnTo>
                    <a:pt x="17156" y="178577"/>
                  </a:lnTo>
                  <a:lnTo>
                    <a:pt x="4418" y="224995"/>
                  </a:lnTo>
                  <a:lnTo>
                    <a:pt x="0" y="274320"/>
                  </a:lnTo>
                  <a:lnTo>
                    <a:pt x="0" y="3013925"/>
                  </a:lnTo>
                  <a:lnTo>
                    <a:pt x="4418" y="3063250"/>
                  </a:lnTo>
                  <a:lnTo>
                    <a:pt x="17156" y="3109668"/>
                  </a:lnTo>
                  <a:lnTo>
                    <a:pt x="37442" y="3152406"/>
                  </a:lnTo>
                  <a:lnTo>
                    <a:pt x="64501" y="3190691"/>
                  </a:lnTo>
                  <a:lnTo>
                    <a:pt x="97560" y="3223748"/>
                  </a:lnTo>
                  <a:lnTo>
                    <a:pt x="135844" y="3250806"/>
                  </a:lnTo>
                  <a:lnTo>
                    <a:pt x="178582" y="3271090"/>
                  </a:lnTo>
                  <a:lnTo>
                    <a:pt x="224998" y="3283828"/>
                  </a:lnTo>
                  <a:lnTo>
                    <a:pt x="274320" y="3288245"/>
                  </a:lnTo>
                  <a:lnTo>
                    <a:pt x="1331290"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5" name="object 5"/>
            <p:cNvSpPr/>
            <p:nvPr/>
          </p:nvSpPr>
          <p:spPr>
            <a:xfrm>
              <a:off x="1124280" y="2141647"/>
              <a:ext cx="821055" cy="2381250"/>
            </a:xfrm>
            <a:custGeom>
              <a:avLst/>
              <a:gdLst/>
              <a:ahLst/>
              <a:cxnLst/>
              <a:rect l="l" t="t" r="r" b="b"/>
              <a:pathLst>
                <a:path w="821055" h="2381250">
                  <a:moveTo>
                    <a:pt x="820801" y="1190523"/>
                  </a:moveTo>
                  <a:lnTo>
                    <a:pt x="820801" y="165595"/>
                  </a:lnTo>
                  <a:lnTo>
                    <a:pt x="814911" y="121578"/>
                  </a:lnTo>
                  <a:lnTo>
                    <a:pt x="798281" y="82023"/>
                  </a:lnTo>
                  <a:lnTo>
                    <a:pt x="772471" y="48507"/>
                  </a:lnTo>
                  <a:lnTo>
                    <a:pt x="739041" y="22612"/>
                  </a:lnTo>
                  <a:lnTo>
                    <a:pt x="699551" y="5916"/>
                  </a:lnTo>
                  <a:lnTo>
                    <a:pt x="655561" y="0"/>
                  </a:lnTo>
                  <a:lnTo>
                    <a:pt x="165595" y="0"/>
                  </a:lnTo>
                  <a:lnTo>
                    <a:pt x="121578" y="5916"/>
                  </a:lnTo>
                  <a:lnTo>
                    <a:pt x="82023" y="22612"/>
                  </a:lnTo>
                  <a:lnTo>
                    <a:pt x="48507" y="48507"/>
                  </a:lnTo>
                  <a:lnTo>
                    <a:pt x="22612" y="82023"/>
                  </a:lnTo>
                  <a:lnTo>
                    <a:pt x="5916" y="121578"/>
                  </a:lnTo>
                  <a:lnTo>
                    <a:pt x="0" y="165595"/>
                  </a:lnTo>
                  <a:lnTo>
                    <a:pt x="0" y="2215438"/>
                  </a:lnTo>
                  <a:lnTo>
                    <a:pt x="5916" y="2259456"/>
                  </a:lnTo>
                  <a:lnTo>
                    <a:pt x="22612" y="2299014"/>
                  </a:lnTo>
                  <a:lnTo>
                    <a:pt x="48507" y="2332532"/>
                  </a:lnTo>
                  <a:lnTo>
                    <a:pt x="82023" y="2358431"/>
                  </a:lnTo>
                  <a:lnTo>
                    <a:pt x="121578" y="2375129"/>
                  </a:lnTo>
                  <a:lnTo>
                    <a:pt x="165595" y="2381046"/>
                  </a:lnTo>
                  <a:lnTo>
                    <a:pt x="655561" y="2381046"/>
                  </a:lnTo>
                  <a:lnTo>
                    <a:pt x="699551" y="2375129"/>
                  </a:lnTo>
                  <a:lnTo>
                    <a:pt x="739041" y="2358431"/>
                  </a:lnTo>
                  <a:lnTo>
                    <a:pt x="772471" y="2332532"/>
                  </a:lnTo>
                  <a:lnTo>
                    <a:pt x="798281" y="2299014"/>
                  </a:lnTo>
                  <a:lnTo>
                    <a:pt x="814911"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6" name="object 6"/>
            <p:cNvSpPr/>
            <p:nvPr/>
          </p:nvSpPr>
          <p:spPr>
            <a:xfrm>
              <a:off x="1127163" y="3330723"/>
              <a:ext cx="824230" cy="1208405"/>
            </a:xfrm>
            <a:custGeom>
              <a:avLst/>
              <a:gdLst/>
              <a:ahLst/>
              <a:cxnLst/>
              <a:rect l="l" t="t" r="r" b="b"/>
              <a:pathLst>
                <a:path w="824230" h="1208404">
                  <a:moveTo>
                    <a:pt x="823671" y="0"/>
                  </a:moveTo>
                  <a:lnTo>
                    <a:pt x="1435" y="2527"/>
                  </a:lnTo>
                  <a:lnTo>
                    <a:pt x="0" y="1041844"/>
                  </a:lnTo>
                  <a:lnTo>
                    <a:pt x="5917" y="1086011"/>
                  </a:lnTo>
                  <a:lnTo>
                    <a:pt x="22625" y="1125670"/>
                  </a:lnTo>
                  <a:lnTo>
                    <a:pt x="48552" y="1159249"/>
                  </a:lnTo>
                  <a:lnTo>
                    <a:pt x="82128" y="1185179"/>
                  </a:lnTo>
                  <a:lnTo>
                    <a:pt x="121784" y="1201889"/>
                  </a:lnTo>
                  <a:lnTo>
                    <a:pt x="165950" y="1207808"/>
                  </a:lnTo>
                  <a:lnTo>
                    <a:pt x="656640" y="1207808"/>
                  </a:lnTo>
                  <a:lnTo>
                    <a:pt x="700780" y="1201889"/>
                  </a:lnTo>
                  <a:lnTo>
                    <a:pt x="740370" y="1185179"/>
                  </a:lnTo>
                  <a:lnTo>
                    <a:pt x="773861" y="1159249"/>
                  </a:lnTo>
                  <a:lnTo>
                    <a:pt x="799703" y="1125670"/>
                  </a:lnTo>
                  <a:lnTo>
                    <a:pt x="816344" y="1086011"/>
                  </a:lnTo>
                  <a:lnTo>
                    <a:pt x="822236" y="1041844"/>
                  </a:lnTo>
                  <a:lnTo>
                    <a:pt x="822154" y="743889"/>
                  </a:lnTo>
                  <a:lnTo>
                    <a:pt x="822682" y="400773"/>
                  </a:lnTo>
                  <a:lnTo>
                    <a:pt x="823345" y="117732"/>
                  </a:lnTo>
                  <a:lnTo>
                    <a:pt x="823664" y="2527"/>
                  </a:lnTo>
                  <a:lnTo>
                    <a:pt x="823671" y="0"/>
                  </a:lnTo>
                  <a:close/>
                </a:path>
              </a:pathLst>
            </a:custGeom>
            <a:solidFill>
              <a:srgbClr val="00607E"/>
            </a:solidFill>
          </p:spPr>
          <p:txBody>
            <a:bodyPr wrap="square" lIns="0" tIns="0" rIns="0" bIns="0" rtlCol="0"/>
            <a:lstStyle/>
            <a:p>
              <a:endParaRPr/>
            </a:p>
          </p:txBody>
        </p:sp>
        <p:sp>
          <p:nvSpPr>
            <p:cNvPr id="7" name="object 7"/>
            <p:cNvSpPr/>
            <p:nvPr/>
          </p:nvSpPr>
          <p:spPr>
            <a:xfrm>
              <a:off x="2293200" y="2141647"/>
              <a:ext cx="821055" cy="2381250"/>
            </a:xfrm>
            <a:custGeom>
              <a:avLst/>
              <a:gdLst/>
              <a:ahLst/>
              <a:cxnLst/>
              <a:rect l="l" t="t" r="r" b="b"/>
              <a:pathLst>
                <a:path w="821055" h="2381250">
                  <a:moveTo>
                    <a:pt x="820801" y="1190523"/>
                  </a:moveTo>
                  <a:lnTo>
                    <a:pt x="820801" y="165595"/>
                  </a:lnTo>
                  <a:lnTo>
                    <a:pt x="814883" y="121578"/>
                  </a:lnTo>
                  <a:lnTo>
                    <a:pt x="798185" y="82023"/>
                  </a:lnTo>
                  <a:lnTo>
                    <a:pt x="772287" y="48507"/>
                  </a:lnTo>
                  <a:lnTo>
                    <a:pt x="738768" y="22612"/>
                  </a:lnTo>
                  <a:lnTo>
                    <a:pt x="699210" y="5916"/>
                  </a:lnTo>
                  <a:lnTo>
                    <a:pt x="655193" y="0"/>
                  </a:lnTo>
                  <a:lnTo>
                    <a:pt x="165239" y="0"/>
                  </a:lnTo>
                  <a:lnTo>
                    <a:pt x="121373" y="5916"/>
                  </a:lnTo>
                  <a:lnTo>
                    <a:pt x="81917" y="22612"/>
                  </a:lnTo>
                  <a:lnTo>
                    <a:pt x="48463" y="48507"/>
                  </a:lnTo>
                  <a:lnTo>
                    <a:pt x="22598" y="82023"/>
                  </a:lnTo>
                  <a:lnTo>
                    <a:pt x="5914" y="121578"/>
                  </a:lnTo>
                  <a:lnTo>
                    <a:pt x="0" y="165595"/>
                  </a:lnTo>
                  <a:lnTo>
                    <a:pt x="0" y="2215438"/>
                  </a:lnTo>
                  <a:lnTo>
                    <a:pt x="5914" y="2259456"/>
                  </a:lnTo>
                  <a:lnTo>
                    <a:pt x="22598" y="2299014"/>
                  </a:lnTo>
                  <a:lnTo>
                    <a:pt x="48463" y="2332532"/>
                  </a:lnTo>
                  <a:lnTo>
                    <a:pt x="81917" y="2358431"/>
                  </a:lnTo>
                  <a:lnTo>
                    <a:pt x="121373" y="2375129"/>
                  </a:lnTo>
                  <a:lnTo>
                    <a:pt x="165239" y="2381046"/>
                  </a:lnTo>
                  <a:lnTo>
                    <a:pt x="655193" y="2381046"/>
                  </a:lnTo>
                  <a:lnTo>
                    <a:pt x="699210" y="2375129"/>
                  </a:lnTo>
                  <a:lnTo>
                    <a:pt x="738768" y="2358431"/>
                  </a:lnTo>
                  <a:lnTo>
                    <a:pt x="772287" y="2332532"/>
                  </a:lnTo>
                  <a:lnTo>
                    <a:pt x="798185" y="2299014"/>
                  </a:lnTo>
                  <a:lnTo>
                    <a:pt x="814883"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8" name="object 8"/>
            <p:cNvSpPr/>
            <p:nvPr/>
          </p:nvSpPr>
          <p:spPr>
            <a:xfrm>
              <a:off x="2296083" y="3330723"/>
              <a:ext cx="824230" cy="1208405"/>
            </a:xfrm>
            <a:custGeom>
              <a:avLst/>
              <a:gdLst/>
              <a:ahLst/>
              <a:cxnLst/>
              <a:rect l="l" t="t" r="r" b="b"/>
              <a:pathLst>
                <a:path w="824230" h="1208404">
                  <a:moveTo>
                    <a:pt x="823671" y="0"/>
                  </a:moveTo>
                  <a:lnTo>
                    <a:pt x="1079" y="2527"/>
                  </a:lnTo>
                  <a:lnTo>
                    <a:pt x="0" y="1041844"/>
                  </a:lnTo>
                  <a:lnTo>
                    <a:pt x="5763" y="1086011"/>
                  </a:lnTo>
                  <a:lnTo>
                    <a:pt x="22369" y="1125670"/>
                  </a:lnTo>
                  <a:lnTo>
                    <a:pt x="48236" y="1159249"/>
                  </a:lnTo>
                  <a:lnTo>
                    <a:pt x="81783" y="1185179"/>
                  </a:lnTo>
                  <a:lnTo>
                    <a:pt x="121429" y="1201889"/>
                  </a:lnTo>
                  <a:lnTo>
                    <a:pt x="165595" y="1207808"/>
                  </a:lnTo>
                  <a:lnTo>
                    <a:pt x="656272" y="1207808"/>
                  </a:lnTo>
                  <a:lnTo>
                    <a:pt x="700443" y="1201889"/>
                  </a:lnTo>
                  <a:lnTo>
                    <a:pt x="740103" y="1185179"/>
                  </a:lnTo>
                  <a:lnTo>
                    <a:pt x="773682" y="1159249"/>
                  </a:lnTo>
                  <a:lnTo>
                    <a:pt x="799610" y="1125670"/>
                  </a:lnTo>
                  <a:lnTo>
                    <a:pt x="816318" y="1086011"/>
                  </a:lnTo>
                  <a:lnTo>
                    <a:pt x="822236" y="1041844"/>
                  </a:lnTo>
                  <a:lnTo>
                    <a:pt x="822154" y="743889"/>
                  </a:lnTo>
                  <a:lnTo>
                    <a:pt x="822682" y="400773"/>
                  </a:lnTo>
                  <a:lnTo>
                    <a:pt x="823345" y="117732"/>
                  </a:lnTo>
                  <a:lnTo>
                    <a:pt x="823664" y="2527"/>
                  </a:lnTo>
                  <a:lnTo>
                    <a:pt x="823671" y="0"/>
                  </a:lnTo>
                  <a:close/>
                </a:path>
              </a:pathLst>
            </a:custGeom>
            <a:solidFill>
              <a:srgbClr val="00607E"/>
            </a:solidFill>
          </p:spPr>
          <p:txBody>
            <a:bodyPr wrap="square" lIns="0" tIns="0" rIns="0" bIns="0" rtlCol="0"/>
            <a:lstStyle/>
            <a:p>
              <a:endParaRPr/>
            </a:p>
          </p:txBody>
        </p:sp>
      </p:grpSp>
      <p:sp>
        <p:nvSpPr>
          <p:cNvPr id="9" name="object 9"/>
          <p:cNvSpPr txBox="1"/>
          <p:nvPr/>
        </p:nvSpPr>
        <p:spPr>
          <a:xfrm>
            <a:off x="1279080" y="1270276"/>
            <a:ext cx="1706880" cy="724535"/>
          </a:xfrm>
          <a:prstGeom prst="rect">
            <a:avLst/>
          </a:prstGeom>
        </p:spPr>
        <p:txBody>
          <a:bodyPr vert="horz" wrap="square" lIns="0" tIns="127000" rIns="0" bIns="0" rtlCol="0">
            <a:spAutoFit/>
          </a:bodyPr>
          <a:lstStyle/>
          <a:p>
            <a:pPr algn="ctr">
              <a:lnSpc>
                <a:spcPct val="100000"/>
              </a:lnSpc>
              <a:spcBef>
                <a:spcPts val="100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1</a:t>
            </a:r>
            <a:endParaRPr sz="1900">
              <a:latin typeface="Lucida Sans Unicode"/>
              <a:cs typeface="Lucida Sans Unicode"/>
            </a:endParaRPr>
          </a:p>
          <a:p>
            <a:pPr algn="ctr">
              <a:lnSpc>
                <a:spcPct val="100000"/>
              </a:lnSpc>
              <a:spcBef>
                <a:spcPts val="640"/>
              </a:spcBef>
              <a:tabLst>
                <a:tab pos="1168400" algn="l"/>
              </a:tabLst>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1</a:t>
            </a:r>
            <a:r>
              <a:rPr sz="1400" dirty="0">
                <a:solidFill>
                  <a:srgbClr val="454C4C"/>
                </a:solidFill>
                <a:latin typeface="Lucida Sans Unicode"/>
                <a:cs typeface="Lucida Sans Unicode"/>
              </a:rPr>
              <a:t>	</a:t>
            </a: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2</a:t>
            </a:r>
            <a:endParaRPr sz="1400">
              <a:latin typeface="Lucida Sans Unicode"/>
              <a:cs typeface="Lucida Sans Unicode"/>
            </a:endParaRPr>
          </a:p>
        </p:txBody>
      </p:sp>
      <p:sp>
        <p:nvSpPr>
          <p:cNvPr id="10" name="object 10"/>
          <p:cNvSpPr/>
          <p:nvPr/>
        </p:nvSpPr>
        <p:spPr>
          <a:xfrm>
            <a:off x="3708006"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1277" y="3288245"/>
                </a:lnTo>
                <a:lnTo>
                  <a:pt x="2387879" y="3288245"/>
                </a:lnTo>
                <a:lnTo>
                  <a:pt x="2437200" y="3283828"/>
                </a:lnTo>
                <a:lnTo>
                  <a:pt x="2483617" y="3271090"/>
                </a:lnTo>
                <a:lnTo>
                  <a:pt x="2526354" y="3250806"/>
                </a:lnTo>
                <a:lnTo>
                  <a:pt x="2564639" y="3223748"/>
                </a:lnTo>
                <a:lnTo>
                  <a:pt x="2597698" y="3190691"/>
                </a:lnTo>
                <a:lnTo>
                  <a:pt x="2624756" y="3152406"/>
                </a:lnTo>
                <a:lnTo>
                  <a:pt x="2645042" y="3109668"/>
                </a:lnTo>
                <a:lnTo>
                  <a:pt x="2657781" y="3063250"/>
                </a:lnTo>
                <a:lnTo>
                  <a:pt x="2662199" y="3013925"/>
                </a:lnTo>
                <a:lnTo>
                  <a:pt x="2662199" y="274320"/>
                </a:lnTo>
                <a:lnTo>
                  <a:pt x="2657781" y="224995"/>
                </a:lnTo>
                <a:lnTo>
                  <a:pt x="2645042" y="178577"/>
                </a:lnTo>
                <a:lnTo>
                  <a:pt x="2624756" y="135839"/>
                </a:lnTo>
                <a:lnTo>
                  <a:pt x="2597698" y="97554"/>
                </a:lnTo>
                <a:lnTo>
                  <a:pt x="2564639" y="64497"/>
                </a:lnTo>
                <a:lnTo>
                  <a:pt x="2526354" y="37439"/>
                </a:lnTo>
                <a:lnTo>
                  <a:pt x="2483617" y="17155"/>
                </a:lnTo>
                <a:lnTo>
                  <a:pt x="2437200" y="4417"/>
                </a:lnTo>
                <a:lnTo>
                  <a:pt x="2387879" y="0"/>
                </a:lnTo>
                <a:close/>
              </a:path>
            </a:pathLst>
          </a:custGeom>
          <a:solidFill>
            <a:srgbClr val="ECECEC"/>
          </a:solidFill>
        </p:spPr>
        <p:txBody>
          <a:bodyPr wrap="square" lIns="0" tIns="0" rIns="0" bIns="0" rtlCol="0"/>
          <a:lstStyle/>
          <a:p>
            <a:endParaRPr/>
          </a:p>
        </p:txBody>
      </p:sp>
      <p:sp>
        <p:nvSpPr>
          <p:cNvPr id="11" name="object 11"/>
          <p:cNvSpPr txBox="1"/>
          <p:nvPr/>
        </p:nvSpPr>
        <p:spPr>
          <a:xfrm>
            <a:off x="4607686" y="1381159"/>
            <a:ext cx="848360" cy="320040"/>
          </a:xfrm>
          <a:prstGeom prst="rect">
            <a:avLst/>
          </a:prstGeom>
        </p:spPr>
        <p:txBody>
          <a:bodyPr vert="horz" wrap="square" lIns="0" tIns="16510" rIns="0" bIns="0" rtlCol="0">
            <a:spAutoFit/>
          </a:bodyPr>
          <a:lstStyle/>
          <a:p>
            <a:pPr marL="12700">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2</a:t>
            </a:r>
            <a:endParaRPr sz="1900">
              <a:latin typeface="Lucida Sans Unicode"/>
              <a:cs typeface="Lucida Sans Unicode"/>
            </a:endParaRPr>
          </a:p>
        </p:txBody>
      </p:sp>
      <p:sp>
        <p:nvSpPr>
          <p:cNvPr id="12" name="object 12"/>
          <p:cNvSpPr txBox="1"/>
          <p:nvPr/>
        </p:nvSpPr>
        <p:spPr>
          <a:xfrm>
            <a:off x="4198924"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3</a:t>
            </a:r>
            <a:endParaRPr sz="1400">
              <a:latin typeface="Lucida Sans Unicode"/>
              <a:cs typeface="Lucida Sans Unicode"/>
            </a:endParaRPr>
          </a:p>
        </p:txBody>
      </p:sp>
      <p:grpSp>
        <p:nvGrpSpPr>
          <p:cNvPr id="13" name="object 13"/>
          <p:cNvGrpSpPr/>
          <p:nvPr/>
        </p:nvGrpSpPr>
        <p:grpSpPr>
          <a:xfrm>
            <a:off x="4029599" y="2127009"/>
            <a:ext cx="2019300" cy="2411730"/>
            <a:chOff x="4029599" y="2127009"/>
            <a:chExt cx="2019300" cy="2411730"/>
          </a:xfrm>
        </p:grpSpPr>
        <p:sp>
          <p:nvSpPr>
            <p:cNvPr id="14" name="object 14"/>
            <p:cNvSpPr/>
            <p:nvPr/>
          </p:nvSpPr>
          <p:spPr>
            <a:xfrm>
              <a:off x="4044238" y="2141647"/>
              <a:ext cx="821055" cy="2381250"/>
            </a:xfrm>
            <a:custGeom>
              <a:avLst/>
              <a:gdLst/>
              <a:ahLst/>
              <a:cxnLst/>
              <a:rect l="l" t="t" r="r" b="b"/>
              <a:pathLst>
                <a:path w="821054" h="2381250">
                  <a:moveTo>
                    <a:pt x="820801" y="1190523"/>
                  </a:moveTo>
                  <a:lnTo>
                    <a:pt x="820801" y="165595"/>
                  </a:lnTo>
                  <a:lnTo>
                    <a:pt x="814911" y="121578"/>
                  </a:lnTo>
                  <a:lnTo>
                    <a:pt x="798281" y="82023"/>
                  </a:lnTo>
                  <a:lnTo>
                    <a:pt x="772471" y="48507"/>
                  </a:lnTo>
                  <a:lnTo>
                    <a:pt x="739041" y="22612"/>
                  </a:lnTo>
                  <a:lnTo>
                    <a:pt x="699551" y="5916"/>
                  </a:lnTo>
                  <a:lnTo>
                    <a:pt x="655561" y="0"/>
                  </a:lnTo>
                  <a:lnTo>
                    <a:pt x="165595" y="0"/>
                  </a:lnTo>
                  <a:lnTo>
                    <a:pt x="121578" y="5916"/>
                  </a:lnTo>
                  <a:lnTo>
                    <a:pt x="82023" y="22612"/>
                  </a:lnTo>
                  <a:lnTo>
                    <a:pt x="48507" y="48507"/>
                  </a:lnTo>
                  <a:lnTo>
                    <a:pt x="22612" y="82023"/>
                  </a:lnTo>
                  <a:lnTo>
                    <a:pt x="5916" y="121578"/>
                  </a:lnTo>
                  <a:lnTo>
                    <a:pt x="0" y="165595"/>
                  </a:lnTo>
                  <a:lnTo>
                    <a:pt x="0" y="2215438"/>
                  </a:lnTo>
                  <a:lnTo>
                    <a:pt x="5916" y="2259456"/>
                  </a:lnTo>
                  <a:lnTo>
                    <a:pt x="22612" y="2299014"/>
                  </a:lnTo>
                  <a:lnTo>
                    <a:pt x="48507" y="2332532"/>
                  </a:lnTo>
                  <a:lnTo>
                    <a:pt x="82023" y="2358431"/>
                  </a:lnTo>
                  <a:lnTo>
                    <a:pt x="121578" y="2375129"/>
                  </a:lnTo>
                  <a:lnTo>
                    <a:pt x="165595" y="2381046"/>
                  </a:lnTo>
                  <a:lnTo>
                    <a:pt x="655561" y="2381046"/>
                  </a:lnTo>
                  <a:lnTo>
                    <a:pt x="699551" y="2375129"/>
                  </a:lnTo>
                  <a:lnTo>
                    <a:pt x="739041" y="2358431"/>
                  </a:lnTo>
                  <a:lnTo>
                    <a:pt x="772471" y="2332532"/>
                  </a:lnTo>
                  <a:lnTo>
                    <a:pt x="798281" y="2299014"/>
                  </a:lnTo>
                  <a:lnTo>
                    <a:pt x="814911"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15" name="object 15"/>
            <p:cNvSpPr/>
            <p:nvPr/>
          </p:nvSpPr>
          <p:spPr>
            <a:xfrm>
              <a:off x="4047121" y="3330723"/>
              <a:ext cx="824230" cy="1208405"/>
            </a:xfrm>
            <a:custGeom>
              <a:avLst/>
              <a:gdLst/>
              <a:ahLst/>
              <a:cxnLst/>
              <a:rect l="l" t="t" r="r" b="b"/>
              <a:pathLst>
                <a:path w="824229" h="1208404">
                  <a:moveTo>
                    <a:pt x="823683" y="0"/>
                  </a:moveTo>
                  <a:lnTo>
                    <a:pt x="1435" y="2527"/>
                  </a:lnTo>
                  <a:lnTo>
                    <a:pt x="0" y="1041844"/>
                  </a:lnTo>
                  <a:lnTo>
                    <a:pt x="5893" y="1086011"/>
                  </a:lnTo>
                  <a:lnTo>
                    <a:pt x="22546" y="1125670"/>
                  </a:lnTo>
                  <a:lnTo>
                    <a:pt x="48420" y="1159249"/>
                  </a:lnTo>
                  <a:lnTo>
                    <a:pt x="81974" y="1185179"/>
                  </a:lnTo>
                  <a:lnTo>
                    <a:pt x="121668" y="1201889"/>
                  </a:lnTo>
                  <a:lnTo>
                    <a:pt x="165963" y="1207808"/>
                  </a:lnTo>
                  <a:lnTo>
                    <a:pt x="656640" y="1207808"/>
                  </a:lnTo>
                  <a:lnTo>
                    <a:pt x="700780" y="1201889"/>
                  </a:lnTo>
                  <a:lnTo>
                    <a:pt x="740370" y="1185179"/>
                  </a:lnTo>
                  <a:lnTo>
                    <a:pt x="773861" y="1159249"/>
                  </a:lnTo>
                  <a:lnTo>
                    <a:pt x="799703" y="1125670"/>
                  </a:lnTo>
                  <a:lnTo>
                    <a:pt x="816344" y="1086011"/>
                  </a:lnTo>
                  <a:lnTo>
                    <a:pt x="822236" y="1041844"/>
                  </a:lnTo>
                  <a:lnTo>
                    <a:pt x="822156" y="743889"/>
                  </a:lnTo>
                  <a:lnTo>
                    <a:pt x="822688" y="400773"/>
                  </a:lnTo>
                  <a:lnTo>
                    <a:pt x="823355" y="117732"/>
                  </a:lnTo>
                  <a:lnTo>
                    <a:pt x="823676" y="2527"/>
                  </a:lnTo>
                  <a:lnTo>
                    <a:pt x="823683" y="0"/>
                  </a:lnTo>
                  <a:close/>
                </a:path>
              </a:pathLst>
            </a:custGeom>
            <a:solidFill>
              <a:srgbClr val="00607E"/>
            </a:solidFill>
          </p:spPr>
          <p:txBody>
            <a:bodyPr wrap="square" lIns="0" tIns="0" rIns="0" bIns="0" rtlCol="0"/>
            <a:lstStyle/>
            <a:p>
              <a:endParaRPr/>
            </a:p>
          </p:txBody>
        </p:sp>
        <p:sp>
          <p:nvSpPr>
            <p:cNvPr id="16" name="object 16"/>
            <p:cNvSpPr/>
            <p:nvPr/>
          </p:nvSpPr>
          <p:spPr>
            <a:xfrm>
              <a:off x="5213159" y="2141647"/>
              <a:ext cx="821055" cy="2381250"/>
            </a:xfrm>
            <a:custGeom>
              <a:avLst/>
              <a:gdLst/>
              <a:ahLst/>
              <a:cxnLst/>
              <a:rect l="l" t="t" r="r" b="b"/>
              <a:pathLst>
                <a:path w="821054" h="2381250">
                  <a:moveTo>
                    <a:pt x="820801" y="1190523"/>
                  </a:moveTo>
                  <a:lnTo>
                    <a:pt x="820801" y="165595"/>
                  </a:lnTo>
                  <a:lnTo>
                    <a:pt x="814884" y="121578"/>
                  </a:lnTo>
                  <a:lnTo>
                    <a:pt x="798188" y="82023"/>
                  </a:lnTo>
                  <a:lnTo>
                    <a:pt x="772293" y="48507"/>
                  </a:lnTo>
                  <a:lnTo>
                    <a:pt x="738777" y="22612"/>
                  </a:lnTo>
                  <a:lnTo>
                    <a:pt x="699222" y="5916"/>
                  </a:lnTo>
                  <a:lnTo>
                    <a:pt x="655205" y="0"/>
                  </a:lnTo>
                  <a:lnTo>
                    <a:pt x="165239" y="0"/>
                  </a:lnTo>
                  <a:lnTo>
                    <a:pt x="121249" y="5916"/>
                  </a:lnTo>
                  <a:lnTo>
                    <a:pt x="81759" y="22612"/>
                  </a:lnTo>
                  <a:lnTo>
                    <a:pt x="48329" y="48507"/>
                  </a:lnTo>
                  <a:lnTo>
                    <a:pt x="22519" y="82023"/>
                  </a:lnTo>
                  <a:lnTo>
                    <a:pt x="5889" y="121578"/>
                  </a:lnTo>
                  <a:lnTo>
                    <a:pt x="0" y="165595"/>
                  </a:lnTo>
                  <a:lnTo>
                    <a:pt x="0" y="2215438"/>
                  </a:lnTo>
                  <a:lnTo>
                    <a:pt x="5889" y="2259456"/>
                  </a:lnTo>
                  <a:lnTo>
                    <a:pt x="22519" y="2299014"/>
                  </a:lnTo>
                  <a:lnTo>
                    <a:pt x="48329" y="2332532"/>
                  </a:lnTo>
                  <a:lnTo>
                    <a:pt x="81759" y="2358431"/>
                  </a:lnTo>
                  <a:lnTo>
                    <a:pt x="121249" y="2375129"/>
                  </a:lnTo>
                  <a:lnTo>
                    <a:pt x="165239" y="2381046"/>
                  </a:lnTo>
                  <a:lnTo>
                    <a:pt x="655205" y="2381046"/>
                  </a:lnTo>
                  <a:lnTo>
                    <a:pt x="699222" y="2375129"/>
                  </a:lnTo>
                  <a:lnTo>
                    <a:pt x="738777" y="2358431"/>
                  </a:lnTo>
                  <a:lnTo>
                    <a:pt x="772293" y="2332532"/>
                  </a:lnTo>
                  <a:lnTo>
                    <a:pt x="798188" y="2299014"/>
                  </a:lnTo>
                  <a:lnTo>
                    <a:pt x="814884"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17" name="object 17"/>
            <p:cNvSpPr/>
            <p:nvPr/>
          </p:nvSpPr>
          <p:spPr>
            <a:xfrm>
              <a:off x="5216042" y="3330723"/>
              <a:ext cx="824230" cy="1208405"/>
            </a:xfrm>
            <a:custGeom>
              <a:avLst/>
              <a:gdLst/>
              <a:ahLst/>
              <a:cxnLst/>
              <a:rect l="l" t="t" r="r" b="b"/>
              <a:pathLst>
                <a:path w="824229" h="1208404">
                  <a:moveTo>
                    <a:pt x="823683" y="0"/>
                  </a:moveTo>
                  <a:lnTo>
                    <a:pt x="1079" y="2527"/>
                  </a:lnTo>
                  <a:lnTo>
                    <a:pt x="0" y="1041844"/>
                  </a:lnTo>
                  <a:lnTo>
                    <a:pt x="5763" y="1086011"/>
                  </a:lnTo>
                  <a:lnTo>
                    <a:pt x="22369" y="1125670"/>
                  </a:lnTo>
                  <a:lnTo>
                    <a:pt x="48236" y="1159249"/>
                  </a:lnTo>
                  <a:lnTo>
                    <a:pt x="81783" y="1185179"/>
                  </a:lnTo>
                  <a:lnTo>
                    <a:pt x="121429" y="1201889"/>
                  </a:lnTo>
                  <a:lnTo>
                    <a:pt x="165595" y="1207808"/>
                  </a:lnTo>
                  <a:lnTo>
                    <a:pt x="656272" y="1207808"/>
                  </a:lnTo>
                  <a:lnTo>
                    <a:pt x="700443" y="1201889"/>
                  </a:lnTo>
                  <a:lnTo>
                    <a:pt x="740103" y="1185179"/>
                  </a:lnTo>
                  <a:lnTo>
                    <a:pt x="773682" y="1159249"/>
                  </a:lnTo>
                  <a:lnTo>
                    <a:pt x="799610" y="1125670"/>
                  </a:lnTo>
                  <a:lnTo>
                    <a:pt x="816318" y="1086011"/>
                  </a:lnTo>
                  <a:lnTo>
                    <a:pt x="822236" y="1041844"/>
                  </a:lnTo>
                  <a:lnTo>
                    <a:pt x="822156" y="743889"/>
                  </a:lnTo>
                  <a:lnTo>
                    <a:pt x="822688" y="400773"/>
                  </a:lnTo>
                  <a:lnTo>
                    <a:pt x="823355" y="117732"/>
                  </a:lnTo>
                  <a:lnTo>
                    <a:pt x="823676" y="2527"/>
                  </a:lnTo>
                  <a:lnTo>
                    <a:pt x="823683" y="0"/>
                  </a:lnTo>
                  <a:close/>
                </a:path>
              </a:pathLst>
            </a:custGeom>
            <a:solidFill>
              <a:srgbClr val="00607E"/>
            </a:solidFill>
          </p:spPr>
          <p:txBody>
            <a:bodyPr wrap="square" lIns="0" tIns="0" rIns="0" bIns="0" rtlCol="0"/>
            <a:lstStyle/>
            <a:p>
              <a:endParaRPr/>
            </a:p>
          </p:txBody>
        </p:sp>
      </p:grpSp>
      <p:sp>
        <p:nvSpPr>
          <p:cNvPr id="18" name="object 18"/>
          <p:cNvSpPr txBox="1"/>
          <p:nvPr/>
        </p:nvSpPr>
        <p:spPr>
          <a:xfrm>
            <a:off x="5367578"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4</a:t>
            </a:r>
            <a:endParaRPr sz="1400">
              <a:latin typeface="Lucida Sans Unicode"/>
              <a:cs typeface="Lucida Sans Unicode"/>
            </a:endParaRPr>
          </a:p>
        </p:txBody>
      </p:sp>
      <p:sp>
        <p:nvSpPr>
          <p:cNvPr id="19" name="object 19"/>
          <p:cNvSpPr/>
          <p:nvPr/>
        </p:nvSpPr>
        <p:spPr>
          <a:xfrm>
            <a:off x="6627965"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0909"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20" name="object 20"/>
          <p:cNvSpPr txBox="1"/>
          <p:nvPr/>
        </p:nvSpPr>
        <p:spPr>
          <a:xfrm>
            <a:off x="7528318" y="1381159"/>
            <a:ext cx="848360" cy="320040"/>
          </a:xfrm>
          <a:prstGeom prst="rect">
            <a:avLst/>
          </a:prstGeom>
        </p:spPr>
        <p:txBody>
          <a:bodyPr vert="horz" wrap="square" lIns="0" tIns="16510" rIns="0" bIns="0" rtlCol="0">
            <a:spAutoFit/>
          </a:bodyPr>
          <a:lstStyle/>
          <a:p>
            <a:pPr marL="12700">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3</a:t>
            </a:r>
            <a:endParaRPr sz="1900">
              <a:latin typeface="Lucida Sans Unicode"/>
              <a:cs typeface="Lucida Sans Unicode"/>
            </a:endParaRPr>
          </a:p>
        </p:txBody>
      </p:sp>
      <p:sp>
        <p:nvSpPr>
          <p:cNvPr id="21" name="object 21"/>
          <p:cNvSpPr txBox="1"/>
          <p:nvPr/>
        </p:nvSpPr>
        <p:spPr>
          <a:xfrm>
            <a:off x="7118769"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5</a:t>
            </a:r>
            <a:endParaRPr sz="1400">
              <a:latin typeface="Lucida Sans Unicode"/>
              <a:cs typeface="Lucida Sans Unicode"/>
            </a:endParaRPr>
          </a:p>
        </p:txBody>
      </p:sp>
      <p:grpSp>
        <p:nvGrpSpPr>
          <p:cNvPr id="22" name="object 22"/>
          <p:cNvGrpSpPr/>
          <p:nvPr/>
        </p:nvGrpSpPr>
        <p:grpSpPr>
          <a:xfrm>
            <a:off x="6949558" y="2127009"/>
            <a:ext cx="2019300" cy="2411730"/>
            <a:chOff x="6949558" y="2127009"/>
            <a:chExt cx="2019300" cy="2411730"/>
          </a:xfrm>
        </p:grpSpPr>
        <p:sp>
          <p:nvSpPr>
            <p:cNvPr id="23" name="object 23"/>
            <p:cNvSpPr/>
            <p:nvPr/>
          </p:nvSpPr>
          <p:spPr>
            <a:xfrm>
              <a:off x="6964197" y="2141647"/>
              <a:ext cx="821055" cy="2381250"/>
            </a:xfrm>
            <a:custGeom>
              <a:avLst/>
              <a:gdLst/>
              <a:ahLst/>
              <a:cxnLst/>
              <a:rect l="l" t="t" r="r" b="b"/>
              <a:pathLst>
                <a:path w="821054" h="2381250">
                  <a:moveTo>
                    <a:pt x="820801" y="1190523"/>
                  </a:moveTo>
                  <a:lnTo>
                    <a:pt x="820801" y="165595"/>
                  </a:lnTo>
                  <a:lnTo>
                    <a:pt x="814886" y="121578"/>
                  </a:lnTo>
                  <a:lnTo>
                    <a:pt x="798202" y="82023"/>
                  </a:lnTo>
                  <a:lnTo>
                    <a:pt x="772337" y="48507"/>
                  </a:lnTo>
                  <a:lnTo>
                    <a:pt x="738883" y="22612"/>
                  </a:lnTo>
                  <a:lnTo>
                    <a:pt x="699427" y="5916"/>
                  </a:lnTo>
                  <a:lnTo>
                    <a:pt x="655561" y="0"/>
                  </a:lnTo>
                  <a:lnTo>
                    <a:pt x="165608" y="0"/>
                  </a:lnTo>
                  <a:lnTo>
                    <a:pt x="121590" y="5916"/>
                  </a:lnTo>
                  <a:lnTo>
                    <a:pt x="82032" y="22612"/>
                  </a:lnTo>
                  <a:lnTo>
                    <a:pt x="48514" y="48507"/>
                  </a:lnTo>
                  <a:lnTo>
                    <a:pt x="22615" y="82023"/>
                  </a:lnTo>
                  <a:lnTo>
                    <a:pt x="5917" y="121578"/>
                  </a:lnTo>
                  <a:lnTo>
                    <a:pt x="0" y="165595"/>
                  </a:lnTo>
                  <a:lnTo>
                    <a:pt x="0" y="2215438"/>
                  </a:lnTo>
                  <a:lnTo>
                    <a:pt x="5917" y="2259456"/>
                  </a:lnTo>
                  <a:lnTo>
                    <a:pt x="22615" y="2299014"/>
                  </a:lnTo>
                  <a:lnTo>
                    <a:pt x="48514" y="2332532"/>
                  </a:lnTo>
                  <a:lnTo>
                    <a:pt x="82032" y="2358431"/>
                  </a:lnTo>
                  <a:lnTo>
                    <a:pt x="121590" y="2375129"/>
                  </a:lnTo>
                  <a:lnTo>
                    <a:pt x="165608" y="2381046"/>
                  </a:lnTo>
                  <a:lnTo>
                    <a:pt x="655561" y="2381046"/>
                  </a:lnTo>
                  <a:lnTo>
                    <a:pt x="699427" y="2375129"/>
                  </a:lnTo>
                  <a:lnTo>
                    <a:pt x="738883" y="2358431"/>
                  </a:lnTo>
                  <a:lnTo>
                    <a:pt x="772337" y="2332532"/>
                  </a:lnTo>
                  <a:lnTo>
                    <a:pt x="798202" y="2299014"/>
                  </a:lnTo>
                  <a:lnTo>
                    <a:pt x="814886"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24" name="object 24"/>
            <p:cNvSpPr/>
            <p:nvPr/>
          </p:nvSpPr>
          <p:spPr>
            <a:xfrm>
              <a:off x="6967080" y="3330723"/>
              <a:ext cx="824230" cy="1208405"/>
            </a:xfrm>
            <a:custGeom>
              <a:avLst/>
              <a:gdLst/>
              <a:ahLst/>
              <a:cxnLst/>
              <a:rect l="l" t="t" r="r" b="b"/>
              <a:pathLst>
                <a:path w="824229" h="1208404">
                  <a:moveTo>
                    <a:pt x="823683" y="0"/>
                  </a:moveTo>
                  <a:lnTo>
                    <a:pt x="1435" y="2527"/>
                  </a:lnTo>
                  <a:lnTo>
                    <a:pt x="0" y="1041844"/>
                  </a:lnTo>
                  <a:lnTo>
                    <a:pt x="5893" y="1086011"/>
                  </a:lnTo>
                  <a:lnTo>
                    <a:pt x="22546" y="1125670"/>
                  </a:lnTo>
                  <a:lnTo>
                    <a:pt x="48420" y="1159249"/>
                  </a:lnTo>
                  <a:lnTo>
                    <a:pt x="81974" y="1185179"/>
                  </a:lnTo>
                  <a:lnTo>
                    <a:pt x="121668" y="1201889"/>
                  </a:lnTo>
                  <a:lnTo>
                    <a:pt x="165963" y="1207808"/>
                  </a:lnTo>
                  <a:lnTo>
                    <a:pt x="656640" y="1207808"/>
                  </a:lnTo>
                  <a:lnTo>
                    <a:pt x="700780" y="1201889"/>
                  </a:lnTo>
                  <a:lnTo>
                    <a:pt x="740370" y="1185179"/>
                  </a:lnTo>
                  <a:lnTo>
                    <a:pt x="773861" y="1159249"/>
                  </a:lnTo>
                  <a:lnTo>
                    <a:pt x="799703" y="1125670"/>
                  </a:lnTo>
                  <a:lnTo>
                    <a:pt x="816344" y="1086011"/>
                  </a:lnTo>
                  <a:lnTo>
                    <a:pt x="822236" y="1041844"/>
                  </a:lnTo>
                  <a:lnTo>
                    <a:pt x="822162" y="743889"/>
                  </a:lnTo>
                  <a:lnTo>
                    <a:pt x="822693" y="400773"/>
                  </a:lnTo>
                  <a:lnTo>
                    <a:pt x="823357" y="117732"/>
                  </a:lnTo>
                  <a:lnTo>
                    <a:pt x="823676" y="2527"/>
                  </a:lnTo>
                  <a:lnTo>
                    <a:pt x="823683" y="0"/>
                  </a:lnTo>
                  <a:close/>
                </a:path>
              </a:pathLst>
            </a:custGeom>
            <a:solidFill>
              <a:srgbClr val="00607E"/>
            </a:solidFill>
          </p:spPr>
          <p:txBody>
            <a:bodyPr wrap="square" lIns="0" tIns="0" rIns="0" bIns="0" rtlCol="0"/>
            <a:lstStyle/>
            <a:p>
              <a:endParaRPr/>
            </a:p>
          </p:txBody>
        </p:sp>
        <p:sp>
          <p:nvSpPr>
            <p:cNvPr id="25" name="object 25"/>
            <p:cNvSpPr/>
            <p:nvPr/>
          </p:nvSpPr>
          <p:spPr>
            <a:xfrm>
              <a:off x="8133118" y="2141647"/>
              <a:ext cx="821055" cy="2381250"/>
            </a:xfrm>
            <a:custGeom>
              <a:avLst/>
              <a:gdLst/>
              <a:ahLst/>
              <a:cxnLst/>
              <a:rect l="l" t="t" r="r" b="b"/>
              <a:pathLst>
                <a:path w="821054" h="2381250">
                  <a:moveTo>
                    <a:pt x="820801" y="1190523"/>
                  </a:moveTo>
                  <a:lnTo>
                    <a:pt x="820801" y="165595"/>
                  </a:lnTo>
                  <a:lnTo>
                    <a:pt x="814884" y="121578"/>
                  </a:lnTo>
                  <a:lnTo>
                    <a:pt x="798188" y="82023"/>
                  </a:lnTo>
                  <a:lnTo>
                    <a:pt x="772293" y="48507"/>
                  </a:lnTo>
                  <a:lnTo>
                    <a:pt x="738777" y="22612"/>
                  </a:lnTo>
                  <a:lnTo>
                    <a:pt x="699222" y="5916"/>
                  </a:lnTo>
                  <a:lnTo>
                    <a:pt x="655205" y="0"/>
                  </a:lnTo>
                  <a:lnTo>
                    <a:pt x="165239" y="0"/>
                  </a:lnTo>
                  <a:lnTo>
                    <a:pt x="121249" y="5916"/>
                  </a:lnTo>
                  <a:lnTo>
                    <a:pt x="81759" y="22612"/>
                  </a:lnTo>
                  <a:lnTo>
                    <a:pt x="48329" y="48507"/>
                  </a:lnTo>
                  <a:lnTo>
                    <a:pt x="22519" y="82023"/>
                  </a:lnTo>
                  <a:lnTo>
                    <a:pt x="5889" y="121578"/>
                  </a:lnTo>
                  <a:lnTo>
                    <a:pt x="0" y="165595"/>
                  </a:lnTo>
                  <a:lnTo>
                    <a:pt x="0" y="2215438"/>
                  </a:lnTo>
                  <a:lnTo>
                    <a:pt x="5889" y="2259456"/>
                  </a:lnTo>
                  <a:lnTo>
                    <a:pt x="22519" y="2299014"/>
                  </a:lnTo>
                  <a:lnTo>
                    <a:pt x="48329" y="2332532"/>
                  </a:lnTo>
                  <a:lnTo>
                    <a:pt x="81759" y="2358431"/>
                  </a:lnTo>
                  <a:lnTo>
                    <a:pt x="121249" y="2375129"/>
                  </a:lnTo>
                  <a:lnTo>
                    <a:pt x="165239" y="2381046"/>
                  </a:lnTo>
                  <a:lnTo>
                    <a:pt x="655205" y="2381046"/>
                  </a:lnTo>
                  <a:lnTo>
                    <a:pt x="699222" y="2375129"/>
                  </a:lnTo>
                  <a:lnTo>
                    <a:pt x="738777" y="2358431"/>
                  </a:lnTo>
                  <a:lnTo>
                    <a:pt x="772293" y="2332532"/>
                  </a:lnTo>
                  <a:lnTo>
                    <a:pt x="798188" y="2299014"/>
                  </a:lnTo>
                  <a:lnTo>
                    <a:pt x="814884"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26" name="object 26"/>
            <p:cNvSpPr/>
            <p:nvPr/>
          </p:nvSpPr>
          <p:spPr>
            <a:xfrm>
              <a:off x="8136001" y="3330723"/>
              <a:ext cx="824230" cy="1208405"/>
            </a:xfrm>
            <a:custGeom>
              <a:avLst/>
              <a:gdLst/>
              <a:ahLst/>
              <a:cxnLst/>
              <a:rect l="l" t="t" r="r" b="b"/>
              <a:pathLst>
                <a:path w="824229" h="1208404">
                  <a:moveTo>
                    <a:pt x="823683" y="0"/>
                  </a:moveTo>
                  <a:lnTo>
                    <a:pt x="1079" y="2527"/>
                  </a:lnTo>
                  <a:lnTo>
                    <a:pt x="0" y="1041844"/>
                  </a:lnTo>
                  <a:lnTo>
                    <a:pt x="5768" y="1086011"/>
                  </a:lnTo>
                  <a:lnTo>
                    <a:pt x="22375" y="1125670"/>
                  </a:lnTo>
                  <a:lnTo>
                    <a:pt x="48240" y="1159249"/>
                  </a:lnTo>
                  <a:lnTo>
                    <a:pt x="81786" y="1185179"/>
                  </a:lnTo>
                  <a:lnTo>
                    <a:pt x="121430" y="1201889"/>
                  </a:lnTo>
                  <a:lnTo>
                    <a:pt x="165595" y="1207808"/>
                  </a:lnTo>
                  <a:lnTo>
                    <a:pt x="656285" y="1207808"/>
                  </a:lnTo>
                  <a:lnTo>
                    <a:pt x="700451" y="1201889"/>
                  </a:lnTo>
                  <a:lnTo>
                    <a:pt x="740107" y="1185179"/>
                  </a:lnTo>
                  <a:lnTo>
                    <a:pt x="773684" y="1159249"/>
                  </a:lnTo>
                  <a:lnTo>
                    <a:pt x="799610" y="1125670"/>
                  </a:lnTo>
                  <a:lnTo>
                    <a:pt x="816318" y="1086011"/>
                  </a:lnTo>
                  <a:lnTo>
                    <a:pt x="822236" y="1041844"/>
                  </a:lnTo>
                  <a:lnTo>
                    <a:pt x="822006" y="743889"/>
                  </a:lnTo>
                  <a:lnTo>
                    <a:pt x="822555" y="400773"/>
                  </a:lnTo>
                  <a:lnTo>
                    <a:pt x="823305" y="117732"/>
                  </a:lnTo>
                  <a:lnTo>
                    <a:pt x="823675" y="2527"/>
                  </a:lnTo>
                  <a:lnTo>
                    <a:pt x="823683" y="0"/>
                  </a:lnTo>
                  <a:close/>
                </a:path>
              </a:pathLst>
            </a:custGeom>
            <a:solidFill>
              <a:srgbClr val="00607E"/>
            </a:solidFill>
          </p:spPr>
          <p:txBody>
            <a:bodyPr wrap="square" lIns="0" tIns="0" rIns="0" bIns="0" rtlCol="0"/>
            <a:lstStyle/>
            <a:p>
              <a:endParaRPr/>
            </a:p>
          </p:txBody>
        </p:sp>
      </p:grpSp>
      <p:sp>
        <p:nvSpPr>
          <p:cNvPr id="27" name="object 27"/>
          <p:cNvSpPr txBox="1"/>
          <p:nvPr/>
        </p:nvSpPr>
        <p:spPr>
          <a:xfrm>
            <a:off x="8287778"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6</a:t>
            </a:r>
            <a:endParaRPr sz="1400">
              <a:latin typeface="Lucida Sans Unicode"/>
              <a:cs typeface="Lucida Sans Unicode"/>
            </a:endParaRPr>
          </a:p>
        </p:txBody>
      </p:sp>
      <p:sp>
        <p:nvSpPr>
          <p:cNvPr id="28" name="object 28"/>
          <p:cNvSpPr/>
          <p:nvPr/>
        </p:nvSpPr>
        <p:spPr>
          <a:xfrm>
            <a:off x="2306154" y="2159288"/>
            <a:ext cx="821055" cy="2381250"/>
          </a:xfrm>
          <a:custGeom>
            <a:avLst/>
            <a:gdLst/>
            <a:ahLst/>
            <a:cxnLst/>
            <a:rect l="l" t="t" r="r" b="b"/>
            <a:pathLst>
              <a:path w="821055" h="2381250">
                <a:moveTo>
                  <a:pt x="0" y="0"/>
                </a:moveTo>
                <a:lnTo>
                  <a:pt x="820801" y="2381046"/>
                </a:lnTo>
                <a:lnTo>
                  <a:pt x="820801" y="2381046"/>
                </a:lnTo>
              </a:path>
              <a:path w="821055" h="2381250">
                <a:moveTo>
                  <a:pt x="820801" y="0"/>
                </a:moveTo>
                <a:lnTo>
                  <a:pt x="0" y="2381046"/>
                </a:lnTo>
                <a:lnTo>
                  <a:pt x="0" y="2381046"/>
                </a:lnTo>
              </a:path>
            </a:pathLst>
          </a:custGeom>
          <a:ln w="38763">
            <a:solidFill>
              <a:srgbClr val="EB1E29"/>
            </a:solidFill>
          </a:ln>
        </p:spPr>
        <p:txBody>
          <a:bodyPr wrap="square" lIns="0" tIns="0" rIns="0" bIns="0" rtlCol="0"/>
          <a:lstStyle/>
          <a:p>
            <a:endParaRPr/>
          </a:p>
        </p:txBody>
      </p:sp>
      <p:sp>
        <p:nvSpPr>
          <p:cNvPr id="29" name="object 29"/>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0" name="object 30"/>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45</a:t>
            </a:fld>
            <a:r>
              <a:rPr spc="-10" dirty="0"/>
              <a:t>/60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OSDs</a:t>
            </a:r>
            <a:r>
              <a:rPr spc="-305" dirty="0"/>
              <a:t> </a:t>
            </a:r>
            <a:r>
              <a:rPr dirty="0"/>
              <a:t>in</a:t>
            </a:r>
            <a:r>
              <a:rPr spc="-300" dirty="0"/>
              <a:t> </a:t>
            </a:r>
            <a:r>
              <a:rPr spc="-75" dirty="0"/>
              <a:t>a</a:t>
            </a:r>
            <a:r>
              <a:rPr spc="-300" dirty="0"/>
              <a:t> </a:t>
            </a:r>
            <a:r>
              <a:rPr dirty="0"/>
              <a:t>Three–Node</a:t>
            </a:r>
            <a:r>
              <a:rPr spc="-300" dirty="0"/>
              <a:t> </a:t>
            </a:r>
            <a:r>
              <a:rPr spc="50" dirty="0"/>
              <a:t>Ceph</a:t>
            </a:r>
            <a:r>
              <a:rPr spc="-300" dirty="0"/>
              <a:t> </a:t>
            </a:r>
            <a:r>
              <a:rPr spc="55" dirty="0"/>
              <a:t>Cluster</a:t>
            </a:r>
          </a:p>
        </p:txBody>
      </p:sp>
      <p:grpSp>
        <p:nvGrpSpPr>
          <p:cNvPr id="3" name="object 3"/>
          <p:cNvGrpSpPr/>
          <p:nvPr/>
        </p:nvGrpSpPr>
        <p:grpSpPr>
          <a:xfrm>
            <a:off x="788034" y="1326244"/>
            <a:ext cx="2662555" cy="3288665"/>
            <a:chOff x="788034" y="1326244"/>
            <a:chExt cx="2662555" cy="3288665"/>
          </a:xfrm>
        </p:grpSpPr>
        <p:sp>
          <p:nvSpPr>
            <p:cNvPr id="4" name="object 4"/>
            <p:cNvSpPr/>
            <p:nvPr/>
          </p:nvSpPr>
          <p:spPr>
            <a:xfrm>
              <a:off x="788034" y="1326244"/>
              <a:ext cx="2662555" cy="3288665"/>
            </a:xfrm>
            <a:custGeom>
              <a:avLst/>
              <a:gdLst/>
              <a:ahLst/>
              <a:cxnLst/>
              <a:rect l="l" t="t" r="r" b="b"/>
              <a:pathLst>
                <a:path w="2662554" h="3288665">
                  <a:moveTo>
                    <a:pt x="2387879" y="0"/>
                  </a:moveTo>
                  <a:lnTo>
                    <a:pt x="274320" y="0"/>
                  </a:lnTo>
                  <a:lnTo>
                    <a:pt x="224998" y="4417"/>
                  </a:lnTo>
                  <a:lnTo>
                    <a:pt x="178582" y="17155"/>
                  </a:lnTo>
                  <a:lnTo>
                    <a:pt x="135844" y="37439"/>
                  </a:lnTo>
                  <a:lnTo>
                    <a:pt x="97560" y="64497"/>
                  </a:lnTo>
                  <a:lnTo>
                    <a:pt x="64501" y="97554"/>
                  </a:lnTo>
                  <a:lnTo>
                    <a:pt x="37442" y="135839"/>
                  </a:lnTo>
                  <a:lnTo>
                    <a:pt x="17156" y="178577"/>
                  </a:lnTo>
                  <a:lnTo>
                    <a:pt x="4418" y="224995"/>
                  </a:lnTo>
                  <a:lnTo>
                    <a:pt x="0" y="274320"/>
                  </a:lnTo>
                  <a:lnTo>
                    <a:pt x="0" y="3013925"/>
                  </a:lnTo>
                  <a:lnTo>
                    <a:pt x="4418" y="3063250"/>
                  </a:lnTo>
                  <a:lnTo>
                    <a:pt x="17156" y="3109668"/>
                  </a:lnTo>
                  <a:lnTo>
                    <a:pt x="37442" y="3152406"/>
                  </a:lnTo>
                  <a:lnTo>
                    <a:pt x="64501" y="3190691"/>
                  </a:lnTo>
                  <a:lnTo>
                    <a:pt x="97560" y="3223748"/>
                  </a:lnTo>
                  <a:lnTo>
                    <a:pt x="135844" y="3250806"/>
                  </a:lnTo>
                  <a:lnTo>
                    <a:pt x="178582" y="3271090"/>
                  </a:lnTo>
                  <a:lnTo>
                    <a:pt x="224998" y="3283828"/>
                  </a:lnTo>
                  <a:lnTo>
                    <a:pt x="274320" y="3288245"/>
                  </a:lnTo>
                  <a:lnTo>
                    <a:pt x="1331290"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5" name="object 5"/>
            <p:cNvSpPr/>
            <p:nvPr/>
          </p:nvSpPr>
          <p:spPr>
            <a:xfrm>
              <a:off x="2293200" y="2141647"/>
              <a:ext cx="821055" cy="2381250"/>
            </a:xfrm>
            <a:custGeom>
              <a:avLst/>
              <a:gdLst/>
              <a:ahLst/>
              <a:cxnLst/>
              <a:rect l="l" t="t" r="r" b="b"/>
              <a:pathLst>
                <a:path w="821055" h="2381250">
                  <a:moveTo>
                    <a:pt x="820801" y="1190523"/>
                  </a:moveTo>
                  <a:lnTo>
                    <a:pt x="820801" y="165595"/>
                  </a:lnTo>
                  <a:lnTo>
                    <a:pt x="814883" y="121578"/>
                  </a:lnTo>
                  <a:lnTo>
                    <a:pt x="798185" y="82023"/>
                  </a:lnTo>
                  <a:lnTo>
                    <a:pt x="772287" y="48507"/>
                  </a:lnTo>
                  <a:lnTo>
                    <a:pt x="738768" y="22612"/>
                  </a:lnTo>
                  <a:lnTo>
                    <a:pt x="699210" y="5916"/>
                  </a:lnTo>
                  <a:lnTo>
                    <a:pt x="655193" y="0"/>
                  </a:lnTo>
                  <a:lnTo>
                    <a:pt x="165239" y="0"/>
                  </a:lnTo>
                  <a:lnTo>
                    <a:pt x="121373" y="5916"/>
                  </a:lnTo>
                  <a:lnTo>
                    <a:pt x="81917" y="22612"/>
                  </a:lnTo>
                  <a:lnTo>
                    <a:pt x="48463" y="48507"/>
                  </a:lnTo>
                  <a:lnTo>
                    <a:pt x="22598" y="82023"/>
                  </a:lnTo>
                  <a:lnTo>
                    <a:pt x="5914" y="121578"/>
                  </a:lnTo>
                  <a:lnTo>
                    <a:pt x="0" y="165595"/>
                  </a:lnTo>
                  <a:lnTo>
                    <a:pt x="0" y="2215438"/>
                  </a:lnTo>
                  <a:lnTo>
                    <a:pt x="5914" y="2259456"/>
                  </a:lnTo>
                  <a:lnTo>
                    <a:pt x="22598" y="2299014"/>
                  </a:lnTo>
                  <a:lnTo>
                    <a:pt x="48463" y="2332532"/>
                  </a:lnTo>
                  <a:lnTo>
                    <a:pt x="81917" y="2358431"/>
                  </a:lnTo>
                  <a:lnTo>
                    <a:pt x="121373" y="2375129"/>
                  </a:lnTo>
                  <a:lnTo>
                    <a:pt x="165239" y="2381046"/>
                  </a:lnTo>
                  <a:lnTo>
                    <a:pt x="655193" y="2381046"/>
                  </a:lnTo>
                  <a:lnTo>
                    <a:pt x="699210" y="2375129"/>
                  </a:lnTo>
                  <a:lnTo>
                    <a:pt x="738768" y="2358431"/>
                  </a:lnTo>
                  <a:lnTo>
                    <a:pt x="772287" y="2332532"/>
                  </a:lnTo>
                  <a:lnTo>
                    <a:pt x="798185" y="2299014"/>
                  </a:lnTo>
                  <a:lnTo>
                    <a:pt x="814883"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6" name="object 6"/>
            <p:cNvSpPr/>
            <p:nvPr/>
          </p:nvSpPr>
          <p:spPr>
            <a:xfrm>
              <a:off x="2296083" y="3330723"/>
              <a:ext cx="824230" cy="1208405"/>
            </a:xfrm>
            <a:custGeom>
              <a:avLst/>
              <a:gdLst/>
              <a:ahLst/>
              <a:cxnLst/>
              <a:rect l="l" t="t" r="r" b="b"/>
              <a:pathLst>
                <a:path w="824230" h="1208404">
                  <a:moveTo>
                    <a:pt x="823671" y="0"/>
                  </a:moveTo>
                  <a:lnTo>
                    <a:pt x="1079" y="2527"/>
                  </a:lnTo>
                  <a:lnTo>
                    <a:pt x="0" y="1041844"/>
                  </a:lnTo>
                  <a:lnTo>
                    <a:pt x="5763" y="1086011"/>
                  </a:lnTo>
                  <a:lnTo>
                    <a:pt x="22369" y="1125670"/>
                  </a:lnTo>
                  <a:lnTo>
                    <a:pt x="48236" y="1159249"/>
                  </a:lnTo>
                  <a:lnTo>
                    <a:pt x="81783" y="1185179"/>
                  </a:lnTo>
                  <a:lnTo>
                    <a:pt x="121429" y="1201889"/>
                  </a:lnTo>
                  <a:lnTo>
                    <a:pt x="165595" y="1207808"/>
                  </a:lnTo>
                  <a:lnTo>
                    <a:pt x="656272" y="1207808"/>
                  </a:lnTo>
                  <a:lnTo>
                    <a:pt x="700443" y="1201889"/>
                  </a:lnTo>
                  <a:lnTo>
                    <a:pt x="740103" y="1185179"/>
                  </a:lnTo>
                  <a:lnTo>
                    <a:pt x="773682" y="1159249"/>
                  </a:lnTo>
                  <a:lnTo>
                    <a:pt x="799610" y="1125670"/>
                  </a:lnTo>
                  <a:lnTo>
                    <a:pt x="816318" y="1086011"/>
                  </a:lnTo>
                  <a:lnTo>
                    <a:pt x="822236" y="1041844"/>
                  </a:lnTo>
                  <a:lnTo>
                    <a:pt x="822154" y="743889"/>
                  </a:lnTo>
                  <a:lnTo>
                    <a:pt x="822682" y="400773"/>
                  </a:lnTo>
                  <a:lnTo>
                    <a:pt x="823345" y="117732"/>
                  </a:lnTo>
                  <a:lnTo>
                    <a:pt x="823664" y="2527"/>
                  </a:lnTo>
                  <a:lnTo>
                    <a:pt x="823671" y="0"/>
                  </a:lnTo>
                  <a:close/>
                </a:path>
              </a:pathLst>
            </a:custGeom>
            <a:solidFill>
              <a:srgbClr val="00607E"/>
            </a:solidFill>
          </p:spPr>
          <p:txBody>
            <a:bodyPr wrap="square" lIns="0" tIns="0" rIns="0" bIns="0" rtlCol="0"/>
            <a:lstStyle/>
            <a:p>
              <a:endParaRPr/>
            </a:p>
          </p:txBody>
        </p:sp>
      </p:grpSp>
      <p:sp>
        <p:nvSpPr>
          <p:cNvPr id="7" name="object 7"/>
          <p:cNvSpPr txBox="1"/>
          <p:nvPr/>
        </p:nvSpPr>
        <p:spPr>
          <a:xfrm>
            <a:off x="1279080" y="1270276"/>
            <a:ext cx="1706880" cy="724535"/>
          </a:xfrm>
          <a:prstGeom prst="rect">
            <a:avLst/>
          </a:prstGeom>
        </p:spPr>
        <p:txBody>
          <a:bodyPr vert="horz" wrap="square" lIns="0" tIns="127000" rIns="0" bIns="0" rtlCol="0">
            <a:spAutoFit/>
          </a:bodyPr>
          <a:lstStyle/>
          <a:p>
            <a:pPr algn="ctr">
              <a:lnSpc>
                <a:spcPct val="100000"/>
              </a:lnSpc>
              <a:spcBef>
                <a:spcPts val="100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1</a:t>
            </a:r>
            <a:endParaRPr sz="1900">
              <a:latin typeface="Lucida Sans Unicode"/>
              <a:cs typeface="Lucida Sans Unicode"/>
            </a:endParaRPr>
          </a:p>
          <a:p>
            <a:pPr algn="ctr">
              <a:lnSpc>
                <a:spcPct val="100000"/>
              </a:lnSpc>
              <a:spcBef>
                <a:spcPts val="640"/>
              </a:spcBef>
              <a:tabLst>
                <a:tab pos="1168400" algn="l"/>
              </a:tabLst>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1</a:t>
            </a:r>
            <a:r>
              <a:rPr sz="1400" dirty="0">
                <a:solidFill>
                  <a:srgbClr val="454C4C"/>
                </a:solidFill>
                <a:latin typeface="Lucida Sans Unicode"/>
                <a:cs typeface="Lucida Sans Unicode"/>
              </a:rPr>
              <a:t>	</a:t>
            </a: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2</a:t>
            </a:r>
            <a:endParaRPr sz="1400">
              <a:latin typeface="Lucida Sans Unicode"/>
              <a:cs typeface="Lucida Sans Unicode"/>
            </a:endParaRPr>
          </a:p>
        </p:txBody>
      </p:sp>
      <p:sp>
        <p:nvSpPr>
          <p:cNvPr id="8" name="object 8"/>
          <p:cNvSpPr/>
          <p:nvPr/>
        </p:nvSpPr>
        <p:spPr>
          <a:xfrm>
            <a:off x="3708006"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1277" y="3288245"/>
                </a:lnTo>
                <a:lnTo>
                  <a:pt x="2387879" y="3288245"/>
                </a:lnTo>
                <a:lnTo>
                  <a:pt x="2437200" y="3283828"/>
                </a:lnTo>
                <a:lnTo>
                  <a:pt x="2483617" y="3271090"/>
                </a:lnTo>
                <a:lnTo>
                  <a:pt x="2526354" y="3250806"/>
                </a:lnTo>
                <a:lnTo>
                  <a:pt x="2564639" y="3223748"/>
                </a:lnTo>
                <a:lnTo>
                  <a:pt x="2597698" y="3190691"/>
                </a:lnTo>
                <a:lnTo>
                  <a:pt x="2624756" y="3152406"/>
                </a:lnTo>
                <a:lnTo>
                  <a:pt x="2645042" y="3109668"/>
                </a:lnTo>
                <a:lnTo>
                  <a:pt x="2657781" y="3063250"/>
                </a:lnTo>
                <a:lnTo>
                  <a:pt x="2662199" y="3013925"/>
                </a:lnTo>
                <a:lnTo>
                  <a:pt x="2662199" y="274320"/>
                </a:lnTo>
                <a:lnTo>
                  <a:pt x="2657781" y="224995"/>
                </a:lnTo>
                <a:lnTo>
                  <a:pt x="2645042" y="178577"/>
                </a:lnTo>
                <a:lnTo>
                  <a:pt x="2624756" y="135839"/>
                </a:lnTo>
                <a:lnTo>
                  <a:pt x="2597698" y="97554"/>
                </a:lnTo>
                <a:lnTo>
                  <a:pt x="2564639" y="64497"/>
                </a:lnTo>
                <a:lnTo>
                  <a:pt x="2526354" y="37439"/>
                </a:lnTo>
                <a:lnTo>
                  <a:pt x="2483617" y="17155"/>
                </a:lnTo>
                <a:lnTo>
                  <a:pt x="2437200" y="4417"/>
                </a:lnTo>
                <a:lnTo>
                  <a:pt x="2387879" y="0"/>
                </a:lnTo>
                <a:close/>
              </a:path>
            </a:pathLst>
          </a:custGeom>
          <a:solidFill>
            <a:srgbClr val="ECECEC"/>
          </a:solidFill>
        </p:spPr>
        <p:txBody>
          <a:bodyPr wrap="square" lIns="0" tIns="0" rIns="0" bIns="0" rtlCol="0"/>
          <a:lstStyle/>
          <a:p>
            <a:endParaRPr/>
          </a:p>
        </p:txBody>
      </p:sp>
      <p:sp>
        <p:nvSpPr>
          <p:cNvPr id="9" name="object 9"/>
          <p:cNvSpPr txBox="1"/>
          <p:nvPr/>
        </p:nvSpPr>
        <p:spPr>
          <a:xfrm>
            <a:off x="4607686" y="1381159"/>
            <a:ext cx="848360" cy="320040"/>
          </a:xfrm>
          <a:prstGeom prst="rect">
            <a:avLst/>
          </a:prstGeom>
        </p:spPr>
        <p:txBody>
          <a:bodyPr vert="horz" wrap="square" lIns="0" tIns="16510" rIns="0" bIns="0" rtlCol="0">
            <a:spAutoFit/>
          </a:bodyPr>
          <a:lstStyle/>
          <a:p>
            <a:pPr marL="12700">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2</a:t>
            </a:r>
            <a:endParaRPr sz="1900">
              <a:latin typeface="Lucida Sans Unicode"/>
              <a:cs typeface="Lucida Sans Unicode"/>
            </a:endParaRPr>
          </a:p>
        </p:txBody>
      </p:sp>
      <p:sp>
        <p:nvSpPr>
          <p:cNvPr id="10" name="object 10"/>
          <p:cNvSpPr txBox="1"/>
          <p:nvPr/>
        </p:nvSpPr>
        <p:spPr>
          <a:xfrm>
            <a:off x="4198924"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3</a:t>
            </a:r>
            <a:endParaRPr sz="1400">
              <a:latin typeface="Lucida Sans Unicode"/>
              <a:cs typeface="Lucida Sans Unicode"/>
            </a:endParaRPr>
          </a:p>
        </p:txBody>
      </p:sp>
      <p:grpSp>
        <p:nvGrpSpPr>
          <p:cNvPr id="11" name="object 11"/>
          <p:cNvGrpSpPr/>
          <p:nvPr/>
        </p:nvGrpSpPr>
        <p:grpSpPr>
          <a:xfrm>
            <a:off x="4029599" y="2127009"/>
            <a:ext cx="2019300" cy="2411730"/>
            <a:chOff x="4029599" y="2127009"/>
            <a:chExt cx="2019300" cy="2411730"/>
          </a:xfrm>
        </p:grpSpPr>
        <p:sp>
          <p:nvSpPr>
            <p:cNvPr id="12" name="object 12"/>
            <p:cNvSpPr/>
            <p:nvPr/>
          </p:nvSpPr>
          <p:spPr>
            <a:xfrm>
              <a:off x="4044238" y="2141647"/>
              <a:ext cx="821055" cy="2381250"/>
            </a:xfrm>
            <a:custGeom>
              <a:avLst/>
              <a:gdLst/>
              <a:ahLst/>
              <a:cxnLst/>
              <a:rect l="l" t="t" r="r" b="b"/>
              <a:pathLst>
                <a:path w="821054" h="2381250">
                  <a:moveTo>
                    <a:pt x="820801" y="1190523"/>
                  </a:moveTo>
                  <a:lnTo>
                    <a:pt x="820801" y="165595"/>
                  </a:lnTo>
                  <a:lnTo>
                    <a:pt x="814911" y="121578"/>
                  </a:lnTo>
                  <a:lnTo>
                    <a:pt x="798281" y="82023"/>
                  </a:lnTo>
                  <a:lnTo>
                    <a:pt x="772471" y="48507"/>
                  </a:lnTo>
                  <a:lnTo>
                    <a:pt x="739041" y="22612"/>
                  </a:lnTo>
                  <a:lnTo>
                    <a:pt x="699551" y="5916"/>
                  </a:lnTo>
                  <a:lnTo>
                    <a:pt x="655561" y="0"/>
                  </a:lnTo>
                  <a:lnTo>
                    <a:pt x="165595" y="0"/>
                  </a:lnTo>
                  <a:lnTo>
                    <a:pt x="121578" y="5916"/>
                  </a:lnTo>
                  <a:lnTo>
                    <a:pt x="82023" y="22612"/>
                  </a:lnTo>
                  <a:lnTo>
                    <a:pt x="48507" y="48507"/>
                  </a:lnTo>
                  <a:lnTo>
                    <a:pt x="22612" y="82023"/>
                  </a:lnTo>
                  <a:lnTo>
                    <a:pt x="5916" y="121578"/>
                  </a:lnTo>
                  <a:lnTo>
                    <a:pt x="0" y="165595"/>
                  </a:lnTo>
                  <a:lnTo>
                    <a:pt x="0" y="2215438"/>
                  </a:lnTo>
                  <a:lnTo>
                    <a:pt x="5916" y="2259456"/>
                  </a:lnTo>
                  <a:lnTo>
                    <a:pt x="22612" y="2299014"/>
                  </a:lnTo>
                  <a:lnTo>
                    <a:pt x="48507" y="2332532"/>
                  </a:lnTo>
                  <a:lnTo>
                    <a:pt x="82023" y="2358431"/>
                  </a:lnTo>
                  <a:lnTo>
                    <a:pt x="121578" y="2375129"/>
                  </a:lnTo>
                  <a:lnTo>
                    <a:pt x="165595" y="2381046"/>
                  </a:lnTo>
                  <a:lnTo>
                    <a:pt x="655561" y="2381046"/>
                  </a:lnTo>
                  <a:lnTo>
                    <a:pt x="699551" y="2375129"/>
                  </a:lnTo>
                  <a:lnTo>
                    <a:pt x="739041" y="2358431"/>
                  </a:lnTo>
                  <a:lnTo>
                    <a:pt x="772471" y="2332532"/>
                  </a:lnTo>
                  <a:lnTo>
                    <a:pt x="798281" y="2299014"/>
                  </a:lnTo>
                  <a:lnTo>
                    <a:pt x="814911"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13" name="object 13"/>
            <p:cNvSpPr/>
            <p:nvPr/>
          </p:nvSpPr>
          <p:spPr>
            <a:xfrm>
              <a:off x="4047121" y="3330723"/>
              <a:ext cx="824230" cy="1208405"/>
            </a:xfrm>
            <a:custGeom>
              <a:avLst/>
              <a:gdLst/>
              <a:ahLst/>
              <a:cxnLst/>
              <a:rect l="l" t="t" r="r" b="b"/>
              <a:pathLst>
                <a:path w="824229" h="1208404">
                  <a:moveTo>
                    <a:pt x="823683" y="0"/>
                  </a:moveTo>
                  <a:lnTo>
                    <a:pt x="1435" y="2527"/>
                  </a:lnTo>
                  <a:lnTo>
                    <a:pt x="0" y="1041844"/>
                  </a:lnTo>
                  <a:lnTo>
                    <a:pt x="5893" y="1086011"/>
                  </a:lnTo>
                  <a:lnTo>
                    <a:pt x="22546" y="1125670"/>
                  </a:lnTo>
                  <a:lnTo>
                    <a:pt x="48420" y="1159249"/>
                  </a:lnTo>
                  <a:lnTo>
                    <a:pt x="81974" y="1185179"/>
                  </a:lnTo>
                  <a:lnTo>
                    <a:pt x="121668" y="1201889"/>
                  </a:lnTo>
                  <a:lnTo>
                    <a:pt x="165963" y="1207808"/>
                  </a:lnTo>
                  <a:lnTo>
                    <a:pt x="656640" y="1207808"/>
                  </a:lnTo>
                  <a:lnTo>
                    <a:pt x="700780" y="1201889"/>
                  </a:lnTo>
                  <a:lnTo>
                    <a:pt x="740370" y="1185179"/>
                  </a:lnTo>
                  <a:lnTo>
                    <a:pt x="773861" y="1159249"/>
                  </a:lnTo>
                  <a:lnTo>
                    <a:pt x="799703" y="1125670"/>
                  </a:lnTo>
                  <a:lnTo>
                    <a:pt x="816344" y="1086011"/>
                  </a:lnTo>
                  <a:lnTo>
                    <a:pt x="822236" y="1041844"/>
                  </a:lnTo>
                  <a:lnTo>
                    <a:pt x="822156" y="743889"/>
                  </a:lnTo>
                  <a:lnTo>
                    <a:pt x="822688" y="400773"/>
                  </a:lnTo>
                  <a:lnTo>
                    <a:pt x="823355" y="117732"/>
                  </a:lnTo>
                  <a:lnTo>
                    <a:pt x="823676" y="2527"/>
                  </a:lnTo>
                  <a:lnTo>
                    <a:pt x="823683" y="0"/>
                  </a:lnTo>
                  <a:close/>
                </a:path>
              </a:pathLst>
            </a:custGeom>
            <a:solidFill>
              <a:srgbClr val="00607E"/>
            </a:solidFill>
          </p:spPr>
          <p:txBody>
            <a:bodyPr wrap="square" lIns="0" tIns="0" rIns="0" bIns="0" rtlCol="0"/>
            <a:lstStyle/>
            <a:p>
              <a:endParaRPr/>
            </a:p>
          </p:txBody>
        </p:sp>
        <p:sp>
          <p:nvSpPr>
            <p:cNvPr id="14" name="object 14"/>
            <p:cNvSpPr/>
            <p:nvPr/>
          </p:nvSpPr>
          <p:spPr>
            <a:xfrm>
              <a:off x="5213159" y="2141647"/>
              <a:ext cx="821055" cy="2381250"/>
            </a:xfrm>
            <a:custGeom>
              <a:avLst/>
              <a:gdLst/>
              <a:ahLst/>
              <a:cxnLst/>
              <a:rect l="l" t="t" r="r" b="b"/>
              <a:pathLst>
                <a:path w="821054" h="2381250">
                  <a:moveTo>
                    <a:pt x="820801" y="1190523"/>
                  </a:moveTo>
                  <a:lnTo>
                    <a:pt x="820801" y="165595"/>
                  </a:lnTo>
                  <a:lnTo>
                    <a:pt x="814884" y="121578"/>
                  </a:lnTo>
                  <a:lnTo>
                    <a:pt x="798188" y="82023"/>
                  </a:lnTo>
                  <a:lnTo>
                    <a:pt x="772293" y="48507"/>
                  </a:lnTo>
                  <a:lnTo>
                    <a:pt x="738777" y="22612"/>
                  </a:lnTo>
                  <a:lnTo>
                    <a:pt x="699222" y="5916"/>
                  </a:lnTo>
                  <a:lnTo>
                    <a:pt x="655205" y="0"/>
                  </a:lnTo>
                  <a:lnTo>
                    <a:pt x="165239" y="0"/>
                  </a:lnTo>
                  <a:lnTo>
                    <a:pt x="121249" y="5916"/>
                  </a:lnTo>
                  <a:lnTo>
                    <a:pt x="81759" y="22612"/>
                  </a:lnTo>
                  <a:lnTo>
                    <a:pt x="48329" y="48507"/>
                  </a:lnTo>
                  <a:lnTo>
                    <a:pt x="22519" y="82023"/>
                  </a:lnTo>
                  <a:lnTo>
                    <a:pt x="5889" y="121578"/>
                  </a:lnTo>
                  <a:lnTo>
                    <a:pt x="0" y="165595"/>
                  </a:lnTo>
                  <a:lnTo>
                    <a:pt x="0" y="2215438"/>
                  </a:lnTo>
                  <a:lnTo>
                    <a:pt x="5889" y="2259456"/>
                  </a:lnTo>
                  <a:lnTo>
                    <a:pt x="22519" y="2299014"/>
                  </a:lnTo>
                  <a:lnTo>
                    <a:pt x="48329" y="2332532"/>
                  </a:lnTo>
                  <a:lnTo>
                    <a:pt x="81759" y="2358431"/>
                  </a:lnTo>
                  <a:lnTo>
                    <a:pt x="121249" y="2375129"/>
                  </a:lnTo>
                  <a:lnTo>
                    <a:pt x="165239" y="2381046"/>
                  </a:lnTo>
                  <a:lnTo>
                    <a:pt x="655205" y="2381046"/>
                  </a:lnTo>
                  <a:lnTo>
                    <a:pt x="699222" y="2375129"/>
                  </a:lnTo>
                  <a:lnTo>
                    <a:pt x="738777" y="2358431"/>
                  </a:lnTo>
                  <a:lnTo>
                    <a:pt x="772293" y="2332532"/>
                  </a:lnTo>
                  <a:lnTo>
                    <a:pt x="798188" y="2299014"/>
                  </a:lnTo>
                  <a:lnTo>
                    <a:pt x="814884"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15" name="object 15"/>
            <p:cNvSpPr/>
            <p:nvPr/>
          </p:nvSpPr>
          <p:spPr>
            <a:xfrm>
              <a:off x="5216042" y="3330723"/>
              <a:ext cx="824230" cy="1208405"/>
            </a:xfrm>
            <a:custGeom>
              <a:avLst/>
              <a:gdLst/>
              <a:ahLst/>
              <a:cxnLst/>
              <a:rect l="l" t="t" r="r" b="b"/>
              <a:pathLst>
                <a:path w="824229" h="1208404">
                  <a:moveTo>
                    <a:pt x="823683" y="0"/>
                  </a:moveTo>
                  <a:lnTo>
                    <a:pt x="1079" y="2527"/>
                  </a:lnTo>
                  <a:lnTo>
                    <a:pt x="0" y="1041844"/>
                  </a:lnTo>
                  <a:lnTo>
                    <a:pt x="5763" y="1086011"/>
                  </a:lnTo>
                  <a:lnTo>
                    <a:pt x="22369" y="1125670"/>
                  </a:lnTo>
                  <a:lnTo>
                    <a:pt x="48236" y="1159249"/>
                  </a:lnTo>
                  <a:lnTo>
                    <a:pt x="81783" y="1185179"/>
                  </a:lnTo>
                  <a:lnTo>
                    <a:pt x="121429" y="1201889"/>
                  </a:lnTo>
                  <a:lnTo>
                    <a:pt x="165595" y="1207808"/>
                  </a:lnTo>
                  <a:lnTo>
                    <a:pt x="656272" y="1207808"/>
                  </a:lnTo>
                  <a:lnTo>
                    <a:pt x="700443" y="1201889"/>
                  </a:lnTo>
                  <a:lnTo>
                    <a:pt x="740103" y="1185179"/>
                  </a:lnTo>
                  <a:lnTo>
                    <a:pt x="773682" y="1159249"/>
                  </a:lnTo>
                  <a:lnTo>
                    <a:pt x="799610" y="1125670"/>
                  </a:lnTo>
                  <a:lnTo>
                    <a:pt x="816318" y="1086011"/>
                  </a:lnTo>
                  <a:lnTo>
                    <a:pt x="822236" y="1041844"/>
                  </a:lnTo>
                  <a:lnTo>
                    <a:pt x="822156" y="743889"/>
                  </a:lnTo>
                  <a:lnTo>
                    <a:pt x="822688" y="400773"/>
                  </a:lnTo>
                  <a:lnTo>
                    <a:pt x="823355" y="117732"/>
                  </a:lnTo>
                  <a:lnTo>
                    <a:pt x="823676" y="2527"/>
                  </a:lnTo>
                  <a:lnTo>
                    <a:pt x="823683" y="0"/>
                  </a:lnTo>
                  <a:close/>
                </a:path>
              </a:pathLst>
            </a:custGeom>
            <a:solidFill>
              <a:srgbClr val="00607E"/>
            </a:solidFill>
          </p:spPr>
          <p:txBody>
            <a:bodyPr wrap="square" lIns="0" tIns="0" rIns="0" bIns="0" rtlCol="0"/>
            <a:lstStyle/>
            <a:p>
              <a:endParaRPr/>
            </a:p>
          </p:txBody>
        </p:sp>
      </p:grpSp>
      <p:sp>
        <p:nvSpPr>
          <p:cNvPr id="16" name="object 16"/>
          <p:cNvSpPr txBox="1"/>
          <p:nvPr/>
        </p:nvSpPr>
        <p:spPr>
          <a:xfrm>
            <a:off x="5367578"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4</a:t>
            </a:r>
            <a:endParaRPr sz="1400">
              <a:latin typeface="Lucida Sans Unicode"/>
              <a:cs typeface="Lucida Sans Unicode"/>
            </a:endParaRPr>
          </a:p>
        </p:txBody>
      </p:sp>
      <p:sp>
        <p:nvSpPr>
          <p:cNvPr id="17" name="object 17"/>
          <p:cNvSpPr/>
          <p:nvPr/>
        </p:nvSpPr>
        <p:spPr>
          <a:xfrm>
            <a:off x="6627965"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0909"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18" name="object 18"/>
          <p:cNvSpPr txBox="1"/>
          <p:nvPr/>
        </p:nvSpPr>
        <p:spPr>
          <a:xfrm>
            <a:off x="7528318" y="1381159"/>
            <a:ext cx="848360" cy="320040"/>
          </a:xfrm>
          <a:prstGeom prst="rect">
            <a:avLst/>
          </a:prstGeom>
        </p:spPr>
        <p:txBody>
          <a:bodyPr vert="horz" wrap="square" lIns="0" tIns="16510" rIns="0" bIns="0" rtlCol="0">
            <a:spAutoFit/>
          </a:bodyPr>
          <a:lstStyle/>
          <a:p>
            <a:pPr marL="12700">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3</a:t>
            </a:r>
            <a:endParaRPr sz="1900">
              <a:latin typeface="Lucida Sans Unicode"/>
              <a:cs typeface="Lucida Sans Unicode"/>
            </a:endParaRPr>
          </a:p>
        </p:txBody>
      </p:sp>
      <p:sp>
        <p:nvSpPr>
          <p:cNvPr id="19" name="object 19"/>
          <p:cNvSpPr txBox="1"/>
          <p:nvPr/>
        </p:nvSpPr>
        <p:spPr>
          <a:xfrm>
            <a:off x="7118769"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5</a:t>
            </a:r>
            <a:endParaRPr sz="1400">
              <a:latin typeface="Lucida Sans Unicode"/>
              <a:cs typeface="Lucida Sans Unicode"/>
            </a:endParaRPr>
          </a:p>
        </p:txBody>
      </p:sp>
      <p:grpSp>
        <p:nvGrpSpPr>
          <p:cNvPr id="20" name="object 20"/>
          <p:cNvGrpSpPr/>
          <p:nvPr/>
        </p:nvGrpSpPr>
        <p:grpSpPr>
          <a:xfrm>
            <a:off x="6949558" y="2127009"/>
            <a:ext cx="2019300" cy="2411730"/>
            <a:chOff x="6949558" y="2127009"/>
            <a:chExt cx="2019300" cy="2411730"/>
          </a:xfrm>
        </p:grpSpPr>
        <p:sp>
          <p:nvSpPr>
            <p:cNvPr id="21" name="object 21"/>
            <p:cNvSpPr/>
            <p:nvPr/>
          </p:nvSpPr>
          <p:spPr>
            <a:xfrm>
              <a:off x="6964197" y="2141647"/>
              <a:ext cx="821055" cy="2381250"/>
            </a:xfrm>
            <a:custGeom>
              <a:avLst/>
              <a:gdLst/>
              <a:ahLst/>
              <a:cxnLst/>
              <a:rect l="l" t="t" r="r" b="b"/>
              <a:pathLst>
                <a:path w="821054" h="2381250">
                  <a:moveTo>
                    <a:pt x="820801" y="1190523"/>
                  </a:moveTo>
                  <a:lnTo>
                    <a:pt x="820801" y="165595"/>
                  </a:lnTo>
                  <a:lnTo>
                    <a:pt x="814886" y="121578"/>
                  </a:lnTo>
                  <a:lnTo>
                    <a:pt x="798202" y="82023"/>
                  </a:lnTo>
                  <a:lnTo>
                    <a:pt x="772337" y="48507"/>
                  </a:lnTo>
                  <a:lnTo>
                    <a:pt x="738883" y="22612"/>
                  </a:lnTo>
                  <a:lnTo>
                    <a:pt x="699427" y="5916"/>
                  </a:lnTo>
                  <a:lnTo>
                    <a:pt x="655561" y="0"/>
                  </a:lnTo>
                  <a:lnTo>
                    <a:pt x="165608" y="0"/>
                  </a:lnTo>
                  <a:lnTo>
                    <a:pt x="121590" y="5916"/>
                  </a:lnTo>
                  <a:lnTo>
                    <a:pt x="82032" y="22612"/>
                  </a:lnTo>
                  <a:lnTo>
                    <a:pt x="48514" y="48507"/>
                  </a:lnTo>
                  <a:lnTo>
                    <a:pt x="22615" y="82023"/>
                  </a:lnTo>
                  <a:lnTo>
                    <a:pt x="5917" y="121578"/>
                  </a:lnTo>
                  <a:lnTo>
                    <a:pt x="0" y="165595"/>
                  </a:lnTo>
                  <a:lnTo>
                    <a:pt x="0" y="2215438"/>
                  </a:lnTo>
                  <a:lnTo>
                    <a:pt x="5917" y="2259456"/>
                  </a:lnTo>
                  <a:lnTo>
                    <a:pt x="22615" y="2299014"/>
                  </a:lnTo>
                  <a:lnTo>
                    <a:pt x="48514" y="2332532"/>
                  </a:lnTo>
                  <a:lnTo>
                    <a:pt x="82032" y="2358431"/>
                  </a:lnTo>
                  <a:lnTo>
                    <a:pt x="121590" y="2375129"/>
                  </a:lnTo>
                  <a:lnTo>
                    <a:pt x="165608" y="2381046"/>
                  </a:lnTo>
                  <a:lnTo>
                    <a:pt x="655561" y="2381046"/>
                  </a:lnTo>
                  <a:lnTo>
                    <a:pt x="699427" y="2375129"/>
                  </a:lnTo>
                  <a:lnTo>
                    <a:pt x="738883" y="2358431"/>
                  </a:lnTo>
                  <a:lnTo>
                    <a:pt x="772337" y="2332532"/>
                  </a:lnTo>
                  <a:lnTo>
                    <a:pt x="798202" y="2299014"/>
                  </a:lnTo>
                  <a:lnTo>
                    <a:pt x="814886"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22" name="object 22"/>
            <p:cNvSpPr/>
            <p:nvPr/>
          </p:nvSpPr>
          <p:spPr>
            <a:xfrm>
              <a:off x="6967080" y="3330723"/>
              <a:ext cx="824230" cy="1208405"/>
            </a:xfrm>
            <a:custGeom>
              <a:avLst/>
              <a:gdLst/>
              <a:ahLst/>
              <a:cxnLst/>
              <a:rect l="l" t="t" r="r" b="b"/>
              <a:pathLst>
                <a:path w="824229" h="1208404">
                  <a:moveTo>
                    <a:pt x="823683" y="0"/>
                  </a:moveTo>
                  <a:lnTo>
                    <a:pt x="1435" y="2527"/>
                  </a:lnTo>
                  <a:lnTo>
                    <a:pt x="0" y="1041844"/>
                  </a:lnTo>
                  <a:lnTo>
                    <a:pt x="5893" y="1086011"/>
                  </a:lnTo>
                  <a:lnTo>
                    <a:pt x="22546" y="1125670"/>
                  </a:lnTo>
                  <a:lnTo>
                    <a:pt x="48420" y="1159249"/>
                  </a:lnTo>
                  <a:lnTo>
                    <a:pt x="81974" y="1185179"/>
                  </a:lnTo>
                  <a:lnTo>
                    <a:pt x="121668" y="1201889"/>
                  </a:lnTo>
                  <a:lnTo>
                    <a:pt x="165963" y="1207808"/>
                  </a:lnTo>
                  <a:lnTo>
                    <a:pt x="656640" y="1207808"/>
                  </a:lnTo>
                  <a:lnTo>
                    <a:pt x="700780" y="1201889"/>
                  </a:lnTo>
                  <a:lnTo>
                    <a:pt x="740370" y="1185179"/>
                  </a:lnTo>
                  <a:lnTo>
                    <a:pt x="773861" y="1159249"/>
                  </a:lnTo>
                  <a:lnTo>
                    <a:pt x="799703" y="1125670"/>
                  </a:lnTo>
                  <a:lnTo>
                    <a:pt x="816344" y="1086011"/>
                  </a:lnTo>
                  <a:lnTo>
                    <a:pt x="822236" y="1041844"/>
                  </a:lnTo>
                  <a:lnTo>
                    <a:pt x="822162" y="743889"/>
                  </a:lnTo>
                  <a:lnTo>
                    <a:pt x="822693" y="400773"/>
                  </a:lnTo>
                  <a:lnTo>
                    <a:pt x="823357" y="117732"/>
                  </a:lnTo>
                  <a:lnTo>
                    <a:pt x="823676" y="2527"/>
                  </a:lnTo>
                  <a:lnTo>
                    <a:pt x="823683" y="0"/>
                  </a:lnTo>
                  <a:close/>
                </a:path>
              </a:pathLst>
            </a:custGeom>
            <a:solidFill>
              <a:srgbClr val="00607E"/>
            </a:solidFill>
          </p:spPr>
          <p:txBody>
            <a:bodyPr wrap="square" lIns="0" tIns="0" rIns="0" bIns="0" rtlCol="0"/>
            <a:lstStyle/>
            <a:p>
              <a:endParaRPr/>
            </a:p>
          </p:txBody>
        </p:sp>
        <p:sp>
          <p:nvSpPr>
            <p:cNvPr id="23" name="object 23"/>
            <p:cNvSpPr/>
            <p:nvPr/>
          </p:nvSpPr>
          <p:spPr>
            <a:xfrm>
              <a:off x="8133118" y="2141647"/>
              <a:ext cx="821055" cy="2381250"/>
            </a:xfrm>
            <a:custGeom>
              <a:avLst/>
              <a:gdLst/>
              <a:ahLst/>
              <a:cxnLst/>
              <a:rect l="l" t="t" r="r" b="b"/>
              <a:pathLst>
                <a:path w="821054" h="2381250">
                  <a:moveTo>
                    <a:pt x="820801" y="1190523"/>
                  </a:moveTo>
                  <a:lnTo>
                    <a:pt x="820801" y="165595"/>
                  </a:lnTo>
                  <a:lnTo>
                    <a:pt x="814884" y="121578"/>
                  </a:lnTo>
                  <a:lnTo>
                    <a:pt x="798188" y="82023"/>
                  </a:lnTo>
                  <a:lnTo>
                    <a:pt x="772293" y="48507"/>
                  </a:lnTo>
                  <a:lnTo>
                    <a:pt x="738777" y="22612"/>
                  </a:lnTo>
                  <a:lnTo>
                    <a:pt x="699222" y="5916"/>
                  </a:lnTo>
                  <a:lnTo>
                    <a:pt x="655205" y="0"/>
                  </a:lnTo>
                  <a:lnTo>
                    <a:pt x="165239" y="0"/>
                  </a:lnTo>
                  <a:lnTo>
                    <a:pt x="121249" y="5916"/>
                  </a:lnTo>
                  <a:lnTo>
                    <a:pt x="81759" y="22612"/>
                  </a:lnTo>
                  <a:lnTo>
                    <a:pt x="48329" y="48507"/>
                  </a:lnTo>
                  <a:lnTo>
                    <a:pt x="22519" y="82023"/>
                  </a:lnTo>
                  <a:lnTo>
                    <a:pt x="5889" y="121578"/>
                  </a:lnTo>
                  <a:lnTo>
                    <a:pt x="0" y="165595"/>
                  </a:lnTo>
                  <a:lnTo>
                    <a:pt x="0" y="2215438"/>
                  </a:lnTo>
                  <a:lnTo>
                    <a:pt x="5889" y="2259456"/>
                  </a:lnTo>
                  <a:lnTo>
                    <a:pt x="22519" y="2299014"/>
                  </a:lnTo>
                  <a:lnTo>
                    <a:pt x="48329" y="2332532"/>
                  </a:lnTo>
                  <a:lnTo>
                    <a:pt x="81759" y="2358431"/>
                  </a:lnTo>
                  <a:lnTo>
                    <a:pt x="121249" y="2375129"/>
                  </a:lnTo>
                  <a:lnTo>
                    <a:pt x="165239" y="2381046"/>
                  </a:lnTo>
                  <a:lnTo>
                    <a:pt x="655205" y="2381046"/>
                  </a:lnTo>
                  <a:lnTo>
                    <a:pt x="699222" y="2375129"/>
                  </a:lnTo>
                  <a:lnTo>
                    <a:pt x="738777" y="2358431"/>
                  </a:lnTo>
                  <a:lnTo>
                    <a:pt x="772293" y="2332532"/>
                  </a:lnTo>
                  <a:lnTo>
                    <a:pt x="798188" y="2299014"/>
                  </a:lnTo>
                  <a:lnTo>
                    <a:pt x="814884" y="2259456"/>
                  </a:lnTo>
                  <a:lnTo>
                    <a:pt x="820801" y="2215438"/>
                  </a:lnTo>
                  <a:lnTo>
                    <a:pt x="820801" y="1190523"/>
                  </a:lnTo>
                  <a:close/>
                </a:path>
              </a:pathLst>
            </a:custGeom>
            <a:ln w="29277">
              <a:solidFill>
                <a:srgbClr val="00607E"/>
              </a:solidFill>
            </a:ln>
          </p:spPr>
          <p:txBody>
            <a:bodyPr wrap="square" lIns="0" tIns="0" rIns="0" bIns="0" rtlCol="0"/>
            <a:lstStyle/>
            <a:p>
              <a:endParaRPr/>
            </a:p>
          </p:txBody>
        </p:sp>
        <p:sp>
          <p:nvSpPr>
            <p:cNvPr id="24" name="object 24"/>
            <p:cNvSpPr/>
            <p:nvPr/>
          </p:nvSpPr>
          <p:spPr>
            <a:xfrm>
              <a:off x="8136001" y="3330723"/>
              <a:ext cx="824230" cy="1208405"/>
            </a:xfrm>
            <a:custGeom>
              <a:avLst/>
              <a:gdLst/>
              <a:ahLst/>
              <a:cxnLst/>
              <a:rect l="l" t="t" r="r" b="b"/>
              <a:pathLst>
                <a:path w="824229" h="1208404">
                  <a:moveTo>
                    <a:pt x="823683" y="0"/>
                  </a:moveTo>
                  <a:lnTo>
                    <a:pt x="1079" y="2527"/>
                  </a:lnTo>
                  <a:lnTo>
                    <a:pt x="0" y="1041844"/>
                  </a:lnTo>
                  <a:lnTo>
                    <a:pt x="5768" y="1086011"/>
                  </a:lnTo>
                  <a:lnTo>
                    <a:pt x="22375" y="1125670"/>
                  </a:lnTo>
                  <a:lnTo>
                    <a:pt x="48240" y="1159249"/>
                  </a:lnTo>
                  <a:lnTo>
                    <a:pt x="81786" y="1185179"/>
                  </a:lnTo>
                  <a:lnTo>
                    <a:pt x="121430" y="1201889"/>
                  </a:lnTo>
                  <a:lnTo>
                    <a:pt x="165595" y="1207808"/>
                  </a:lnTo>
                  <a:lnTo>
                    <a:pt x="656285" y="1207808"/>
                  </a:lnTo>
                  <a:lnTo>
                    <a:pt x="700451" y="1201889"/>
                  </a:lnTo>
                  <a:lnTo>
                    <a:pt x="740107" y="1185179"/>
                  </a:lnTo>
                  <a:lnTo>
                    <a:pt x="773684" y="1159249"/>
                  </a:lnTo>
                  <a:lnTo>
                    <a:pt x="799610" y="1125670"/>
                  </a:lnTo>
                  <a:lnTo>
                    <a:pt x="816318" y="1086011"/>
                  </a:lnTo>
                  <a:lnTo>
                    <a:pt x="822236" y="1041844"/>
                  </a:lnTo>
                  <a:lnTo>
                    <a:pt x="822006" y="743889"/>
                  </a:lnTo>
                  <a:lnTo>
                    <a:pt x="822555" y="400773"/>
                  </a:lnTo>
                  <a:lnTo>
                    <a:pt x="823305" y="117732"/>
                  </a:lnTo>
                  <a:lnTo>
                    <a:pt x="823675" y="2527"/>
                  </a:lnTo>
                  <a:lnTo>
                    <a:pt x="823683" y="0"/>
                  </a:lnTo>
                  <a:close/>
                </a:path>
              </a:pathLst>
            </a:custGeom>
            <a:solidFill>
              <a:srgbClr val="00607E"/>
            </a:solidFill>
          </p:spPr>
          <p:txBody>
            <a:bodyPr wrap="square" lIns="0" tIns="0" rIns="0" bIns="0" rtlCol="0"/>
            <a:lstStyle/>
            <a:p>
              <a:endParaRPr/>
            </a:p>
          </p:txBody>
        </p:sp>
      </p:grpSp>
      <p:sp>
        <p:nvSpPr>
          <p:cNvPr id="25" name="object 25"/>
          <p:cNvSpPr txBox="1"/>
          <p:nvPr/>
        </p:nvSpPr>
        <p:spPr>
          <a:xfrm>
            <a:off x="8287778" y="1755669"/>
            <a:ext cx="537845"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54C4C"/>
                </a:solidFill>
                <a:latin typeface="Lucida Sans Unicode"/>
                <a:cs typeface="Lucida Sans Unicode"/>
              </a:rPr>
              <a:t>OSD</a:t>
            </a:r>
            <a:r>
              <a:rPr sz="1400" spc="-95" dirty="0">
                <a:solidFill>
                  <a:srgbClr val="454C4C"/>
                </a:solidFill>
                <a:latin typeface="Lucida Sans Unicode"/>
                <a:cs typeface="Lucida Sans Unicode"/>
              </a:rPr>
              <a:t> </a:t>
            </a:r>
            <a:r>
              <a:rPr sz="1400" spc="-50" dirty="0">
                <a:solidFill>
                  <a:srgbClr val="454C4C"/>
                </a:solidFill>
                <a:latin typeface="Lucida Sans Unicode"/>
                <a:cs typeface="Lucida Sans Unicode"/>
              </a:rPr>
              <a:t>6</a:t>
            </a:r>
            <a:endParaRPr sz="1400">
              <a:latin typeface="Lucida Sans Unicode"/>
              <a:cs typeface="Lucida Sans Unicode"/>
            </a:endParaRPr>
          </a:p>
        </p:txBody>
      </p:sp>
      <p:grpSp>
        <p:nvGrpSpPr>
          <p:cNvPr id="26" name="object 26"/>
          <p:cNvGrpSpPr/>
          <p:nvPr/>
        </p:nvGrpSpPr>
        <p:grpSpPr>
          <a:xfrm>
            <a:off x="1112879" y="2130971"/>
            <a:ext cx="2033905" cy="2428875"/>
            <a:chOff x="1112879" y="2130971"/>
            <a:chExt cx="2033905" cy="2428875"/>
          </a:xfrm>
        </p:grpSpPr>
        <p:sp>
          <p:nvSpPr>
            <p:cNvPr id="27" name="object 27"/>
            <p:cNvSpPr/>
            <p:nvPr/>
          </p:nvSpPr>
          <p:spPr>
            <a:xfrm>
              <a:off x="2306154" y="2159288"/>
              <a:ext cx="821055" cy="2381250"/>
            </a:xfrm>
            <a:custGeom>
              <a:avLst/>
              <a:gdLst/>
              <a:ahLst/>
              <a:cxnLst/>
              <a:rect l="l" t="t" r="r" b="b"/>
              <a:pathLst>
                <a:path w="821055" h="2381250">
                  <a:moveTo>
                    <a:pt x="0" y="0"/>
                  </a:moveTo>
                  <a:lnTo>
                    <a:pt x="820801" y="2381046"/>
                  </a:lnTo>
                  <a:lnTo>
                    <a:pt x="820801" y="2381046"/>
                  </a:lnTo>
                </a:path>
                <a:path w="821055" h="2381250">
                  <a:moveTo>
                    <a:pt x="820801" y="0"/>
                  </a:moveTo>
                  <a:lnTo>
                    <a:pt x="0" y="2381046"/>
                  </a:lnTo>
                  <a:lnTo>
                    <a:pt x="0" y="2381046"/>
                  </a:lnTo>
                </a:path>
              </a:pathLst>
            </a:custGeom>
            <a:ln w="38763">
              <a:solidFill>
                <a:srgbClr val="EB1E29"/>
              </a:solidFill>
            </a:ln>
          </p:spPr>
          <p:txBody>
            <a:bodyPr wrap="square" lIns="0" tIns="0" rIns="0" bIns="0" rtlCol="0"/>
            <a:lstStyle/>
            <a:p>
              <a:endParaRPr/>
            </a:p>
          </p:txBody>
        </p:sp>
        <p:sp>
          <p:nvSpPr>
            <p:cNvPr id="28" name="object 28"/>
            <p:cNvSpPr/>
            <p:nvPr/>
          </p:nvSpPr>
          <p:spPr>
            <a:xfrm>
              <a:off x="1127518" y="2145610"/>
              <a:ext cx="821055" cy="2381250"/>
            </a:xfrm>
            <a:custGeom>
              <a:avLst/>
              <a:gdLst/>
              <a:ahLst/>
              <a:cxnLst/>
              <a:rect l="l" t="t" r="r" b="b"/>
              <a:pathLst>
                <a:path w="821055" h="2381250">
                  <a:moveTo>
                    <a:pt x="655205" y="0"/>
                  </a:moveTo>
                  <a:lnTo>
                    <a:pt x="165239" y="0"/>
                  </a:lnTo>
                  <a:lnTo>
                    <a:pt x="121373" y="5914"/>
                  </a:lnTo>
                  <a:lnTo>
                    <a:pt x="81917" y="22598"/>
                  </a:lnTo>
                  <a:lnTo>
                    <a:pt x="48463" y="48463"/>
                  </a:lnTo>
                  <a:lnTo>
                    <a:pt x="22598" y="81917"/>
                  </a:lnTo>
                  <a:lnTo>
                    <a:pt x="5914" y="121373"/>
                  </a:lnTo>
                  <a:lnTo>
                    <a:pt x="0" y="165239"/>
                  </a:lnTo>
                  <a:lnTo>
                    <a:pt x="0" y="2215083"/>
                  </a:lnTo>
                  <a:lnTo>
                    <a:pt x="5914" y="2259099"/>
                  </a:lnTo>
                  <a:lnTo>
                    <a:pt x="22598" y="2298655"/>
                  </a:lnTo>
                  <a:lnTo>
                    <a:pt x="48463" y="2332170"/>
                  </a:lnTo>
                  <a:lnTo>
                    <a:pt x="81917" y="2358066"/>
                  </a:lnTo>
                  <a:lnTo>
                    <a:pt x="121373" y="2374762"/>
                  </a:lnTo>
                  <a:lnTo>
                    <a:pt x="165239" y="2380678"/>
                  </a:lnTo>
                  <a:lnTo>
                    <a:pt x="655205" y="2380678"/>
                  </a:lnTo>
                  <a:lnTo>
                    <a:pt x="699222" y="2374762"/>
                  </a:lnTo>
                  <a:lnTo>
                    <a:pt x="738777" y="2358066"/>
                  </a:lnTo>
                  <a:lnTo>
                    <a:pt x="772293" y="2332170"/>
                  </a:lnTo>
                  <a:lnTo>
                    <a:pt x="798188" y="2298655"/>
                  </a:lnTo>
                  <a:lnTo>
                    <a:pt x="814884" y="2259099"/>
                  </a:lnTo>
                  <a:lnTo>
                    <a:pt x="820801" y="2215083"/>
                  </a:lnTo>
                  <a:lnTo>
                    <a:pt x="820801" y="1190155"/>
                  </a:lnTo>
                  <a:lnTo>
                    <a:pt x="820801" y="165239"/>
                  </a:lnTo>
                  <a:lnTo>
                    <a:pt x="814884" y="121373"/>
                  </a:lnTo>
                  <a:lnTo>
                    <a:pt x="798188" y="81917"/>
                  </a:lnTo>
                  <a:lnTo>
                    <a:pt x="772293" y="48463"/>
                  </a:lnTo>
                  <a:lnTo>
                    <a:pt x="738777" y="22598"/>
                  </a:lnTo>
                  <a:lnTo>
                    <a:pt x="699222" y="5914"/>
                  </a:lnTo>
                  <a:lnTo>
                    <a:pt x="655205" y="0"/>
                  </a:lnTo>
                  <a:close/>
                </a:path>
              </a:pathLst>
            </a:custGeom>
            <a:solidFill>
              <a:srgbClr val="00607E"/>
            </a:solidFill>
          </p:spPr>
          <p:txBody>
            <a:bodyPr wrap="square" lIns="0" tIns="0" rIns="0" bIns="0" rtlCol="0"/>
            <a:lstStyle/>
            <a:p>
              <a:endParaRPr/>
            </a:p>
          </p:txBody>
        </p:sp>
        <p:sp>
          <p:nvSpPr>
            <p:cNvPr id="29" name="object 29"/>
            <p:cNvSpPr/>
            <p:nvPr/>
          </p:nvSpPr>
          <p:spPr>
            <a:xfrm>
              <a:off x="1127518" y="2145610"/>
              <a:ext cx="821055" cy="2381250"/>
            </a:xfrm>
            <a:custGeom>
              <a:avLst/>
              <a:gdLst/>
              <a:ahLst/>
              <a:cxnLst/>
              <a:rect l="l" t="t" r="r" b="b"/>
              <a:pathLst>
                <a:path w="821055" h="2381250">
                  <a:moveTo>
                    <a:pt x="820801" y="1190155"/>
                  </a:moveTo>
                  <a:lnTo>
                    <a:pt x="820801" y="165239"/>
                  </a:lnTo>
                  <a:lnTo>
                    <a:pt x="814884" y="121373"/>
                  </a:lnTo>
                  <a:lnTo>
                    <a:pt x="798188" y="81917"/>
                  </a:lnTo>
                  <a:lnTo>
                    <a:pt x="772293" y="48463"/>
                  </a:lnTo>
                  <a:lnTo>
                    <a:pt x="738777" y="22598"/>
                  </a:lnTo>
                  <a:lnTo>
                    <a:pt x="699222" y="5914"/>
                  </a:lnTo>
                  <a:lnTo>
                    <a:pt x="655205" y="0"/>
                  </a:lnTo>
                  <a:lnTo>
                    <a:pt x="165239" y="0"/>
                  </a:lnTo>
                  <a:lnTo>
                    <a:pt x="121373" y="5914"/>
                  </a:lnTo>
                  <a:lnTo>
                    <a:pt x="81917" y="22598"/>
                  </a:lnTo>
                  <a:lnTo>
                    <a:pt x="48463" y="48463"/>
                  </a:lnTo>
                  <a:lnTo>
                    <a:pt x="22598" y="81917"/>
                  </a:lnTo>
                  <a:lnTo>
                    <a:pt x="5914" y="121373"/>
                  </a:lnTo>
                  <a:lnTo>
                    <a:pt x="0" y="165239"/>
                  </a:lnTo>
                  <a:lnTo>
                    <a:pt x="0" y="2215083"/>
                  </a:lnTo>
                  <a:lnTo>
                    <a:pt x="5914" y="2259099"/>
                  </a:lnTo>
                  <a:lnTo>
                    <a:pt x="22598" y="2298655"/>
                  </a:lnTo>
                  <a:lnTo>
                    <a:pt x="48463" y="2332170"/>
                  </a:lnTo>
                  <a:lnTo>
                    <a:pt x="81917" y="2358066"/>
                  </a:lnTo>
                  <a:lnTo>
                    <a:pt x="121373" y="2374762"/>
                  </a:lnTo>
                  <a:lnTo>
                    <a:pt x="165239" y="2380678"/>
                  </a:lnTo>
                  <a:lnTo>
                    <a:pt x="655205" y="2380678"/>
                  </a:lnTo>
                  <a:lnTo>
                    <a:pt x="699222" y="2374762"/>
                  </a:lnTo>
                  <a:lnTo>
                    <a:pt x="738777" y="2358066"/>
                  </a:lnTo>
                  <a:lnTo>
                    <a:pt x="772293" y="2332170"/>
                  </a:lnTo>
                  <a:lnTo>
                    <a:pt x="798188" y="2298655"/>
                  </a:lnTo>
                  <a:lnTo>
                    <a:pt x="814884" y="2259099"/>
                  </a:lnTo>
                  <a:lnTo>
                    <a:pt x="820801" y="2215083"/>
                  </a:lnTo>
                  <a:lnTo>
                    <a:pt x="820801" y="1190155"/>
                  </a:lnTo>
                  <a:close/>
                </a:path>
              </a:pathLst>
            </a:custGeom>
            <a:ln w="29277">
              <a:solidFill>
                <a:srgbClr val="00607E"/>
              </a:solidFill>
            </a:ln>
          </p:spPr>
          <p:txBody>
            <a:bodyPr wrap="square" lIns="0" tIns="0" rIns="0" bIns="0" rtlCol="0"/>
            <a:lstStyle/>
            <a:p>
              <a:endParaRPr/>
            </a:p>
          </p:txBody>
        </p:sp>
        <p:pic>
          <p:nvPicPr>
            <p:cNvPr id="30" name="object 30"/>
            <p:cNvPicPr/>
            <p:nvPr/>
          </p:nvPicPr>
          <p:blipFill>
            <a:blip r:embed="rId2" cstate="print"/>
            <a:stretch>
              <a:fillRect/>
            </a:stretch>
          </p:blipFill>
          <p:spPr>
            <a:xfrm>
              <a:off x="1482839" y="3409209"/>
              <a:ext cx="87845" cy="87477"/>
            </a:xfrm>
            <a:prstGeom prst="rect">
              <a:avLst/>
            </a:prstGeom>
          </p:spPr>
        </p:pic>
        <p:sp>
          <p:nvSpPr>
            <p:cNvPr id="31" name="object 31"/>
            <p:cNvSpPr/>
            <p:nvPr/>
          </p:nvSpPr>
          <p:spPr>
            <a:xfrm>
              <a:off x="1481759" y="2902682"/>
              <a:ext cx="88900" cy="466090"/>
            </a:xfrm>
            <a:custGeom>
              <a:avLst/>
              <a:gdLst/>
              <a:ahLst/>
              <a:cxnLst/>
              <a:rect l="l" t="t" r="r" b="b"/>
              <a:pathLst>
                <a:path w="88900" h="466089">
                  <a:moveTo>
                    <a:pt x="70205" y="0"/>
                  </a:moveTo>
                  <a:lnTo>
                    <a:pt x="18364" y="0"/>
                  </a:lnTo>
                  <a:lnTo>
                    <a:pt x="11240" y="1451"/>
                  </a:lnTo>
                  <a:lnTo>
                    <a:pt x="5400" y="5400"/>
                  </a:lnTo>
                  <a:lnTo>
                    <a:pt x="1451" y="11240"/>
                  </a:lnTo>
                  <a:lnTo>
                    <a:pt x="0" y="18364"/>
                  </a:lnTo>
                  <a:lnTo>
                    <a:pt x="0" y="447128"/>
                  </a:lnTo>
                  <a:lnTo>
                    <a:pt x="1451" y="454245"/>
                  </a:lnTo>
                  <a:lnTo>
                    <a:pt x="5400" y="460081"/>
                  </a:lnTo>
                  <a:lnTo>
                    <a:pt x="11240" y="464029"/>
                  </a:lnTo>
                  <a:lnTo>
                    <a:pt x="18364" y="465480"/>
                  </a:lnTo>
                  <a:lnTo>
                    <a:pt x="44284" y="465480"/>
                  </a:lnTo>
                  <a:lnTo>
                    <a:pt x="70205" y="465480"/>
                  </a:lnTo>
                  <a:lnTo>
                    <a:pt x="77321" y="464029"/>
                  </a:lnTo>
                  <a:lnTo>
                    <a:pt x="83158" y="460081"/>
                  </a:lnTo>
                  <a:lnTo>
                    <a:pt x="87105" y="454245"/>
                  </a:lnTo>
                  <a:lnTo>
                    <a:pt x="88557" y="447128"/>
                  </a:lnTo>
                  <a:lnTo>
                    <a:pt x="88557" y="18364"/>
                  </a:lnTo>
                  <a:lnTo>
                    <a:pt x="87105" y="11240"/>
                  </a:lnTo>
                  <a:lnTo>
                    <a:pt x="83158" y="5400"/>
                  </a:lnTo>
                  <a:lnTo>
                    <a:pt x="77321" y="1451"/>
                  </a:lnTo>
                  <a:lnTo>
                    <a:pt x="70205" y="0"/>
                  </a:lnTo>
                  <a:close/>
                </a:path>
              </a:pathLst>
            </a:custGeom>
            <a:solidFill>
              <a:srgbClr val="EB1E29"/>
            </a:solidFill>
          </p:spPr>
          <p:txBody>
            <a:bodyPr wrap="square" lIns="0" tIns="0" rIns="0" bIns="0" rtlCol="0"/>
            <a:lstStyle/>
            <a:p>
              <a:endParaRPr/>
            </a:p>
          </p:txBody>
        </p:sp>
      </p:grpSp>
      <p:sp>
        <p:nvSpPr>
          <p:cNvPr id="32" name="object 32"/>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3" name="object 33"/>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46</a:t>
            </a:fld>
            <a:r>
              <a:rPr spc="-10" dirty="0"/>
              <a:t>/60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OSDs</a:t>
            </a:r>
            <a:r>
              <a:rPr spc="-305" dirty="0"/>
              <a:t> </a:t>
            </a:r>
            <a:r>
              <a:rPr dirty="0"/>
              <a:t>in</a:t>
            </a:r>
            <a:r>
              <a:rPr spc="-300" dirty="0"/>
              <a:t> </a:t>
            </a:r>
            <a:r>
              <a:rPr spc="-75" dirty="0"/>
              <a:t>a</a:t>
            </a:r>
            <a:r>
              <a:rPr spc="-300" dirty="0"/>
              <a:t> </a:t>
            </a:r>
            <a:r>
              <a:rPr dirty="0"/>
              <a:t>Three–Node</a:t>
            </a:r>
            <a:r>
              <a:rPr spc="-300" dirty="0"/>
              <a:t> </a:t>
            </a:r>
            <a:r>
              <a:rPr spc="50" dirty="0"/>
              <a:t>Ceph</a:t>
            </a:r>
            <a:r>
              <a:rPr spc="-300" dirty="0"/>
              <a:t> </a:t>
            </a:r>
            <a:r>
              <a:rPr spc="55" dirty="0"/>
              <a:t>Cluster</a:t>
            </a:r>
          </a:p>
        </p:txBody>
      </p:sp>
      <p:grpSp>
        <p:nvGrpSpPr>
          <p:cNvPr id="3" name="object 3"/>
          <p:cNvGrpSpPr/>
          <p:nvPr/>
        </p:nvGrpSpPr>
        <p:grpSpPr>
          <a:xfrm>
            <a:off x="788034" y="1326244"/>
            <a:ext cx="2662555" cy="3288665"/>
            <a:chOff x="788034" y="1326244"/>
            <a:chExt cx="2662555" cy="3288665"/>
          </a:xfrm>
        </p:grpSpPr>
        <p:sp>
          <p:nvSpPr>
            <p:cNvPr id="4" name="object 4"/>
            <p:cNvSpPr/>
            <p:nvPr/>
          </p:nvSpPr>
          <p:spPr>
            <a:xfrm>
              <a:off x="788034" y="1326244"/>
              <a:ext cx="2662555" cy="3288665"/>
            </a:xfrm>
            <a:custGeom>
              <a:avLst/>
              <a:gdLst/>
              <a:ahLst/>
              <a:cxnLst/>
              <a:rect l="l" t="t" r="r" b="b"/>
              <a:pathLst>
                <a:path w="2662554" h="3288665">
                  <a:moveTo>
                    <a:pt x="2387879" y="0"/>
                  </a:moveTo>
                  <a:lnTo>
                    <a:pt x="274320" y="0"/>
                  </a:lnTo>
                  <a:lnTo>
                    <a:pt x="224998" y="4417"/>
                  </a:lnTo>
                  <a:lnTo>
                    <a:pt x="178582" y="17155"/>
                  </a:lnTo>
                  <a:lnTo>
                    <a:pt x="135844" y="37439"/>
                  </a:lnTo>
                  <a:lnTo>
                    <a:pt x="97560" y="64497"/>
                  </a:lnTo>
                  <a:lnTo>
                    <a:pt x="64501" y="97554"/>
                  </a:lnTo>
                  <a:lnTo>
                    <a:pt x="37442" y="135839"/>
                  </a:lnTo>
                  <a:lnTo>
                    <a:pt x="17156" y="178577"/>
                  </a:lnTo>
                  <a:lnTo>
                    <a:pt x="4418" y="224995"/>
                  </a:lnTo>
                  <a:lnTo>
                    <a:pt x="0" y="274320"/>
                  </a:lnTo>
                  <a:lnTo>
                    <a:pt x="0" y="3013925"/>
                  </a:lnTo>
                  <a:lnTo>
                    <a:pt x="4418" y="3063250"/>
                  </a:lnTo>
                  <a:lnTo>
                    <a:pt x="17156" y="3109668"/>
                  </a:lnTo>
                  <a:lnTo>
                    <a:pt x="37442" y="3152406"/>
                  </a:lnTo>
                  <a:lnTo>
                    <a:pt x="64501" y="3190691"/>
                  </a:lnTo>
                  <a:lnTo>
                    <a:pt x="97560" y="3223748"/>
                  </a:lnTo>
                  <a:lnTo>
                    <a:pt x="135844" y="3250806"/>
                  </a:lnTo>
                  <a:lnTo>
                    <a:pt x="178582" y="3271090"/>
                  </a:lnTo>
                  <a:lnTo>
                    <a:pt x="224998" y="3283828"/>
                  </a:lnTo>
                  <a:lnTo>
                    <a:pt x="274320" y="3288245"/>
                  </a:lnTo>
                  <a:lnTo>
                    <a:pt x="1331290"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5" name="object 5"/>
            <p:cNvSpPr/>
            <p:nvPr/>
          </p:nvSpPr>
          <p:spPr>
            <a:xfrm>
              <a:off x="1001877" y="2086568"/>
              <a:ext cx="453390" cy="2388235"/>
            </a:xfrm>
            <a:custGeom>
              <a:avLst/>
              <a:gdLst/>
              <a:ahLst/>
              <a:cxnLst/>
              <a:rect l="l" t="t" r="r" b="b"/>
              <a:pathLst>
                <a:path w="453390" h="2388235">
                  <a:moveTo>
                    <a:pt x="452881" y="1194117"/>
                  </a:moveTo>
                  <a:lnTo>
                    <a:pt x="452881" y="91440"/>
                  </a:lnTo>
                  <a:lnTo>
                    <a:pt x="445682" y="55737"/>
                  </a:lnTo>
                  <a:lnTo>
                    <a:pt x="426064" y="26684"/>
                  </a:lnTo>
                  <a:lnTo>
                    <a:pt x="396994" y="7149"/>
                  </a:lnTo>
                  <a:lnTo>
                    <a:pt x="361441" y="0"/>
                  </a:lnTo>
                  <a:lnTo>
                    <a:pt x="91439" y="0"/>
                  </a:lnTo>
                  <a:lnTo>
                    <a:pt x="55892" y="7149"/>
                  </a:lnTo>
                  <a:lnTo>
                    <a:pt x="26822" y="26684"/>
                  </a:lnTo>
                  <a:lnTo>
                    <a:pt x="7200" y="55737"/>
                  </a:lnTo>
                  <a:lnTo>
                    <a:pt x="0" y="91440"/>
                  </a:lnTo>
                  <a:lnTo>
                    <a:pt x="0" y="2297163"/>
                  </a:lnTo>
                  <a:lnTo>
                    <a:pt x="7200" y="2332653"/>
                  </a:lnTo>
                  <a:lnTo>
                    <a:pt x="26822" y="2361596"/>
                  </a:lnTo>
                  <a:lnTo>
                    <a:pt x="55892" y="2381091"/>
                  </a:lnTo>
                  <a:lnTo>
                    <a:pt x="91439" y="2388235"/>
                  </a:lnTo>
                  <a:lnTo>
                    <a:pt x="361441" y="2388235"/>
                  </a:lnTo>
                  <a:lnTo>
                    <a:pt x="396994" y="2381091"/>
                  </a:lnTo>
                  <a:lnTo>
                    <a:pt x="426064" y="2361596"/>
                  </a:lnTo>
                  <a:lnTo>
                    <a:pt x="445682" y="2332653"/>
                  </a:lnTo>
                  <a:lnTo>
                    <a:pt x="452881" y="2297163"/>
                  </a:lnTo>
                  <a:lnTo>
                    <a:pt x="452881" y="1194117"/>
                  </a:lnTo>
                  <a:close/>
                </a:path>
              </a:pathLst>
            </a:custGeom>
            <a:ln w="21775">
              <a:solidFill>
                <a:srgbClr val="00607E"/>
              </a:solidFill>
            </a:ln>
          </p:spPr>
          <p:txBody>
            <a:bodyPr wrap="square" lIns="0" tIns="0" rIns="0" bIns="0" rtlCol="0"/>
            <a:lstStyle/>
            <a:p>
              <a:endParaRPr/>
            </a:p>
          </p:txBody>
        </p:sp>
        <p:sp>
          <p:nvSpPr>
            <p:cNvPr id="6" name="object 6"/>
            <p:cNvSpPr/>
            <p:nvPr/>
          </p:nvSpPr>
          <p:spPr>
            <a:xfrm>
              <a:off x="996835" y="2782451"/>
              <a:ext cx="467359" cy="1694180"/>
            </a:xfrm>
            <a:custGeom>
              <a:avLst/>
              <a:gdLst/>
              <a:ahLst/>
              <a:cxnLst/>
              <a:rect l="l" t="t" r="r" b="b"/>
              <a:pathLst>
                <a:path w="467359" h="1694179">
                  <a:moveTo>
                    <a:pt x="467283" y="0"/>
                  </a:moveTo>
                  <a:lnTo>
                    <a:pt x="723" y="3594"/>
                  </a:lnTo>
                  <a:lnTo>
                    <a:pt x="0" y="1470596"/>
                  </a:lnTo>
                  <a:lnTo>
                    <a:pt x="2480" y="1542687"/>
                  </a:lnTo>
                  <a:lnTo>
                    <a:pt x="10439" y="1605463"/>
                  </a:lnTo>
                  <a:lnTo>
                    <a:pt x="24343" y="1653023"/>
                  </a:lnTo>
                  <a:lnTo>
                    <a:pt x="72364" y="1693799"/>
                  </a:lnTo>
                  <a:lnTo>
                    <a:pt x="392049" y="1686242"/>
                  </a:lnTo>
                  <a:lnTo>
                    <a:pt x="440672" y="1647194"/>
                  </a:lnTo>
                  <a:lnTo>
                    <a:pt x="455262" y="1602181"/>
                  </a:lnTo>
                  <a:lnTo>
                    <a:pt x="463787" y="1542687"/>
                  </a:lnTo>
                  <a:lnTo>
                    <a:pt x="466559" y="1470596"/>
                  </a:lnTo>
                  <a:lnTo>
                    <a:pt x="466522" y="1050061"/>
                  </a:lnTo>
                  <a:lnTo>
                    <a:pt x="466788" y="565738"/>
                  </a:lnTo>
                  <a:lnTo>
                    <a:pt x="467120" y="166195"/>
                  </a:lnTo>
                  <a:lnTo>
                    <a:pt x="467280" y="3594"/>
                  </a:lnTo>
                  <a:lnTo>
                    <a:pt x="467283" y="0"/>
                  </a:lnTo>
                  <a:close/>
                </a:path>
              </a:pathLst>
            </a:custGeom>
            <a:solidFill>
              <a:srgbClr val="00607E"/>
            </a:solidFill>
          </p:spPr>
          <p:txBody>
            <a:bodyPr wrap="square" lIns="0" tIns="0" rIns="0" bIns="0" rtlCol="0"/>
            <a:lstStyle/>
            <a:p>
              <a:endParaRPr/>
            </a:p>
          </p:txBody>
        </p:sp>
        <p:sp>
          <p:nvSpPr>
            <p:cNvPr id="7" name="object 7"/>
            <p:cNvSpPr/>
            <p:nvPr/>
          </p:nvSpPr>
          <p:spPr>
            <a:xfrm>
              <a:off x="2766606" y="2092333"/>
              <a:ext cx="452755" cy="2388235"/>
            </a:xfrm>
            <a:custGeom>
              <a:avLst/>
              <a:gdLst/>
              <a:ahLst/>
              <a:cxnLst/>
              <a:rect l="l" t="t" r="r" b="b"/>
              <a:pathLst>
                <a:path w="452755" h="2388235">
                  <a:moveTo>
                    <a:pt x="452513" y="1194117"/>
                  </a:moveTo>
                  <a:lnTo>
                    <a:pt x="452513" y="91440"/>
                  </a:lnTo>
                  <a:lnTo>
                    <a:pt x="445370" y="55887"/>
                  </a:lnTo>
                  <a:lnTo>
                    <a:pt x="425873" y="26817"/>
                  </a:lnTo>
                  <a:lnTo>
                    <a:pt x="396926" y="7199"/>
                  </a:lnTo>
                  <a:lnTo>
                    <a:pt x="361429" y="0"/>
                  </a:lnTo>
                  <a:lnTo>
                    <a:pt x="91071" y="0"/>
                  </a:lnTo>
                  <a:lnTo>
                    <a:pt x="55581" y="7199"/>
                  </a:lnTo>
                  <a:lnTo>
                    <a:pt x="26638" y="26817"/>
                  </a:lnTo>
                  <a:lnTo>
                    <a:pt x="7143" y="55887"/>
                  </a:lnTo>
                  <a:lnTo>
                    <a:pt x="0" y="91440"/>
                  </a:lnTo>
                  <a:lnTo>
                    <a:pt x="0" y="2297150"/>
                  </a:lnTo>
                  <a:lnTo>
                    <a:pt x="7143" y="2332647"/>
                  </a:lnTo>
                  <a:lnTo>
                    <a:pt x="26638" y="2361595"/>
                  </a:lnTo>
                  <a:lnTo>
                    <a:pt x="55581" y="2381091"/>
                  </a:lnTo>
                  <a:lnTo>
                    <a:pt x="91071" y="2388235"/>
                  </a:lnTo>
                  <a:lnTo>
                    <a:pt x="361429" y="2388235"/>
                  </a:lnTo>
                  <a:lnTo>
                    <a:pt x="396926" y="2381091"/>
                  </a:lnTo>
                  <a:lnTo>
                    <a:pt x="425873" y="2361595"/>
                  </a:lnTo>
                  <a:lnTo>
                    <a:pt x="445370" y="2332647"/>
                  </a:lnTo>
                  <a:lnTo>
                    <a:pt x="452513" y="2297150"/>
                  </a:lnTo>
                  <a:lnTo>
                    <a:pt x="452513" y="1194117"/>
                  </a:lnTo>
                  <a:close/>
                </a:path>
              </a:pathLst>
            </a:custGeom>
            <a:ln w="21775">
              <a:solidFill>
                <a:srgbClr val="00607E"/>
              </a:solidFill>
            </a:ln>
          </p:spPr>
          <p:txBody>
            <a:bodyPr wrap="square" lIns="0" tIns="0" rIns="0" bIns="0" rtlCol="0"/>
            <a:lstStyle/>
            <a:p>
              <a:endParaRPr/>
            </a:p>
          </p:txBody>
        </p:sp>
        <p:sp>
          <p:nvSpPr>
            <p:cNvPr id="8" name="object 8"/>
            <p:cNvSpPr/>
            <p:nvPr/>
          </p:nvSpPr>
          <p:spPr>
            <a:xfrm>
              <a:off x="2761195" y="3285003"/>
              <a:ext cx="467995" cy="1198245"/>
            </a:xfrm>
            <a:custGeom>
              <a:avLst/>
              <a:gdLst/>
              <a:ahLst/>
              <a:cxnLst/>
              <a:rect l="l" t="t" r="r" b="b"/>
              <a:pathLst>
                <a:path w="467994" h="1198245">
                  <a:moveTo>
                    <a:pt x="467639" y="0"/>
                  </a:moveTo>
                  <a:lnTo>
                    <a:pt x="723" y="2527"/>
                  </a:lnTo>
                  <a:lnTo>
                    <a:pt x="0" y="1041844"/>
                  </a:lnTo>
                  <a:lnTo>
                    <a:pt x="7346" y="1104595"/>
                  </a:lnTo>
                  <a:lnTo>
                    <a:pt x="7397" y="1105028"/>
                  </a:lnTo>
                  <a:lnTo>
                    <a:pt x="27587" y="1154479"/>
                  </a:lnTo>
                  <a:lnTo>
                    <a:pt x="57564" y="1186582"/>
                  </a:lnTo>
                  <a:lnTo>
                    <a:pt x="94322" y="1197724"/>
                  </a:lnTo>
                  <a:lnTo>
                    <a:pt x="372249" y="1195920"/>
                  </a:lnTo>
                  <a:lnTo>
                    <a:pt x="409063" y="1184605"/>
                  </a:lnTo>
                  <a:lnTo>
                    <a:pt x="439162" y="1153172"/>
                  </a:lnTo>
                  <a:lnTo>
                    <a:pt x="459474" y="1104595"/>
                  </a:lnTo>
                  <a:lnTo>
                    <a:pt x="466928" y="1041844"/>
                  </a:lnTo>
                  <a:lnTo>
                    <a:pt x="466883" y="744039"/>
                  </a:lnTo>
                  <a:lnTo>
                    <a:pt x="467145" y="400907"/>
                  </a:lnTo>
                  <a:lnTo>
                    <a:pt x="467476" y="117782"/>
                  </a:lnTo>
                  <a:lnTo>
                    <a:pt x="467635" y="2527"/>
                  </a:lnTo>
                  <a:lnTo>
                    <a:pt x="467639" y="0"/>
                  </a:lnTo>
                  <a:close/>
                </a:path>
              </a:pathLst>
            </a:custGeom>
            <a:solidFill>
              <a:srgbClr val="00607E"/>
            </a:solidFill>
          </p:spPr>
          <p:txBody>
            <a:bodyPr wrap="square" lIns="0" tIns="0" rIns="0" bIns="0" rtlCol="0"/>
            <a:lstStyle/>
            <a:p>
              <a:endParaRPr/>
            </a:p>
          </p:txBody>
        </p:sp>
        <p:sp>
          <p:nvSpPr>
            <p:cNvPr id="9" name="object 9"/>
            <p:cNvSpPr/>
            <p:nvPr/>
          </p:nvSpPr>
          <p:spPr>
            <a:xfrm>
              <a:off x="2751124" y="2087291"/>
              <a:ext cx="504190" cy="2386330"/>
            </a:xfrm>
            <a:custGeom>
              <a:avLst/>
              <a:gdLst/>
              <a:ahLst/>
              <a:cxnLst/>
              <a:rect l="l" t="t" r="r" b="b"/>
              <a:pathLst>
                <a:path w="504189" h="2386329">
                  <a:moveTo>
                    <a:pt x="0" y="0"/>
                  </a:moveTo>
                  <a:lnTo>
                    <a:pt x="503999" y="2385720"/>
                  </a:lnTo>
                  <a:lnTo>
                    <a:pt x="503999" y="2385720"/>
                  </a:lnTo>
                </a:path>
                <a:path w="504189" h="2386329">
                  <a:moveTo>
                    <a:pt x="503999" y="0"/>
                  </a:moveTo>
                  <a:lnTo>
                    <a:pt x="0" y="2385720"/>
                  </a:lnTo>
                  <a:lnTo>
                    <a:pt x="0" y="2385720"/>
                  </a:lnTo>
                </a:path>
              </a:pathLst>
            </a:custGeom>
            <a:ln w="23795">
              <a:solidFill>
                <a:srgbClr val="EB1E29"/>
              </a:solidFill>
            </a:ln>
          </p:spPr>
          <p:txBody>
            <a:bodyPr wrap="square" lIns="0" tIns="0" rIns="0" bIns="0" rtlCol="0"/>
            <a:lstStyle/>
            <a:p>
              <a:endParaRPr/>
            </a:p>
          </p:txBody>
        </p:sp>
        <p:sp>
          <p:nvSpPr>
            <p:cNvPr id="10" name="object 10"/>
            <p:cNvSpPr/>
            <p:nvPr/>
          </p:nvSpPr>
          <p:spPr>
            <a:xfrm>
              <a:off x="1590116" y="2086568"/>
              <a:ext cx="453390" cy="2388235"/>
            </a:xfrm>
            <a:custGeom>
              <a:avLst/>
              <a:gdLst/>
              <a:ahLst/>
              <a:cxnLst/>
              <a:rect l="l" t="t" r="r" b="b"/>
              <a:pathLst>
                <a:path w="453389" h="2388235">
                  <a:moveTo>
                    <a:pt x="452882" y="1194117"/>
                  </a:moveTo>
                  <a:lnTo>
                    <a:pt x="452882" y="91440"/>
                  </a:lnTo>
                  <a:lnTo>
                    <a:pt x="445682" y="55737"/>
                  </a:lnTo>
                  <a:lnTo>
                    <a:pt x="426064" y="26684"/>
                  </a:lnTo>
                  <a:lnTo>
                    <a:pt x="396994" y="7149"/>
                  </a:lnTo>
                  <a:lnTo>
                    <a:pt x="361441" y="0"/>
                  </a:lnTo>
                  <a:lnTo>
                    <a:pt x="91440" y="0"/>
                  </a:lnTo>
                  <a:lnTo>
                    <a:pt x="55892" y="7149"/>
                  </a:lnTo>
                  <a:lnTo>
                    <a:pt x="26822" y="26684"/>
                  </a:lnTo>
                  <a:lnTo>
                    <a:pt x="7200" y="55737"/>
                  </a:lnTo>
                  <a:lnTo>
                    <a:pt x="0" y="91440"/>
                  </a:lnTo>
                  <a:lnTo>
                    <a:pt x="0" y="2297163"/>
                  </a:lnTo>
                  <a:lnTo>
                    <a:pt x="7200" y="2332653"/>
                  </a:lnTo>
                  <a:lnTo>
                    <a:pt x="26822" y="2361596"/>
                  </a:lnTo>
                  <a:lnTo>
                    <a:pt x="55892" y="2381091"/>
                  </a:lnTo>
                  <a:lnTo>
                    <a:pt x="91440" y="2388235"/>
                  </a:lnTo>
                  <a:lnTo>
                    <a:pt x="361441" y="2388235"/>
                  </a:lnTo>
                  <a:lnTo>
                    <a:pt x="396994" y="2381091"/>
                  </a:lnTo>
                  <a:lnTo>
                    <a:pt x="426064" y="2361596"/>
                  </a:lnTo>
                  <a:lnTo>
                    <a:pt x="445682" y="2332653"/>
                  </a:lnTo>
                  <a:lnTo>
                    <a:pt x="452882" y="2297163"/>
                  </a:lnTo>
                  <a:lnTo>
                    <a:pt x="452882" y="1194117"/>
                  </a:lnTo>
                  <a:close/>
                </a:path>
              </a:pathLst>
            </a:custGeom>
            <a:ln w="21775">
              <a:solidFill>
                <a:srgbClr val="00607E"/>
              </a:solidFill>
            </a:ln>
          </p:spPr>
          <p:txBody>
            <a:bodyPr wrap="square" lIns="0" tIns="0" rIns="0" bIns="0" rtlCol="0"/>
            <a:lstStyle/>
            <a:p>
              <a:endParaRPr/>
            </a:p>
          </p:txBody>
        </p:sp>
        <p:sp>
          <p:nvSpPr>
            <p:cNvPr id="11" name="object 11"/>
            <p:cNvSpPr/>
            <p:nvPr/>
          </p:nvSpPr>
          <p:spPr>
            <a:xfrm>
              <a:off x="1585074" y="2782451"/>
              <a:ext cx="467359" cy="1694180"/>
            </a:xfrm>
            <a:custGeom>
              <a:avLst/>
              <a:gdLst/>
              <a:ahLst/>
              <a:cxnLst/>
              <a:rect l="l" t="t" r="r" b="b"/>
              <a:pathLst>
                <a:path w="467360" h="1694179">
                  <a:moveTo>
                    <a:pt x="467283" y="0"/>
                  </a:moveTo>
                  <a:lnTo>
                    <a:pt x="723" y="3594"/>
                  </a:lnTo>
                  <a:lnTo>
                    <a:pt x="0" y="1470596"/>
                  </a:lnTo>
                  <a:lnTo>
                    <a:pt x="2346" y="1542687"/>
                  </a:lnTo>
                  <a:lnTo>
                    <a:pt x="10285" y="1605463"/>
                  </a:lnTo>
                  <a:lnTo>
                    <a:pt x="24240" y="1653023"/>
                  </a:lnTo>
                  <a:lnTo>
                    <a:pt x="72364" y="1693799"/>
                  </a:lnTo>
                  <a:lnTo>
                    <a:pt x="391680" y="1686242"/>
                  </a:lnTo>
                  <a:lnTo>
                    <a:pt x="440592" y="1647194"/>
                  </a:lnTo>
                  <a:lnTo>
                    <a:pt x="455238" y="1602181"/>
                  </a:lnTo>
                  <a:lnTo>
                    <a:pt x="463784" y="1542687"/>
                  </a:lnTo>
                  <a:lnTo>
                    <a:pt x="466559" y="1470596"/>
                  </a:lnTo>
                  <a:lnTo>
                    <a:pt x="466522" y="1050061"/>
                  </a:lnTo>
                  <a:lnTo>
                    <a:pt x="466788" y="565738"/>
                  </a:lnTo>
                  <a:lnTo>
                    <a:pt x="467120" y="166195"/>
                  </a:lnTo>
                  <a:lnTo>
                    <a:pt x="467280" y="3594"/>
                  </a:lnTo>
                  <a:lnTo>
                    <a:pt x="467283" y="0"/>
                  </a:lnTo>
                  <a:close/>
                </a:path>
              </a:pathLst>
            </a:custGeom>
            <a:solidFill>
              <a:srgbClr val="00607E"/>
            </a:solidFill>
          </p:spPr>
          <p:txBody>
            <a:bodyPr wrap="square" lIns="0" tIns="0" rIns="0" bIns="0" rtlCol="0"/>
            <a:lstStyle/>
            <a:p>
              <a:endParaRPr/>
            </a:p>
          </p:txBody>
        </p:sp>
        <p:sp>
          <p:nvSpPr>
            <p:cNvPr id="12" name="object 12"/>
            <p:cNvSpPr/>
            <p:nvPr/>
          </p:nvSpPr>
          <p:spPr>
            <a:xfrm>
              <a:off x="2178354" y="2086568"/>
              <a:ext cx="452755" cy="2388235"/>
            </a:xfrm>
            <a:custGeom>
              <a:avLst/>
              <a:gdLst/>
              <a:ahLst/>
              <a:cxnLst/>
              <a:rect l="l" t="t" r="r" b="b"/>
              <a:pathLst>
                <a:path w="452755" h="2388235">
                  <a:moveTo>
                    <a:pt x="452526" y="1194117"/>
                  </a:moveTo>
                  <a:lnTo>
                    <a:pt x="452526" y="91440"/>
                  </a:lnTo>
                  <a:lnTo>
                    <a:pt x="445382" y="55737"/>
                  </a:lnTo>
                  <a:lnTo>
                    <a:pt x="425886" y="26684"/>
                  </a:lnTo>
                  <a:lnTo>
                    <a:pt x="396939" y="7149"/>
                  </a:lnTo>
                  <a:lnTo>
                    <a:pt x="361442" y="0"/>
                  </a:lnTo>
                  <a:lnTo>
                    <a:pt x="91439" y="0"/>
                  </a:lnTo>
                  <a:lnTo>
                    <a:pt x="55892" y="7149"/>
                  </a:lnTo>
                  <a:lnTo>
                    <a:pt x="26822" y="26684"/>
                  </a:lnTo>
                  <a:lnTo>
                    <a:pt x="7200" y="55737"/>
                  </a:lnTo>
                  <a:lnTo>
                    <a:pt x="0" y="91440"/>
                  </a:lnTo>
                  <a:lnTo>
                    <a:pt x="0" y="2297163"/>
                  </a:lnTo>
                  <a:lnTo>
                    <a:pt x="7200" y="2332653"/>
                  </a:lnTo>
                  <a:lnTo>
                    <a:pt x="26822" y="2361596"/>
                  </a:lnTo>
                  <a:lnTo>
                    <a:pt x="55892" y="2381091"/>
                  </a:lnTo>
                  <a:lnTo>
                    <a:pt x="91439" y="2388235"/>
                  </a:lnTo>
                  <a:lnTo>
                    <a:pt x="361442" y="2388235"/>
                  </a:lnTo>
                  <a:lnTo>
                    <a:pt x="396939" y="2381091"/>
                  </a:lnTo>
                  <a:lnTo>
                    <a:pt x="425886" y="2361596"/>
                  </a:lnTo>
                  <a:lnTo>
                    <a:pt x="445382" y="2332653"/>
                  </a:lnTo>
                  <a:lnTo>
                    <a:pt x="452526" y="2297163"/>
                  </a:lnTo>
                  <a:lnTo>
                    <a:pt x="452526" y="1194117"/>
                  </a:lnTo>
                  <a:close/>
                </a:path>
              </a:pathLst>
            </a:custGeom>
            <a:ln w="21775">
              <a:solidFill>
                <a:srgbClr val="00607E"/>
              </a:solidFill>
            </a:ln>
          </p:spPr>
          <p:txBody>
            <a:bodyPr wrap="square" lIns="0" tIns="0" rIns="0" bIns="0" rtlCol="0"/>
            <a:lstStyle/>
            <a:p>
              <a:endParaRPr/>
            </a:p>
          </p:txBody>
        </p:sp>
        <p:sp>
          <p:nvSpPr>
            <p:cNvPr id="13" name="object 13"/>
            <p:cNvSpPr/>
            <p:nvPr/>
          </p:nvSpPr>
          <p:spPr>
            <a:xfrm>
              <a:off x="2173325" y="2782451"/>
              <a:ext cx="467359" cy="1694180"/>
            </a:xfrm>
            <a:custGeom>
              <a:avLst/>
              <a:gdLst/>
              <a:ahLst/>
              <a:cxnLst/>
              <a:rect l="l" t="t" r="r" b="b"/>
              <a:pathLst>
                <a:path w="467360" h="1694179">
                  <a:moveTo>
                    <a:pt x="467271" y="0"/>
                  </a:moveTo>
                  <a:lnTo>
                    <a:pt x="711" y="3594"/>
                  </a:lnTo>
                  <a:lnTo>
                    <a:pt x="0" y="1470596"/>
                  </a:lnTo>
                  <a:lnTo>
                    <a:pt x="2340" y="1542687"/>
                  </a:lnTo>
                  <a:lnTo>
                    <a:pt x="2372" y="1543680"/>
                  </a:lnTo>
                  <a:lnTo>
                    <a:pt x="10276" y="1605463"/>
                  </a:lnTo>
                  <a:lnTo>
                    <a:pt x="24228" y="1653023"/>
                  </a:lnTo>
                  <a:lnTo>
                    <a:pt x="44748" y="1683442"/>
                  </a:lnTo>
                  <a:lnTo>
                    <a:pt x="72351" y="1693799"/>
                  </a:lnTo>
                  <a:lnTo>
                    <a:pt x="391680" y="1686242"/>
                  </a:lnTo>
                  <a:lnTo>
                    <a:pt x="440587" y="1647194"/>
                  </a:lnTo>
                  <a:lnTo>
                    <a:pt x="455235" y="1602181"/>
                  </a:lnTo>
                  <a:lnTo>
                    <a:pt x="463783" y="1542687"/>
                  </a:lnTo>
                  <a:lnTo>
                    <a:pt x="466559" y="1470596"/>
                  </a:lnTo>
                  <a:lnTo>
                    <a:pt x="466515" y="1050061"/>
                  </a:lnTo>
                  <a:lnTo>
                    <a:pt x="466777" y="565738"/>
                  </a:lnTo>
                  <a:lnTo>
                    <a:pt x="467108" y="166195"/>
                  </a:lnTo>
                  <a:lnTo>
                    <a:pt x="467267" y="3594"/>
                  </a:lnTo>
                  <a:lnTo>
                    <a:pt x="467271" y="0"/>
                  </a:lnTo>
                  <a:close/>
                </a:path>
              </a:pathLst>
            </a:custGeom>
            <a:solidFill>
              <a:srgbClr val="00607E"/>
            </a:solidFill>
          </p:spPr>
          <p:txBody>
            <a:bodyPr wrap="square" lIns="0" tIns="0" rIns="0" bIns="0" rtlCol="0"/>
            <a:lstStyle/>
            <a:p>
              <a:endParaRPr/>
            </a:p>
          </p:txBody>
        </p:sp>
      </p:grpSp>
      <p:sp>
        <p:nvSpPr>
          <p:cNvPr id="14" name="object 14"/>
          <p:cNvSpPr txBox="1"/>
          <p:nvPr/>
        </p:nvSpPr>
        <p:spPr>
          <a:xfrm>
            <a:off x="1021219" y="1381159"/>
            <a:ext cx="2200275" cy="644525"/>
          </a:xfrm>
          <a:prstGeom prst="rect">
            <a:avLst/>
          </a:prstGeom>
        </p:spPr>
        <p:txBody>
          <a:bodyPr vert="horz" wrap="square" lIns="0" tIns="16510" rIns="0" bIns="0" rtlCol="0">
            <a:spAutoFit/>
          </a:bodyPr>
          <a:lstStyle/>
          <a:p>
            <a:pPr marL="22860" algn="ctr">
              <a:lnSpc>
                <a:spcPct val="100000"/>
              </a:lnSpc>
              <a:spcBef>
                <a:spcPts val="130"/>
              </a:spcBef>
            </a:pPr>
            <a:r>
              <a:rPr sz="1900" dirty="0">
                <a:solidFill>
                  <a:srgbClr val="454C4C"/>
                </a:solidFill>
                <a:latin typeface="Lucida Sans Unicode"/>
                <a:cs typeface="Lucida Sans Unicode"/>
              </a:rPr>
              <a:t>Node</a:t>
            </a:r>
            <a:r>
              <a:rPr sz="1900" spc="-75" dirty="0">
                <a:solidFill>
                  <a:srgbClr val="454C4C"/>
                </a:solidFill>
                <a:latin typeface="Lucida Sans Unicode"/>
                <a:cs typeface="Lucida Sans Unicode"/>
              </a:rPr>
              <a:t> </a:t>
            </a:r>
            <a:r>
              <a:rPr sz="1900" spc="-50" dirty="0">
                <a:solidFill>
                  <a:srgbClr val="454C4C"/>
                </a:solidFill>
                <a:latin typeface="Lucida Sans Unicode"/>
                <a:cs typeface="Lucida Sans Unicode"/>
              </a:rPr>
              <a:t>1</a:t>
            </a:r>
            <a:endParaRPr sz="1900">
              <a:latin typeface="Lucida Sans Unicode"/>
              <a:cs typeface="Lucida Sans Unicode"/>
            </a:endParaRPr>
          </a:p>
          <a:p>
            <a:pPr algn="ctr">
              <a:lnSpc>
                <a:spcPct val="100000"/>
              </a:lnSpc>
              <a:spcBef>
                <a:spcPts val="1240"/>
              </a:spcBef>
              <a:tabLst>
                <a:tab pos="588010" algn="l"/>
                <a:tab pos="1176020" algn="l"/>
                <a:tab pos="1764030" algn="l"/>
              </a:tabLst>
            </a:pPr>
            <a:r>
              <a:rPr sz="1100" dirty="0">
                <a:solidFill>
                  <a:srgbClr val="454C4C"/>
                </a:solidFill>
                <a:latin typeface="Lucida Sans Unicode"/>
                <a:cs typeface="Lucida Sans Unicode"/>
              </a:rPr>
              <a:t>OSD</a:t>
            </a:r>
            <a:r>
              <a:rPr sz="1100" spc="-50" dirty="0">
                <a:solidFill>
                  <a:srgbClr val="454C4C"/>
                </a:solidFill>
                <a:latin typeface="Lucida Sans Unicode"/>
                <a:cs typeface="Lucida Sans Unicode"/>
              </a:rPr>
              <a:t> </a:t>
            </a:r>
            <a:r>
              <a:rPr sz="1100" spc="-60" dirty="0">
                <a:solidFill>
                  <a:srgbClr val="454C4C"/>
                </a:solidFill>
                <a:latin typeface="Lucida Sans Unicode"/>
                <a:cs typeface="Lucida Sans Unicode"/>
              </a:rPr>
              <a:t>1</a:t>
            </a:r>
            <a:r>
              <a:rPr sz="1100" dirty="0">
                <a:solidFill>
                  <a:srgbClr val="454C4C"/>
                </a:solidFill>
                <a:latin typeface="Lucida Sans Unicode"/>
                <a:cs typeface="Lucida Sans Unicode"/>
              </a:rPr>
              <a:t>	OSD</a:t>
            </a:r>
            <a:r>
              <a:rPr sz="1100" spc="-50" dirty="0">
                <a:solidFill>
                  <a:srgbClr val="454C4C"/>
                </a:solidFill>
                <a:latin typeface="Lucida Sans Unicode"/>
                <a:cs typeface="Lucida Sans Unicode"/>
              </a:rPr>
              <a:t> 2</a:t>
            </a:r>
            <a:r>
              <a:rPr sz="1100" dirty="0">
                <a:solidFill>
                  <a:srgbClr val="454C4C"/>
                </a:solidFill>
                <a:latin typeface="Lucida Sans Unicode"/>
                <a:cs typeface="Lucida Sans Unicode"/>
              </a:rPr>
              <a:t>	OSD</a:t>
            </a:r>
            <a:r>
              <a:rPr sz="1100" spc="-50" dirty="0">
                <a:solidFill>
                  <a:srgbClr val="454C4C"/>
                </a:solidFill>
                <a:latin typeface="Lucida Sans Unicode"/>
                <a:cs typeface="Lucida Sans Unicode"/>
              </a:rPr>
              <a:t> </a:t>
            </a:r>
            <a:r>
              <a:rPr sz="1100" spc="-60" dirty="0">
                <a:solidFill>
                  <a:srgbClr val="454C4C"/>
                </a:solidFill>
                <a:latin typeface="Lucida Sans Unicode"/>
                <a:cs typeface="Lucida Sans Unicode"/>
              </a:rPr>
              <a:t>3</a:t>
            </a:r>
            <a:r>
              <a:rPr sz="1100" dirty="0">
                <a:solidFill>
                  <a:srgbClr val="454C4C"/>
                </a:solidFill>
                <a:latin typeface="Lucida Sans Unicode"/>
                <a:cs typeface="Lucida Sans Unicode"/>
              </a:rPr>
              <a:t>	OSD</a:t>
            </a:r>
            <a:r>
              <a:rPr sz="1100" spc="-50" dirty="0">
                <a:solidFill>
                  <a:srgbClr val="454C4C"/>
                </a:solidFill>
                <a:latin typeface="Lucida Sans Unicode"/>
                <a:cs typeface="Lucida Sans Unicode"/>
              </a:rPr>
              <a:t> 4</a:t>
            </a:r>
            <a:endParaRPr sz="1100">
              <a:latin typeface="Lucida Sans Unicode"/>
              <a:cs typeface="Lucida Sans Unicode"/>
            </a:endParaRPr>
          </a:p>
        </p:txBody>
      </p:sp>
      <p:grpSp>
        <p:nvGrpSpPr>
          <p:cNvPr id="15" name="object 15"/>
          <p:cNvGrpSpPr/>
          <p:nvPr/>
        </p:nvGrpSpPr>
        <p:grpSpPr>
          <a:xfrm>
            <a:off x="3708006" y="1326244"/>
            <a:ext cx="2662555" cy="3288665"/>
            <a:chOff x="3708006" y="1326244"/>
            <a:chExt cx="2662555" cy="3288665"/>
          </a:xfrm>
        </p:grpSpPr>
        <p:sp>
          <p:nvSpPr>
            <p:cNvPr id="16" name="object 16"/>
            <p:cNvSpPr/>
            <p:nvPr/>
          </p:nvSpPr>
          <p:spPr>
            <a:xfrm>
              <a:off x="3708006"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0909" y="3288245"/>
                  </a:lnTo>
                  <a:lnTo>
                    <a:pt x="2387879" y="3288245"/>
                  </a:lnTo>
                  <a:lnTo>
                    <a:pt x="2437200" y="3283828"/>
                  </a:lnTo>
                  <a:lnTo>
                    <a:pt x="2483617" y="3271090"/>
                  </a:lnTo>
                  <a:lnTo>
                    <a:pt x="2526354" y="3250806"/>
                  </a:lnTo>
                  <a:lnTo>
                    <a:pt x="2564639" y="3223748"/>
                  </a:lnTo>
                  <a:lnTo>
                    <a:pt x="2597698" y="3190691"/>
                  </a:lnTo>
                  <a:lnTo>
                    <a:pt x="2624756" y="3152406"/>
                  </a:lnTo>
                  <a:lnTo>
                    <a:pt x="2645042" y="3109668"/>
                  </a:lnTo>
                  <a:lnTo>
                    <a:pt x="2657781" y="3063250"/>
                  </a:lnTo>
                  <a:lnTo>
                    <a:pt x="2662199" y="3013925"/>
                  </a:lnTo>
                  <a:lnTo>
                    <a:pt x="2662199" y="274320"/>
                  </a:lnTo>
                  <a:lnTo>
                    <a:pt x="2657781" y="224995"/>
                  </a:lnTo>
                  <a:lnTo>
                    <a:pt x="2645042" y="178577"/>
                  </a:lnTo>
                  <a:lnTo>
                    <a:pt x="2624756" y="135839"/>
                  </a:lnTo>
                  <a:lnTo>
                    <a:pt x="2597698" y="97554"/>
                  </a:lnTo>
                  <a:lnTo>
                    <a:pt x="2564639" y="64497"/>
                  </a:lnTo>
                  <a:lnTo>
                    <a:pt x="2526354" y="37439"/>
                  </a:lnTo>
                  <a:lnTo>
                    <a:pt x="2483617" y="17155"/>
                  </a:lnTo>
                  <a:lnTo>
                    <a:pt x="2437200" y="4417"/>
                  </a:lnTo>
                  <a:lnTo>
                    <a:pt x="2387879" y="0"/>
                  </a:lnTo>
                  <a:close/>
                </a:path>
              </a:pathLst>
            </a:custGeom>
            <a:solidFill>
              <a:srgbClr val="ECECEC"/>
            </a:solidFill>
          </p:spPr>
          <p:txBody>
            <a:bodyPr wrap="square" lIns="0" tIns="0" rIns="0" bIns="0" rtlCol="0"/>
            <a:lstStyle/>
            <a:p>
              <a:endParaRPr/>
            </a:p>
          </p:txBody>
        </p:sp>
        <p:sp>
          <p:nvSpPr>
            <p:cNvPr id="17" name="object 17"/>
            <p:cNvSpPr/>
            <p:nvPr/>
          </p:nvSpPr>
          <p:spPr>
            <a:xfrm>
              <a:off x="3917873" y="2079367"/>
              <a:ext cx="452755" cy="2388870"/>
            </a:xfrm>
            <a:custGeom>
              <a:avLst/>
              <a:gdLst/>
              <a:ahLst/>
              <a:cxnLst/>
              <a:rect l="l" t="t" r="r" b="b"/>
              <a:pathLst>
                <a:path w="452754" h="2388870">
                  <a:moveTo>
                    <a:pt x="452526" y="1194117"/>
                  </a:moveTo>
                  <a:lnTo>
                    <a:pt x="452526" y="91439"/>
                  </a:lnTo>
                  <a:lnTo>
                    <a:pt x="445382" y="55892"/>
                  </a:lnTo>
                  <a:lnTo>
                    <a:pt x="425886" y="26822"/>
                  </a:lnTo>
                  <a:lnTo>
                    <a:pt x="396939" y="7200"/>
                  </a:lnTo>
                  <a:lnTo>
                    <a:pt x="361441" y="0"/>
                  </a:lnTo>
                  <a:lnTo>
                    <a:pt x="91084" y="0"/>
                  </a:lnTo>
                  <a:lnTo>
                    <a:pt x="55592" y="7200"/>
                  </a:lnTo>
                  <a:lnTo>
                    <a:pt x="26644" y="26822"/>
                  </a:lnTo>
                  <a:lnTo>
                    <a:pt x="7145" y="55892"/>
                  </a:lnTo>
                  <a:lnTo>
                    <a:pt x="0" y="91439"/>
                  </a:lnTo>
                  <a:lnTo>
                    <a:pt x="0" y="2297163"/>
                  </a:lnTo>
                  <a:lnTo>
                    <a:pt x="7145" y="2332710"/>
                  </a:lnTo>
                  <a:lnTo>
                    <a:pt x="26644" y="2361780"/>
                  </a:lnTo>
                  <a:lnTo>
                    <a:pt x="55592" y="2381402"/>
                  </a:lnTo>
                  <a:lnTo>
                    <a:pt x="91084" y="2388603"/>
                  </a:lnTo>
                  <a:lnTo>
                    <a:pt x="361441" y="2388603"/>
                  </a:lnTo>
                  <a:lnTo>
                    <a:pt x="396939" y="2381402"/>
                  </a:lnTo>
                  <a:lnTo>
                    <a:pt x="425886" y="2361780"/>
                  </a:lnTo>
                  <a:lnTo>
                    <a:pt x="445382" y="2332710"/>
                  </a:lnTo>
                  <a:lnTo>
                    <a:pt x="452526" y="2297163"/>
                  </a:lnTo>
                  <a:lnTo>
                    <a:pt x="452526" y="1194117"/>
                  </a:lnTo>
                  <a:close/>
                </a:path>
              </a:pathLst>
            </a:custGeom>
            <a:ln w="21775">
              <a:solidFill>
                <a:srgbClr val="00607E"/>
              </a:solidFill>
            </a:ln>
          </p:spPr>
          <p:txBody>
            <a:bodyPr wrap="square" lIns="0" tIns="0" rIns="0" bIns="0" rtlCol="0"/>
            <a:lstStyle/>
            <a:p>
              <a:endParaRPr/>
            </a:p>
          </p:txBody>
        </p:sp>
        <p:sp>
          <p:nvSpPr>
            <p:cNvPr id="18" name="object 18"/>
            <p:cNvSpPr/>
            <p:nvPr/>
          </p:nvSpPr>
          <p:spPr>
            <a:xfrm>
              <a:off x="3912476" y="3272049"/>
              <a:ext cx="467995" cy="1198245"/>
            </a:xfrm>
            <a:custGeom>
              <a:avLst/>
              <a:gdLst/>
              <a:ahLst/>
              <a:cxnLst/>
              <a:rect l="l" t="t" r="r" b="b"/>
              <a:pathLst>
                <a:path w="467995" h="1198245">
                  <a:moveTo>
                    <a:pt x="467639" y="0"/>
                  </a:moveTo>
                  <a:lnTo>
                    <a:pt x="723" y="2514"/>
                  </a:lnTo>
                  <a:lnTo>
                    <a:pt x="0" y="1042200"/>
                  </a:lnTo>
                  <a:lnTo>
                    <a:pt x="7346" y="1104895"/>
                  </a:lnTo>
                  <a:lnTo>
                    <a:pt x="7397" y="1105332"/>
                  </a:lnTo>
                  <a:lnTo>
                    <a:pt x="27587" y="1154696"/>
                  </a:lnTo>
                  <a:lnTo>
                    <a:pt x="57564" y="1186782"/>
                  </a:lnTo>
                  <a:lnTo>
                    <a:pt x="94322" y="1198079"/>
                  </a:lnTo>
                  <a:lnTo>
                    <a:pt x="372249" y="1195920"/>
                  </a:lnTo>
                  <a:lnTo>
                    <a:pt x="408908" y="1184660"/>
                  </a:lnTo>
                  <a:lnTo>
                    <a:pt x="439024" y="1153350"/>
                  </a:lnTo>
                  <a:lnTo>
                    <a:pt x="459423" y="1104895"/>
                  </a:lnTo>
                  <a:lnTo>
                    <a:pt x="466928" y="1042200"/>
                  </a:lnTo>
                  <a:lnTo>
                    <a:pt x="466733" y="744189"/>
                  </a:lnTo>
                  <a:lnTo>
                    <a:pt x="467012" y="400951"/>
                  </a:lnTo>
                  <a:lnTo>
                    <a:pt x="467426" y="117788"/>
                  </a:lnTo>
                  <a:lnTo>
                    <a:pt x="467634" y="2514"/>
                  </a:lnTo>
                  <a:lnTo>
                    <a:pt x="467639" y="0"/>
                  </a:lnTo>
                  <a:close/>
                </a:path>
              </a:pathLst>
            </a:custGeom>
            <a:solidFill>
              <a:srgbClr val="00607E"/>
            </a:solidFill>
          </p:spPr>
          <p:txBody>
            <a:bodyPr wrap="square" lIns="0" tIns="0" rIns="0" bIns="0" rtlCol="0"/>
            <a:lstStyle/>
            <a:p>
              <a:endParaRPr/>
            </a:p>
          </p:txBody>
        </p:sp>
        <p:sp>
          <p:nvSpPr>
            <p:cNvPr id="19" name="object 19"/>
            <p:cNvSpPr/>
            <p:nvPr/>
          </p:nvSpPr>
          <p:spPr>
            <a:xfrm>
              <a:off x="4514405" y="2079367"/>
              <a:ext cx="453390" cy="2388870"/>
            </a:xfrm>
            <a:custGeom>
              <a:avLst/>
              <a:gdLst/>
              <a:ahLst/>
              <a:cxnLst/>
              <a:rect l="l" t="t" r="r" b="b"/>
              <a:pathLst>
                <a:path w="453389" h="2388870">
                  <a:moveTo>
                    <a:pt x="452869" y="1194117"/>
                  </a:moveTo>
                  <a:lnTo>
                    <a:pt x="452869" y="91439"/>
                  </a:lnTo>
                  <a:lnTo>
                    <a:pt x="445670" y="55892"/>
                  </a:lnTo>
                  <a:lnTo>
                    <a:pt x="426051" y="26822"/>
                  </a:lnTo>
                  <a:lnTo>
                    <a:pt x="396981" y="7200"/>
                  </a:lnTo>
                  <a:lnTo>
                    <a:pt x="361429" y="0"/>
                  </a:lnTo>
                  <a:lnTo>
                    <a:pt x="91440" y="0"/>
                  </a:lnTo>
                  <a:lnTo>
                    <a:pt x="55887" y="7200"/>
                  </a:lnTo>
                  <a:lnTo>
                    <a:pt x="26817" y="26822"/>
                  </a:lnTo>
                  <a:lnTo>
                    <a:pt x="7199" y="55892"/>
                  </a:lnTo>
                  <a:lnTo>
                    <a:pt x="0" y="91439"/>
                  </a:lnTo>
                  <a:lnTo>
                    <a:pt x="0" y="2297163"/>
                  </a:lnTo>
                  <a:lnTo>
                    <a:pt x="7199" y="2332710"/>
                  </a:lnTo>
                  <a:lnTo>
                    <a:pt x="26817" y="2361780"/>
                  </a:lnTo>
                  <a:lnTo>
                    <a:pt x="55887" y="2381402"/>
                  </a:lnTo>
                  <a:lnTo>
                    <a:pt x="91440" y="2388603"/>
                  </a:lnTo>
                  <a:lnTo>
                    <a:pt x="361429" y="2388603"/>
                  </a:lnTo>
                  <a:lnTo>
                    <a:pt x="396981" y="2381402"/>
                  </a:lnTo>
                  <a:lnTo>
                    <a:pt x="426051" y="2361780"/>
                  </a:lnTo>
                  <a:lnTo>
                    <a:pt x="445670" y="2332710"/>
                  </a:lnTo>
                  <a:lnTo>
                    <a:pt x="452869" y="2297163"/>
                  </a:lnTo>
                  <a:lnTo>
                    <a:pt x="452869" y="1194117"/>
                  </a:lnTo>
                  <a:close/>
                </a:path>
              </a:pathLst>
            </a:custGeom>
            <a:ln w="21775">
              <a:solidFill>
                <a:srgbClr val="00607E"/>
              </a:solidFill>
            </a:ln>
          </p:spPr>
          <p:txBody>
            <a:bodyPr wrap="square" lIns="0" tIns="0" rIns="0" bIns="0" rtlCol="0"/>
            <a:lstStyle/>
            <a:p>
              <a:endParaRPr/>
            </a:p>
          </p:txBody>
        </p:sp>
        <p:sp>
          <p:nvSpPr>
            <p:cNvPr id="20" name="object 20"/>
            <p:cNvSpPr/>
            <p:nvPr/>
          </p:nvSpPr>
          <p:spPr>
            <a:xfrm>
              <a:off x="4509363" y="3272049"/>
              <a:ext cx="467359" cy="1198245"/>
            </a:xfrm>
            <a:custGeom>
              <a:avLst/>
              <a:gdLst/>
              <a:ahLst/>
              <a:cxnLst/>
              <a:rect l="l" t="t" r="r" b="b"/>
              <a:pathLst>
                <a:path w="467360" h="1198245">
                  <a:moveTo>
                    <a:pt x="467271" y="0"/>
                  </a:moveTo>
                  <a:lnTo>
                    <a:pt x="711" y="2514"/>
                  </a:lnTo>
                  <a:lnTo>
                    <a:pt x="0" y="1042200"/>
                  </a:lnTo>
                  <a:lnTo>
                    <a:pt x="7135" y="1104895"/>
                  </a:lnTo>
                  <a:lnTo>
                    <a:pt x="7184" y="1105332"/>
                  </a:lnTo>
                  <a:lnTo>
                    <a:pt x="27265" y="1154696"/>
                  </a:lnTo>
                  <a:lnTo>
                    <a:pt x="57201" y="1186782"/>
                  </a:lnTo>
                  <a:lnTo>
                    <a:pt x="93954" y="1198079"/>
                  </a:lnTo>
                  <a:lnTo>
                    <a:pt x="371881" y="1195920"/>
                  </a:lnTo>
                  <a:lnTo>
                    <a:pt x="408695" y="1184660"/>
                  </a:lnTo>
                  <a:lnTo>
                    <a:pt x="438794" y="1153350"/>
                  </a:lnTo>
                  <a:lnTo>
                    <a:pt x="459106" y="1104895"/>
                  </a:lnTo>
                  <a:lnTo>
                    <a:pt x="466559" y="1042200"/>
                  </a:lnTo>
                  <a:lnTo>
                    <a:pt x="466515" y="744189"/>
                  </a:lnTo>
                  <a:lnTo>
                    <a:pt x="466777" y="400951"/>
                  </a:lnTo>
                  <a:lnTo>
                    <a:pt x="467108" y="117788"/>
                  </a:lnTo>
                  <a:lnTo>
                    <a:pt x="467267" y="2514"/>
                  </a:lnTo>
                  <a:lnTo>
                    <a:pt x="467271" y="0"/>
                  </a:lnTo>
                  <a:close/>
                </a:path>
              </a:pathLst>
            </a:custGeom>
            <a:solidFill>
              <a:srgbClr val="00607E"/>
            </a:solidFill>
          </p:spPr>
          <p:txBody>
            <a:bodyPr wrap="square" lIns="0" tIns="0" rIns="0" bIns="0" rtlCol="0"/>
            <a:lstStyle/>
            <a:p>
              <a:endParaRPr/>
            </a:p>
          </p:txBody>
        </p:sp>
        <p:sp>
          <p:nvSpPr>
            <p:cNvPr id="21" name="object 21"/>
            <p:cNvSpPr/>
            <p:nvPr/>
          </p:nvSpPr>
          <p:spPr>
            <a:xfrm>
              <a:off x="5110924" y="2079367"/>
              <a:ext cx="453390" cy="2388870"/>
            </a:xfrm>
            <a:custGeom>
              <a:avLst/>
              <a:gdLst/>
              <a:ahLst/>
              <a:cxnLst/>
              <a:rect l="l" t="t" r="r" b="b"/>
              <a:pathLst>
                <a:path w="453389" h="2388870">
                  <a:moveTo>
                    <a:pt x="452869" y="1194117"/>
                  </a:moveTo>
                  <a:lnTo>
                    <a:pt x="452869" y="91439"/>
                  </a:lnTo>
                  <a:lnTo>
                    <a:pt x="445670" y="55892"/>
                  </a:lnTo>
                  <a:lnTo>
                    <a:pt x="426051" y="26822"/>
                  </a:lnTo>
                  <a:lnTo>
                    <a:pt x="396981" y="7200"/>
                  </a:lnTo>
                  <a:lnTo>
                    <a:pt x="361429" y="0"/>
                  </a:lnTo>
                  <a:lnTo>
                    <a:pt x="91439" y="0"/>
                  </a:lnTo>
                  <a:lnTo>
                    <a:pt x="55887" y="7200"/>
                  </a:lnTo>
                  <a:lnTo>
                    <a:pt x="26817" y="26822"/>
                  </a:lnTo>
                  <a:lnTo>
                    <a:pt x="7199" y="55892"/>
                  </a:lnTo>
                  <a:lnTo>
                    <a:pt x="0" y="91439"/>
                  </a:lnTo>
                  <a:lnTo>
                    <a:pt x="0" y="2297163"/>
                  </a:lnTo>
                  <a:lnTo>
                    <a:pt x="7199" y="2332710"/>
                  </a:lnTo>
                  <a:lnTo>
                    <a:pt x="26817" y="2361780"/>
                  </a:lnTo>
                  <a:lnTo>
                    <a:pt x="55887" y="2381402"/>
                  </a:lnTo>
                  <a:lnTo>
                    <a:pt x="91439" y="2388603"/>
                  </a:lnTo>
                  <a:lnTo>
                    <a:pt x="361429" y="2388603"/>
                  </a:lnTo>
                  <a:lnTo>
                    <a:pt x="396981" y="2381402"/>
                  </a:lnTo>
                  <a:lnTo>
                    <a:pt x="426051" y="2361780"/>
                  </a:lnTo>
                  <a:lnTo>
                    <a:pt x="445670" y="2332710"/>
                  </a:lnTo>
                  <a:lnTo>
                    <a:pt x="452869" y="2297163"/>
                  </a:lnTo>
                  <a:lnTo>
                    <a:pt x="452869" y="1194117"/>
                  </a:lnTo>
                  <a:close/>
                </a:path>
              </a:pathLst>
            </a:custGeom>
            <a:ln w="21775">
              <a:solidFill>
                <a:srgbClr val="00607E"/>
              </a:solidFill>
            </a:ln>
          </p:spPr>
          <p:txBody>
            <a:bodyPr wrap="square" lIns="0" tIns="0" rIns="0" bIns="0" rtlCol="0"/>
            <a:lstStyle/>
            <a:p>
              <a:endParaRPr/>
            </a:p>
          </p:txBody>
        </p:sp>
        <p:sp>
          <p:nvSpPr>
            <p:cNvPr id="22" name="object 22"/>
            <p:cNvSpPr/>
            <p:nvPr/>
          </p:nvSpPr>
          <p:spPr>
            <a:xfrm>
              <a:off x="5105882" y="3272049"/>
              <a:ext cx="467995" cy="1198245"/>
            </a:xfrm>
            <a:custGeom>
              <a:avLst/>
              <a:gdLst/>
              <a:ahLst/>
              <a:cxnLst/>
              <a:rect l="l" t="t" r="r" b="b"/>
              <a:pathLst>
                <a:path w="467995" h="1198245">
                  <a:moveTo>
                    <a:pt x="467639" y="0"/>
                  </a:moveTo>
                  <a:lnTo>
                    <a:pt x="711" y="2514"/>
                  </a:lnTo>
                  <a:lnTo>
                    <a:pt x="0" y="1042200"/>
                  </a:lnTo>
                  <a:lnTo>
                    <a:pt x="7289" y="1104895"/>
                  </a:lnTo>
                  <a:lnTo>
                    <a:pt x="7340" y="1105332"/>
                  </a:lnTo>
                  <a:lnTo>
                    <a:pt x="27403" y="1154696"/>
                  </a:lnTo>
                  <a:lnTo>
                    <a:pt x="57253" y="1186782"/>
                  </a:lnTo>
                  <a:lnTo>
                    <a:pt x="93954" y="1198079"/>
                  </a:lnTo>
                  <a:lnTo>
                    <a:pt x="371881" y="1195920"/>
                  </a:lnTo>
                  <a:lnTo>
                    <a:pt x="408695" y="1184660"/>
                  </a:lnTo>
                  <a:lnTo>
                    <a:pt x="438794" y="1153350"/>
                  </a:lnTo>
                  <a:lnTo>
                    <a:pt x="459106" y="1104895"/>
                  </a:lnTo>
                  <a:lnTo>
                    <a:pt x="466559" y="1042200"/>
                  </a:lnTo>
                  <a:lnTo>
                    <a:pt x="466573" y="744189"/>
                  </a:lnTo>
                  <a:lnTo>
                    <a:pt x="466961" y="400951"/>
                  </a:lnTo>
                  <a:lnTo>
                    <a:pt x="467418" y="117788"/>
                  </a:lnTo>
                  <a:lnTo>
                    <a:pt x="467634" y="2514"/>
                  </a:lnTo>
                  <a:lnTo>
                    <a:pt x="467639" y="0"/>
                  </a:lnTo>
                  <a:close/>
                </a:path>
              </a:pathLst>
            </a:custGeom>
            <a:solidFill>
              <a:srgbClr val="00607E"/>
            </a:solidFill>
          </p:spPr>
          <p:txBody>
            <a:bodyPr wrap="square" lIns="0" tIns="0" rIns="0" bIns="0" rtlCol="0"/>
            <a:lstStyle/>
            <a:p>
              <a:endParaRPr/>
            </a:p>
          </p:txBody>
        </p:sp>
        <p:sp>
          <p:nvSpPr>
            <p:cNvPr id="23" name="object 23"/>
            <p:cNvSpPr/>
            <p:nvPr/>
          </p:nvSpPr>
          <p:spPr>
            <a:xfrm>
              <a:off x="5707799" y="2079367"/>
              <a:ext cx="452755" cy="2388870"/>
            </a:xfrm>
            <a:custGeom>
              <a:avLst/>
              <a:gdLst/>
              <a:ahLst/>
              <a:cxnLst/>
              <a:rect l="l" t="t" r="r" b="b"/>
              <a:pathLst>
                <a:path w="452754" h="2388870">
                  <a:moveTo>
                    <a:pt x="452526" y="1194117"/>
                  </a:moveTo>
                  <a:lnTo>
                    <a:pt x="452526" y="91439"/>
                  </a:lnTo>
                  <a:lnTo>
                    <a:pt x="445381" y="55892"/>
                  </a:lnTo>
                  <a:lnTo>
                    <a:pt x="425881" y="26822"/>
                  </a:lnTo>
                  <a:lnTo>
                    <a:pt x="396933" y="7200"/>
                  </a:lnTo>
                  <a:lnTo>
                    <a:pt x="361441" y="0"/>
                  </a:lnTo>
                  <a:lnTo>
                    <a:pt x="91084" y="0"/>
                  </a:lnTo>
                  <a:lnTo>
                    <a:pt x="55587" y="7200"/>
                  </a:lnTo>
                  <a:lnTo>
                    <a:pt x="26639" y="26822"/>
                  </a:lnTo>
                  <a:lnTo>
                    <a:pt x="7143" y="55892"/>
                  </a:lnTo>
                  <a:lnTo>
                    <a:pt x="0" y="91439"/>
                  </a:lnTo>
                  <a:lnTo>
                    <a:pt x="0" y="2297163"/>
                  </a:lnTo>
                  <a:lnTo>
                    <a:pt x="7143" y="2332710"/>
                  </a:lnTo>
                  <a:lnTo>
                    <a:pt x="26639" y="2361780"/>
                  </a:lnTo>
                  <a:lnTo>
                    <a:pt x="55587" y="2381402"/>
                  </a:lnTo>
                  <a:lnTo>
                    <a:pt x="91084" y="2388603"/>
                  </a:lnTo>
                  <a:lnTo>
                    <a:pt x="361441" y="2388603"/>
                  </a:lnTo>
                  <a:lnTo>
                    <a:pt x="396933" y="2381402"/>
                  </a:lnTo>
                  <a:lnTo>
                    <a:pt x="425881" y="2361780"/>
                  </a:lnTo>
                  <a:lnTo>
                    <a:pt x="445381" y="2332710"/>
                  </a:lnTo>
                  <a:lnTo>
                    <a:pt x="452526" y="2297163"/>
                  </a:lnTo>
                  <a:lnTo>
                    <a:pt x="452526" y="1194117"/>
                  </a:lnTo>
                  <a:close/>
                </a:path>
              </a:pathLst>
            </a:custGeom>
            <a:ln w="21775">
              <a:solidFill>
                <a:srgbClr val="00607E"/>
              </a:solidFill>
            </a:ln>
          </p:spPr>
          <p:txBody>
            <a:bodyPr wrap="square" lIns="0" tIns="0" rIns="0" bIns="0" rtlCol="0"/>
            <a:lstStyle/>
            <a:p>
              <a:endParaRPr/>
            </a:p>
          </p:txBody>
        </p:sp>
        <p:sp>
          <p:nvSpPr>
            <p:cNvPr id="24" name="object 24"/>
            <p:cNvSpPr/>
            <p:nvPr/>
          </p:nvSpPr>
          <p:spPr>
            <a:xfrm>
              <a:off x="5702401" y="3272049"/>
              <a:ext cx="467995" cy="1198245"/>
            </a:xfrm>
            <a:custGeom>
              <a:avLst/>
              <a:gdLst/>
              <a:ahLst/>
              <a:cxnLst/>
              <a:rect l="l" t="t" r="r" b="b"/>
              <a:pathLst>
                <a:path w="467995" h="1198245">
                  <a:moveTo>
                    <a:pt x="467639" y="0"/>
                  </a:moveTo>
                  <a:lnTo>
                    <a:pt x="723" y="2514"/>
                  </a:lnTo>
                  <a:lnTo>
                    <a:pt x="0" y="1042200"/>
                  </a:lnTo>
                  <a:lnTo>
                    <a:pt x="7344" y="1104895"/>
                  </a:lnTo>
                  <a:lnTo>
                    <a:pt x="7395" y="1105332"/>
                  </a:lnTo>
                  <a:lnTo>
                    <a:pt x="27582" y="1154696"/>
                  </a:lnTo>
                  <a:lnTo>
                    <a:pt x="57558" y="1186782"/>
                  </a:lnTo>
                  <a:lnTo>
                    <a:pt x="94322" y="1198079"/>
                  </a:lnTo>
                  <a:lnTo>
                    <a:pt x="372237" y="1195920"/>
                  </a:lnTo>
                  <a:lnTo>
                    <a:pt x="409051" y="1184660"/>
                  </a:lnTo>
                  <a:lnTo>
                    <a:pt x="439150" y="1153350"/>
                  </a:lnTo>
                  <a:lnTo>
                    <a:pt x="459462" y="1104895"/>
                  </a:lnTo>
                  <a:lnTo>
                    <a:pt x="466915" y="1042200"/>
                  </a:lnTo>
                  <a:lnTo>
                    <a:pt x="466728" y="744189"/>
                  </a:lnTo>
                  <a:lnTo>
                    <a:pt x="467010" y="400951"/>
                  </a:lnTo>
                  <a:lnTo>
                    <a:pt x="467426" y="117788"/>
                  </a:lnTo>
                  <a:lnTo>
                    <a:pt x="467634" y="2514"/>
                  </a:lnTo>
                  <a:lnTo>
                    <a:pt x="467639" y="0"/>
                  </a:lnTo>
                  <a:close/>
                </a:path>
              </a:pathLst>
            </a:custGeom>
            <a:solidFill>
              <a:srgbClr val="00607E"/>
            </a:solidFill>
          </p:spPr>
          <p:txBody>
            <a:bodyPr wrap="square" lIns="0" tIns="0" rIns="0" bIns="0" rtlCol="0"/>
            <a:lstStyle/>
            <a:p>
              <a:endParaRPr/>
            </a:p>
          </p:txBody>
        </p:sp>
      </p:grpSp>
      <p:sp>
        <p:nvSpPr>
          <p:cNvPr id="25" name="object 25"/>
          <p:cNvSpPr txBox="1"/>
          <p:nvPr/>
        </p:nvSpPr>
        <p:spPr>
          <a:xfrm>
            <a:off x="3935209" y="1381159"/>
            <a:ext cx="2200275" cy="644525"/>
          </a:xfrm>
          <a:prstGeom prst="rect">
            <a:avLst/>
          </a:prstGeom>
        </p:spPr>
        <p:txBody>
          <a:bodyPr vert="horz" wrap="square" lIns="0" tIns="16510" rIns="0" bIns="0" rtlCol="0">
            <a:spAutoFit/>
          </a:bodyPr>
          <a:lstStyle/>
          <a:p>
            <a:pPr algn="ctr">
              <a:lnSpc>
                <a:spcPct val="100000"/>
              </a:lnSpc>
              <a:spcBef>
                <a:spcPts val="130"/>
              </a:spcBef>
            </a:pPr>
            <a:r>
              <a:rPr sz="1900" dirty="0">
                <a:solidFill>
                  <a:srgbClr val="454C4C"/>
                </a:solidFill>
                <a:latin typeface="Lucida Sans Unicode"/>
                <a:cs typeface="Lucida Sans Unicode"/>
              </a:rPr>
              <a:t>Node</a:t>
            </a:r>
            <a:r>
              <a:rPr sz="1900" spc="-105" dirty="0">
                <a:solidFill>
                  <a:srgbClr val="454C4C"/>
                </a:solidFill>
                <a:latin typeface="Lucida Sans Unicode"/>
                <a:cs typeface="Lucida Sans Unicode"/>
              </a:rPr>
              <a:t> </a:t>
            </a:r>
            <a:r>
              <a:rPr sz="1900" spc="-50" dirty="0">
                <a:solidFill>
                  <a:srgbClr val="454C4C"/>
                </a:solidFill>
                <a:latin typeface="Lucida Sans Unicode"/>
                <a:cs typeface="Lucida Sans Unicode"/>
              </a:rPr>
              <a:t>2</a:t>
            </a:r>
            <a:endParaRPr sz="1900">
              <a:latin typeface="Lucida Sans Unicode"/>
              <a:cs typeface="Lucida Sans Unicode"/>
            </a:endParaRPr>
          </a:p>
          <a:p>
            <a:pPr algn="ctr">
              <a:lnSpc>
                <a:spcPct val="100000"/>
              </a:lnSpc>
              <a:spcBef>
                <a:spcPts val="1240"/>
              </a:spcBef>
              <a:tabLst>
                <a:tab pos="588010" algn="l"/>
                <a:tab pos="1176020" algn="l"/>
                <a:tab pos="1764030" algn="l"/>
              </a:tabLst>
            </a:pPr>
            <a:r>
              <a:rPr sz="1100" dirty="0">
                <a:solidFill>
                  <a:srgbClr val="454C4C"/>
                </a:solidFill>
                <a:latin typeface="Lucida Sans Unicode"/>
                <a:cs typeface="Lucida Sans Unicode"/>
              </a:rPr>
              <a:t>OSD</a:t>
            </a:r>
            <a:r>
              <a:rPr sz="1100" spc="-50" dirty="0">
                <a:solidFill>
                  <a:srgbClr val="454C4C"/>
                </a:solidFill>
                <a:latin typeface="Lucida Sans Unicode"/>
                <a:cs typeface="Lucida Sans Unicode"/>
              </a:rPr>
              <a:t> </a:t>
            </a:r>
            <a:r>
              <a:rPr sz="1100" spc="-60" dirty="0">
                <a:solidFill>
                  <a:srgbClr val="454C4C"/>
                </a:solidFill>
                <a:latin typeface="Lucida Sans Unicode"/>
                <a:cs typeface="Lucida Sans Unicode"/>
              </a:rPr>
              <a:t>5</a:t>
            </a:r>
            <a:r>
              <a:rPr sz="1100" dirty="0">
                <a:solidFill>
                  <a:srgbClr val="454C4C"/>
                </a:solidFill>
                <a:latin typeface="Lucida Sans Unicode"/>
                <a:cs typeface="Lucida Sans Unicode"/>
              </a:rPr>
              <a:t>	OSD</a:t>
            </a:r>
            <a:r>
              <a:rPr sz="1100" spc="-50" dirty="0">
                <a:solidFill>
                  <a:srgbClr val="454C4C"/>
                </a:solidFill>
                <a:latin typeface="Lucida Sans Unicode"/>
                <a:cs typeface="Lucida Sans Unicode"/>
              </a:rPr>
              <a:t> 6</a:t>
            </a:r>
            <a:r>
              <a:rPr sz="1100" dirty="0">
                <a:solidFill>
                  <a:srgbClr val="454C4C"/>
                </a:solidFill>
                <a:latin typeface="Lucida Sans Unicode"/>
                <a:cs typeface="Lucida Sans Unicode"/>
              </a:rPr>
              <a:t>	OSD</a:t>
            </a:r>
            <a:r>
              <a:rPr sz="1100" spc="-50" dirty="0">
                <a:solidFill>
                  <a:srgbClr val="454C4C"/>
                </a:solidFill>
                <a:latin typeface="Lucida Sans Unicode"/>
                <a:cs typeface="Lucida Sans Unicode"/>
              </a:rPr>
              <a:t> </a:t>
            </a:r>
            <a:r>
              <a:rPr sz="1100" spc="-60" dirty="0">
                <a:solidFill>
                  <a:srgbClr val="454C4C"/>
                </a:solidFill>
                <a:latin typeface="Lucida Sans Unicode"/>
                <a:cs typeface="Lucida Sans Unicode"/>
              </a:rPr>
              <a:t>7</a:t>
            </a:r>
            <a:r>
              <a:rPr sz="1100" dirty="0">
                <a:solidFill>
                  <a:srgbClr val="454C4C"/>
                </a:solidFill>
                <a:latin typeface="Lucida Sans Unicode"/>
                <a:cs typeface="Lucida Sans Unicode"/>
              </a:rPr>
              <a:t>	OSD</a:t>
            </a:r>
            <a:r>
              <a:rPr sz="1100" spc="-50" dirty="0">
                <a:solidFill>
                  <a:srgbClr val="454C4C"/>
                </a:solidFill>
                <a:latin typeface="Lucida Sans Unicode"/>
                <a:cs typeface="Lucida Sans Unicode"/>
              </a:rPr>
              <a:t> 8</a:t>
            </a:r>
            <a:endParaRPr sz="1100">
              <a:latin typeface="Lucida Sans Unicode"/>
              <a:cs typeface="Lucida Sans Unicode"/>
            </a:endParaRPr>
          </a:p>
        </p:txBody>
      </p:sp>
      <p:grpSp>
        <p:nvGrpSpPr>
          <p:cNvPr id="26" name="object 26"/>
          <p:cNvGrpSpPr/>
          <p:nvPr/>
        </p:nvGrpSpPr>
        <p:grpSpPr>
          <a:xfrm>
            <a:off x="6627965" y="1326244"/>
            <a:ext cx="2662555" cy="3288665"/>
            <a:chOff x="6627965" y="1326244"/>
            <a:chExt cx="2662555" cy="3288665"/>
          </a:xfrm>
        </p:grpSpPr>
        <p:sp>
          <p:nvSpPr>
            <p:cNvPr id="27" name="object 27"/>
            <p:cNvSpPr/>
            <p:nvPr/>
          </p:nvSpPr>
          <p:spPr>
            <a:xfrm>
              <a:off x="6627965" y="1326244"/>
              <a:ext cx="2662555" cy="3288665"/>
            </a:xfrm>
            <a:custGeom>
              <a:avLst/>
              <a:gdLst/>
              <a:ahLst/>
              <a:cxnLst/>
              <a:rect l="l" t="t" r="r" b="b"/>
              <a:pathLst>
                <a:path w="2662554" h="3288665">
                  <a:moveTo>
                    <a:pt x="2387879" y="0"/>
                  </a:moveTo>
                  <a:lnTo>
                    <a:pt x="274320" y="0"/>
                  </a:lnTo>
                  <a:lnTo>
                    <a:pt x="224995" y="4417"/>
                  </a:lnTo>
                  <a:lnTo>
                    <a:pt x="178577" y="17155"/>
                  </a:lnTo>
                  <a:lnTo>
                    <a:pt x="135839" y="37439"/>
                  </a:lnTo>
                  <a:lnTo>
                    <a:pt x="97554" y="64497"/>
                  </a:lnTo>
                  <a:lnTo>
                    <a:pt x="64497" y="97554"/>
                  </a:lnTo>
                  <a:lnTo>
                    <a:pt x="37439" y="135839"/>
                  </a:lnTo>
                  <a:lnTo>
                    <a:pt x="17155" y="178577"/>
                  </a:lnTo>
                  <a:lnTo>
                    <a:pt x="4417" y="224995"/>
                  </a:lnTo>
                  <a:lnTo>
                    <a:pt x="0" y="274320"/>
                  </a:lnTo>
                  <a:lnTo>
                    <a:pt x="0" y="3013925"/>
                  </a:lnTo>
                  <a:lnTo>
                    <a:pt x="4417" y="3063250"/>
                  </a:lnTo>
                  <a:lnTo>
                    <a:pt x="17155" y="3109668"/>
                  </a:lnTo>
                  <a:lnTo>
                    <a:pt x="37439" y="3152406"/>
                  </a:lnTo>
                  <a:lnTo>
                    <a:pt x="64497" y="3190691"/>
                  </a:lnTo>
                  <a:lnTo>
                    <a:pt x="97554" y="3223748"/>
                  </a:lnTo>
                  <a:lnTo>
                    <a:pt x="135839" y="3250806"/>
                  </a:lnTo>
                  <a:lnTo>
                    <a:pt x="178577" y="3271090"/>
                  </a:lnTo>
                  <a:lnTo>
                    <a:pt x="224995" y="3283828"/>
                  </a:lnTo>
                  <a:lnTo>
                    <a:pt x="274320" y="3288245"/>
                  </a:lnTo>
                  <a:lnTo>
                    <a:pt x="1330909" y="3288245"/>
                  </a:lnTo>
                  <a:lnTo>
                    <a:pt x="2387879" y="3288245"/>
                  </a:lnTo>
                  <a:lnTo>
                    <a:pt x="2437204" y="3283828"/>
                  </a:lnTo>
                  <a:lnTo>
                    <a:pt x="2483622" y="3271090"/>
                  </a:lnTo>
                  <a:lnTo>
                    <a:pt x="2526360" y="3250806"/>
                  </a:lnTo>
                  <a:lnTo>
                    <a:pt x="2564644" y="3223748"/>
                  </a:lnTo>
                  <a:lnTo>
                    <a:pt x="2597702" y="3190691"/>
                  </a:lnTo>
                  <a:lnTo>
                    <a:pt x="2624759" y="3152406"/>
                  </a:lnTo>
                  <a:lnTo>
                    <a:pt x="2645044" y="3109668"/>
                  </a:lnTo>
                  <a:lnTo>
                    <a:pt x="2657781" y="3063250"/>
                  </a:lnTo>
                  <a:lnTo>
                    <a:pt x="2662199" y="3013925"/>
                  </a:lnTo>
                  <a:lnTo>
                    <a:pt x="2662199" y="274320"/>
                  </a:lnTo>
                  <a:lnTo>
                    <a:pt x="2657781" y="224995"/>
                  </a:lnTo>
                  <a:lnTo>
                    <a:pt x="2645044" y="178577"/>
                  </a:lnTo>
                  <a:lnTo>
                    <a:pt x="2624759" y="135839"/>
                  </a:lnTo>
                  <a:lnTo>
                    <a:pt x="2597702" y="97554"/>
                  </a:lnTo>
                  <a:lnTo>
                    <a:pt x="2564644" y="64497"/>
                  </a:lnTo>
                  <a:lnTo>
                    <a:pt x="2526360" y="37439"/>
                  </a:lnTo>
                  <a:lnTo>
                    <a:pt x="2483622" y="17155"/>
                  </a:lnTo>
                  <a:lnTo>
                    <a:pt x="2437204" y="4417"/>
                  </a:lnTo>
                  <a:lnTo>
                    <a:pt x="2387879" y="0"/>
                  </a:lnTo>
                  <a:close/>
                </a:path>
              </a:pathLst>
            </a:custGeom>
            <a:solidFill>
              <a:srgbClr val="ECECEC"/>
            </a:solidFill>
          </p:spPr>
          <p:txBody>
            <a:bodyPr wrap="square" lIns="0" tIns="0" rIns="0" bIns="0" rtlCol="0"/>
            <a:lstStyle/>
            <a:p>
              <a:endParaRPr/>
            </a:p>
          </p:txBody>
        </p:sp>
        <p:sp>
          <p:nvSpPr>
            <p:cNvPr id="28" name="object 28"/>
            <p:cNvSpPr/>
            <p:nvPr/>
          </p:nvSpPr>
          <p:spPr>
            <a:xfrm>
              <a:off x="6820916" y="2079367"/>
              <a:ext cx="452755" cy="2388870"/>
            </a:xfrm>
            <a:custGeom>
              <a:avLst/>
              <a:gdLst/>
              <a:ahLst/>
              <a:cxnLst/>
              <a:rect l="l" t="t" r="r" b="b"/>
              <a:pathLst>
                <a:path w="452754" h="2388870">
                  <a:moveTo>
                    <a:pt x="452526" y="1194117"/>
                  </a:moveTo>
                  <a:lnTo>
                    <a:pt x="452526" y="91439"/>
                  </a:lnTo>
                  <a:lnTo>
                    <a:pt x="445382" y="55892"/>
                  </a:lnTo>
                  <a:lnTo>
                    <a:pt x="425886" y="26822"/>
                  </a:lnTo>
                  <a:lnTo>
                    <a:pt x="396939" y="7200"/>
                  </a:lnTo>
                  <a:lnTo>
                    <a:pt x="361441" y="0"/>
                  </a:lnTo>
                  <a:lnTo>
                    <a:pt x="91084" y="0"/>
                  </a:lnTo>
                  <a:lnTo>
                    <a:pt x="55587" y="7200"/>
                  </a:lnTo>
                  <a:lnTo>
                    <a:pt x="26639" y="26822"/>
                  </a:lnTo>
                  <a:lnTo>
                    <a:pt x="7143" y="55892"/>
                  </a:lnTo>
                  <a:lnTo>
                    <a:pt x="0" y="91439"/>
                  </a:lnTo>
                  <a:lnTo>
                    <a:pt x="0" y="2297163"/>
                  </a:lnTo>
                  <a:lnTo>
                    <a:pt x="7143" y="2332710"/>
                  </a:lnTo>
                  <a:lnTo>
                    <a:pt x="26639" y="2361780"/>
                  </a:lnTo>
                  <a:lnTo>
                    <a:pt x="55587" y="2381402"/>
                  </a:lnTo>
                  <a:lnTo>
                    <a:pt x="91084" y="2388603"/>
                  </a:lnTo>
                  <a:lnTo>
                    <a:pt x="361441" y="2388603"/>
                  </a:lnTo>
                  <a:lnTo>
                    <a:pt x="396939" y="2381402"/>
                  </a:lnTo>
                  <a:lnTo>
                    <a:pt x="425886" y="2361780"/>
                  </a:lnTo>
                  <a:lnTo>
                    <a:pt x="445382" y="2332710"/>
                  </a:lnTo>
                  <a:lnTo>
                    <a:pt x="452526" y="2297163"/>
                  </a:lnTo>
                  <a:lnTo>
                    <a:pt x="452526" y="1194117"/>
                  </a:lnTo>
                  <a:close/>
                </a:path>
              </a:pathLst>
            </a:custGeom>
            <a:ln w="21775">
              <a:solidFill>
                <a:srgbClr val="00607E"/>
              </a:solidFill>
            </a:ln>
          </p:spPr>
          <p:txBody>
            <a:bodyPr wrap="square" lIns="0" tIns="0" rIns="0" bIns="0" rtlCol="0"/>
            <a:lstStyle/>
            <a:p>
              <a:endParaRPr/>
            </a:p>
          </p:txBody>
        </p:sp>
        <p:sp>
          <p:nvSpPr>
            <p:cNvPr id="29" name="object 29"/>
            <p:cNvSpPr/>
            <p:nvPr/>
          </p:nvSpPr>
          <p:spPr>
            <a:xfrm>
              <a:off x="6815518" y="3272049"/>
              <a:ext cx="467995" cy="1198245"/>
            </a:xfrm>
            <a:custGeom>
              <a:avLst/>
              <a:gdLst/>
              <a:ahLst/>
              <a:cxnLst/>
              <a:rect l="l" t="t" r="r" b="b"/>
              <a:pathLst>
                <a:path w="467995" h="1198245">
                  <a:moveTo>
                    <a:pt x="467639" y="0"/>
                  </a:moveTo>
                  <a:lnTo>
                    <a:pt x="723" y="2514"/>
                  </a:lnTo>
                  <a:lnTo>
                    <a:pt x="0" y="1042200"/>
                  </a:lnTo>
                  <a:lnTo>
                    <a:pt x="7346" y="1104895"/>
                  </a:lnTo>
                  <a:lnTo>
                    <a:pt x="7397" y="1105332"/>
                  </a:lnTo>
                  <a:lnTo>
                    <a:pt x="27587" y="1154696"/>
                  </a:lnTo>
                  <a:lnTo>
                    <a:pt x="57564" y="1186782"/>
                  </a:lnTo>
                  <a:lnTo>
                    <a:pt x="94322" y="1198079"/>
                  </a:lnTo>
                  <a:lnTo>
                    <a:pt x="372237" y="1195920"/>
                  </a:lnTo>
                  <a:lnTo>
                    <a:pt x="409056" y="1184660"/>
                  </a:lnTo>
                  <a:lnTo>
                    <a:pt x="439154" y="1153350"/>
                  </a:lnTo>
                  <a:lnTo>
                    <a:pt x="459463" y="1104895"/>
                  </a:lnTo>
                  <a:lnTo>
                    <a:pt x="466915" y="1042200"/>
                  </a:lnTo>
                  <a:lnTo>
                    <a:pt x="466728" y="744189"/>
                  </a:lnTo>
                  <a:lnTo>
                    <a:pt x="467010" y="400951"/>
                  </a:lnTo>
                  <a:lnTo>
                    <a:pt x="467426" y="117788"/>
                  </a:lnTo>
                  <a:lnTo>
                    <a:pt x="467634" y="2514"/>
                  </a:lnTo>
                  <a:lnTo>
                    <a:pt x="467639" y="0"/>
                  </a:lnTo>
                  <a:close/>
                </a:path>
              </a:pathLst>
            </a:custGeom>
            <a:solidFill>
              <a:srgbClr val="00607E"/>
            </a:solidFill>
          </p:spPr>
          <p:txBody>
            <a:bodyPr wrap="square" lIns="0" tIns="0" rIns="0" bIns="0" rtlCol="0"/>
            <a:lstStyle/>
            <a:p>
              <a:endParaRPr/>
            </a:p>
          </p:txBody>
        </p:sp>
        <p:sp>
          <p:nvSpPr>
            <p:cNvPr id="30" name="object 30"/>
            <p:cNvSpPr/>
            <p:nvPr/>
          </p:nvSpPr>
          <p:spPr>
            <a:xfrm>
              <a:off x="7417435" y="2079367"/>
              <a:ext cx="453390" cy="2388870"/>
            </a:xfrm>
            <a:custGeom>
              <a:avLst/>
              <a:gdLst/>
              <a:ahLst/>
              <a:cxnLst/>
              <a:rect l="l" t="t" r="r" b="b"/>
              <a:pathLst>
                <a:path w="453390" h="2388870">
                  <a:moveTo>
                    <a:pt x="452882" y="1194117"/>
                  </a:moveTo>
                  <a:lnTo>
                    <a:pt x="452882" y="91439"/>
                  </a:lnTo>
                  <a:lnTo>
                    <a:pt x="445682" y="55892"/>
                  </a:lnTo>
                  <a:lnTo>
                    <a:pt x="426064" y="26822"/>
                  </a:lnTo>
                  <a:lnTo>
                    <a:pt x="396994" y="7200"/>
                  </a:lnTo>
                  <a:lnTo>
                    <a:pt x="361442" y="0"/>
                  </a:lnTo>
                  <a:lnTo>
                    <a:pt x="91440" y="0"/>
                  </a:lnTo>
                  <a:lnTo>
                    <a:pt x="55892" y="7200"/>
                  </a:lnTo>
                  <a:lnTo>
                    <a:pt x="26822" y="26822"/>
                  </a:lnTo>
                  <a:lnTo>
                    <a:pt x="7200" y="55892"/>
                  </a:lnTo>
                  <a:lnTo>
                    <a:pt x="0" y="91439"/>
                  </a:lnTo>
                  <a:lnTo>
                    <a:pt x="0" y="2297163"/>
                  </a:lnTo>
                  <a:lnTo>
                    <a:pt x="7200" y="2332710"/>
                  </a:lnTo>
                  <a:lnTo>
                    <a:pt x="26822" y="2361780"/>
                  </a:lnTo>
                  <a:lnTo>
                    <a:pt x="55892" y="2381402"/>
                  </a:lnTo>
                  <a:lnTo>
                    <a:pt x="91440" y="2388603"/>
                  </a:lnTo>
                  <a:lnTo>
                    <a:pt x="361442" y="2388603"/>
                  </a:lnTo>
                  <a:lnTo>
                    <a:pt x="396994" y="2381402"/>
                  </a:lnTo>
                  <a:lnTo>
                    <a:pt x="426064" y="2361780"/>
                  </a:lnTo>
                  <a:lnTo>
                    <a:pt x="445682" y="2332710"/>
                  </a:lnTo>
                  <a:lnTo>
                    <a:pt x="452882" y="2297163"/>
                  </a:lnTo>
                  <a:lnTo>
                    <a:pt x="452882" y="1194117"/>
                  </a:lnTo>
                  <a:close/>
                </a:path>
              </a:pathLst>
            </a:custGeom>
            <a:ln w="21775">
              <a:solidFill>
                <a:srgbClr val="00607E"/>
              </a:solidFill>
            </a:ln>
          </p:spPr>
          <p:txBody>
            <a:bodyPr wrap="square" lIns="0" tIns="0" rIns="0" bIns="0" rtlCol="0"/>
            <a:lstStyle/>
            <a:p>
              <a:endParaRPr/>
            </a:p>
          </p:txBody>
        </p:sp>
        <p:sp>
          <p:nvSpPr>
            <p:cNvPr id="31" name="object 31"/>
            <p:cNvSpPr/>
            <p:nvPr/>
          </p:nvSpPr>
          <p:spPr>
            <a:xfrm>
              <a:off x="7412406" y="3272049"/>
              <a:ext cx="467359" cy="1198245"/>
            </a:xfrm>
            <a:custGeom>
              <a:avLst/>
              <a:gdLst/>
              <a:ahLst/>
              <a:cxnLst/>
              <a:rect l="l" t="t" r="r" b="b"/>
              <a:pathLst>
                <a:path w="467359" h="1198245">
                  <a:moveTo>
                    <a:pt x="467271" y="0"/>
                  </a:moveTo>
                  <a:lnTo>
                    <a:pt x="711" y="2514"/>
                  </a:lnTo>
                  <a:lnTo>
                    <a:pt x="0" y="1042200"/>
                  </a:lnTo>
                  <a:lnTo>
                    <a:pt x="7135" y="1104895"/>
                  </a:lnTo>
                  <a:lnTo>
                    <a:pt x="7184" y="1105332"/>
                  </a:lnTo>
                  <a:lnTo>
                    <a:pt x="27265" y="1154696"/>
                  </a:lnTo>
                  <a:lnTo>
                    <a:pt x="57201" y="1186782"/>
                  </a:lnTo>
                  <a:lnTo>
                    <a:pt x="93954" y="1198079"/>
                  </a:lnTo>
                  <a:lnTo>
                    <a:pt x="371868" y="1195920"/>
                  </a:lnTo>
                  <a:lnTo>
                    <a:pt x="408690" y="1184660"/>
                  </a:lnTo>
                  <a:lnTo>
                    <a:pt x="438792" y="1153350"/>
                  </a:lnTo>
                  <a:lnTo>
                    <a:pt x="459106" y="1104895"/>
                  </a:lnTo>
                  <a:lnTo>
                    <a:pt x="466559" y="1042200"/>
                  </a:lnTo>
                  <a:lnTo>
                    <a:pt x="466515" y="744189"/>
                  </a:lnTo>
                  <a:lnTo>
                    <a:pt x="466777" y="400951"/>
                  </a:lnTo>
                  <a:lnTo>
                    <a:pt x="467108" y="117788"/>
                  </a:lnTo>
                  <a:lnTo>
                    <a:pt x="467267" y="2514"/>
                  </a:lnTo>
                  <a:lnTo>
                    <a:pt x="467271" y="0"/>
                  </a:lnTo>
                  <a:close/>
                </a:path>
              </a:pathLst>
            </a:custGeom>
            <a:solidFill>
              <a:srgbClr val="00607E"/>
            </a:solidFill>
          </p:spPr>
          <p:txBody>
            <a:bodyPr wrap="square" lIns="0" tIns="0" rIns="0" bIns="0" rtlCol="0"/>
            <a:lstStyle/>
            <a:p>
              <a:endParaRPr/>
            </a:p>
          </p:txBody>
        </p:sp>
        <p:sp>
          <p:nvSpPr>
            <p:cNvPr id="32" name="object 32"/>
            <p:cNvSpPr/>
            <p:nvPr/>
          </p:nvSpPr>
          <p:spPr>
            <a:xfrm>
              <a:off x="8014322" y="2079367"/>
              <a:ext cx="452755" cy="2388870"/>
            </a:xfrm>
            <a:custGeom>
              <a:avLst/>
              <a:gdLst/>
              <a:ahLst/>
              <a:cxnLst/>
              <a:rect l="l" t="t" r="r" b="b"/>
              <a:pathLst>
                <a:path w="452754" h="2388870">
                  <a:moveTo>
                    <a:pt x="452513" y="1194117"/>
                  </a:moveTo>
                  <a:lnTo>
                    <a:pt x="452513" y="91439"/>
                  </a:lnTo>
                  <a:lnTo>
                    <a:pt x="445314" y="55892"/>
                  </a:lnTo>
                  <a:lnTo>
                    <a:pt x="425696" y="26822"/>
                  </a:lnTo>
                  <a:lnTo>
                    <a:pt x="396626" y="7200"/>
                  </a:lnTo>
                  <a:lnTo>
                    <a:pt x="361073" y="0"/>
                  </a:lnTo>
                  <a:lnTo>
                    <a:pt x="91071" y="0"/>
                  </a:lnTo>
                  <a:lnTo>
                    <a:pt x="55581" y="7200"/>
                  </a:lnTo>
                  <a:lnTo>
                    <a:pt x="26638" y="26822"/>
                  </a:lnTo>
                  <a:lnTo>
                    <a:pt x="7143" y="55892"/>
                  </a:lnTo>
                  <a:lnTo>
                    <a:pt x="0" y="91439"/>
                  </a:lnTo>
                  <a:lnTo>
                    <a:pt x="0" y="2297163"/>
                  </a:lnTo>
                  <a:lnTo>
                    <a:pt x="7143" y="2332710"/>
                  </a:lnTo>
                  <a:lnTo>
                    <a:pt x="26638" y="2361780"/>
                  </a:lnTo>
                  <a:lnTo>
                    <a:pt x="55581" y="2381402"/>
                  </a:lnTo>
                  <a:lnTo>
                    <a:pt x="91071" y="2388603"/>
                  </a:lnTo>
                  <a:lnTo>
                    <a:pt x="361073" y="2388603"/>
                  </a:lnTo>
                  <a:lnTo>
                    <a:pt x="396626" y="2381402"/>
                  </a:lnTo>
                  <a:lnTo>
                    <a:pt x="425696" y="2361780"/>
                  </a:lnTo>
                  <a:lnTo>
                    <a:pt x="445314" y="2332710"/>
                  </a:lnTo>
                  <a:lnTo>
                    <a:pt x="452513" y="2297163"/>
                  </a:lnTo>
                  <a:lnTo>
                    <a:pt x="452513" y="1194117"/>
                  </a:lnTo>
                  <a:close/>
                </a:path>
              </a:pathLst>
            </a:custGeom>
            <a:ln w="21775">
              <a:solidFill>
                <a:srgbClr val="00607E"/>
              </a:solidFill>
            </a:ln>
          </p:spPr>
          <p:txBody>
            <a:bodyPr wrap="square" lIns="0" tIns="0" rIns="0" bIns="0" rtlCol="0"/>
            <a:lstStyle/>
            <a:p>
              <a:endParaRPr/>
            </a:p>
          </p:txBody>
        </p:sp>
        <p:sp>
          <p:nvSpPr>
            <p:cNvPr id="33" name="object 33"/>
            <p:cNvSpPr/>
            <p:nvPr/>
          </p:nvSpPr>
          <p:spPr>
            <a:xfrm>
              <a:off x="8008925" y="3272049"/>
              <a:ext cx="467995" cy="1198245"/>
            </a:xfrm>
            <a:custGeom>
              <a:avLst/>
              <a:gdLst/>
              <a:ahLst/>
              <a:cxnLst/>
              <a:rect l="l" t="t" r="r" b="b"/>
              <a:pathLst>
                <a:path w="467995" h="1198245">
                  <a:moveTo>
                    <a:pt x="467639" y="0"/>
                  </a:moveTo>
                  <a:lnTo>
                    <a:pt x="711" y="2514"/>
                  </a:lnTo>
                  <a:lnTo>
                    <a:pt x="0" y="1042200"/>
                  </a:lnTo>
                  <a:lnTo>
                    <a:pt x="7339" y="1104895"/>
                  </a:lnTo>
                  <a:lnTo>
                    <a:pt x="7390" y="1105332"/>
                  </a:lnTo>
                  <a:lnTo>
                    <a:pt x="27536" y="1154696"/>
                  </a:lnTo>
                  <a:lnTo>
                    <a:pt x="57403" y="1186782"/>
                  </a:lnTo>
                  <a:lnTo>
                    <a:pt x="93954" y="1198079"/>
                  </a:lnTo>
                  <a:lnTo>
                    <a:pt x="371881" y="1195920"/>
                  </a:lnTo>
                  <a:lnTo>
                    <a:pt x="408695" y="1184660"/>
                  </a:lnTo>
                  <a:lnTo>
                    <a:pt x="438794" y="1153350"/>
                  </a:lnTo>
                  <a:lnTo>
                    <a:pt x="459106" y="1104895"/>
                  </a:lnTo>
                  <a:lnTo>
                    <a:pt x="466559" y="1042200"/>
                  </a:lnTo>
                  <a:lnTo>
                    <a:pt x="466573" y="744189"/>
                  </a:lnTo>
                  <a:lnTo>
                    <a:pt x="466961" y="400951"/>
                  </a:lnTo>
                  <a:lnTo>
                    <a:pt x="467418" y="117788"/>
                  </a:lnTo>
                  <a:lnTo>
                    <a:pt x="467634" y="2514"/>
                  </a:lnTo>
                  <a:lnTo>
                    <a:pt x="467639" y="0"/>
                  </a:lnTo>
                  <a:close/>
                </a:path>
              </a:pathLst>
            </a:custGeom>
            <a:solidFill>
              <a:srgbClr val="00607E"/>
            </a:solidFill>
          </p:spPr>
          <p:txBody>
            <a:bodyPr wrap="square" lIns="0" tIns="0" rIns="0" bIns="0" rtlCol="0"/>
            <a:lstStyle/>
            <a:p>
              <a:endParaRPr/>
            </a:p>
          </p:txBody>
        </p:sp>
        <p:sp>
          <p:nvSpPr>
            <p:cNvPr id="34" name="object 34"/>
            <p:cNvSpPr/>
            <p:nvPr/>
          </p:nvSpPr>
          <p:spPr>
            <a:xfrm>
              <a:off x="8610841" y="2079367"/>
              <a:ext cx="452755" cy="2388870"/>
            </a:xfrm>
            <a:custGeom>
              <a:avLst/>
              <a:gdLst/>
              <a:ahLst/>
              <a:cxnLst/>
              <a:rect l="l" t="t" r="r" b="b"/>
              <a:pathLst>
                <a:path w="452754" h="2388870">
                  <a:moveTo>
                    <a:pt x="452513" y="1194117"/>
                  </a:moveTo>
                  <a:lnTo>
                    <a:pt x="452513" y="91439"/>
                  </a:lnTo>
                  <a:lnTo>
                    <a:pt x="445370" y="55892"/>
                  </a:lnTo>
                  <a:lnTo>
                    <a:pt x="425875" y="26822"/>
                  </a:lnTo>
                  <a:lnTo>
                    <a:pt x="396931" y="7200"/>
                  </a:lnTo>
                  <a:lnTo>
                    <a:pt x="361442" y="0"/>
                  </a:lnTo>
                  <a:lnTo>
                    <a:pt x="91084" y="0"/>
                  </a:lnTo>
                  <a:lnTo>
                    <a:pt x="55587" y="7200"/>
                  </a:lnTo>
                  <a:lnTo>
                    <a:pt x="26639" y="26822"/>
                  </a:lnTo>
                  <a:lnTo>
                    <a:pt x="7143" y="55892"/>
                  </a:lnTo>
                  <a:lnTo>
                    <a:pt x="0" y="91439"/>
                  </a:lnTo>
                  <a:lnTo>
                    <a:pt x="0" y="2297163"/>
                  </a:lnTo>
                  <a:lnTo>
                    <a:pt x="7143" y="2332710"/>
                  </a:lnTo>
                  <a:lnTo>
                    <a:pt x="26639" y="2361780"/>
                  </a:lnTo>
                  <a:lnTo>
                    <a:pt x="55587" y="2381402"/>
                  </a:lnTo>
                  <a:lnTo>
                    <a:pt x="91084" y="2388603"/>
                  </a:lnTo>
                  <a:lnTo>
                    <a:pt x="361442" y="2388603"/>
                  </a:lnTo>
                  <a:lnTo>
                    <a:pt x="396931" y="2381402"/>
                  </a:lnTo>
                  <a:lnTo>
                    <a:pt x="425875" y="2361780"/>
                  </a:lnTo>
                  <a:lnTo>
                    <a:pt x="445370" y="2332710"/>
                  </a:lnTo>
                  <a:lnTo>
                    <a:pt x="452513" y="2297163"/>
                  </a:lnTo>
                  <a:lnTo>
                    <a:pt x="452513" y="1194117"/>
                  </a:lnTo>
                  <a:close/>
                </a:path>
              </a:pathLst>
            </a:custGeom>
            <a:ln w="21775">
              <a:solidFill>
                <a:srgbClr val="00607E"/>
              </a:solidFill>
            </a:ln>
          </p:spPr>
          <p:txBody>
            <a:bodyPr wrap="square" lIns="0" tIns="0" rIns="0" bIns="0" rtlCol="0"/>
            <a:lstStyle/>
            <a:p>
              <a:endParaRPr/>
            </a:p>
          </p:txBody>
        </p:sp>
        <p:sp>
          <p:nvSpPr>
            <p:cNvPr id="35" name="object 35"/>
            <p:cNvSpPr/>
            <p:nvPr/>
          </p:nvSpPr>
          <p:spPr>
            <a:xfrm>
              <a:off x="8605444" y="3272049"/>
              <a:ext cx="467995" cy="1198245"/>
            </a:xfrm>
            <a:custGeom>
              <a:avLst/>
              <a:gdLst/>
              <a:ahLst/>
              <a:cxnLst/>
              <a:rect l="l" t="t" r="r" b="b"/>
              <a:pathLst>
                <a:path w="467995" h="1198245">
                  <a:moveTo>
                    <a:pt x="467639" y="0"/>
                  </a:moveTo>
                  <a:lnTo>
                    <a:pt x="711" y="2514"/>
                  </a:lnTo>
                  <a:lnTo>
                    <a:pt x="0" y="1042200"/>
                  </a:lnTo>
                  <a:lnTo>
                    <a:pt x="7344" y="1104895"/>
                  </a:lnTo>
                  <a:lnTo>
                    <a:pt x="7395" y="1105332"/>
                  </a:lnTo>
                  <a:lnTo>
                    <a:pt x="27581" y="1154696"/>
                  </a:lnTo>
                  <a:lnTo>
                    <a:pt x="57553" y="1186782"/>
                  </a:lnTo>
                  <a:lnTo>
                    <a:pt x="94310" y="1198079"/>
                  </a:lnTo>
                  <a:lnTo>
                    <a:pt x="372236" y="1195920"/>
                  </a:lnTo>
                  <a:lnTo>
                    <a:pt x="409051" y="1184660"/>
                  </a:lnTo>
                  <a:lnTo>
                    <a:pt x="439150" y="1153350"/>
                  </a:lnTo>
                  <a:lnTo>
                    <a:pt x="459462" y="1104895"/>
                  </a:lnTo>
                  <a:lnTo>
                    <a:pt x="466915" y="1042200"/>
                  </a:lnTo>
                  <a:lnTo>
                    <a:pt x="466723" y="744189"/>
                  </a:lnTo>
                  <a:lnTo>
                    <a:pt x="467005" y="400951"/>
                  </a:lnTo>
                  <a:lnTo>
                    <a:pt x="467424" y="117788"/>
                  </a:lnTo>
                  <a:lnTo>
                    <a:pt x="467634" y="2514"/>
                  </a:lnTo>
                  <a:lnTo>
                    <a:pt x="467639" y="0"/>
                  </a:lnTo>
                  <a:close/>
                </a:path>
              </a:pathLst>
            </a:custGeom>
            <a:solidFill>
              <a:srgbClr val="00607E"/>
            </a:solidFill>
          </p:spPr>
          <p:txBody>
            <a:bodyPr wrap="square" lIns="0" tIns="0" rIns="0" bIns="0" rtlCol="0"/>
            <a:lstStyle/>
            <a:p>
              <a:endParaRPr/>
            </a:p>
          </p:txBody>
        </p:sp>
      </p:grpSp>
      <p:sp>
        <p:nvSpPr>
          <p:cNvPr id="36" name="object 36"/>
          <p:cNvSpPr txBox="1"/>
          <p:nvPr/>
        </p:nvSpPr>
        <p:spPr>
          <a:xfrm>
            <a:off x="6827939" y="1381159"/>
            <a:ext cx="2266315" cy="644525"/>
          </a:xfrm>
          <a:prstGeom prst="rect">
            <a:avLst/>
          </a:prstGeom>
        </p:spPr>
        <p:txBody>
          <a:bodyPr vert="horz" wrap="square" lIns="0" tIns="16510" rIns="0" bIns="0" rtlCol="0">
            <a:spAutoFit/>
          </a:bodyPr>
          <a:lstStyle/>
          <a:p>
            <a:pPr marR="9525" algn="ctr">
              <a:lnSpc>
                <a:spcPct val="100000"/>
              </a:lnSpc>
              <a:spcBef>
                <a:spcPts val="130"/>
              </a:spcBef>
            </a:pPr>
            <a:r>
              <a:rPr sz="1900" dirty="0">
                <a:solidFill>
                  <a:srgbClr val="454C4C"/>
                </a:solidFill>
                <a:latin typeface="Lucida Sans Unicode"/>
                <a:cs typeface="Lucida Sans Unicode"/>
              </a:rPr>
              <a:t>Node</a:t>
            </a:r>
            <a:r>
              <a:rPr sz="1900" spc="-105" dirty="0">
                <a:solidFill>
                  <a:srgbClr val="454C4C"/>
                </a:solidFill>
                <a:latin typeface="Lucida Sans Unicode"/>
                <a:cs typeface="Lucida Sans Unicode"/>
              </a:rPr>
              <a:t> </a:t>
            </a:r>
            <a:r>
              <a:rPr sz="1900" spc="-50" dirty="0">
                <a:solidFill>
                  <a:srgbClr val="454C4C"/>
                </a:solidFill>
                <a:latin typeface="Lucida Sans Unicode"/>
                <a:cs typeface="Lucida Sans Unicode"/>
              </a:rPr>
              <a:t>3</a:t>
            </a:r>
            <a:endParaRPr sz="1900">
              <a:latin typeface="Lucida Sans Unicode"/>
              <a:cs typeface="Lucida Sans Unicode"/>
            </a:endParaRPr>
          </a:p>
          <a:p>
            <a:pPr algn="ctr">
              <a:lnSpc>
                <a:spcPct val="100000"/>
              </a:lnSpc>
              <a:spcBef>
                <a:spcPts val="1240"/>
              </a:spcBef>
              <a:tabLst>
                <a:tab pos="555625" algn="l"/>
              </a:tabLst>
            </a:pPr>
            <a:r>
              <a:rPr sz="1100" dirty="0">
                <a:solidFill>
                  <a:srgbClr val="454C4C"/>
                </a:solidFill>
                <a:latin typeface="Lucida Sans Unicode"/>
                <a:cs typeface="Lucida Sans Unicode"/>
              </a:rPr>
              <a:t>OSD</a:t>
            </a:r>
            <a:r>
              <a:rPr sz="1100" spc="-50" dirty="0">
                <a:solidFill>
                  <a:srgbClr val="454C4C"/>
                </a:solidFill>
                <a:latin typeface="Lucida Sans Unicode"/>
                <a:cs typeface="Lucida Sans Unicode"/>
              </a:rPr>
              <a:t> </a:t>
            </a:r>
            <a:r>
              <a:rPr sz="1100" spc="-60" dirty="0">
                <a:solidFill>
                  <a:srgbClr val="454C4C"/>
                </a:solidFill>
                <a:latin typeface="Lucida Sans Unicode"/>
                <a:cs typeface="Lucida Sans Unicode"/>
              </a:rPr>
              <a:t>9</a:t>
            </a:r>
            <a:r>
              <a:rPr sz="1100" dirty="0">
                <a:solidFill>
                  <a:srgbClr val="454C4C"/>
                </a:solidFill>
                <a:latin typeface="Lucida Sans Unicode"/>
                <a:cs typeface="Lucida Sans Unicode"/>
              </a:rPr>
              <a:t>	OSD</a:t>
            </a:r>
            <a:r>
              <a:rPr sz="1100" spc="-90" dirty="0">
                <a:solidFill>
                  <a:srgbClr val="454C4C"/>
                </a:solidFill>
                <a:latin typeface="Lucida Sans Unicode"/>
                <a:cs typeface="Lucida Sans Unicode"/>
              </a:rPr>
              <a:t> </a:t>
            </a:r>
            <a:r>
              <a:rPr sz="1100" dirty="0">
                <a:solidFill>
                  <a:srgbClr val="454C4C"/>
                </a:solidFill>
                <a:latin typeface="Lucida Sans Unicode"/>
                <a:cs typeface="Lucida Sans Unicode"/>
              </a:rPr>
              <a:t>10</a:t>
            </a:r>
            <a:r>
              <a:rPr sz="1100" spc="495" dirty="0">
                <a:solidFill>
                  <a:srgbClr val="454C4C"/>
                </a:solidFill>
                <a:latin typeface="Lucida Sans Unicode"/>
                <a:cs typeface="Lucida Sans Unicode"/>
              </a:rPr>
              <a:t> </a:t>
            </a:r>
            <a:r>
              <a:rPr sz="1100" dirty="0">
                <a:solidFill>
                  <a:srgbClr val="454C4C"/>
                </a:solidFill>
                <a:latin typeface="Lucida Sans Unicode"/>
                <a:cs typeface="Lucida Sans Unicode"/>
              </a:rPr>
              <a:t>OSD</a:t>
            </a:r>
            <a:r>
              <a:rPr sz="1100" spc="-85" dirty="0">
                <a:solidFill>
                  <a:srgbClr val="454C4C"/>
                </a:solidFill>
                <a:latin typeface="Lucida Sans Unicode"/>
                <a:cs typeface="Lucida Sans Unicode"/>
              </a:rPr>
              <a:t> </a:t>
            </a:r>
            <a:r>
              <a:rPr sz="1100" dirty="0">
                <a:solidFill>
                  <a:srgbClr val="454C4C"/>
                </a:solidFill>
                <a:latin typeface="Lucida Sans Unicode"/>
                <a:cs typeface="Lucida Sans Unicode"/>
              </a:rPr>
              <a:t>11</a:t>
            </a:r>
            <a:r>
              <a:rPr sz="1100" spc="325" dirty="0">
                <a:solidFill>
                  <a:srgbClr val="454C4C"/>
                </a:solidFill>
                <a:latin typeface="Lucida Sans Unicode"/>
                <a:cs typeface="Lucida Sans Unicode"/>
              </a:rPr>
              <a:t> </a:t>
            </a:r>
            <a:r>
              <a:rPr sz="1100" dirty="0">
                <a:solidFill>
                  <a:srgbClr val="454C4C"/>
                </a:solidFill>
                <a:latin typeface="Lucida Sans Unicode"/>
                <a:cs typeface="Lucida Sans Unicode"/>
              </a:rPr>
              <a:t>OSD</a:t>
            </a:r>
            <a:r>
              <a:rPr sz="1100" spc="-85" dirty="0">
                <a:solidFill>
                  <a:srgbClr val="454C4C"/>
                </a:solidFill>
                <a:latin typeface="Lucida Sans Unicode"/>
                <a:cs typeface="Lucida Sans Unicode"/>
              </a:rPr>
              <a:t> </a:t>
            </a:r>
            <a:r>
              <a:rPr sz="1100" spc="-25" dirty="0">
                <a:solidFill>
                  <a:srgbClr val="454C4C"/>
                </a:solidFill>
                <a:latin typeface="Lucida Sans Unicode"/>
                <a:cs typeface="Lucida Sans Unicode"/>
              </a:rPr>
              <a:t>12</a:t>
            </a:r>
            <a:endParaRPr sz="1100">
              <a:latin typeface="Lucida Sans Unicode"/>
              <a:cs typeface="Lucida Sans Unicode"/>
            </a:endParaRPr>
          </a:p>
        </p:txBody>
      </p:sp>
      <p:sp>
        <p:nvSpPr>
          <p:cNvPr id="37" name="object 37"/>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8" name="object 38"/>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47</a:t>
            </a:fld>
            <a:r>
              <a:rPr spc="-10" dirty="0"/>
              <a:t>/60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5" dirty="0"/>
              <a:t>HA</a:t>
            </a:r>
            <a:r>
              <a:rPr spc="-370" dirty="0"/>
              <a:t> </a:t>
            </a:r>
            <a:r>
              <a:rPr spc="70" dirty="0"/>
              <a:t>Node</a:t>
            </a:r>
            <a:r>
              <a:rPr spc="-370" dirty="0"/>
              <a:t> </a:t>
            </a:r>
            <a:r>
              <a:rPr spc="70" dirty="0"/>
              <a:t>Affinity</a:t>
            </a:r>
            <a:r>
              <a:rPr spc="-370" dirty="0"/>
              <a:t> </a:t>
            </a:r>
            <a:r>
              <a:rPr spc="-10" dirty="0"/>
              <a:t>Rules</a:t>
            </a:r>
          </a:p>
        </p:txBody>
      </p:sp>
      <p:grpSp>
        <p:nvGrpSpPr>
          <p:cNvPr id="3" name="object 3"/>
          <p:cNvGrpSpPr/>
          <p:nvPr/>
        </p:nvGrpSpPr>
        <p:grpSpPr>
          <a:xfrm>
            <a:off x="2607931" y="1278733"/>
            <a:ext cx="3660140" cy="3959225"/>
            <a:chOff x="2607931" y="1278733"/>
            <a:chExt cx="3660140" cy="3959225"/>
          </a:xfrm>
        </p:grpSpPr>
        <p:sp>
          <p:nvSpPr>
            <p:cNvPr id="4" name="object 4"/>
            <p:cNvSpPr/>
            <p:nvPr/>
          </p:nvSpPr>
          <p:spPr>
            <a:xfrm>
              <a:off x="3427564" y="2442612"/>
              <a:ext cx="635" cy="934719"/>
            </a:xfrm>
            <a:custGeom>
              <a:avLst/>
              <a:gdLst/>
              <a:ahLst/>
              <a:cxnLst/>
              <a:rect l="l" t="t" r="r" b="b"/>
              <a:pathLst>
                <a:path w="635" h="934720">
                  <a:moveTo>
                    <a:pt x="355" y="934199"/>
                  </a:moveTo>
                  <a:lnTo>
                    <a:pt x="0" y="0"/>
                  </a:lnTo>
                </a:path>
              </a:pathLst>
            </a:custGeom>
            <a:ln w="28638">
              <a:solidFill>
                <a:srgbClr val="454C4C"/>
              </a:solidFill>
            </a:ln>
          </p:spPr>
          <p:txBody>
            <a:bodyPr wrap="square" lIns="0" tIns="0" rIns="0" bIns="0" rtlCol="0"/>
            <a:lstStyle/>
            <a:p>
              <a:endParaRPr/>
            </a:p>
          </p:txBody>
        </p:sp>
        <p:sp>
          <p:nvSpPr>
            <p:cNvPr id="5" name="object 5"/>
            <p:cNvSpPr/>
            <p:nvPr/>
          </p:nvSpPr>
          <p:spPr>
            <a:xfrm>
              <a:off x="2799714" y="1278733"/>
              <a:ext cx="1256030" cy="1257300"/>
            </a:xfrm>
            <a:custGeom>
              <a:avLst/>
              <a:gdLst/>
              <a:ahLst/>
              <a:cxnLst/>
              <a:rect l="l" t="t" r="r" b="b"/>
              <a:pathLst>
                <a:path w="1256029" h="1257300">
                  <a:moveTo>
                    <a:pt x="1097648" y="0"/>
                  </a:moveTo>
                  <a:lnTo>
                    <a:pt x="158038" y="0"/>
                  </a:lnTo>
                  <a:lnTo>
                    <a:pt x="108011" y="8041"/>
                  </a:lnTo>
                  <a:lnTo>
                    <a:pt x="64618" y="30458"/>
                  </a:lnTo>
                  <a:lnTo>
                    <a:pt x="30436" y="64695"/>
                  </a:lnTo>
                  <a:lnTo>
                    <a:pt x="8038" y="108193"/>
                  </a:lnTo>
                  <a:lnTo>
                    <a:pt x="0" y="158394"/>
                  </a:lnTo>
                  <a:lnTo>
                    <a:pt x="0" y="1098359"/>
                  </a:lnTo>
                  <a:lnTo>
                    <a:pt x="8038" y="1148560"/>
                  </a:lnTo>
                  <a:lnTo>
                    <a:pt x="30436" y="1192058"/>
                  </a:lnTo>
                  <a:lnTo>
                    <a:pt x="64618" y="1226295"/>
                  </a:lnTo>
                  <a:lnTo>
                    <a:pt x="108011" y="1248712"/>
                  </a:lnTo>
                  <a:lnTo>
                    <a:pt x="158038" y="1256753"/>
                  </a:lnTo>
                  <a:lnTo>
                    <a:pt x="1097648" y="1256753"/>
                  </a:lnTo>
                  <a:lnTo>
                    <a:pt x="1147675" y="1248712"/>
                  </a:lnTo>
                  <a:lnTo>
                    <a:pt x="1191068" y="1226295"/>
                  </a:lnTo>
                  <a:lnTo>
                    <a:pt x="1225250" y="1192058"/>
                  </a:lnTo>
                  <a:lnTo>
                    <a:pt x="1247648" y="1148560"/>
                  </a:lnTo>
                  <a:lnTo>
                    <a:pt x="1255687" y="1098359"/>
                  </a:lnTo>
                  <a:lnTo>
                    <a:pt x="1255687" y="158394"/>
                  </a:lnTo>
                  <a:lnTo>
                    <a:pt x="1247648" y="108193"/>
                  </a:lnTo>
                  <a:lnTo>
                    <a:pt x="1225250" y="64695"/>
                  </a:lnTo>
                  <a:lnTo>
                    <a:pt x="1191068" y="30458"/>
                  </a:lnTo>
                  <a:lnTo>
                    <a:pt x="1147675" y="8041"/>
                  </a:lnTo>
                  <a:lnTo>
                    <a:pt x="1097648" y="0"/>
                  </a:lnTo>
                  <a:close/>
                </a:path>
              </a:pathLst>
            </a:custGeom>
            <a:solidFill>
              <a:srgbClr val="FF9000"/>
            </a:solidFill>
          </p:spPr>
          <p:txBody>
            <a:bodyPr wrap="square" lIns="0" tIns="0" rIns="0" bIns="0" rtlCol="0"/>
            <a:lstStyle/>
            <a:p>
              <a:endParaRPr/>
            </a:p>
          </p:txBody>
        </p:sp>
        <p:sp>
          <p:nvSpPr>
            <p:cNvPr id="6" name="object 6"/>
            <p:cNvSpPr/>
            <p:nvPr/>
          </p:nvSpPr>
          <p:spPr>
            <a:xfrm>
              <a:off x="2622245" y="1826294"/>
              <a:ext cx="3631565" cy="3397885"/>
            </a:xfrm>
            <a:custGeom>
              <a:avLst/>
              <a:gdLst/>
              <a:ahLst/>
              <a:cxnLst/>
              <a:rect l="l" t="t" r="r" b="b"/>
              <a:pathLst>
                <a:path w="3631565" h="3397885">
                  <a:moveTo>
                    <a:pt x="579958" y="9715"/>
                  </a:moveTo>
                  <a:lnTo>
                    <a:pt x="560158" y="9715"/>
                  </a:lnTo>
                  <a:lnTo>
                    <a:pt x="526669" y="105473"/>
                  </a:lnTo>
                  <a:lnTo>
                    <a:pt x="524510" y="111594"/>
                  </a:lnTo>
                  <a:lnTo>
                    <a:pt x="522719" y="117360"/>
                  </a:lnTo>
                  <a:lnTo>
                    <a:pt x="521271" y="122758"/>
                  </a:lnTo>
                  <a:lnTo>
                    <a:pt x="519480" y="128511"/>
                  </a:lnTo>
                  <a:lnTo>
                    <a:pt x="518388" y="133553"/>
                  </a:lnTo>
                  <a:lnTo>
                    <a:pt x="517309" y="138239"/>
                  </a:lnTo>
                  <a:lnTo>
                    <a:pt x="516229" y="133553"/>
                  </a:lnTo>
                  <a:lnTo>
                    <a:pt x="515150" y="128511"/>
                  </a:lnTo>
                  <a:lnTo>
                    <a:pt x="513715" y="123113"/>
                  </a:lnTo>
                  <a:lnTo>
                    <a:pt x="511911" y="117716"/>
                  </a:lnTo>
                  <a:lnTo>
                    <a:pt x="510120" y="111950"/>
                  </a:lnTo>
                  <a:lnTo>
                    <a:pt x="507949" y="105829"/>
                  </a:lnTo>
                  <a:lnTo>
                    <a:pt x="474116" y="9715"/>
                  </a:lnTo>
                  <a:lnTo>
                    <a:pt x="454672" y="9715"/>
                  </a:lnTo>
                  <a:lnTo>
                    <a:pt x="507949" y="159473"/>
                  </a:lnTo>
                  <a:lnTo>
                    <a:pt x="526669" y="159473"/>
                  </a:lnTo>
                  <a:lnTo>
                    <a:pt x="534212" y="138239"/>
                  </a:lnTo>
                  <a:lnTo>
                    <a:pt x="579958" y="9715"/>
                  </a:lnTo>
                  <a:close/>
                </a:path>
                <a:path w="3631565" h="3397885">
                  <a:moveTo>
                    <a:pt x="749515" y="9715"/>
                  </a:moveTo>
                  <a:lnTo>
                    <a:pt x="722160" y="9715"/>
                  </a:lnTo>
                  <a:lnTo>
                    <a:pt x="674992" y="132473"/>
                  </a:lnTo>
                  <a:lnTo>
                    <a:pt x="674281" y="132473"/>
                  </a:lnTo>
                  <a:lnTo>
                    <a:pt x="635076" y="28079"/>
                  </a:lnTo>
                  <a:lnTo>
                    <a:pt x="628192" y="9715"/>
                  </a:lnTo>
                  <a:lnTo>
                    <a:pt x="600468" y="9715"/>
                  </a:lnTo>
                  <a:lnTo>
                    <a:pt x="600468" y="159473"/>
                  </a:lnTo>
                  <a:lnTo>
                    <a:pt x="617753" y="159473"/>
                  </a:lnTo>
                  <a:lnTo>
                    <a:pt x="617753" y="52920"/>
                  </a:lnTo>
                  <a:lnTo>
                    <a:pt x="617042" y="38874"/>
                  </a:lnTo>
                  <a:lnTo>
                    <a:pt x="616686" y="32753"/>
                  </a:lnTo>
                  <a:lnTo>
                    <a:pt x="616343" y="28435"/>
                  </a:lnTo>
                  <a:lnTo>
                    <a:pt x="616318" y="28079"/>
                  </a:lnTo>
                  <a:lnTo>
                    <a:pt x="617029" y="28079"/>
                  </a:lnTo>
                  <a:lnTo>
                    <a:pt x="666356" y="159473"/>
                  </a:lnTo>
                  <a:lnTo>
                    <a:pt x="681837" y="159473"/>
                  </a:lnTo>
                  <a:lnTo>
                    <a:pt x="692073" y="132473"/>
                  </a:lnTo>
                  <a:lnTo>
                    <a:pt x="731520" y="28435"/>
                  </a:lnTo>
                  <a:lnTo>
                    <a:pt x="732599" y="28435"/>
                  </a:lnTo>
                  <a:lnTo>
                    <a:pt x="732256" y="32397"/>
                  </a:lnTo>
                  <a:lnTo>
                    <a:pt x="731888" y="38519"/>
                  </a:lnTo>
                  <a:lnTo>
                    <a:pt x="731151" y="52920"/>
                  </a:lnTo>
                  <a:lnTo>
                    <a:pt x="731151" y="159473"/>
                  </a:lnTo>
                  <a:lnTo>
                    <a:pt x="749515" y="159473"/>
                  </a:lnTo>
                  <a:lnTo>
                    <a:pt x="749515" y="28435"/>
                  </a:lnTo>
                  <a:lnTo>
                    <a:pt x="749515" y="9715"/>
                  </a:lnTo>
                  <a:close/>
                </a:path>
                <a:path w="3631565" h="3397885">
                  <a:moveTo>
                    <a:pt x="930592" y="47155"/>
                  </a:moveTo>
                  <a:lnTo>
                    <a:pt x="911148" y="47155"/>
                  </a:lnTo>
                  <a:lnTo>
                    <a:pt x="887031" y="113398"/>
                  </a:lnTo>
                  <a:lnTo>
                    <a:pt x="886320" y="116268"/>
                  </a:lnTo>
                  <a:lnTo>
                    <a:pt x="884872" y="119519"/>
                  </a:lnTo>
                  <a:lnTo>
                    <a:pt x="883793" y="123469"/>
                  </a:lnTo>
                  <a:lnTo>
                    <a:pt x="882357" y="127076"/>
                  </a:lnTo>
                  <a:lnTo>
                    <a:pt x="879119" y="137871"/>
                  </a:lnTo>
                  <a:lnTo>
                    <a:pt x="878395" y="140754"/>
                  </a:lnTo>
                  <a:lnTo>
                    <a:pt x="877671" y="142913"/>
                  </a:lnTo>
                  <a:lnTo>
                    <a:pt x="876960" y="142913"/>
                  </a:lnTo>
                  <a:lnTo>
                    <a:pt x="876592" y="140754"/>
                  </a:lnTo>
                  <a:lnTo>
                    <a:pt x="875880" y="137871"/>
                  </a:lnTo>
                  <a:lnTo>
                    <a:pt x="874788" y="134277"/>
                  </a:lnTo>
                  <a:lnTo>
                    <a:pt x="873709" y="131038"/>
                  </a:lnTo>
                  <a:lnTo>
                    <a:pt x="872629" y="127431"/>
                  </a:lnTo>
                  <a:lnTo>
                    <a:pt x="871550" y="123469"/>
                  </a:lnTo>
                  <a:lnTo>
                    <a:pt x="870115" y="119875"/>
                  </a:lnTo>
                  <a:lnTo>
                    <a:pt x="869035" y="116268"/>
                  </a:lnTo>
                  <a:lnTo>
                    <a:pt x="867956" y="113398"/>
                  </a:lnTo>
                  <a:lnTo>
                    <a:pt x="844194" y="47155"/>
                  </a:lnTo>
                  <a:lnTo>
                    <a:pt x="824395" y="47155"/>
                  </a:lnTo>
                  <a:lnTo>
                    <a:pt x="866876" y="159473"/>
                  </a:lnTo>
                  <a:lnTo>
                    <a:pt x="888111" y="159473"/>
                  </a:lnTo>
                  <a:lnTo>
                    <a:pt x="894372" y="142913"/>
                  </a:lnTo>
                  <a:lnTo>
                    <a:pt x="930592" y="47155"/>
                  </a:lnTo>
                  <a:close/>
                </a:path>
                <a:path w="3631565" h="3397885">
                  <a:moveTo>
                    <a:pt x="1041476" y="0"/>
                  </a:moveTo>
                  <a:lnTo>
                    <a:pt x="1023112" y="0"/>
                  </a:lnTo>
                  <a:lnTo>
                    <a:pt x="1023112" y="47155"/>
                  </a:lnTo>
                  <a:lnTo>
                    <a:pt x="1023302" y="48742"/>
                  </a:lnTo>
                  <a:lnTo>
                    <a:pt x="1023429" y="49669"/>
                  </a:lnTo>
                  <a:lnTo>
                    <a:pt x="1023480" y="53632"/>
                  </a:lnTo>
                  <a:lnTo>
                    <a:pt x="1024115" y="56870"/>
                  </a:lnTo>
                  <a:lnTo>
                    <a:pt x="1024191" y="57238"/>
                  </a:lnTo>
                  <a:lnTo>
                    <a:pt x="1024255" y="60109"/>
                  </a:lnTo>
                  <a:lnTo>
                    <a:pt x="1024559" y="61556"/>
                  </a:lnTo>
                  <a:lnTo>
                    <a:pt x="1023480" y="61556"/>
                  </a:lnTo>
                  <a:lnTo>
                    <a:pt x="1023480" y="106908"/>
                  </a:lnTo>
                  <a:lnTo>
                    <a:pt x="1006233" y="143725"/>
                  </a:lnTo>
                  <a:lnTo>
                    <a:pt x="991069" y="146151"/>
                  </a:lnTo>
                  <a:lnTo>
                    <a:pt x="980998" y="146151"/>
                  </a:lnTo>
                  <a:lnTo>
                    <a:pt x="961199" y="103670"/>
                  </a:lnTo>
                  <a:lnTo>
                    <a:pt x="961669" y="94386"/>
                  </a:lnTo>
                  <a:lnTo>
                    <a:pt x="984034" y="60858"/>
                  </a:lnTo>
                  <a:lnTo>
                    <a:pt x="991069" y="60109"/>
                  </a:lnTo>
                  <a:lnTo>
                    <a:pt x="999604" y="60858"/>
                  </a:lnTo>
                  <a:lnTo>
                    <a:pt x="1006970" y="63131"/>
                  </a:lnTo>
                  <a:lnTo>
                    <a:pt x="1006817" y="63131"/>
                  </a:lnTo>
                  <a:lnTo>
                    <a:pt x="1012380" y="66649"/>
                  </a:lnTo>
                  <a:lnTo>
                    <a:pt x="1023454" y="103314"/>
                  </a:lnTo>
                  <a:lnTo>
                    <a:pt x="1023480" y="106908"/>
                  </a:lnTo>
                  <a:lnTo>
                    <a:pt x="1023480" y="61556"/>
                  </a:lnTo>
                  <a:lnTo>
                    <a:pt x="1023112" y="61556"/>
                  </a:lnTo>
                  <a:lnTo>
                    <a:pt x="1022108" y="60109"/>
                  </a:lnTo>
                  <a:lnTo>
                    <a:pt x="1019873" y="56870"/>
                  </a:lnTo>
                  <a:lnTo>
                    <a:pt x="1015199" y="52920"/>
                  </a:lnTo>
                  <a:lnTo>
                    <a:pt x="1009789" y="49669"/>
                  </a:lnTo>
                  <a:lnTo>
                    <a:pt x="1004036" y="46431"/>
                  </a:lnTo>
                  <a:lnTo>
                    <a:pt x="997191" y="44996"/>
                  </a:lnTo>
                  <a:lnTo>
                    <a:pt x="988555" y="44996"/>
                  </a:lnTo>
                  <a:lnTo>
                    <a:pt x="949236" y="67983"/>
                  </a:lnTo>
                  <a:lnTo>
                    <a:pt x="945426" y="77711"/>
                  </a:lnTo>
                  <a:lnTo>
                    <a:pt x="945299" y="78028"/>
                  </a:lnTo>
                  <a:lnTo>
                    <a:pt x="942911" y="89827"/>
                  </a:lnTo>
                  <a:lnTo>
                    <a:pt x="942111" y="103314"/>
                  </a:lnTo>
                  <a:lnTo>
                    <a:pt x="942860" y="116243"/>
                  </a:lnTo>
                  <a:lnTo>
                    <a:pt x="961453" y="153225"/>
                  </a:lnTo>
                  <a:lnTo>
                    <a:pt x="988199" y="161277"/>
                  </a:lnTo>
                  <a:lnTo>
                    <a:pt x="997191" y="161277"/>
                  </a:lnTo>
                  <a:lnTo>
                    <a:pt x="1004392" y="159829"/>
                  </a:lnTo>
                  <a:lnTo>
                    <a:pt x="1009789" y="156235"/>
                  </a:lnTo>
                  <a:lnTo>
                    <a:pt x="1015555" y="152996"/>
                  </a:lnTo>
                  <a:lnTo>
                    <a:pt x="1019873" y="149034"/>
                  </a:lnTo>
                  <a:lnTo>
                    <a:pt x="1021867" y="146151"/>
                  </a:lnTo>
                  <a:lnTo>
                    <a:pt x="1023112" y="144360"/>
                  </a:lnTo>
                  <a:lnTo>
                    <a:pt x="1024191" y="144360"/>
                  </a:lnTo>
                  <a:lnTo>
                    <a:pt x="1026718" y="159473"/>
                  </a:lnTo>
                  <a:lnTo>
                    <a:pt x="1041476" y="159473"/>
                  </a:lnTo>
                  <a:lnTo>
                    <a:pt x="1041476" y="144360"/>
                  </a:lnTo>
                  <a:lnTo>
                    <a:pt x="1041476" y="61556"/>
                  </a:lnTo>
                  <a:lnTo>
                    <a:pt x="1041476" y="0"/>
                  </a:lnTo>
                  <a:close/>
                </a:path>
                <a:path w="3631565" h="3397885">
                  <a:moveTo>
                    <a:pt x="1095476" y="47155"/>
                  </a:moveTo>
                  <a:lnTo>
                    <a:pt x="1077112" y="47155"/>
                  </a:lnTo>
                  <a:lnTo>
                    <a:pt x="1077112" y="159473"/>
                  </a:lnTo>
                  <a:lnTo>
                    <a:pt x="1095476" y="159473"/>
                  </a:lnTo>
                  <a:lnTo>
                    <a:pt x="1095476" y="47155"/>
                  </a:lnTo>
                  <a:close/>
                </a:path>
                <a:path w="3631565" h="3397885">
                  <a:moveTo>
                    <a:pt x="1097280" y="12598"/>
                  </a:moveTo>
                  <a:lnTo>
                    <a:pt x="1096200" y="9715"/>
                  </a:lnTo>
                  <a:lnTo>
                    <a:pt x="1091869" y="6108"/>
                  </a:lnTo>
                  <a:lnTo>
                    <a:pt x="1089355" y="5029"/>
                  </a:lnTo>
                  <a:lnTo>
                    <a:pt x="1083589" y="5029"/>
                  </a:lnTo>
                  <a:lnTo>
                    <a:pt x="1081074" y="6108"/>
                  </a:lnTo>
                  <a:lnTo>
                    <a:pt x="1076756" y="9715"/>
                  </a:lnTo>
                  <a:lnTo>
                    <a:pt x="1075677" y="12598"/>
                  </a:lnTo>
                  <a:lnTo>
                    <a:pt x="1075677" y="20510"/>
                  </a:lnTo>
                  <a:lnTo>
                    <a:pt x="1076756" y="23393"/>
                  </a:lnTo>
                  <a:lnTo>
                    <a:pt x="1078915" y="25552"/>
                  </a:lnTo>
                  <a:lnTo>
                    <a:pt x="1081074" y="27355"/>
                  </a:lnTo>
                  <a:lnTo>
                    <a:pt x="1083589" y="28435"/>
                  </a:lnTo>
                  <a:lnTo>
                    <a:pt x="1089355" y="28435"/>
                  </a:lnTo>
                  <a:lnTo>
                    <a:pt x="1091869" y="27355"/>
                  </a:lnTo>
                  <a:lnTo>
                    <a:pt x="1094028" y="25552"/>
                  </a:lnTo>
                  <a:lnTo>
                    <a:pt x="1096200" y="23393"/>
                  </a:lnTo>
                  <a:lnTo>
                    <a:pt x="1097280" y="20510"/>
                  </a:lnTo>
                  <a:lnTo>
                    <a:pt x="1097280" y="12598"/>
                  </a:lnTo>
                  <a:close/>
                </a:path>
                <a:path w="3631565" h="3397885">
                  <a:moveTo>
                    <a:pt x="1187640" y="9715"/>
                  </a:moveTo>
                  <a:lnTo>
                    <a:pt x="1172514" y="9715"/>
                  </a:lnTo>
                  <a:lnTo>
                    <a:pt x="1132192" y="41033"/>
                  </a:lnTo>
                  <a:lnTo>
                    <a:pt x="1141552" y="53632"/>
                  </a:lnTo>
                  <a:lnTo>
                    <a:pt x="1157757" y="40678"/>
                  </a:lnTo>
                  <a:lnTo>
                    <a:pt x="1160272" y="38150"/>
                  </a:lnTo>
                  <a:lnTo>
                    <a:pt x="1162799" y="36360"/>
                  </a:lnTo>
                  <a:lnTo>
                    <a:pt x="1164590" y="34556"/>
                  </a:lnTo>
                  <a:lnTo>
                    <a:pt x="1166393" y="33108"/>
                  </a:lnTo>
                  <a:lnTo>
                    <a:pt x="1168196" y="31318"/>
                  </a:lnTo>
                  <a:lnTo>
                    <a:pt x="1170711" y="29159"/>
                  </a:lnTo>
                  <a:lnTo>
                    <a:pt x="1170355" y="33108"/>
                  </a:lnTo>
                  <a:lnTo>
                    <a:pt x="1170025" y="36360"/>
                  </a:lnTo>
                  <a:lnTo>
                    <a:pt x="1169924" y="41033"/>
                  </a:lnTo>
                  <a:lnTo>
                    <a:pt x="1169631" y="43916"/>
                  </a:lnTo>
                  <a:lnTo>
                    <a:pt x="1169631" y="159473"/>
                  </a:lnTo>
                  <a:lnTo>
                    <a:pt x="1187640" y="159473"/>
                  </a:lnTo>
                  <a:lnTo>
                    <a:pt x="1187640" y="29159"/>
                  </a:lnTo>
                  <a:lnTo>
                    <a:pt x="1187640" y="9715"/>
                  </a:lnTo>
                  <a:close/>
                </a:path>
                <a:path w="3631565" h="3397885">
                  <a:moveTo>
                    <a:pt x="3631311" y="1618919"/>
                  </a:moveTo>
                  <a:lnTo>
                    <a:pt x="3626840" y="1574406"/>
                  </a:lnTo>
                  <a:lnTo>
                    <a:pt x="3614039" y="1532953"/>
                  </a:lnTo>
                  <a:lnTo>
                    <a:pt x="3593769" y="1495463"/>
                  </a:lnTo>
                  <a:lnTo>
                    <a:pt x="3566909" y="1462811"/>
                  </a:lnTo>
                  <a:lnTo>
                    <a:pt x="3534333" y="1435887"/>
                  </a:lnTo>
                  <a:lnTo>
                    <a:pt x="3496894" y="1415554"/>
                  </a:lnTo>
                  <a:lnTo>
                    <a:pt x="3455492" y="1402715"/>
                  </a:lnTo>
                  <a:lnTo>
                    <a:pt x="3410991" y="1398231"/>
                  </a:lnTo>
                  <a:lnTo>
                    <a:pt x="220319" y="1398231"/>
                  </a:lnTo>
                  <a:lnTo>
                    <a:pt x="175806" y="1402715"/>
                  </a:lnTo>
                  <a:lnTo>
                    <a:pt x="134404" y="1415554"/>
                  </a:lnTo>
                  <a:lnTo>
                    <a:pt x="96964" y="1435887"/>
                  </a:lnTo>
                  <a:lnTo>
                    <a:pt x="64389" y="1462811"/>
                  </a:lnTo>
                  <a:lnTo>
                    <a:pt x="37528" y="1495463"/>
                  </a:lnTo>
                  <a:lnTo>
                    <a:pt x="17259" y="1532953"/>
                  </a:lnTo>
                  <a:lnTo>
                    <a:pt x="4457" y="1574406"/>
                  </a:lnTo>
                  <a:lnTo>
                    <a:pt x="0" y="1618919"/>
                  </a:lnTo>
                  <a:lnTo>
                    <a:pt x="0" y="3176638"/>
                  </a:lnTo>
                  <a:lnTo>
                    <a:pt x="4457" y="3221266"/>
                  </a:lnTo>
                  <a:lnTo>
                    <a:pt x="17259" y="3262769"/>
                  </a:lnTo>
                  <a:lnTo>
                    <a:pt x="37528" y="3300260"/>
                  </a:lnTo>
                  <a:lnTo>
                    <a:pt x="64389" y="3332886"/>
                  </a:lnTo>
                  <a:lnTo>
                    <a:pt x="96964" y="3359772"/>
                  </a:lnTo>
                  <a:lnTo>
                    <a:pt x="134404" y="3380054"/>
                  </a:lnTo>
                  <a:lnTo>
                    <a:pt x="175806" y="3392855"/>
                  </a:lnTo>
                  <a:lnTo>
                    <a:pt x="220319" y="3397313"/>
                  </a:lnTo>
                  <a:lnTo>
                    <a:pt x="3410991" y="3397313"/>
                  </a:lnTo>
                  <a:lnTo>
                    <a:pt x="3455492" y="3392855"/>
                  </a:lnTo>
                  <a:lnTo>
                    <a:pt x="3496894" y="3380054"/>
                  </a:lnTo>
                  <a:lnTo>
                    <a:pt x="3534333" y="3359772"/>
                  </a:lnTo>
                  <a:lnTo>
                    <a:pt x="3566909" y="3332886"/>
                  </a:lnTo>
                  <a:lnTo>
                    <a:pt x="3593769" y="3300260"/>
                  </a:lnTo>
                  <a:lnTo>
                    <a:pt x="3614039" y="3262769"/>
                  </a:lnTo>
                  <a:lnTo>
                    <a:pt x="3626840" y="3221266"/>
                  </a:lnTo>
                  <a:lnTo>
                    <a:pt x="3631311" y="3176638"/>
                  </a:lnTo>
                  <a:lnTo>
                    <a:pt x="3631311" y="1618919"/>
                  </a:lnTo>
                  <a:close/>
                </a:path>
              </a:pathLst>
            </a:custGeom>
            <a:solidFill>
              <a:srgbClr val="FFFFFF"/>
            </a:solidFill>
          </p:spPr>
          <p:txBody>
            <a:bodyPr wrap="square" lIns="0" tIns="0" rIns="0" bIns="0" rtlCol="0"/>
            <a:lstStyle/>
            <a:p>
              <a:endParaRPr/>
            </a:p>
          </p:txBody>
        </p:sp>
        <p:sp>
          <p:nvSpPr>
            <p:cNvPr id="7" name="object 7"/>
            <p:cNvSpPr/>
            <p:nvPr/>
          </p:nvSpPr>
          <p:spPr>
            <a:xfrm>
              <a:off x="2622245" y="3224526"/>
              <a:ext cx="3631565" cy="1999614"/>
            </a:xfrm>
            <a:custGeom>
              <a:avLst/>
              <a:gdLst/>
              <a:ahLst/>
              <a:cxnLst/>
              <a:rect l="l" t="t" r="r" b="b"/>
              <a:pathLst>
                <a:path w="3631565" h="1999614">
                  <a:moveTo>
                    <a:pt x="220319" y="0"/>
                  </a:moveTo>
                  <a:lnTo>
                    <a:pt x="3410991" y="0"/>
                  </a:lnTo>
                  <a:lnTo>
                    <a:pt x="3455499" y="4476"/>
                  </a:lnTo>
                  <a:lnTo>
                    <a:pt x="3496904" y="17319"/>
                  </a:lnTo>
                  <a:lnTo>
                    <a:pt x="3534335" y="37646"/>
                  </a:lnTo>
                  <a:lnTo>
                    <a:pt x="3566918" y="64576"/>
                  </a:lnTo>
                  <a:lnTo>
                    <a:pt x="3593780" y="97226"/>
                  </a:lnTo>
                  <a:lnTo>
                    <a:pt x="3614048" y="134716"/>
                  </a:lnTo>
                  <a:lnTo>
                    <a:pt x="3626849" y="176164"/>
                  </a:lnTo>
                  <a:lnTo>
                    <a:pt x="3631311" y="220687"/>
                  </a:lnTo>
                  <a:lnTo>
                    <a:pt x="3631311" y="1778406"/>
                  </a:lnTo>
                  <a:lnTo>
                    <a:pt x="3626849" y="1823031"/>
                  </a:lnTo>
                  <a:lnTo>
                    <a:pt x="3614048" y="1864525"/>
                  </a:lnTo>
                  <a:lnTo>
                    <a:pt x="3593780" y="1902019"/>
                  </a:lnTo>
                  <a:lnTo>
                    <a:pt x="3566918" y="1934644"/>
                  </a:lnTo>
                  <a:lnTo>
                    <a:pt x="3534335" y="1961532"/>
                  </a:lnTo>
                  <a:lnTo>
                    <a:pt x="3496904" y="1981813"/>
                  </a:lnTo>
                  <a:lnTo>
                    <a:pt x="3455499" y="1994619"/>
                  </a:lnTo>
                  <a:lnTo>
                    <a:pt x="3410991" y="1999081"/>
                  </a:lnTo>
                  <a:lnTo>
                    <a:pt x="220319" y="1999081"/>
                  </a:lnTo>
                  <a:lnTo>
                    <a:pt x="175811" y="1994619"/>
                  </a:lnTo>
                  <a:lnTo>
                    <a:pt x="134406" y="1981813"/>
                  </a:lnTo>
                  <a:lnTo>
                    <a:pt x="96975" y="1961532"/>
                  </a:lnTo>
                  <a:lnTo>
                    <a:pt x="64392" y="1934644"/>
                  </a:lnTo>
                  <a:lnTo>
                    <a:pt x="37530" y="1902019"/>
                  </a:lnTo>
                  <a:lnTo>
                    <a:pt x="17262" y="1864525"/>
                  </a:lnTo>
                  <a:lnTo>
                    <a:pt x="4461" y="1823031"/>
                  </a:lnTo>
                  <a:lnTo>
                    <a:pt x="0" y="1778406"/>
                  </a:lnTo>
                  <a:lnTo>
                    <a:pt x="0" y="220687"/>
                  </a:lnTo>
                  <a:lnTo>
                    <a:pt x="4461" y="176164"/>
                  </a:lnTo>
                  <a:lnTo>
                    <a:pt x="17262" y="134716"/>
                  </a:lnTo>
                  <a:lnTo>
                    <a:pt x="37530" y="97226"/>
                  </a:lnTo>
                  <a:lnTo>
                    <a:pt x="64392" y="64576"/>
                  </a:lnTo>
                  <a:lnTo>
                    <a:pt x="96975" y="37646"/>
                  </a:lnTo>
                  <a:lnTo>
                    <a:pt x="134406" y="17319"/>
                  </a:lnTo>
                  <a:lnTo>
                    <a:pt x="175811" y="4476"/>
                  </a:lnTo>
                  <a:lnTo>
                    <a:pt x="220319" y="0"/>
                  </a:lnTo>
                  <a:close/>
                </a:path>
              </a:pathLst>
            </a:custGeom>
            <a:ln w="28626">
              <a:solidFill>
                <a:srgbClr val="454C4C"/>
              </a:solidFill>
            </a:ln>
          </p:spPr>
          <p:txBody>
            <a:bodyPr wrap="square" lIns="0" tIns="0" rIns="0" bIns="0" rtlCol="0"/>
            <a:lstStyle/>
            <a:p>
              <a:endParaRPr/>
            </a:p>
          </p:txBody>
        </p:sp>
        <p:sp>
          <p:nvSpPr>
            <p:cNvPr id="8" name="object 8"/>
            <p:cNvSpPr/>
            <p:nvPr/>
          </p:nvSpPr>
          <p:spPr>
            <a:xfrm>
              <a:off x="5614923" y="2282770"/>
              <a:ext cx="635" cy="934719"/>
            </a:xfrm>
            <a:custGeom>
              <a:avLst/>
              <a:gdLst/>
              <a:ahLst/>
              <a:cxnLst/>
              <a:rect l="l" t="t" r="r" b="b"/>
              <a:pathLst>
                <a:path w="635" h="934719">
                  <a:moveTo>
                    <a:pt x="355" y="934554"/>
                  </a:moveTo>
                  <a:lnTo>
                    <a:pt x="0" y="0"/>
                  </a:lnTo>
                </a:path>
              </a:pathLst>
            </a:custGeom>
            <a:ln w="28638">
              <a:solidFill>
                <a:srgbClr val="454C4C"/>
              </a:solidFill>
            </a:ln>
          </p:spPr>
          <p:txBody>
            <a:bodyPr wrap="square" lIns="0" tIns="0" rIns="0" bIns="0" rtlCol="0"/>
            <a:lstStyle/>
            <a:p>
              <a:endParaRPr/>
            </a:p>
          </p:txBody>
        </p:sp>
        <p:sp>
          <p:nvSpPr>
            <p:cNvPr id="9" name="object 9"/>
            <p:cNvSpPr/>
            <p:nvPr/>
          </p:nvSpPr>
          <p:spPr>
            <a:xfrm>
              <a:off x="4987074" y="1278733"/>
              <a:ext cx="1256665" cy="1257300"/>
            </a:xfrm>
            <a:custGeom>
              <a:avLst/>
              <a:gdLst/>
              <a:ahLst/>
              <a:cxnLst/>
              <a:rect l="l" t="t" r="r" b="b"/>
              <a:pathLst>
                <a:path w="1256664" h="1257300">
                  <a:moveTo>
                    <a:pt x="1097648" y="0"/>
                  </a:moveTo>
                  <a:lnTo>
                    <a:pt x="158051" y="0"/>
                  </a:lnTo>
                  <a:lnTo>
                    <a:pt x="108017" y="8041"/>
                  </a:lnTo>
                  <a:lnTo>
                    <a:pt x="64621" y="30458"/>
                  </a:lnTo>
                  <a:lnTo>
                    <a:pt x="30436" y="64695"/>
                  </a:lnTo>
                  <a:lnTo>
                    <a:pt x="8038" y="108193"/>
                  </a:lnTo>
                  <a:lnTo>
                    <a:pt x="0" y="158394"/>
                  </a:lnTo>
                  <a:lnTo>
                    <a:pt x="0" y="1098359"/>
                  </a:lnTo>
                  <a:lnTo>
                    <a:pt x="8038" y="1148560"/>
                  </a:lnTo>
                  <a:lnTo>
                    <a:pt x="30436" y="1192058"/>
                  </a:lnTo>
                  <a:lnTo>
                    <a:pt x="64621" y="1226295"/>
                  </a:lnTo>
                  <a:lnTo>
                    <a:pt x="108017" y="1248712"/>
                  </a:lnTo>
                  <a:lnTo>
                    <a:pt x="158051" y="1256753"/>
                  </a:lnTo>
                  <a:lnTo>
                    <a:pt x="1097648" y="1256753"/>
                  </a:lnTo>
                  <a:lnTo>
                    <a:pt x="1147849" y="1248712"/>
                  </a:lnTo>
                  <a:lnTo>
                    <a:pt x="1191347" y="1226295"/>
                  </a:lnTo>
                  <a:lnTo>
                    <a:pt x="1225583" y="1192058"/>
                  </a:lnTo>
                  <a:lnTo>
                    <a:pt x="1248001" y="1148560"/>
                  </a:lnTo>
                  <a:lnTo>
                    <a:pt x="1256042" y="1098359"/>
                  </a:lnTo>
                  <a:lnTo>
                    <a:pt x="1256042" y="158394"/>
                  </a:lnTo>
                  <a:lnTo>
                    <a:pt x="1248001" y="108193"/>
                  </a:lnTo>
                  <a:lnTo>
                    <a:pt x="1225583" y="64695"/>
                  </a:lnTo>
                  <a:lnTo>
                    <a:pt x="1191347" y="30458"/>
                  </a:lnTo>
                  <a:lnTo>
                    <a:pt x="1147849" y="8041"/>
                  </a:lnTo>
                  <a:lnTo>
                    <a:pt x="1097648" y="0"/>
                  </a:lnTo>
                  <a:close/>
                </a:path>
              </a:pathLst>
            </a:custGeom>
            <a:solidFill>
              <a:srgbClr val="FF9000"/>
            </a:solidFill>
          </p:spPr>
          <p:txBody>
            <a:bodyPr wrap="square" lIns="0" tIns="0" rIns="0" bIns="0" rtlCol="0"/>
            <a:lstStyle/>
            <a:p>
              <a:endParaRPr/>
            </a:p>
          </p:txBody>
        </p:sp>
        <p:sp>
          <p:nvSpPr>
            <p:cNvPr id="10" name="object 10"/>
            <p:cNvSpPr/>
            <p:nvPr/>
          </p:nvSpPr>
          <p:spPr>
            <a:xfrm>
              <a:off x="5264276" y="1826294"/>
              <a:ext cx="767715" cy="161290"/>
            </a:xfrm>
            <a:custGeom>
              <a:avLst/>
              <a:gdLst/>
              <a:ahLst/>
              <a:cxnLst/>
              <a:rect l="l" t="t" r="r" b="b"/>
              <a:pathLst>
                <a:path w="767714" h="161289">
                  <a:moveTo>
                    <a:pt x="19799" y="9715"/>
                  </a:moveTo>
                  <a:lnTo>
                    <a:pt x="0" y="9715"/>
                  </a:lnTo>
                  <a:lnTo>
                    <a:pt x="53289" y="159473"/>
                  </a:lnTo>
                  <a:lnTo>
                    <a:pt x="72009" y="159473"/>
                  </a:lnTo>
                  <a:lnTo>
                    <a:pt x="79613" y="138239"/>
                  </a:lnTo>
                  <a:lnTo>
                    <a:pt x="62649" y="138239"/>
                  </a:lnTo>
                  <a:lnTo>
                    <a:pt x="61925" y="133553"/>
                  </a:lnTo>
                  <a:lnTo>
                    <a:pt x="60477" y="128511"/>
                  </a:lnTo>
                  <a:lnTo>
                    <a:pt x="57607" y="117716"/>
                  </a:lnTo>
                  <a:lnTo>
                    <a:pt x="55448" y="111950"/>
                  </a:lnTo>
                  <a:lnTo>
                    <a:pt x="53289" y="105829"/>
                  </a:lnTo>
                  <a:lnTo>
                    <a:pt x="19799" y="9715"/>
                  </a:lnTo>
                  <a:close/>
                </a:path>
                <a:path w="767714" h="161289">
                  <a:moveTo>
                    <a:pt x="125641" y="9715"/>
                  </a:moveTo>
                  <a:lnTo>
                    <a:pt x="105841" y="9715"/>
                  </a:lnTo>
                  <a:lnTo>
                    <a:pt x="69837" y="111594"/>
                  </a:lnTo>
                  <a:lnTo>
                    <a:pt x="68046" y="117360"/>
                  </a:lnTo>
                  <a:lnTo>
                    <a:pt x="66598" y="122758"/>
                  </a:lnTo>
                  <a:lnTo>
                    <a:pt x="65163" y="128511"/>
                  </a:lnTo>
                  <a:lnTo>
                    <a:pt x="63728" y="133553"/>
                  </a:lnTo>
                  <a:lnTo>
                    <a:pt x="62649" y="138239"/>
                  </a:lnTo>
                  <a:lnTo>
                    <a:pt x="79613" y="138239"/>
                  </a:lnTo>
                  <a:lnTo>
                    <a:pt x="125641" y="9715"/>
                  </a:lnTo>
                  <a:close/>
                </a:path>
                <a:path w="767714" h="161289">
                  <a:moveTo>
                    <a:pt x="173520" y="9715"/>
                  </a:moveTo>
                  <a:lnTo>
                    <a:pt x="145808" y="9715"/>
                  </a:lnTo>
                  <a:lnTo>
                    <a:pt x="145808" y="159473"/>
                  </a:lnTo>
                  <a:lnTo>
                    <a:pt x="163080" y="159473"/>
                  </a:lnTo>
                  <a:lnTo>
                    <a:pt x="163080" y="52920"/>
                  </a:lnTo>
                  <a:lnTo>
                    <a:pt x="162374" y="38874"/>
                  </a:lnTo>
                  <a:lnTo>
                    <a:pt x="162021" y="32753"/>
                  </a:lnTo>
                  <a:lnTo>
                    <a:pt x="161674" y="28435"/>
                  </a:lnTo>
                  <a:lnTo>
                    <a:pt x="161645" y="28079"/>
                  </a:lnTo>
                  <a:lnTo>
                    <a:pt x="180414" y="28079"/>
                  </a:lnTo>
                  <a:lnTo>
                    <a:pt x="173520" y="9715"/>
                  </a:lnTo>
                  <a:close/>
                </a:path>
                <a:path w="767714" h="161289">
                  <a:moveTo>
                    <a:pt x="180414" y="28079"/>
                  </a:moveTo>
                  <a:lnTo>
                    <a:pt x="162725" y="28079"/>
                  </a:lnTo>
                  <a:lnTo>
                    <a:pt x="211683" y="159473"/>
                  </a:lnTo>
                  <a:lnTo>
                    <a:pt x="227164" y="159473"/>
                  </a:lnTo>
                  <a:lnTo>
                    <a:pt x="237475" y="132473"/>
                  </a:lnTo>
                  <a:lnTo>
                    <a:pt x="219608" y="132473"/>
                  </a:lnTo>
                  <a:lnTo>
                    <a:pt x="180414" y="28079"/>
                  </a:lnTo>
                  <a:close/>
                </a:path>
                <a:path w="767714" h="161289">
                  <a:moveTo>
                    <a:pt x="295198" y="28435"/>
                  </a:moveTo>
                  <a:lnTo>
                    <a:pt x="277926" y="28435"/>
                  </a:lnTo>
                  <a:lnTo>
                    <a:pt x="277588" y="32397"/>
                  </a:lnTo>
                  <a:lnTo>
                    <a:pt x="277223" y="38519"/>
                  </a:lnTo>
                  <a:lnTo>
                    <a:pt x="276478" y="52920"/>
                  </a:lnTo>
                  <a:lnTo>
                    <a:pt x="276478" y="159473"/>
                  </a:lnTo>
                  <a:lnTo>
                    <a:pt x="295198" y="159473"/>
                  </a:lnTo>
                  <a:lnTo>
                    <a:pt x="295198" y="28435"/>
                  </a:lnTo>
                  <a:close/>
                </a:path>
                <a:path w="767714" h="161289">
                  <a:moveTo>
                    <a:pt x="295198" y="9715"/>
                  </a:moveTo>
                  <a:lnTo>
                    <a:pt x="267487" y="9715"/>
                  </a:lnTo>
                  <a:lnTo>
                    <a:pt x="220687" y="132473"/>
                  </a:lnTo>
                  <a:lnTo>
                    <a:pt x="237475" y="132473"/>
                  </a:lnTo>
                  <a:lnTo>
                    <a:pt x="277202" y="28435"/>
                  </a:lnTo>
                  <a:lnTo>
                    <a:pt x="295198" y="28435"/>
                  </a:lnTo>
                  <a:lnTo>
                    <a:pt x="295198" y="9715"/>
                  </a:lnTo>
                  <a:close/>
                </a:path>
                <a:path w="767714" h="161289">
                  <a:moveTo>
                    <a:pt x="389521" y="47155"/>
                  </a:moveTo>
                  <a:lnTo>
                    <a:pt x="369722" y="47155"/>
                  </a:lnTo>
                  <a:lnTo>
                    <a:pt x="412203" y="159473"/>
                  </a:lnTo>
                  <a:lnTo>
                    <a:pt x="433438" y="159473"/>
                  </a:lnTo>
                  <a:lnTo>
                    <a:pt x="439756" y="142913"/>
                  </a:lnTo>
                  <a:lnTo>
                    <a:pt x="422287" y="142913"/>
                  </a:lnTo>
                  <a:lnTo>
                    <a:pt x="421919" y="140754"/>
                  </a:lnTo>
                  <a:lnTo>
                    <a:pt x="421208" y="137871"/>
                  </a:lnTo>
                  <a:lnTo>
                    <a:pt x="420128" y="134277"/>
                  </a:lnTo>
                  <a:lnTo>
                    <a:pt x="419404" y="131038"/>
                  </a:lnTo>
                  <a:lnTo>
                    <a:pt x="418325" y="127431"/>
                  </a:lnTo>
                  <a:lnTo>
                    <a:pt x="416877" y="123469"/>
                  </a:lnTo>
                  <a:lnTo>
                    <a:pt x="415798" y="119875"/>
                  </a:lnTo>
                  <a:lnTo>
                    <a:pt x="414362" y="116268"/>
                  </a:lnTo>
                  <a:lnTo>
                    <a:pt x="413283" y="113398"/>
                  </a:lnTo>
                  <a:lnTo>
                    <a:pt x="389521" y="47155"/>
                  </a:lnTo>
                  <a:close/>
                </a:path>
                <a:path w="767714" h="161289">
                  <a:moveTo>
                    <a:pt x="476288" y="47155"/>
                  </a:moveTo>
                  <a:lnTo>
                    <a:pt x="456488" y="47155"/>
                  </a:lnTo>
                  <a:lnTo>
                    <a:pt x="432727" y="113398"/>
                  </a:lnTo>
                  <a:lnTo>
                    <a:pt x="431647" y="116268"/>
                  </a:lnTo>
                  <a:lnTo>
                    <a:pt x="430568" y="119519"/>
                  </a:lnTo>
                  <a:lnTo>
                    <a:pt x="429120" y="123469"/>
                  </a:lnTo>
                  <a:lnTo>
                    <a:pt x="427685" y="127076"/>
                  </a:lnTo>
                  <a:lnTo>
                    <a:pt x="424446" y="137871"/>
                  </a:lnTo>
                  <a:lnTo>
                    <a:pt x="423722" y="140754"/>
                  </a:lnTo>
                  <a:lnTo>
                    <a:pt x="422998" y="142913"/>
                  </a:lnTo>
                  <a:lnTo>
                    <a:pt x="439756" y="142913"/>
                  </a:lnTo>
                  <a:lnTo>
                    <a:pt x="476288" y="47155"/>
                  </a:lnTo>
                  <a:close/>
                </a:path>
                <a:path w="767714" h="161289">
                  <a:moveTo>
                    <a:pt x="542518" y="44996"/>
                  </a:moveTo>
                  <a:lnTo>
                    <a:pt x="533882" y="44996"/>
                  </a:lnTo>
                  <a:lnTo>
                    <a:pt x="523890" y="45935"/>
                  </a:lnTo>
                  <a:lnTo>
                    <a:pt x="490938" y="77704"/>
                  </a:lnTo>
                  <a:lnTo>
                    <a:pt x="490816" y="78024"/>
                  </a:lnTo>
                  <a:lnTo>
                    <a:pt x="488553" y="89826"/>
                  </a:lnTo>
                  <a:lnTo>
                    <a:pt x="487807" y="103314"/>
                  </a:lnTo>
                  <a:lnTo>
                    <a:pt x="488513" y="116231"/>
                  </a:lnTo>
                  <a:lnTo>
                    <a:pt x="506995" y="153224"/>
                  </a:lnTo>
                  <a:lnTo>
                    <a:pt x="533526" y="161277"/>
                  </a:lnTo>
                  <a:lnTo>
                    <a:pt x="542518" y="161277"/>
                  </a:lnTo>
                  <a:lnTo>
                    <a:pt x="549719" y="159829"/>
                  </a:lnTo>
                  <a:lnTo>
                    <a:pt x="555117" y="156235"/>
                  </a:lnTo>
                  <a:lnTo>
                    <a:pt x="560882" y="152996"/>
                  </a:lnTo>
                  <a:lnTo>
                    <a:pt x="565200" y="149034"/>
                  </a:lnTo>
                  <a:lnTo>
                    <a:pt x="567425" y="146151"/>
                  </a:lnTo>
                  <a:lnTo>
                    <a:pt x="526681" y="146151"/>
                  </a:lnTo>
                  <a:lnTo>
                    <a:pt x="519125" y="142557"/>
                  </a:lnTo>
                  <a:lnTo>
                    <a:pt x="506526" y="103670"/>
                  </a:lnTo>
                  <a:lnTo>
                    <a:pt x="506998" y="94374"/>
                  </a:lnTo>
                  <a:lnTo>
                    <a:pt x="529520" y="60857"/>
                  </a:lnTo>
                  <a:lnTo>
                    <a:pt x="536397" y="60109"/>
                  </a:lnTo>
                  <a:lnTo>
                    <a:pt x="567693" y="60109"/>
                  </a:lnTo>
                  <a:lnTo>
                    <a:pt x="565200" y="56870"/>
                  </a:lnTo>
                  <a:lnTo>
                    <a:pt x="560527" y="52920"/>
                  </a:lnTo>
                  <a:lnTo>
                    <a:pt x="549719" y="46431"/>
                  </a:lnTo>
                  <a:lnTo>
                    <a:pt x="542518" y="44996"/>
                  </a:lnTo>
                  <a:close/>
                </a:path>
                <a:path w="767714" h="161289">
                  <a:moveTo>
                    <a:pt x="587159" y="144360"/>
                  </a:moveTo>
                  <a:lnTo>
                    <a:pt x="569518" y="144360"/>
                  </a:lnTo>
                  <a:lnTo>
                    <a:pt x="572046" y="159473"/>
                  </a:lnTo>
                  <a:lnTo>
                    <a:pt x="587159" y="159473"/>
                  </a:lnTo>
                  <a:lnTo>
                    <a:pt x="587159" y="144360"/>
                  </a:lnTo>
                  <a:close/>
                </a:path>
                <a:path w="767714" h="161289">
                  <a:moveTo>
                    <a:pt x="567693" y="60109"/>
                  </a:moveTo>
                  <a:lnTo>
                    <a:pt x="536397" y="60109"/>
                  </a:lnTo>
                  <a:lnTo>
                    <a:pt x="545090" y="60857"/>
                  </a:lnTo>
                  <a:lnTo>
                    <a:pt x="552444" y="63125"/>
                  </a:lnTo>
                  <a:lnTo>
                    <a:pt x="552294" y="63125"/>
                  </a:lnTo>
                  <a:lnTo>
                    <a:pt x="557769" y="66645"/>
                  </a:lnTo>
                  <a:lnTo>
                    <a:pt x="561962" y="71640"/>
                  </a:lnTo>
                  <a:lnTo>
                    <a:pt x="568807" y="106908"/>
                  </a:lnTo>
                  <a:lnTo>
                    <a:pt x="568339" y="116231"/>
                  </a:lnTo>
                  <a:lnTo>
                    <a:pt x="536765" y="146151"/>
                  </a:lnTo>
                  <a:lnTo>
                    <a:pt x="567425" y="146151"/>
                  </a:lnTo>
                  <a:lnTo>
                    <a:pt x="568807" y="144360"/>
                  </a:lnTo>
                  <a:lnTo>
                    <a:pt x="587159" y="144360"/>
                  </a:lnTo>
                  <a:lnTo>
                    <a:pt x="587159" y="61556"/>
                  </a:lnTo>
                  <a:lnTo>
                    <a:pt x="568807" y="61556"/>
                  </a:lnTo>
                  <a:lnTo>
                    <a:pt x="567693" y="60109"/>
                  </a:lnTo>
                  <a:close/>
                </a:path>
                <a:path w="767714" h="161289">
                  <a:moveTo>
                    <a:pt x="587159" y="0"/>
                  </a:moveTo>
                  <a:lnTo>
                    <a:pt x="568807" y="0"/>
                  </a:lnTo>
                  <a:lnTo>
                    <a:pt x="568807" y="50037"/>
                  </a:lnTo>
                  <a:lnTo>
                    <a:pt x="569482" y="56870"/>
                  </a:lnTo>
                  <a:lnTo>
                    <a:pt x="569518" y="57238"/>
                  </a:lnTo>
                  <a:lnTo>
                    <a:pt x="569887" y="59753"/>
                  </a:lnTo>
                  <a:lnTo>
                    <a:pt x="569887" y="61556"/>
                  </a:lnTo>
                  <a:lnTo>
                    <a:pt x="587159" y="61556"/>
                  </a:lnTo>
                  <a:lnTo>
                    <a:pt x="587159" y="0"/>
                  </a:lnTo>
                  <a:close/>
                </a:path>
                <a:path w="767714" h="161289">
                  <a:moveTo>
                    <a:pt x="634682" y="5029"/>
                  </a:moveTo>
                  <a:lnTo>
                    <a:pt x="628916" y="5029"/>
                  </a:lnTo>
                  <a:lnTo>
                    <a:pt x="626402" y="6108"/>
                  </a:lnTo>
                  <a:lnTo>
                    <a:pt x="622084" y="9715"/>
                  </a:lnTo>
                  <a:lnTo>
                    <a:pt x="621360" y="12598"/>
                  </a:lnTo>
                  <a:lnTo>
                    <a:pt x="621360" y="20510"/>
                  </a:lnTo>
                  <a:lnTo>
                    <a:pt x="622084" y="23393"/>
                  </a:lnTo>
                  <a:lnTo>
                    <a:pt x="624243" y="25552"/>
                  </a:lnTo>
                  <a:lnTo>
                    <a:pt x="626402" y="27355"/>
                  </a:lnTo>
                  <a:lnTo>
                    <a:pt x="628916" y="28435"/>
                  </a:lnTo>
                  <a:lnTo>
                    <a:pt x="634682" y="28435"/>
                  </a:lnTo>
                  <a:lnTo>
                    <a:pt x="637197" y="27355"/>
                  </a:lnTo>
                  <a:lnTo>
                    <a:pt x="639368" y="25552"/>
                  </a:lnTo>
                  <a:lnTo>
                    <a:pt x="641527" y="23393"/>
                  </a:lnTo>
                  <a:lnTo>
                    <a:pt x="642607" y="20510"/>
                  </a:lnTo>
                  <a:lnTo>
                    <a:pt x="642607" y="12598"/>
                  </a:lnTo>
                  <a:lnTo>
                    <a:pt x="641527" y="9715"/>
                  </a:lnTo>
                  <a:lnTo>
                    <a:pt x="637197" y="6108"/>
                  </a:lnTo>
                  <a:lnTo>
                    <a:pt x="634682" y="5029"/>
                  </a:lnTo>
                  <a:close/>
                </a:path>
                <a:path w="767714" h="161289">
                  <a:moveTo>
                    <a:pt x="641159" y="47155"/>
                  </a:moveTo>
                  <a:lnTo>
                    <a:pt x="622808" y="47155"/>
                  </a:lnTo>
                  <a:lnTo>
                    <a:pt x="622808" y="159473"/>
                  </a:lnTo>
                  <a:lnTo>
                    <a:pt x="641159" y="159473"/>
                  </a:lnTo>
                  <a:lnTo>
                    <a:pt x="641159" y="47155"/>
                  </a:lnTo>
                  <a:close/>
                </a:path>
                <a:path w="767714" h="161289">
                  <a:moveTo>
                    <a:pt x="754194" y="23393"/>
                  </a:moveTo>
                  <a:lnTo>
                    <a:pt x="724319" y="23393"/>
                  </a:lnTo>
                  <a:lnTo>
                    <a:pt x="730440" y="25552"/>
                  </a:lnTo>
                  <a:lnTo>
                    <a:pt x="740524" y="34188"/>
                  </a:lnTo>
                  <a:lnTo>
                    <a:pt x="742683" y="40309"/>
                  </a:lnTo>
                  <a:lnTo>
                    <a:pt x="742624" y="55435"/>
                  </a:lnTo>
                  <a:lnTo>
                    <a:pt x="741603" y="61556"/>
                  </a:lnTo>
                  <a:lnTo>
                    <a:pt x="738720" y="67310"/>
                  </a:lnTo>
                  <a:lnTo>
                    <a:pt x="736206" y="72720"/>
                  </a:lnTo>
                  <a:lnTo>
                    <a:pt x="668883" y="143992"/>
                  </a:lnTo>
                  <a:lnTo>
                    <a:pt x="668883" y="159473"/>
                  </a:lnTo>
                  <a:lnTo>
                    <a:pt x="767524" y="159473"/>
                  </a:lnTo>
                  <a:lnTo>
                    <a:pt x="767524" y="142557"/>
                  </a:lnTo>
                  <a:lnTo>
                    <a:pt x="692276" y="142557"/>
                  </a:lnTo>
                  <a:lnTo>
                    <a:pt x="692276" y="141833"/>
                  </a:lnTo>
                  <a:lnTo>
                    <a:pt x="723239" y="110871"/>
                  </a:lnTo>
                  <a:lnTo>
                    <a:pt x="728923" y="105326"/>
                  </a:lnTo>
                  <a:lnTo>
                    <a:pt x="734133" y="99982"/>
                  </a:lnTo>
                  <a:lnTo>
                    <a:pt x="738937" y="94774"/>
                  </a:lnTo>
                  <a:lnTo>
                    <a:pt x="743407" y="89636"/>
                  </a:lnTo>
                  <a:lnTo>
                    <a:pt x="749160" y="83159"/>
                  </a:lnTo>
                  <a:lnTo>
                    <a:pt x="753478" y="76314"/>
                  </a:lnTo>
                  <a:lnTo>
                    <a:pt x="759968" y="62636"/>
                  </a:lnTo>
                  <a:lnTo>
                    <a:pt x="761758" y="55435"/>
                  </a:lnTo>
                  <a:lnTo>
                    <a:pt x="761758" y="47510"/>
                  </a:lnTo>
                  <a:lnTo>
                    <a:pt x="760960" y="38602"/>
                  </a:lnTo>
                  <a:lnTo>
                    <a:pt x="758610" y="30773"/>
                  </a:lnTo>
                  <a:lnTo>
                    <a:pt x="754777" y="24023"/>
                  </a:lnTo>
                  <a:lnTo>
                    <a:pt x="754194" y="23393"/>
                  </a:lnTo>
                  <a:close/>
                </a:path>
                <a:path w="767714" h="161289">
                  <a:moveTo>
                    <a:pt x="716407" y="7556"/>
                  </a:moveTo>
                  <a:lnTo>
                    <a:pt x="676440" y="20510"/>
                  </a:lnTo>
                  <a:lnTo>
                    <a:pt x="670687" y="25196"/>
                  </a:lnTo>
                  <a:lnTo>
                    <a:pt x="680402" y="37795"/>
                  </a:lnTo>
                  <a:lnTo>
                    <a:pt x="686168" y="33108"/>
                  </a:lnTo>
                  <a:lnTo>
                    <a:pt x="691565" y="29514"/>
                  </a:lnTo>
                  <a:lnTo>
                    <a:pt x="697318" y="27355"/>
                  </a:lnTo>
                  <a:lnTo>
                    <a:pt x="702729" y="24828"/>
                  </a:lnTo>
                  <a:lnTo>
                    <a:pt x="709206" y="23393"/>
                  </a:lnTo>
                  <a:lnTo>
                    <a:pt x="754194" y="23393"/>
                  </a:lnTo>
                  <a:lnTo>
                    <a:pt x="749528" y="18351"/>
                  </a:lnTo>
                  <a:lnTo>
                    <a:pt x="742833" y="13626"/>
                  </a:lnTo>
                  <a:lnTo>
                    <a:pt x="735125" y="10253"/>
                  </a:lnTo>
                  <a:lnTo>
                    <a:pt x="726338" y="8230"/>
                  </a:lnTo>
                  <a:lnTo>
                    <a:pt x="716407" y="7556"/>
                  </a:lnTo>
                  <a:close/>
                </a:path>
              </a:pathLst>
            </a:custGeom>
            <a:solidFill>
              <a:srgbClr val="FFFFFF"/>
            </a:solidFill>
          </p:spPr>
          <p:txBody>
            <a:bodyPr wrap="square" lIns="0" tIns="0" rIns="0" bIns="0" rtlCol="0"/>
            <a:lstStyle/>
            <a:p>
              <a:endParaRPr/>
            </a:p>
          </p:txBody>
        </p:sp>
        <p:sp>
          <p:nvSpPr>
            <p:cNvPr id="11" name="object 11"/>
            <p:cNvSpPr/>
            <p:nvPr/>
          </p:nvSpPr>
          <p:spPr>
            <a:xfrm>
              <a:off x="2900514" y="3572290"/>
              <a:ext cx="676910" cy="1143000"/>
            </a:xfrm>
            <a:custGeom>
              <a:avLst/>
              <a:gdLst/>
              <a:ahLst/>
              <a:cxnLst/>
              <a:rect l="l" t="t" r="r" b="b"/>
              <a:pathLst>
                <a:path w="676910" h="1143000">
                  <a:moveTo>
                    <a:pt x="676440" y="0"/>
                  </a:moveTo>
                  <a:lnTo>
                    <a:pt x="0" y="0"/>
                  </a:lnTo>
                  <a:lnTo>
                    <a:pt x="0" y="1142644"/>
                  </a:lnTo>
                  <a:lnTo>
                    <a:pt x="676440" y="1142644"/>
                  </a:lnTo>
                  <a:lnTo>
                    <a:pt x="676440" y="0"/>
                  </a:lnTo>
                  <a:close/>
                </a:path>
              </a:pathLst>
            </a:custGeom>
            <a:solidFill>
              <a:srgbClr val="454C4C"/>
            </a:solidFill>
          </p:spPr>
          <p:txBody>
            <a:bodyPr wrap="square" lIns="0" tIns="0" rIns="0" bIns="0" rtlCol="0"/>
            <a:lstStyle/>
            <a:p>
              <a:endParaRPr/>
            </a:p>
          </p:txBody>
        </p:sp>
        <p:sp>
          <p:nvSpPr>
            <p:cNvPr id="12" name="object 12"/>
            <p:cNvSpPr/>
            <p:nvPr/>
          </p:nvSpPr>
          <p:spPr>
            <a:xfrm>
              <a:off x="2900514" y="3572290"/>
              <a:ext cx="676910" cy="1143000"/>
            </a:xfrm>
            <a:custGeom>
              <a:avLst/>
              <a:gdLst/>
              <a:ahLst/>
              <a:cxnLst/>
              <a:rect l="l" t="t" r="r" b="b"/>
              <a:pathLst>
                <a:path w="676910" h="1143000">
                  <a:moveTo>
                    <a:pt x="0" y="0"/>
                  </a:moveTo>
                  <a:lnTo>
                    <a:pt x="676440" y="0"/>
                  </a:lnTo>
                  <a:lnTo>
                    <a:pt x="676440" y="1142644"/>
                  </a:lnTo>
                  <a:lnTo>
                    <a:pt x="0" y="1142644"/>
                  </a:lnTo>
                  <a:lnTo>
                    <a:pt x="0" y="0"/>
                  </a:lnTo>
                  <a:close/>
                </a:path>
              </a:pathLst>
            </a:custGeom>
            <a:ln w="4650">
              <a:solidFill>
                <a:srgbClr val="FFFFFF"/>
              </a:solidFill>
            </a:ln>
          </p:spPr>
          <p:txBody>
            <a:bodyPr wrap="square" lIns="0" tIns="0" rIns="0" bIns="0" rtlCol="0"/>
            <a:lstStyle/>
            <a:p>
              <a:endParaRPr/>
            </a:p>
          </p:txBody>
        </p:sp>
        <p:pic>
          <p:nvPicPr>
            <p:cNvPr id="13" name="object 13"/>
            <p:cNvPicPr/>
            <p:nvPr/>
          </p:nvPicPr>
          <p:blipFill>
            <a:blip r:embed="rId2" cstate="print"/>
            <a:stretch>
              <a:fillRect/>
            </a:stretch>
          </p:blipFill>
          <p:spPr>
            <a:xfrm>
              <a:off x="3168357" y="4391643"/>
              <a:ext cx="140398" cy="140766"/>
            </a:xfrm>
            <a:prstGeom prst="rect">
              <a:avLst/>
            </a:prstGeom>
          </p:spPr>
        </p:pic>
        <p:sp>
          <p:nvSpPr>
            <p:cNvPr id="14" name="object 14"/>
            <p:cNvSpPr/>
            <p:nvPr/>
          </p:nvSpPr>
          <p:spPr>
            <a:xfrm>
              <a:off x="2985122" y="3761647"/>
              <a:ext cx="507365" cy="362585"/>
            </a:xfrm>
            <a:custGeom>
              <a:avLst/>
              <a:gdLst/>
              <a:ahLst/>
              <a:cxnLst/>
              <a:rect l="l" t="t" r="r" b="b"/>
              <a:pathLst>
                <a:path w="507364" h="362585">
                  <a:moveTo>
                    <a:pt x="506882" y="288366"/>
                  </a:moveTo>
                  <a:lnTo>
                    <a:pt x="0" y="288366"/>
                  </a:lnTo>
                  <a:lnTo>
                    <a:pt x="0" y="362521"/>
                  </a:lnTo>
                  <a:lnTo>
                    <a:pt x="506882" y="362521"/>
                  </a:lnTo>
                  <a:lnTo>
                    <a:pt x="506882" y="288366"/>
                  </a:lnTo>
                  <a:close/>
                </a:path>
                <a:path w="507364" h="362585">
                  <a:moveTo>
                    <a:pt x="506882" y="144360"/>
                  </a:moveTo>
                  <a:lnTo>
                    <a:pt x="0" y="144360"/>
                  </a:lnTo>
                  <a:lnTo>
                    <a:pt x="0" y="218160"/>
                  </a:lnTo>
                  <a:lnTo>
                    <a:pt x="506882" y="218160"/>
                  </a:lnTo>
                  <a:lnTo>
                    <a:pt x="506882" y="144360"/>
                  </a:lnTo>
                  <a:close/>
                </a:path>
                <a:path w="507364" h="362585">
                  <a:moveTo>
                    <a:pt x="506882" y="0"/>
                  </a:moveTo>
                  <a:lnTo>
                    <a:pt x="0" y="0"/>
                  </a:lnTo>
                  <a:lnTo>
                    <a:pt x="0" y="74155"/>
                  </a:lnTo>
                  <a:lnTo>
                    <a:pt x="506882" y="74155"/>
                  </a:lnTo>
                  <a:lnTo>
                    <a:pt x="506882" y="0"/>
                  </a:lnTo>
                  <a:close/>
                </a:path>
              </a:pathLst>
            </a:custGeom>
            <a:solidFill>
              <a:srgbClr val="FFFFFF"/>
            </a:solidFill>
          </p:spPr>
          <p:txBody>
            <a:bodyPr wrap="square" lIns="0" tIns="0" rIns="0" bIns="0" rtlCol="0"/>
            <a:lstStyle/>
            <a:p>
              <a:endParaRPr/>
            </a:p>
          </p:txBody>
        </p:sp>
        <p:sp>
          <p:nvSpPr>
            <p:cNvPr id="15" name="object 15"/>
            <p:cNvSpPr/>
            <p:nvPr/>
          </p:nvSpPr>
          <p:spPr>
            <a:xfrm>
              <a:off x="3076194" y="3572290"/>
              <a:ext cx="2916555" cy="1467485"/>
            </a:xfrm>
            <a:custGeom>
              <a:avLst/>
              <a:gdLst/>
              <a:ahLst/>
              <a:cxnLst/>
              <a:rect l="l" t="t" r="r" b="b"/>
              <a:pathLst>
                <a:path w="2916554" h="1467485">
                  <a:moveTo>
                    <a:pt x="78841" y="1382039"/>
                  </a:moveTo>
                  <a:lnTo>
                    <a:pt x="78409" y="1374419"/>
                  </a:lnTo>
                  <a:lnTo>
                    <a:pt x="78308" y="1372679"/>
                  </a:lnTo>
                  <a:lnTo>
                    <a:pt x="78232" y="1371180"/>
                  </a:lnTo>
                  <a:lnTo>
                    <a:pt x="76428" y="1361884"/>
                  </a:lnTo>
                  <a:lnTo>
                    <a:pt x="73367" y="1353896"/>
                  </a:lnTo>
                  <a:lnTo>
                    <a:pt x="69126" y="1347482"/>
                  </a:lnTo>
                  <a:lnTo>
                    <a:pt x="64706" y="1343507"/>
                  </a:lnTo>
                  <a:lnTo>
                    <a:pt x="64706" y="1379880"/>
                  </a:lnTo>
                  <a:lnTo>
                    <a:pt x="64668" y="1389964"/>
                  </a:lnTo>
                  <a:lnTo>
                    <a:pt x="64084" y="1394993"/>
                  </a:lnTo>
                  <a:lnTo>
                    <a:pt x="60490" y="1405801"/>
                  </a:lnTo>
                  <a:lnTo>
                    <a:pt x="57607" y="1410119"/>
                  </a:lnTo>
                  <a:lnTo>
                    <a:pt x="54000" y="1413002"/>
                  </a:lnTo>
                  <a:lnTo>
                    <a:pt x="50050" y="1416240"/>
                  </a:lnTo>
                  <a:lnTo>
                    <a:pt x="45720" y="1417675"/>
                  </a:lnTo>
                  <a:lnTo>
                    <a:pt x="33489" y="1417675"/>
                  </a:lnTo>
                  <a:lnTo>
                    <a:pt x="28448" y="1416240"/>
                  </a:lnTo>
                  <a:lnTo>
                    <a:pt x="26454" y="1414792"/>
                  </a:lnTo>
                  <a:lnTo>
                    <a:pt x="24485" y="1413357"/>
                  </a:lnTo>
                  <a:lnTo>
                    <a:pt x="20523" y="1410843"/>
                  </a:lnTo>
                  <a:lnTo>
                    <a:pt x="18008" y="1406880"/>
                  </a:lnTo>
                  <a:lnTo>
                    <a:pt x="16205" y="1401483"/>
                  </a:lnTo>
                  <a:lnTo>
                    <a:pt x="14770" y="1396441"/>
                  </a:lnTo>
                  <a:lnTo>
                    <a:pt x="13690" y="1389964"/>
                  </a:lnTo>
                  <a:lnTo>
                    <a:pt x="13690" y="1379880"/>
                  </a:lnTo>
                  <a:lnTo>
                    <a:pt x="13957" y="1374419"/>
                  </a:lnTo>
                  <a:lnTo>
                    <a:pt x="14046" y="1372679"/>
                  </a:lnTo>
                  <a:lnTo>
                    <a:pt x="14770" y="1366558"/>
                  </a:lnTo>
                  <a:lnTo>
                    <a:pt x="16560" y="1361884"/>
                  </a:lnTo>
                  <a:lnTo>
                    <a:pt x="18364" y="1356842"/>
                  </a:lnTo>
                  <a:lnTo>
                    <a:pt x="20891" y="1353235"/>
                  </a:lnTo>
                  <a:lnTo>
                    <a:pt x="24841" y="1351076"/>
                  </a:lnTo>
                  <a:lnTo>
                    <a:pt x="25400" y="1350721"/>
                  </a:lnTo>
                  <a:lnTo>
                    <a:pt x="28803" y="1348562"/>
                  </a:lnTo>
                  <a:lnTo>
                    <a:pt x="33489" y="1347482"/>
                  </a:lnTo>
                  <a:lnTo>
                    <a:pt x="48247" y="1347482"/>
                  </a:lnTo>
                  <a:lnTo>
                    <a:pt x="64706" y="1379880"/>
                  </a:lnTo>
                  <a:lnTo>
                    <a:pt x="64706" y="1343507"/>
                  </a:lnTo>
                  <a:lnTo>
                    <a:pt x="63588" y="1342491"/>
                  </a:lnTo>
                  <a:lnTo>
                    <a:pt x="57238" y="1338897"/>
                  </a:lnTo>
                  <a:lnTo>
                    <a:pt x="50088" y="1336700"/>
                  </a:lnTo>
                  <a:lnTo>
                    <a:pt x="42125" y="1335963"/>
                  </a:lnTo>
                  <a:lnTo>
                    <a:pt x="37452" y="1335963"/>
                  </a:lnTo>
                  <a:lnTo>
                    <a:pt x="33045" y="1336700"/>
                  </a:lnTo>
                  <a:lnTo>
                    <a:pt x="29171" y="1338122"/>
                  </a:lnTo>
                  <a:lnTo>
                    <a:pt x="25565" y="1339202"/>
                  </a:lnTo>
                  <a:lnTo>
                    <a:pt x="22682" y="1340993"/>
                  </a:lnTo>
                  <a:lnTo>
                    <a:pt x="20167" y="1343520"/>
                  </a:lnTo>
                  <a:lnTo>
                    <a:pt x="17640" y="1345679"/>
                  </a:lnTo>
                  <a:lnTo>
                    <a:pt x="15481" y="1348193"/>
                  </a:lnTo>
                  <a:lnTo>
                    <a:pt x="13690" y="1350721"/>
                  </a:lnTo>
                  <a:lnTo>
                    <a:pt x="12966" y="1350721"/>
                  </a:lnTo>
                  <a:lnTo>
                    <a:pt x="11404" y="1339202"/>
                  </a:lnTo>
                  <a:lnTo>
                    <a:pt x="11353" y="1338897"/>
                  </a:lnTo>
                  <a:lnTo>
                    <a:pt x="11252" y="1338122"/>
                  </a:lnTo>
                  <a:lnTo>
                    <a:pt x="11163" y="1337398"/>
                  </a:lnTo>
                  <a:lnTo>
                    <a:pt x="0" y="1337398"/>
                  </a:lnTo>
                  <a:lnTo>
                    <a:pt x="0" y="1467358"/>
                  </a:lnTo>
                  <a:lnTo>
                    <a:pt x="13690" y="1467358"/>
                  </a:lnTo>
                  <a:lnTo>
                    <a:pt x="13690" y="1425600"/>
                  </a:lnTo>
                  <a:lnTo>
                    <a:pt x="13500" y="1424152"/>
                  </a:lnTo>
                  <a:lnTo>
                    <a:pt x="13411" y="1423441"/>
                  </a:lnTo>
                  <a:lnTo>
                    <a:pt x="13322" y="1419834"/>
                  </a:lnTo>
                  <a:lnTo>
                    <a:pt x="13042" y="1417675"/>
                  </a:lnTo>
                  <a:lnTo>
                    <a:pt x="12966" y="1414792"/>
                  </a:lnTo>
                  <a:lnTo>
                    <a:pt x="13690" y="1414792"/>
                  </a:lnTo>
                  <a:lnTo>
                    <a:pt x="15481" y="1417320"/>
                  </a:lnTo>
                  <a:lnTo>
                    <a:pt x="17640" y="1419834"/>
                  </a:lnTo>
                  <a:lnTo>
                    <a:pt x="37084" y="1428838"/>
                  </a:lnTo>
                  <a:lnTo>
                    <a:pt x="49326" y="1428838"/>
                  </a:lnTo>
                  <a:lnTo>
                    <a:pt x="55803" y="1427035"/>
                  </a:lnTo>
                  <a:lnTo>
                    <a:pt x="61569" y="1423441"/>
                  </a:lnTo>
                  <a:lnTo>
                    <a:pt x="66967" y="1419834"/>
                  </a:lnTo>
                  <a:lnTo>
                    <a:pt x="68808" y="1417675"/>
                  </a:lnTo>
                  <a:lnTo>
                    <a:pt x="71285" y="1414792"/>
                  </a:lnTo>
                  <a:lnTo>
                    <a:pt x="74523" y="1407960"/>
                  </a:lnTo>
                  <a:lnTo>
                    <a:pt x="76403" y="1402346"/>
                  </a:lnTo>
                  <a:lnTo>
                    <a:pt x="77711" y="1396441"/>
                  </a:lnTo>
                  <a:lnTo>
                    <a:pt x="77762" y="1396225"/>
                  </a:lnTo>
                  <a:lnTo>
                    <a:pt x="78511" y="1389964"/>
                  </a:lnTo>
                  <a:lnTo>
                    <a:pt x="78587" y="1388884"/>
                  </a:lnTo>
                  <a:lnTo>
                    <a:pt x="78841" y="1382039"/>
                  </a:lnTo>
                  <a:close/>
                </a:path>
                <a:path w="2916554" h="1467485">
                  <a:moveTo>
                    <a:pt x="172085" y="1337398"/>
                  </a:moveTo>
                  <a:lnTo>
                    <a:pt x="157327" y="1337398"/>
                  </a:lnTo>
                  <a:lnTo>
                    <a:pt x="137528" y="1391754"/>
                  </a:lnTo>
                  <a:lnTo>
                    <a:pt x="136448" y="1395361"/>
                  </a:lnTo>
                  <a:lnTo>
                    <a:pt x="133565" y="1403997"/>
                  </a:lnTo>
                  <a:lnTo>
                    <a:pt x="132130" y="1408684"/>
                  </a:lnTo>
                  <a:lnTo>
                    <a:pt x="130683" y="1412278"/>
                  </a:lnTo>
                  <a:lnTo>
                    <a:pt x="130327" y="1414792"/>
                  </a:lnTo>
                  <a:lnTo>
                    <a:pt x="129603" y="1414792"/>
                  </a:lnTo>
                  <a:lnTo>
                    <a:pt x="129247" y="1412278"/>
                  </a:lnTo>
                  <a:lnTo>
                    <a:pt x="128168" y="1408684"/>
                  </a:lnTo>
                  <a:lnTo>
                    <a:pt x="126720" y="1403997"/>
                  </a:lnTo>
                  <a:lnTo>
                    <a:pt x="123850" y="1395361"/>
                  </a:lnTo>
                  <a:lnTo>
                    <a:pt x="122402" y="1391754"/>
                  </a:lnTo>
                  <a:lnTo>
                    <a:pt x="102971" y="1337398"/>
                  </a:lnTo>
                  <a:lnTo>
                    <a:pt x="88201" y="1337398"/>
                  </a:lnTo>
                  <a:lnTo>
                    <a:pt x="122402" y="1427403"/>
                  </a:lnTo>
                  <a:lnTo>
                    <a:pt x="137883" y="1427403"/>
                  </a:lnTo>
                  <a:lnTo>
                    <a:pt x="142671" y="1414792"/>
                  </a:lnTo>
                  <a:lnTo>
                    <a:pt x="172085" y="1337398"/>
                  </a:lnTo>
                  <a:close/>
                </a:path>
                <a:path w="2916554" h="1467485">
                  <a:moveTo>
                    <a:pt x="257048" y="1368361"/>
                  </a:moveTo>
                  <a:lnTo>
                    <a:pt x="255600" y="1361160"/>
                  </a:lnTo>
                  <a:lnTo>
                    <a:pt x="252730" y="1355394"/>
                  </a:lnTo>
                  <a:lnTo>
                    <a:pt x="249834" y="1349273"/>
                  </a:lnTo>
                  <a:lnTo>
                    <a:pt x="248145" y="1347114"/>
                  </a:lnTo>
                  <a:lnTo>
                    <a:pt x="245884" y="1344244"/>
                  </a:lnTo>
                  <a:lnTo>
                    <a:pt x="242989" y="1342504"/>
                  </a:lnTo>
                  <a:lnTo>
                    <a:pt x="242989" y="1374114"/>
                  </a:lnTo>
                  <a:lnTo>
                    <a:pt x="195491" y="1374114"/>
                  </a:lnTo>
                  <a:lnTo>
                    <a:pt x="213474" y="1347114"/>
                  </a:lnTo>
                  <a:lnTo>
                    <a:pt x="225729" y="1347114"/>
                  </a:lnTo>
                  <a:lnTo>
                    <a:pt x="242989" y="1374114"/>
                  </a:lnTo>
                  <a:lnTo>
                    <a:pt x="242989" y="1342504"/>
                  </a:lnTo>
                  <a:lnTo>
                    <a:pt x="240487" y="1340993"/>
                  </a:lnTo>
                  <a:lnTo>
                    <a:pt x="234721" y="1337754"/>
                  </a:lnTo>
                  <a:lnTo>
                    <a:pt x="228244" y="1335963"/>
                  </a:lnTo>
                  <a:lnTo>
                    <a:pt x="212763" y="1335963"/>
                  </a:lnTo>
                  <a:lnTo>
                    <a:pt x="205562" y="1337754"/>
                  </a:lnTo>
                  <a:lnTo>
                    <a:pt x="199796" y="1341716"/>
                  </a:lnTo>
                  <a:lnTo>
                    <a:pt x="194043" y="1345323"/>
                  </a:lnTo>
                  <a:lnTo>
                    <a:pt x="181076" y="1383118"/>
                  </a:lnTo>
                  <a:lnTo>
                    <a:pt x="181419" y="1390142"/>
                  </a:lnTo>
                  <a:lnTo>
                    <a:pt x="201231" y="1423797"/>
                  </a:lnTo>
                  <a:lnTo>
                    <a:pt x="215290" y="1428838"/>
                  </a:lnTo>
                  <a:lnTo>
                    <a:pt x="230047" y="1428838"/>
                  </a:lnTo>
                  <a:lnTo>
                    <a:pt x="235445" y="1428483"/>
                  </a:lnTo>
                  <a:lnTo>
                    <a:pt x="239763" y="1427403"/>
                  </a:lnTo>
                  <a:lnTo>
                    <a:pt x="244081" y="1426679"/>
                  </a:lnTo>
                  <a:lnTo>
                    <a:pt x="248767" y="1425244"/>
                  </a:lnTo>
                  <a:lnTo>
                    <a:pt x="253085" y="1423073"/>
                  </a:lnTo>
                  <a:lnTo>
                    <a:pt x="253085" y="1417320"/>
                  </a:lnTo>
                  <a:lnTo>
                    <a:pt x="253085" y="1411198"/>
                  </a:lnTo>
                  <a:lnTo>
                    <a:pt x="248399" y="1413002"/>
                  </a:lnTo>
                  <a:lnTo>
                    <a:pt x="244081" y="1414792"/>
                  </a:lnTo>
                  <a:lnTo>
                    <a:pt x="239763" y="1415884"/>
                  </a:lnTo>
                  <a:lnTo>
                    <a:pt x="230403" y="1417320"/>
                  </a:lnTo>
                  <a:lnTo>
                    <a:pt x="215290" y="1417320"/>
                  </a:lnTo>
                  <a:lnTo>
                    <a:pt x="208089" y="1414437"/>
                  </a:lnTo>
                  <a:lnTo>
                    <a:pt x="197993" y="1403642"/>
                  </a:lnTo>
                  <a:lnTo>
                    <a:pt x="195491" y="1395361"/>
                  </a:lnTo>
                  <a:lnTo>
                    <a:pt x="195122" y="1384922"/>
                  </a:lnTo>
                  <a:lnTo>
                    <a:pt x="257048" y="1384922"/>
                  </a:lnTo>
                  <a:lnTo>
                    <a:pt x="257048" y="1374114"/>
                  </a:lnTo>
                  <a:lnTo>
                    <a:pt x="257048" y="1368361"/>
                  </a:lnTo>
                  <a:close/>
                </a:path>
                <a:path w="2916554" h="1467485">
                  <a:moveTo>
                    <a:pt x="324726" y="1307515"/>
                  </a:moveTo>
                  <a:lnTo>
                    <a:pt x="313563" y="1307515"/>
                  </a:lnTo>
                  <a:lnTo>
                    <a:pt x="281165" y="1332712"/>
                  </a:lnTo>
                  <a:lnTo>
                    <a:pt x="288010" y="1341716"/>
                  </a:lnTo>
                  <a:lnTo>
                    <a:pt x="301688" y="1330921"/>
                  </a:lnTo>
                  <a:lnTo>
                    <a:pt x="303847" y="1329118"/>
                  </a:lnTo>
                  <a:lnTo>
                    <a:pt x="306006" y="1327683"/>
                  </a:lnTo>
                  <a:lnTo>
                    <a:pt x="307441" y="1326235"/>
                  </a:lnTo>
                  <a:lnTo>
                    <a:pt x="308889" y="1325156"/>
                  </a:lnTo>
                  <a:lnTo>
                    <a:pt x="312127" y="1321917"/>
                  </a:lnTo>
                  <a:lnTo>
                    <a:pt x="311772" y="1323721"/>
                  </a:lnTo>
                  <a:lnTo>
                    <a:pt x="311772" y="1327683"/>
                  </a:lnTo>
                  <a:lnTo>
                    <a:pt x="311518" y="1329118"/>
                  </a:lnTo>
                  <a:lnTo>
                    <a:pt x="311404" y="1427403"/>
                  </a:lnTo>
                  <a:lnTo>
                    <a:pt x="324726" y="1427403"/>
                  </a:lnTo>
                  <a:lnTo>
                    <a:pt x="324726" y="1321917"/>
                  </a:lnTo>
                  <a:lnTo>
                    <a:pt x="324726" y="1307515"/>
                  </a:lnTo>
                  <a:close/>
                </a:path>
                <a:path w="2916554" h="1467485">
                  <a:moveTo>
                    <a:pt x="2916009" y="0"/>
                  </a:moveTo>
                  <a:lnTo>
                    <a:pt x="2239568" y="0"/>
                  </a:lnTo>
                  <a:lnTo>
                    <a:pt x="2239568" y="1142644"/>
                  </a:lnTo>
                  <a:lnTo>
                    <a:pt x="2916009" y="1142644"/>
                  </a:lnTo>
                  <a:lnTo>
                    <a:pt x="2916009" y="0"/>
                  </a:lnTo>
                  <a:close/>
                </a:path>
              </a:pathLst>
            </a:custGeom>
            <a:solidFill>
              <a:srgbClr val="454C4C"/>
            </a:solidFill>
          </p:spPr>
          <p:txBody>
            <a:bodyPr wrap="square" lIns="0" tIns="0" rIns="0" bIns="0" rtlCol="0"/>
            <a:lstStyle/>
            <a:p>
              <a:endParaRPr/>
            </a:p>
          </p:txBody>
        </p:sp>
        <p:sp>
          <p:nvSpPr>
            <p:cNvPr id="16" name="object 16"/>
            <p:cNvSpPr/>
            <p:nvPr/>
          </p:nvSpPr>
          <p:spPr>
            <a:xfrm>
              <a:off x="5315762" y="3572290"/>
              <a:ext cx="676910" cy="1143000"/>
            </a:xfrm>
            <a:custGeom>
              <a:avLst/>
              <a:gdLst/>
              <a:ahLst/>
              <a:cxnLst/>
              <a:rect l="l" t="t" r="r" b="b"/>
              <a:pathLst>
                <a:path w="676910" h="1143000">
                  <a:moveTo>
                    <a:pt x="0" y="0"/>
                  </a:moveTo>
                  <a:lnTo>
                    <a:pt x="676440" y="0"/>
                  </a:lnTo>
                  <a:lnTo>
                    <a:pt x="676440" y="1142644"/>
                  </a:lnTo>
                  <a:lnTo>
                    <a:pt x="0" y="1142644"/>
                  </a:lnTo>
                  <a:lnTo>
                    <a:pt x="0" y="0"/>
                  </a:lnTo>
                  <a:close/>
                </a:path>
              </a:pathLst>
            </a:custGeom>
            <a:ln w="4650">
              <a:solidFill>
                <a:srgbClr val="FFFFFF"/>
              </a:solidFill>
            </a:ln>
          </p:spPr>
          <p:txBody>
            <a:bodyPr wrap="square" lIns="0" tIns="0" rIns="0" bIns="0" rtlCol="0"/>
            <a:lstStyle/>
            <a:p>
              <a:endParaRPr/>
            </a:p>
          </p:txBody>
        </p:sp>
        <p:pic>
          <p:nvPicPr>
            <p:cNvPr id="17" name="object 17"/>
            <p:cNvPicPr/>
            <p:nvPr/>
          </p:nvPicPr>
          <p:blipFill>
            <a:blip r:embed="rId3" cstate="print"/>
            <a:stretch>
              <a:fillRect/>
            </a:stretch>
          </p:blipFill>
          <p:spPr>
            <a:xfrm>
              <a:off x="5583605" y="4391643"/>
              <a:ext cx="140398" cy="140766"/>
            </a:xfrm>
            <a:prstGeom prst="rect">
              <a:avLst/>
            </a:prstGeom>
          </p:spPr>
        </p:pic>
        <p:sp>
          <p:nvSpPr>
            <p:cNvPr id="18" name="object 18"/>
            <p:cNvSpPr/>
            <p:nvPr/>
          </p:nvSpPr>
          <p:spPr>
            <a:xfrm>
              <a:off x="5400725" y="3761647"/>
              <a:ext cx="506730" cy="362585"/>
            </a:xfrm>
            <a:custGeom>
              <a:avLst/>
              <a:gdLst/>
              <a:ahLst/>
              <a:cxnLst/>
              <a:rect l="l" t="t" r="r" b="b"/>
              <a:pathLst>
                <a:path w="506729" h="362585">
                  <a:moveTo>
                    <a:pt x="506514" y="288366"/>
                  </a:moveTo>
                  <a:lnTo>
                    <a:pt x="0" y="288366"/>
                  </a:lnTo>
                  <a:lnTo>
                    <a:pt x="0" y="362521"/>
                  </a:lnTo>
                  <a:lnTo>
                    <a:pt x="506514" y="362521"/>
                  </a:lnTo>
                  <a:lnTo>
                    <a:pt x="506514" y="288366"/>
                  </a:lnTo>
                  <a:close/>
                </a:path>
                <a:path w="506729" h="362585">
                  <a:moveTo>
                    <a:pt x="506514" y="144360"/>
                  </a:moveTo>
                  <a:lnTo>
                    <a:pt x="0" y="144360"/>
                  </a:lnTo>
                  <a:lnTo>
                    <a:pt x="0" y="218160"/>
                  </a:lnTo>
                  <a:lnTo>
                    <a:pt x="506514" y="218160"/>
                  </a:lnTo>
                  <a:lnTo>
                    <a:pt x="506514" y="144360"/>
                  </a:lnTo>
                  <a:close/>
                </a:path>
                <a:path w="506729" h="362585">
                  <a:moveTo>
                    <a:pt x="506514" y="0"/>
                  </a:moveTo>
                  <a:lnTo>
                    <a:pt x="0" y="0"/>
                  </a:lnTo>
                  <a:lnTo>
                    <a:pt x="0" y="74155"/>
                  </a:lnTo>
                  <a:lnTo>
                    <a:pt x="506514" y="74155"/>
                  </a:lnTo>
                  <a:lnTo>
                    <a:pt x="506514" y="0"/>
                  </a:lnTo>
                  <a:close/>
                </a:path>
              </a:pathLst>
            </a:custGeom>
            <a:solidFill>
              <a:srgbClr val="FFFFFF"/>
            </a:solidFill>
          </p:spPr>
          <p:txBody>
            <a:bodyPr wrap="square" lIns="0" tIns="0" rIns="0" bIns="0" rtlCol="0"/>
            <a:lstStyle/>
            <a:p>
              <a:endParaRPr/>
            </a:p>
          </p:txBody>
        </p:sp>
        <p:sp>
          <p:nvSpPr>
            <p:cNvPr id="19" name="object 19"/>
            <p:cNvSpPr/>
            <p:nvPr/>
          </p:nvSpPr>
          <p:spPr>
            <a:xfrm>
              <a:off x="4107954" y="3572290"/>
              <a:ext cx="1735455" cy="1467485"/>
            </a:xfrm>
            <a:custGeom>
              <a:avLst/>
              <a:gdLst/>
              <a:ahLst/>
              <a:cxnLst/>
              <a:rect l="l" t="t" r="r" b="b"/>
              <a:pathLst>
                <a:path w="1735454" h="1467485">
                  <a:moveTo>
                    <a:pt x="676440" y="0"/>
                  </a:moveTo>
                  <a:lnTo>
                    <a:pt x="0" y="0"/>
                  </a:lnTo>
                  <a:lnTo>
                    <a:pt x="0" y="1142644"/>
                  </a:lnTo>
                  <a:lnTo>
                    <a:pt x="676440" y="1142644"/>
                  </a:lnTo>
                  <a:lnTo>
                    <a:pt x="676440" y="0"/>
                  </a:lnTo>
                  <a:close/>
                </a:path>
                <a:path w="1735454" h="1467485">
                  <a:moveTo>
                    <a:pt x="1462684" y="1382039"/>
                  </a:moveTo>
                  <a:lnTo>
                    <a:pt x="1462214" y="1374419"/>
                  </a:lnTo>
                  <a:lnTo>
                    <a:pt x="1462112" y="1372679"/>
                  </a:lnTo>
                  <a:lnTo>
                    <a:pt x="1462011" y="1371180"/>
                  </a:lnTo>
                  <a:lnTo>
                    <a:pt x="1460093" y="1361884"/>
                  </a:lnTo>
                  <a:lnTo>
                    <a:pt x="1456905" y="1353896"/>
                  </a:lnTo>
                  <a:lnTo>
                    <a:pt x="1452600" y="1347482"/>
                  </a:lnTo>
                  <a:lnTo>
                    <a:pt x="1448523" y="1343774"/>
                  </a:lnTo>
                  <a:lnTo>
                    <a:pt x="1448523" y="1379880"/>
                  </a:lnTo>
                  <a:lnTo>
                    <a:pt x="1448447" y="1389964"/>
                  </a:lnTo>
                  <a:lnTo>
                    <a:pt x="1447571" y="1394993"/>
                  </a:lnTo>
                  <a:lnTo>
                    <a:pt x="1443964" y="1405801"/>
                  </a:lnTo>
                  <a:lnTo>
                    <a:pt x="1441081" y="1410119"/>
                  </a:lnTo>
                  <a:lnTo>
                    <a:pt x="1437487" y="1413002"/>
                  </a:lnTo>
                  <a:lnTo>
                    <a:pt x="1433880" y="1416240"/>
                  </a:lnTo>
                  <a:lnTo>
                    <a:pt x="1429207" y="1417675"/>
                  </a:lnTo>
                  <a:lnTo>
                    <a:pt x="1416964" y="1417675"/>
                  </a:lnTo>
                  <a:lnTo>
                    <a:pt x="1411922" y="1416240"/>
                  </a:lnTo>
                  <a:lnTo>
                    <a:pt x="1409928" y="1414792"/>
                  </a:lnTo>
                  <a:lnTo>
                    <a:pt x="1407960" y="1413357"/>
                  </a:lnTo>
                  <a:lnTo>
                    <a:pt x="1404366" y="1410843"/>
                  </a:lnTo>
                  <a:lnTo>
                    <a:pt x="1401483" y="1406880"/>
                  </a:lnTo>
                  <a:lnTo>
                    <a:pt x="1399679" y="1401483"/>
                  </a:lnTo>
                  <a:lnTo>
                    <a:pt x="1398244" y="1396441"/>
                  </a:lnTo>
                  <a:lnTo>
                    <a:pt x="1397165" y="1389964"/>
                  </a:lnTo>
                  <a:lnTo>
                    <a:pt x="1397165" y="1379880"/>
                  </a:lnTo>
                  <a:lnTo>
                    <a:pt x="1397431" y="1374419"/>
                  </a:lnTo>
                  <a:lnTo>
                    <a:pt x="1397520" y="1372679"/>
                  </a:lnTo>
                  <a:lnTo>
                    <a:pt x="1398244" y="1366558"/>
                  </a:lnTo>
                  <a:lnTo>
                    <a:pt x="1400048" y="1361884"/>
                  </a:lnTo>
                  <a:lnTo>
                    <a:pt x="1401851" y="1356842"/>
                  </a:lnTo>
                  <a:lnTo>
                    <a:pt x="1404721" y="1353235"/>
                  </a:lnTo>
                  <a:lnTo>
                    <a:pt x="1408328" y="1351076"/>
                  </a:lnTo>
                  <a:lnTo>
                    <a:pt x="1408887" y="1350721"/>
                  </a:lnTo>
                  <a:lnTo>
                    <a:pt x="1412290" y="1348562"/>
                  </a:lnTo>
                  <a:lnTo>
                    <a:pt x="1417320" y="1347482"/>
                  </a:lnTo>
                  <a:lnTo>
                    <a:pt x="1432090" y="1347482"/>
                  </a:lnTo>
                  <a:lnTo>
                    <a:pt x="1448523" y="1379880"/>
                  </a:lnTo>
                  <a:lnTo>
                    <a:pt x="1448523" y="1343774"/>
                  </a:lnTo>
                  <a:lnTo>
                    <a:pt x="1447114" y="1342491"/>
                  </a:lnTo>
                  <a:lnTo>
                    <a:pt x="1440903" y="1338897"/>
                  </a:lnTo>
                  <a:lnTo>
                    <a:pt x="1433868" y="1336700"/>
                  </a:lnTo>
                  <a:lnTo>
                    <a:pt x="1425968" y="1335963"/>
                  </a:lnTo>
                  <a:lnTo>
                    <a:pt x="1420926" y="1335963"/>
                  </a:lnTo>
                  <a:lnTo>
                    <a:pt x="1416545" y="1336700"/>
                  </a:lnTo>
                  <a:lnTo>
                    <a:pt x="1413002" y="1338122"/>
                  </a:lnTo>
                  <a:lnTo>
                    <a:pt x="1409407" y="1339202"/>
                  </a:lnTo>
                  <a:lnTo>
                    <a:pt x="1406169" y="1340993"/>
                  </a:lnTo>
                  <a:lnTo>
                    <a:pt x="1403642" y="1343520"/>
                  </a:lnTo>
                  <a:lnTo>
                    <a:pt x="1401127" y="1345679"/>
                  </a:lnTo>
                  <a:lnTo>
                    <a:pt x="1398968" y="1348193"/>
                  </a:lnTo>
                  <a:lnTo>
                    <a:pt x="1397165" y="1350721"/>
                  </a:lnTo>
                  <a:lnTo>
                    <a:pt x="1396809" y="1350721"/>
                  </a:lnTo>
                  <a:lnTo>
                    <a:pt x="1395247" y="1339202"/>
                  </a:lnTo>
                  <a:lnTo>
                    <a:pt x="1395196" y="1338897"/>
                  </a:lnTo>
                  <a:lnTo>
                    <a:pt x="1395095" y="1338122"/>
                  </a:lnTo>
                  <a:lnTo>
                    <a:pt x="1395006" y="1337398"/>
                  </a:lnTo>
                  <a:lnTo>
                    <a:pt x="1383842" y="1337398"/>
                  </a:lnTo>
                  <a:lnTo>
                    <a:pt x="1383842" y="1467358"/>
                  </a:lnTo>
                  <a:lnTo>
                    <a:pt x="1397165" y="1467358"/>
                  </a:lnTo>
                  <a:lnTo>
                    <a:pt x="1397165" y="1425600"/>
                  </a:lnTo>
                  <a:lnTo>
                    <a:pt x="1396809" y="1422717"/>
                  </a:lnTo>
                  <a:lnTo>
                    <a:pt x="1396809" y="1419834"/>
                  </a:lnTo>
                  <a:lnTo>
                    <a:pt x="1396530" y="1417675"/>
                  </a:lnTo>
                  <a:lnTo>
                    <a:pt x="1396441" y="1414792"/>
                  </a:lnTo>
                  <a:lnTo>
                    <a:pt x="1397165" y="1414792"/>
                  </a:lnTo>
                  <a:lnTo>
                    <a:pt x="1398968" y="1417320"/>
                  </a:lnTo>
                  <a:lnTo>
                    <a:pt x="1401127" y="1419834"/>
                  </a:lnTo>
                  <a:lnTo>
                    <a:pt x="1420571" y="1428838"/>
                  </a:lnTo>
                  <a:lnTo>
                    <a:pt x="1433169" y="1428838"/>
                  </a:lnTo>
                  <a:lnTo>
                    <a:pt x="1439646" y="1427035"/>
                  </a:lnTo>
                  <a:lnTo>
                    <a:pt x="1450441" y="1419834"/>
                  </a:lnTo>
                  <a:lnTo>
                    <a:pt x="1452283" y="1417675"/>
                  </a:lnTo>
                  <a:lnTo>
                    <a:pt x="1454759" y="1414792"/>
                  </a:lnTo>
                  <a:lnTo>
                    <a:pt x="1462379" y="1388884"/>
                  </a:lnTo>
                  <a:lnTo>
                    <a:pt x="1462684" y="1382039"/>
                  </a:lnTo>
                  <a:close/>
                </a:path>
                <a:path w="1735454" h="1467485">
                  <a:moveTo>
                    <a:pt x="1555559" y="1337398"/>
                  </a:moveTo>
                  <a:lnTo>
                    <a:pt x="1540802" y="1337398"/>
                  </a:lnTo>
                  <a:lnTo>
                    <a:pt x="1521371" y="1391754"/>
                  </a:lnTo>
                  <a:lnTo>
                    <a:pt x="1519923" y="1395361"/>
                  </a:lnTo>
                  <a:lnTo>
                    <a:pt x="1517040" y="1403997"/>
                  </a:lnTo>
                  <a:lnTo>
                    <a:pt x="1514525" y="1412278"/>
                  </a:lnTo>
                  <a:lnTo>
                    <a:pt x="1513801" y="1414792"/>
                  </a:lnTo>
                  <a:lnTo>
                    <a:pt x="1513090" y="1414792"/>
                  </a:lnTo>
                  <a:lnTo>
                    <a:pt x="1512722" y="1412278"/>
                  </a:lnTo>
                  <a:lnTo>
                    <a:pt x="1510207" y="1403997"/>
                  </a:lnTo>
                  <a:lnTo>
                    <a:pt x="1507324" y="1395361"/>
                  </a:lnTo>
                  <a:lnTo>
                    <a:pt x="1506245" y="1391754"/>
                  </a:lnTo>
                  <a:lnTo>
                    <a:pt x="1486446" y="1337398"/>
                  </a:lnTo>
                  <a:lnTo>
                    <a:pt x="1471688" y="1337398"/>
                  </a:lnTo>
                  <a:lnTo>
                    <a:pt x="1505889" y="1427403"/>
                  </a:lnTo>
                  <a:lnTo>
                    <a:pt x="1521371" y="1427403"/>
                  </a:lnTo>
                  <a:lnTo>
                    <a:pt x="1526159" y="1414792"/>
                  </a:lnTo>
                  <a:lnTo>
                    <a:pt x="1555559" y="1337398"/>
                  </a:lnTo>
                  <a:close/>
                </a:path>
                <a:path w="1735454" h="1467485">
                  <a:moveTo>
                    <a:pt x="1640890" y="1368361"/>
                  </a:moveTo>
                  <a:lnTo>
                    <a:pt x="1639443" y="1361160"/>
                  </a:lnTo>
                  <a:lnTo>
                    <a:pt x="1636560" y="1355394"/>
                  </a:lnTo>
                  <a:lnTo>
                    <a:pt x="1633689" y="1349273"/>
                  </a:lnTo>
                  <a:lnTo>
                    <a:pt x="1631823" y="1347114"/>
                  </a:lnTo>
                  <a:lnTo>
                    <a:pt x="1629359" y="1344244"/>
                  </a:lnTo>
                  <a:lnTo>
                    <a:pt x="1626489" y="1342529"/>
                  </a:lnTo>
                  <a:lnTo>
                    <a:pt x="1626489" y="1374114"/>
                  </a:lnTo>
                  <a:lnTo>
                    <a:pt x="1578965" y="1374114"/>
                  </a:lnTo>
                  <a:lnTo>
                    <a:pt x="1580045" y="1365478"/>
                  </a:lnTo>
                  <a:lnTo>
                    <a:pt x="1582559" y="1359001"/>
                  </a:lnTo>
                  <a:lnTo>
                    <a:pt x="1586890" y="1354315"/>
                  </a:lnTo>
                  <a:lnTo>
                    <a:pt x="1591208" y="1349273"/>
                  </a:lnTo>
                  <a:lnTo>
                    <a:pt x="1596961" y="1347114"/>
                  </a:lnTo>
                  <a:lnTo>
                    <a:pt x="1609204" y="1347114"/>
                  </a:lnTo>
                  <a:lnTo>
                    <a:pt x="1623961" y="1360081"/>
                  </a:lnTo>
                  <a:lnTo>
                    <a:pt x="1625765" y="1364043"/>
                  </a:lnTo>
                  <a:lnTo>
                    <a:pt x="1626425" y="1368361"/>
                  </a:lnTo>
                  <a:lnTo>
                    <a:pt x="1626489" y="1374114"/>
                  </a:lnTo>
                  <a:lnTo>
                    <a:pt x="1626489" y="1342529"/>
                  </a:lnTo>
                  <a:lnTo>
                    <a:pt x="1618564" y="1337754"/>
                  </a:lnTo>
                  <a:lnTo>
                    <a:pt x="1612087" y="1335963"/>
                  </a:lnTo>
                  <a:lnTo>
                    <a:pt x="1596250" y="1335963"/>
                  </a:lnTo>
                  <a:lnTo>
                    <a:pt x="1589405" y="1337754"/>
                  </a:lnTo>
                  <a:lnTo>
                    <a:pt x="1583283" y="1341716"/>
                  </a:lnTo>
                  <a:lnTo>
                    <a:pt x="1577530" y="1345323"/>
                  </a:lnTo>
                  <a:lnTo>
                    <a:pt x="1564919" y="1383118"/>
                  </a:lnTo>
                  <a:lnTo>
                    <a:pt x="1564919" y="1392834"/>
                  </a:lnTo>
                  <a:lnTo>
                    <a:pt x="1591564" y="1427035"/>
                  </a:lnTo>
                  <a:lnTo>
                    <a:pt x="1598764" y="1428838"/>
                  </a:lnTo>
                  <a:lnTo>
                    <a:pt x="1613522" y="1428838"/>
                  </a:lnTo>
                  <a:lnTo>
                    <a:pt x="1618919" y="1428483"/>
                  </a:lnTo>
                  <a:lnTo>
                    <a:pt x="1623250" y="1427403"/>
                  </a:lnTo>
                  <a:lnTo>
                    <a:pt x="1627568" y="1426679"/>
                  </a:lnTo>
                  <a:lnTo>
                    <a:pt x="1632242" y="1425244"/>
                  </a:lnTo>
                  <a:lnTo>
                    <a:pt x="1636560" y="1423073"/>
                  </a:lnTo>
                  <a:lnTo>
                    <a:pt x="1636560" y="1417320"/>
                  </a:lnTo>
                  <a:lnTo>
                    <a:pt x="1636560" y="1411198"/>
                  </a:lnTo>
                  <a:lnTo>
                    <a:pt x="1631886" y="1413002"/>
                  </a:lnTo>
                  <a:lnTo>
                    <a:pt x="1627568" y="1414792"/>
                  </a:lnTo>
                  <a:lnTo>
                    <a:pt x="1623250" y="1415884"/>
                  </a:lnTo>
                  <a:lnTo>
                    <a:pt x="1618919" y="1416596"/>
                  </a:lnTo>
                  <a:lnTo>
                    <a:pt x="1613890" y="1417320"/>
                  </a:lnTo>
                  <a:lnTo>
                    <a:pt x="1598764" y="1417320"/>
                  </a:lnTo>
                  <a:lnTo>
                    <a:pt x="1591919" y="1414437"/>
                  </a:lnTo>
                  <a:lnTo>
                    <a:pt x="1586522" y="1409039"/>
                  </a:lnTo>
                  <a:lnTo>
                    <a:pt x="1581480" y="1403642"/>
                  </a:lnTo>
                  <a:lnTo>
                    <a:pt x="1578965" y="1395361"/>
                  </a:lnTo>
                  <a:lnTo>
                    <a:pt x="1578965" y="1384922"/>
                  </a:lnTo>
                  <a:lnTo>
                    <a:pt x="1640890" y="1384922"/>
                  </a:lnTo>
                  <a:lnTo>
                    <a:pt x="1640890" y="1374114"/>
                  </a:lnTo>
                  <a:lnTo>
                    <a:pt x="1640890" y="1368361"/>
                  </a:lnTo>
                  <a:close/>
                </a:path>
                <a:path w="1735454" h="1467485">
                  <a:moveTo>
                    <a:pt x="1735201" y="1385277"/>
                  </a:moveTo>
                  <a:lnTo>
                    <a:pt x="1733042" y="1378800"/>
                  </a:lnTo>
                  <a:lnTo>
                    <a:pt x="1728000" y="1374114"/>
                  </a:lnTo>
                  <a:lnTo>
                    <a:pt x="1723326" y="1369072"/>
                  </a:lnTo>
                  <a:lnTo>
                    <a:pt x="1716125" y="1366202"/>
                  </a:lnTo>
                  <a:lnTo>
                    <a:pt x="1706765" y="1364754"/>
                  </a:lnTo>
                  <a:lnTo>
                    <a:pt x="1706765" y="1364399"/>
                  </a:lnTo>
                  <a:lnTo>
                    <a:pt x="1711807" y="1363319"/>
                  </a:lnTo>
                  <a:lnTo>
                    <a:pt x="1716125" y="1361516"/>
                  </a:lnTo>
                  <a:lnTo>
                    <a:pt x="1719719" y="1359001"/>
                  </a:lnTo>
                  <a:lnTo>
                    <a:pt x="1723682" y="1356474"/>
                  </a:lnTo>
                  <a:lnTo>
                    <a:pt x="1726565" y="1353235"/>
                  </a:lnTo>
                  <a:lnTo>
                    <a:pt x="1728724" y="1349273"/>
                  </a:lnTo>
                  <a:lnTo>
                    <a:pt x="1730527" y="1345679"/>
                  </a:lnTo>
                  <a:lnTo>
                    <a:pt x="1731606" y="1340993"/>
                  </a:lnTo>
                  <a:lnTo>
                    <a:pt x="1731606" y="1326959"/>
                  </a:lnTo>
                  <a:lnTo>
                    <a:pt x="1728724" y="1319758"/>
                  </a:lnTo>
                  <a:lnTo>
                    <a:pt x="1726272" y="1317599"/>
                  </a:lnTo>
                  <a:lnTo>
                    <a:pt x="1722602" y="1314361"/>
                  </a:lnTo>
                  <a:lnTo>
                    <a:pt x="1717408" y="1310640"/>
                  </a:lnTo>
                  <a:lnTo>
                    <a:pt x="1711032" y="1308061"/>
                  </a:lnTo>
                  <a:lnTo>
                    <a:pt x="1703514" y="1306576"/>
                  </a:lnTo>
                  <a:lnTo>
                    <a:pt x="1694891" y="1306080"/>
                  </a:lnTo>
                  <a:lnTo>
                    <a:pt x="1686966" y="1306080"/>
                  </a:lnTo>
                  <a:lnTo>
                    <a:pt x="1657807" y="1318323"/>
                  </a:lnTo>
                  <a:lnTo>
                    <a:pt x="1664639" y="1327683"/>
                  </a:lnTo>
                  <a:lnTo>
                    <a:pt x="1667522" y="1325524"/>
                  </a:lnTo>
                  <a:lnTo>
                    <a:pt x="1670761" y="1323721"/>
                  </a:lnTo>
                  <a:lnTo>
                    <a:pt x="1690928" y="1317599"/>
                  </a:lnTo>
                  <a:lnTo>
                    <a:pt x="1702079" y="1317599"/>
                  </a:lnTo>
                  <a:lnTo>
                    <a:pt x="1707489" y="1319034"/>
                  </a:lnTo>
                  <a:lnTo>
                    <a:pt x="1711807" y="1322273"/>
                  </a:lnTo>
                  <a:lnTo>
                    <a:pt x="1715770" y="1325880"/>
                  </a:lnTo>
                  <a:lnTo>
                    <a:pt x="1717560" y="1330198"/>
                  </a:lnTo>
                  <a:lnTo>
                    <a:pt x="1717560" y="1340993"/>
                  </a:lnTo>
                  <a:lnTo>
                    <a:pt x="1716481" y="1345323"/>
                  </a:lnTo>
                  <a:lnTo>
                    <a:pt x="1713966" y="1348917"/>
                  </a:lnTo>
                  <a:lnTo>
                    <a:pt x="1711807" y="1352156"/>
                  </a:lnTo>
                  <a:lnTo>
                    <a:pt x="1708200" y="1355039"/>
                  </a:lnTo>
                  <a:lnTo>
                    <a:pt x="1703882" y="1356842"/>
                  </a:lnTo>
                  <a:lnTo>
                    <a:pt x="1699209" y="1358633"/>
                  </a:lnTo>
                  <a:lnTo>
                    <a:pt x="1693799" y="1359712"/>
                  </a:lnTo>
                  <a:lnTo>
                    <a:pt x="1675079" y="1359712"/>
                  </a:lnTo>
                  <a:lnTo>
                    <a:pt x="1675079" y="1371244"/>
                  </a:lnTo>
                  <a:lnTo>
                    <a:pt x="1694167" y="1371244"/>
                  </a:lnTo>
                  <a:lnTo>
                    <a:pt x="1700288" y="1371955"/>
                  </a:lnTo>
                  <a:lnTo>
                    <a:pt x="1705330" y="1373403"/>
                  </a:lnTo>
                  <a:lnTo>
                    <a:pt x="1710359" y="1375194"/>
                  </a:lnTo>
                  <a:lnTo>
                    <a:pt x="1714322" y="1377353"/>
                  </a:lnTo>
                  <a:lnTo>
                    <a:pt x="1716849" y="1380604"/>
                  </a:lnTo>
                  <a:lnTo>
                    <a:pt x="1719719" y="1383842"/>
                  </a:lnTo>
                  <a:lnTo>
                    <a:pt x="1721167" y="1387792"/>
                  </a:lnTo>
                  <a:lnTo>
                    <a:pt x="1721167" y="1400759"/>
                  </a:lnTo>
                  <a:lnTo>
                    <a:pt x="1718640" y="1406512"/>
                  </a:lnTo>
                  <a:lnTo>
                    <a:pt x="1713611" y="1410843"/>
                  </a:lnTo>
                  <a:lnTo>
                    <a:pt x="1708924" y="1415161"/>
                  </a:lnTo>
                  <a:lnTo>
                    <a:pt x="1700999" y="1417320"/>
                  </a:lnTo>
                  <a:lnTo>
                    <a:pt x="1684807" y="1417320"/>
                  </a:lnTo>
                  <a:lnTo>
                    <a:pt x="1657083" y="1409395"/>
                  </a:lnTo>
                  <a:lnTo>
                    <a:pt x="1657083" y="1422361"/>
                  </a:lnTo>
                  <a:lnTo>
                    <a:pt x="1661769" y="1424520"/>
                  </a:lnTo>
                  <a:lnTo>
                    <a:pt x="1667421" y="1426413"/>
                  </a:lnTo>
                  <a:lnTo>
                    <a:pt x="1667573" y="1426413"/>
                  </a:lnTo>
                  <a:lnTo>
                    <a:pt x="1672209" y="1427403"/>
                  </a:lnTo>
                  <a:lnTo>
                    <a:pt x="1678025" y="1428572"/>
                  </a:lnTo>
                  <a:lnTo>
                    <a:pt x="1679092" y="1428572"/>
                  </a:lnTo>
                  <a:lnTo>
                    <a:pt x="1683727" y="1428838"/>
                  </a:lnTo>
                  <a:lnTo>
                    <a:pt x="1689849" y="1428838"/>
                  </a:lnTo>
                  <a:lnTo>
                    <a:pt x="1697329" y="1428572"/>
                  </a:lnTo>
                  <a:lnTo>
                    <a:pt x="1726869" y="1417320"/>
                  </a:lnTo>
                  <a:lnTo>
                    <a:pt x="1727288" y="1416964"/>
                  </a:lnTo>
                  <a:lnTo>
                    <a:pt x="1730527" y="1411922"/>
                  </a:lnTo>
                  <a:lnTo>
                    <a:pt x="1733765" y="1406512"/>
                  </a:lnTo>
                  <a:lnTo>
                    <a:pt x="1735112" y="1400759"/>
                  </a:lnTo>
                  <a:lnTo>
                    <a:pt x="1735201" y="1385277"/>
                  </a:lnTo>
                  <a:close/>
                </a:path>
              </a:pathLst>
            </a:custGeom>
            <a:solidFill>
              <a:srgbClr val="454C4C"/>
            </a:solidFill>
          </p:spPr>
          <p:txBody>
            <a:bodyPr wrap="square" lIns="0" tIns="0" rIns="0" bIns="0" rtlCol="0"/>
            <a:lstStyle/>
            <a:p>
              <a:endParaRPr/>
            </a:p>
          </p:txBody>
        </p:sp>
        <p:sp>
          <p:nvSpPr>
            <p:cNvPr id="20" name="object 20"/>
            <p:cNvSpPr/>
            <p:nvPr/>
          </p:nvSpPr>
          <p:spPr>
            <a:xfrm>
              <a:off x="4107954" y="3572290"/>
              <a:ext cx="676910" cy="1143000"/>
            </a:xfrm>
            <a:custGeom>
              <a:avLst/>
              <a:gdLst/>
              <a:ahLst/>
              <a:cxnLst/>
              <a:rect l="l" t="t" r="r" b="b"/>
              <a:pathLst>
                <a:path w="676910" h="1143000">
                  <a:moveTo>
                    <a:pt x="0" y="0"/>
                  </a:moveTo>
                  <a:lnTo>
                    <a:pt x="676440" y="0"/>
                  </a:lnTo>
                  <a:lnTo>
                    <a:pt x="676440" y="1142644"/>
                  </a:lnTo>
                  <a:lnTo>
                    <a:pt x="0" y="1142644"/>
                  </a:lnTo>
                  <a:lnTo>
                    <a:pt x="0" y="0"/>
                  </a:lnTo>
                  <a:close/>
                </a:path>
              </a:pathLst>
            </a:custGeom>
            <a:ln w="4650">
              <a:solidFill>
                <a:srgbClr val="FFFFFF"/>
              </a:solidFill>
            </a:ln>
          </p:spPr>
          <p:txBody>
            <a:bodyPr wrap="square" lIns="0" tIns="0" rIns="0" bIns="0" rtlCol="0"/>
            <a:lstStyle/>
            <a:p>
              <a:endParaRPr/>
            </a:p>
          </p:txBody>
        </p:sp>
        <p:pic>
          <p:nvPicPr>
            <p:cNvPr id="21" name="object 21"/>
            <p:cNvPicPr/>
            <p:nvPr/>
          </p:nvPicPr>
          <p:blipFill>
            <a:blip r:embed="rId4" cstate="print"/>
            <a:stretch>
              <a:fillRect/>
            </a:stretch>
          </p:blipFill>
          <p:spPr>
            <a:xfrm>
              <a:off x="4376165" y="4391643"/>
              <a:ext cx="140398" cy="140766"/>
            </a:xfrm>
            <a:prstGeom prst="rect">
              <a:avLst/>
            </a:prstGeom>
          </p:spPr>
        </p:pic>
        <p:sp>
          <p:nvSpPr>
            <p:cNvPr id="22" name="object 22"/>
            <p:cNvSpPr/>
            <p:nvPr/>
          </p:nvSpPr>
          <p:spPr>
            <a:xfrm>
              <a:off x="4192917" y="3761647"/>
              <a:ext cx="507365" cy="362585"/>
            </a:xfrm>
            <a:custGeom>
              <a:avLst/>
              <a:gdLst/>
              <a:ahLst/>
              <a:cxnLst/>
              <a:rect l="l" t="t" r="r" b="b"/>
              <a:pathLst>
                <a:path w="507364" h="362585">
                  <a:moveTo>
                    <a:pt x="506882" y="288366"/>
                  </a:moveTo>
                  <a:lnTo>
                    <a:pt x="0" y="288366"/>
                  </a:lnTo>
                  <a:lnTo>
                    <a:pt x="0" y="362521"/>
                  </a:lnTo>
                  <a:lnTo>
                    <a:pt x="506882" y="362521"/>
                  </a:lnTo>
                  <a:lnTo>
                    <a:pt x="506882" y="288366"/>
                  </a:lnTo>
                  <a:close/>
                </a:path>
                <a:path w="507364" h="362585">
                  <a:moveTo>
                    <a:pt x="506882" y="144360"/>
                  </a:moveTo>
                  <a:lnTo>
                    <a:pt x="0" y="144360"/>
                  </a:lnTo>
                  <a:lnTo>
                    <a:pt x="0" y="218160"/>
                  </a:lnTo>
                  <a:lnTo>
                    <a:pt x="506882" y="218160"/>
                  </a:lnTo>
                  <a:lnTo>
                    <a:pt x="506882" y="144360"/>
                  </a:lnTo>
                  <a:close/>
                </a:path>
                <a:path w="507364" h="362585">
                  <a:moveTo>
                    <a:pt x="506882" y="0"/>
                  </a:moveTo>
                  <a:lnTo>
                    <a:pt x="0" y="0"/>
                  </a:lnTo>
                  <a:lnTo>
                    <a:pt x="0" y="74155"/>
                  </a:lnTo>
                  <a:lnTo>
                    <a:pt x="506882" y="74155"/>
                  </a:lnTo>
                  <a:lnTo>
                    <a:pt x="506882" y="0"/>
                  </a:lnTo>
                  <a:close/>
                </a:path>
              </a:pathLst>
            </a:custGeom>
            <a:solidFill>
              <a:srgbClr val="FFFFFF"/>
            </a:solidFill>
          </p:spPr>
          <p:txBody>
            <a:bodyPr wrap="square" lIns="0" tIns="0" rIns="0" bIns="0" rtlCol="0"/>
            <a:lstStyle/>
            <a:p>
              <a:endParaRPr/>
            </a:p>
          </p:txBody>
        </p:sp>
        <p:sp>
          <p:nvSpPr>
            <p:cNvPr id="23" name="object 23"/>
            <p:cNvSpPr/>
            <p:nvPr/>
          </p:nvSpPr>
          <p:spPr>
            <a:xfrm>
              <a:off x="4284002" y="4878371"/>
              <a:ext cx="353060" cy="161290"/>
            </a:xfrm>
            <a:custGeom>
              <a:avLst/>
              <a:gdLst/>
              <a:ahLst/>
              <a:cxnLst/>
              <a:rect l="l" t="t" r="r" b="b"/>
              <a:pathLst>
                <a:path w="353060" h="161289">
                  <a:moveTo>
                    <a:pt x="11163" y="31318"/>
                  </a:moveTo>
                  <a:lnTo>
                    <a:pt x="0" y="31318"/>
                  </a:lnTo>
                  <a:lnTo>
                    <a:pt x="0" y="161277"/>
                  </a:lnTo>
                  <a:lnTo>
                    <a:pt x="13677" y="161277"/>
                  </a:lnTo>
                  <a:lnTo>
                    <a:pt x="13677" y="119519"/>
                  </a:lnTo>
                  <a:lnTo>
                    <a:pt x="12954" y="113753"/>
                  </a:lnTo>
                  <a:lnTo>
                    <a:pt x="12835" y="110159"/>
                  </a:lnTo>
                  <a:lnTo>
                    <a:pt x="12598" y="108711"/>
                  </a:lnTo>
                  <a:lnTo>
                    <a:pt x="26268" y="108711"/>
                  </a:lnTo>
                  <a:lnTo>
                    <a:pt x="24472" y="107276"/>
                  </a:lnTo>
                  <a:lnTo>
                    <a:pt x="20523" y="104762"/>
                  </a:lnTo>
                  <a:lnTo>
                    <a:pt x="17640" y="100799"/>
                  </a:lnTo>
                  <a:lnTo>
                    <a:pt x="16192" y="95402"/>
                  </a:lnTo>
                  <a:lnTo>
                    <a:pt x="14401" y="90360"/>
                  </a:lnTo>
                  <a:lnTo>
                    <a:pt x="13677" y="83883"/>
                  </a:lnTo>
                  <a:lnTo>
                    <a:pt x="13677" y="66598"/>
                  </a:lnTo>
                  <a:lnTo>
                    <a:pt x="14757" y="60477"/>
                  </a:lnTo>
                  <a:lnTo>
                    <a:pt x="16560" y="55803"/>
                  </a:lnTo>
                  <a:lnTo>
                    <a:pt x="17995" y="50761"/>
                  </a:lnTo>
                  <a:lnTo>
                    <a:pt x="20878" y="47155"/>
                  </a:lnTo>
                  <a:lnTo>
                    <a:pt x="24841" y="44996"/>
                  </a:lnTo>
                  <a:lnTo>
                    <a:pt x="25349" y="44640"/>
                  </a:lnTo>
                  <a:lnTo>
                    <a:pt x="12954" y="44640"/>
                  </a:lnTo>
                  <a:lnTo>
                    <a:pt x="11405" y="33121"/>
                  </a:lnTo>
                  <a:lnTo>
                    <a:pt x="11363" y="32804"/>
                  </a:lnTo>
                  <a:lnTo>
                    <a:pt x="11260" y="32042"/>
                  </a:lnTo>
                  <a:lnTo>
                    <a:pt x="11163" y="31318"/>
                  </a:lnTo>
                  <a:close/>
                </a:path>
                <a:path w="353060" h="161289">
                  <a:moveTo>
                    <a:pt x="26268" y="108711"/>
                  </a:moveTo>
                  <a:lnTo>
                    <a:pt x="13677" y="108711"/>
                  </a:lnTo>
                  <a:lnTo>
                    <a:pt x="17272" y="113753"/>
                  </a:lnTo>
                  <a:lnTo>
                    <a:pt x="20154" y="115912"/>
                  </a:lnTo>
                  <a:lnTo>
                    <a:pt x="22682" y="118071"/>
                  </a:lnTo>
                  <a:lnTo>
                    <a:pt x="25552" y="119519"/>
                  </a:lnTo>
                  <a:lnTo>
                    <a:pt x="29159" y="120954"/>
                  </a:lnTo>
                  <a:lnTo>
                    <a:pt x="32753" y="122034"/>
                  </a:lnTo>
                  <a:lnTo>
                    <a:pt x="37084" y="122758"/>
                  </a:lnTo>
                  <a:lnTo>
                    <a:pt x="49314" y="122758"/>
                  </a:lnTo>
                  <a:lnTo>
                    <a:pt x="55803" y="120954"/>
                  </a:lnTo>
                  <a:lnTo>
                    <a:pt x="61201" y="117360"/>
                  </a:lnTo>
                  <a:lnTo>
                    <a:pt x="66954" y="113753"/>
                  </a:lnTo>
                  <a:lnTo>
                    <a:pt x="68803" y="111594"/>
                  </a:lnTo>
                  <a:lnTo>
                    <a:pt x="33477" y="111594"/>
                  </a:lnTo>
                  <a:lnTo>
                    <a:pt x="28079" y="110159"/>
                  </a:lnTo>
                  <a:lnTo>
                    <a:pt x="26268" y="108711"/>
                  </a:lnTo>
                  <a:close/>
                </a:path>
                <a:path w="353060" h="161289">
                  <a:moveTo>
                    <a:pt x="68757" y="41401"/>
                  </a:moveTo>
                  <a:lnTo>
                    <a:pt x="48234" y="41401"/>
                  </a:lnTo>
                  <a:lnTo>
                    <a:pt x="54356" y="44272"/>
                  </a:lnTo>
                  <a:lnTo>
                    <a:pt x="58674" y="50761"/>
                  </a:lnTo>
                  <a:lnTo>
                    <a:pt x="61315" y="55803"/>
                  </a:lnTo>
                  <a:lnTo>
                    <a:pt x="63220" y="61607"/>
                  </a:lnTo>
                  <a:lnTo>
                    <a:pt x="64396" y="68328"/>
                  </a:lnTo>
                  <a:lnTo>
                    <a:pt x="64795" y="75958"/>
                  </a:lnTo>
                  <a:lnTo>
                    <a:pt x="64690" y="83400"/>
                  </a:lnTo>
                  <a:lnTo>
                    <a:pt x="63715" y="88912"/>
                  </a:lnTo>
                  <a:lnTo>
                    <a:pt x="60121" y="99720"/>
                  </a:lnTo>
                  <a:lnTo>
                    <a:pt x="57594" y="104038"/>
                  </a:lnTo>
                  <a:lnTo>
                    <a:pt x="53632" y="106921"/>
                  </a:lnTo>
                  <a:lnTo>
                    <a:pt x="50037" y="110159"/>
                  </a:lnTo>
                  <a:lnTo>
                    <a:pt x="45351" y="111594"/>
                  </a:lnTo>
                  <a:lnTo>
                    <a:pt x="68803" y="111594"/>
                  </a:lnTo>
                  <a:lnTo>
                    <a:pt x="78841" y="75958"/>
                  </a:lnTo>
                  <a:lnTo>
                    <a:pt x="78411" y="68328"/>
                  </a:lnTo>
                  <a:lnTo>
                    <a:pt x="78313" y="66598"/>
                  </a:lnTo>
                  <a:lnTo>
                    <a:pt x="78228" y="65090"/>
                  </a:lnTo>
                  <a:lnTo>
                    <a:pt x="76385" y="55803"/>
                  </a:lnTo>
                  <a:lnTo>
                    <a:pt x="73221" y="47812"/>
                  </a:lnTo>
                  <a:lnTo>
                    <a:pt x="68757" y="41401"/>
                  </a:lnTo>
                  <a:close/>
                </a:path>
                <a:path w="353060" h="161289">
                  <a:moveTo>
                    <a:pt x="42113" y="29883"/>
                  </a:moveTo>
                  <a:lnTo>
                    <a:pt x="37084" y="29883"/>
                  </a:lnTo>
                  <a:lnTo>
                    <a:pt x="32693" y="30618"/>
                  </a:lnTo>
                  <a:lnTo>
                    <a:pt x="29159" y="32042"/>
                  </a:lnTo>
                  <a:lnTo>
                    <a:pt x="25552" y="33121"/>
                  </a:lnTo>
                  <a:lnTo>
                    <a:pt x="22682" y="34912"/>
                  </a:lnTo>
                  <a:lnTo>
                    <a:pt x="20154" y="37439"/>
                  </a:lnTo>
                  <a:lnTo>
                    <a:pt x="17640" y="39598"/>
                  </a:lnTo>
                  <a:lnTo>
                    <a:pt x="15481" y="42113"/>
                  </a:lnTo>
                  <a:lnTo>
                    <a:pt x="13677" y="44640"/>
                  </a:lnTo>
                  <a:lnTo>
                    <a:pt x="25349" y="44640"/>
                  </a:lnTo>
                  <a:lnTo>
                    <a:pt x="28435" y="42481"/>
                  </a:lnTo>
                  <a:lnTo>
                    <a:pt x="33477" y="41401"/>
                  </a:lnTo>
                  <a:lnTo>
                    <a:pt x="68757" y="41401"/>
                  </a:lnTo>
                  <a:lnTo>
                    <a:pt x="63431" y="36408"/>
                  </a:lnTo>
                  <a:lnTo>
                    <a:pt x="57192" y="32804"/>
                  </a:lnTo>
                  <a:lnTo>
                    <a:pt x="50075" y="30618"/>
                  </a:lnTo>
                  <a:lnTo>
                    <a:pt x="42113" y="29883"/>
                  </a:lnTo>
                  <a:close/>
                </a:path>
                <a:path w="353060" h="161289">
                  <a:moveTo>
                    <a:pt x="102603" y="31318"/>
                  </a:moveTo>
                  <a:lnTo>
                    <a:pt x="88201" y="31318"/>
                  </a:lnTo>
                  <a:lnTo>
                    <a:pt x="122034" y="121323"/>
                  </a:lnTo>
                  <a:lnTo>
                    <a:pt x="137515" y="121323"/>
                  </a:lnTo>
                  <a:lnTo>
                    <a:pt x="142307" y="108711"/>
                  </a:lnTo>
                  <a:lnTo>
                    <a:pt x="129603" y="108711"/>
                  </a:lnTo>
                  <a:lnTo>
                    <a:pt x="128879" y="106197"/>
                  </a:lnTo>
                  <a:lnTo>
                    <a:pt x="127800" y="102603"/>
                  </a:lnTo>
                  <a:lnTo>
                    <a:pt x="126720" y="97916"/>
                  </a:lnTo>
                  <a:lnTo>
                    <a:pt x="123837" y="89280"/>
                  </a:lnTo>
                  <a:lnTo>
                    <a:pt x="122402" y="85674"/>
                  </a:lnTo>
                  <a:lnTo>
                    <a:pt x="102603" y="31318"/>
                  </a:lnTo>
                  <a:close/>
                </a:path>
                <a:path w="353060" h="161289">
                  <a:moveTo>
                    <a:pt x="171716" y="31318"/>
                  </a:moveTo>
                  <a:lnTo>
                    <a:pt x="157314" y="31318"/>
                  </a:lnTo>
                  <a:lnTo>
                    <a:pt x="137515" y="85674"/>
                  </a:lnTo>
                  <a:lnTo>
                    <a:pt x="136080" y="89280"/>
                  </a:lnTo>
                  <a:lnTo>
                    <a:pt x="135000" y="93598"/>
                  </a:lnTo>
                  <a:lnTo>
                    <a:pt x="133197" y="97916"/>
                  </a:lnTo>
                  <a:lnTo>
                    <a:pt x="130683" y="106197"/>
                  </a:lnTo>
                  <a:lnTo>
                    <a:pt x="129959" y="108711"/>
                  </a:lnTo>
                  <a:lnTo>
                    <a:pt x="142307" y="108711"/>
                  </a:lnTo>
                  <a:lnTo>
                    <a:pt x="171716" y="31318"/>
                  </a:lnTo>
                  <a:close/>
                </a:path>
                <a:path w="353060" h="161289">
                  <a:moveTo>
                    <a:pt x="228231" y="29883"/>
                  </a:moveTo>
                  <a:lnTo>
                    <a:pt x="212394" y="29883"/>
                  </a:lnTo>
                  <a:lnTo>
                    <a:pt x="205562" y="31673"/>
                  </a:lnTo>
                  <a:lnTo>
                    <a:pt x="199796" y="35636"/>
                  </a:lnTo>
                  <a:lnTo>
                    <a:pt x="193675" y="39242"/>
                  </a:lnTo>
                  <a:lnTo>
                    <a:pt x="181076" y="77038"/>
                  </a:lnTo>
                  <a:lnTo>
                    <a:pt x="181414" y="84055"/>
                  </a:lnTo>
                  <a:lnTo>
                    <a:pt x="201244" y="117716"/>
                  </a:lnTo>
                  <a:lnTo>
                    <a:pt x="215277" y="122758"/>
                  </a:lnTo>
                  <a:lnTo>
                    <a:pt x="230035" y="122758"/>
                  </a:lnTo>
                  <a:lnTo>
                    <a:pt x="235077" y="122402"/>
                  </a:lnTo>
                  <a:lnTo>
                    <a:pt x="239395" y="121323"/>
                  </a:lnTo>
                  <a:lnTo>
                    <a:pt x="244081" y="120599"/>
                  </a:lnTo>
                  <a:lnTo>
                    <a:pt x="248399" y="119164"/>
                  </a:lnTo>
                  <a:lnTo>
                    <a:pt x="253072" y="116992"/>
                  </a:lnTo>
                  <a:lnTo>
                    <a:pt x="253072" y="111239"/>
                  </a:lnTo>
                  <a:lnTo>
                    <a:pt x="215277" y="111239"/>
                  </a:lnTo>
                  <a:lnTo>
                    <a:pt x="208076" y="108356"/>
                  </a:lnTo>
                  <a:lnTo>
                    <a:pt x="197993" y="97561"/>
                  </a:lnTo>
                  <a:lnTo>
                    <a:pt x="195478" y="89280"/>
                  </a:lnTo>
                  <a:lnTo>
                    <a:pt x="195122" y="78841"/>
                  </a:lnTo>
                  <a:lnTo>
                    <a:pt x="257035" y="78841"/>
                  </a:lnTo>
                  <a:lnTo>
                    <a:pt x="257035" y="68033"/>
                  </a:lnTo>
                  <a:lnTo>
                    <a:pt x="195478" y="68033"/>
                  </a:lnTo>
                  <a:lnTo>
                    <a:pt x="196202" y="59397"/>
                  </a:lnTo>
                  <a:lnTo>
                    <a:pt x="198716" y="52920"/>
                  </a:lnTo>
                  <a:lnTo>
                    <a:pt x="203034" y="48234"/>
                  </a:lnTo>
                  <a:lnTo>
                    <a:pt x="207352" y="43192"/>
                  </a:lnTo>
                  <a:lnTo>
                    <a:pt x="213118" y="41033"/>
                  </a:lnTo>
                  <a:lnTo>
                    <a:pt x="247980" y="41033"/>
                  </a:lnTo>
                  <a:lnTo>
                    <a:pt x="245516" y="38163"/>
                  </a:lnTo>
                  <a:lnTo>
                    <a:pt x="234721" y="31673"/>
                  </a:lnTo>
                  <a:lnTo>
                    <a:pt x="228231" y="29883"/>
                  </a:lnTo>
                  <a:close/>
                </a:path>
                <a:path w="353060" h="161289">
                  <a:moveTo>
                    <a:pt x="253072" y="105117"/>
                  </a:moveTo>
                  <a:lnTo>
                    <a:pt x="243712" y="108711"/>
                  </a:lnTo>
                  <a:lnTo>
                    <a:pt x="239395" y="109804"/>
                  </a:lnTo>
                  <a:lnTo>
                    <a:pt x="235077" y="110515"/>
                  </a:lnTo>
                  <a:lnTo>
                    <a:pt x="230035" y="111239"/>
                  </a:lnTo>
                  <a:lnTo>
                    <a:pt x="253072" y="111239"/>
                  </a:lnTo>
                  <a:lnTo>
                    <a:pt x="253072" y="105117"/>
                  </a:lnTo>
                  <a:close/>
                </a:path>
                <a:path w="353060" h="161289">
                  <a:moveTo>
                    <a:pt x="247980" y="41033"/>
                  </a:moveTo>
                  <a:lnTo>
                    <a:pt x="225361" y="41033"/>
                  </a:lnTo>
                  <a:lnTo>
                    <a:pt x="229679" y="42113"/>
                  </a:lnTo>
                  <a:lnTo>
                    <a:pt x="232918" y="44272"/>
                  </a:lnTo>
                  <a:lnTo>
                    <a:pt x="236156" y="46799"/>
                  </a:lnTo>
                  <a:lnTo>
                    <a:pt x="238683" y="49682"/>
                  </a:lnTo>
                  <a:lnTo>
                    <a:pt x="240118" y="54000"/>
                  </a:lnTo>
                  <a:lnTo>
                    <a:pt x="241922" y="57962"/>
                  </a:lnTo>
                  <a:lnTo>
                    <a:pt x="242579" y="62280"/>
                  </a:lnTo>
                  <a:lnTo>
                    <a:pt x="242633" y="68033"/>
                  </a:lnTo>
                  <a:lnTo>
                    <a:pt x="257035" y="68033"/>
                  </a:lnTo>
                  <a:lnTo>
                    <a:pt x="257035" y="62280"/>
                  </a:lnTo>
                  <a:lnTo>
                    <a:pt x="255600" y="55079"/>
                  </a:lnTo>
                  <a:lnTo>
                    <a:pt x="252717" y="49314"/>
                  </a:lnTo>
                  <a:lnTo>
                    <a:pt x="249834" y="43192"/>
                  </a:lnTo>
                  <a:lnTo>
                    <a:pt x="247980" y="41033"/>
                  </a:lnTo>
                  <a:close/>
                </a:path>
                <a:path w="353060" h="161289">
                  <a:moveTo>
                    <a:pt x="341226" y="11518"/>
                  </a:moveTo>
                  <a:lnTo>
                    <a:pt x="318236" y="11518"/>
                  </a:lnTo>
                  <a:lnTo>
                    <a:pt x="323278" y="13322"/>
                  </a:lnTo>
                  <a:lnTo>
                    <a:pt x="327596" y="16916"/>
                  </a:lnTo>
                  <a:lnTo>
                    <a:pt x="331558" y="20523"/>
                  </a:lnTo>
                  <a:lnTo>
                    <a:pt x="333362" y="25552"/>
                  </a:lnTo>
                  <a:lnTo>
                    <a:pt x="333362" y="37795"/>
                  </a:lnTo>
                  <a:lnTo>
                    <a:pt x="332282" y="42837"/>
                  </a:lnTo>
                  <a:lnTo>
                    <a:pt x="330123" y="47523"/>
                  </a:lnTo>
                  <a:lnTo>
                    <a:pt x="328320" y="51841"/>
                  </a:lnTo>
                  <a:lnTo>
                    <a:pt x="325081" y="56514"/>
                  </a:lnTo>
                  <a:lnTo>
                    <a:pt x="321119" y="61201"/>
                  </a:lnTo>
                  <a:lnTo>
                    <a:pt x="316801" y="65874"/>
                  </a:lnTo>
                  <a:lnTo>
                    <a:pt x="312115" y="71272"/>
                  </a:lnTo>
                  <a:lnTo>
                    <a:pt x="305993" y="77393"/>
                  </a:lnTo>
                  <a:lnTo>
                    <a:pt x="273951" y="109804"/>
                  </a:lnTo>
                  <a:lnTo>
                    <a:pt x="273951" y="121323"/>
                  </a:lnTo>
                  <a:lnTo>
                    <a:pt x="352437" y="121323"/>
                  </a:lnTo>
                  <a:lnTo>
                    <a:pt x="352437" y="108711"/>
                  </a:lnTo>
                  <a:lnTo>
                    <a:pt x="291236" y="108711"/>
                  </a:lnTo>
                  <a:lnTo>
                    <a:pt x="291236" y="108000"/>
                  </a:lnTo>
                  <a:lnTo>
                    <a:pt x="317157" y="82080"/>
                  </a:lnTo>
                  <a:lnTo>
                    <a:pt x="323278" y="76314"/>
                  </a:lnTo>
                  <a:lnTo>
                    <a:pt x="328675" y="70561"/>
                  </a:lnTo>
                  <a:lnTo>
                    <a:pt x="332994" y="65519"/>
                  </a:lnTo>
                  <a:lnTo>
                    <a:pt x="337680" y="60121"/>
                  </a:lnTo>
                  <a:lnTo>
                    <a:pt x="341274" y="54711"/>
                  </a:lnTo>
                  <a:lnTo>
                    <a:pt x="346316" y="43916"/>
                  </a:lnTo>
                  <a:lnTo>
                    <a:pt x="347395" y="37795"/>
                  </a:lnTo>
                  <a:lnTo>
                    <a:pt x="347395" y="25196"/>
                  </a:lnTo>
                  <a:lnTo>
                    <a:pt x="345960" y="19443"/>
                  </a:lnTo>
                  <a:lnTo>
                    <a:pt x="343077" y="14757"/>
                  </a:lnTo>
                  <a:lnTo>
                    <a:pt x="341226" y="11518"/>
                  </a:lnTo>
                  <a:close/>
                </a:path>
                <a:path w="353060" h="161289">
                  <a:moveTo>
                    <a:pt x="318960" y="0"/>
                  </a:moveTo>
                  <a:lnTo>
                    <a:pt x="306717" y="0"/>
                  </a:lnTo>
                  <a:lnTo>
                    <a:pt x="302399" y="355"/>
                  </a:lnTo>
                  <a:lnTo>
                    <a:pt x="298081" y="1803"/>
                  </a:lnTo>
                  <a:lnTo>
                    <a:pt x="293763" y="2882"/>
                  </a:lnTo>
                  <a:lnTo>
                    <a:pt x="275755" y="13677"/>
                  </a:lnTo>
                  <a:lnTo>
                    <a:pt x="282956" y="22682"/>
                  </a:lnTo>
                  <a:lnTo>
                    <a:pt x="287642" y="19075"/>
                  </a:lnTo>
                  <a:lnTo>
                    <a:pt x="291960" y="16560"/>
                  </a:lnTo>
                  <a:lnTo>
                    <a:pt x="296278" y="14401"/>
                  </a:lnTo>
                  <a:lnTo>
                    <a:pt x="300951" y="12598"/>
                  </a:lnTo>
                  <a:lnTo>
                    <a:pt x="305993" y="11518"/>
                  </a:lnTo>
                  <a:lnTo>
                    <a:pt x="341226" y="11518"/>
                  </a:lnTo>
                  <a:lnTo>
                    <a:pt x="340194" y="9715"/>
                  </a:lnTo>
                  <a:lnTo>
                    <a:pt x="335876" y="6121"/>
                  </a:lnTo>
                  <a:lnTo>
                    <a:pt x="330835" y="3594"/>
                  </a:lnTo>
                  <a:lnTo>
                    <a:pt x="325437" y="1079"/>
                  </a:lnTo>
                  <a:lnTo>
                    <a:pt x="318960" y="0"/>
                  </a:lnTo>
                  <a:close/>
                </a:path>
              </a:pathLst>
            </a:custGeom>
            <a:solidFill>
              <a:srgbClr val="454C4C"/>
            </a:solidFill>
          </p:spPr>
          <p:txBody>
            <a:bodyPr wrap="square" lIns="0" tIns="0" rIns="0" bIns="0" rtlCol="0"/>
            <a:lstStyle/>
            <a:p>
              <a:endParaRPr/>
            </a:p>
          </p:txBody>
        </p:sp>
      </p:grpSp>
      <p:grpSp>
        <p:nvGrpSpPr>
          <p:cNvPr id="24" name="object 24"/>
          <p:cNvGrpSpPr/>
          <p:nvPr/>
        </p:nvGrpSpPr>
        <p:grpSpPr>
          <a:xfrm>
            <a:off x="6787996" y="3569965"/>
            <a:ext cx="681355" cy="1147445"/>
            <a:chOff x="6787996" y="3569965"/>
            <a:chExt cx="681355" cy="1147445"/>
          </a:xfrm>
        </p:grpSpPr>
        <p:sp>
          <p:nvSpPr>
            <p:cNvPr id="25" name="object 25"/>
            <p:cNvSpPr/>
            <p:nvPr/>
          </p:nvSpPr>
          <p:spPr>
            <a:xfrm>
              <a:off x="6790321" y="3572290"/>
              <a:ext cx="676910" cy="1143000"/>
            </a:xfrm>
            <a:custGeom>
              <a:avLst/>
              <a:gdLst/>
              <a:ahLst/>
              <a:cxnLst/>
              <a:rect l="l" t="t" r="r" b="b"/>
              <a:pathLst>
                <a:path w="676909" h="1143000">
                  <a:moveTo>
                    <a:pt x="676440" y="0"/>
                  </a:moveTo>
                  <a:lnTo>
                    <a:pt x="0" y="0"/>
                  </a:lnTo>
                  <a:lnTo>
                    <a:pt x="0" y="1142644"/>
                  </a:lnTo>
                  <a:lnTo>
                    <a:pt x="676440" y="1142644"/>
                  </a:lnTo>
                  <a:lnTo>
                    <a:pt x="676440" y="0"/>
                  </a:lnTo>
                  <a:close/>
                </a:path>
              </a:pathLst>
            </a:custGeom>
            <a:solidFill>
              <a:srgbClr val="454C4C"/>
            </a:solidFill>
          </p:spPr>
          <p:txBody>
            <a:bodyPr wrap="square" lIns="0" tIns="0" rIns="0" bIns="0" rtlCol="0"/>
            <a:lstStyle/>
            <a:p>
              <a:endParaRPr/>
            </a:p>
          </p:txBody>
        </p:sp>
        <p:sp>
          <p:nvSpPr>
            <p:cNvPr id="26" name="object 26"/>
            <p:cNvSpPr/>
            <p:nvPr/>
          </p:nvSpPr>
          <p:spPr>
            <a:xfrm>
              <a:off x="6790321" y="3572290"/>
              <a:ext cx="676910" cy="1143000"/>
            </a:xfrm>
            <a:custGeom>
              <a:avLst/>
              <a:gdLst/>
              <a:ahLst/>
              <a:cxnLst/>
              <a:rect l="l" t="t" r="r" b="b"/>
              <a:pathLst>
                <a:path w="676909" h="1143000">
                  <a:moveTo>
                    <a:pt x="0" y="0"/>
                  </a:moveTo>
                  <a:lnTo>
                    <a:pt x="676440" y="0"/>
                  </a:lnTo>
                  <a:lnTo>
                    <a:pt x="676440" y="1142644"/>
                  </a:lnTo>
                  <a:lnTo>
                    <a:pt x="0" y="1142644"/>
                  </a:lnTo>
                  <a:lnTo>
                    <a:pt x="0" y="0"/>
                  </a:lnTo>
                  <a:close/>
                </a:path>
              </a:pathLst>
            </a:custGeom>
            <a:ln w="4650">
              <a:solidFill>
                <a:srgbClr val="FFFFFF"/>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7058164" y="4391643"/>
              <a:ext cx="140398" cy="140766"/>
            </a:xfrm>
            <a:prstGeom prst="rect">
              <a:avLst/>
            </a:prstGeom>
          </p:spPr>
        </p:pic>
        <p:sp>
          <p:nvSpPr>
            <p:cNvPr id="28" name="object 28"/>
            <p:cNvSpPr/>
            <p:nvPr/>
          </p:nvSpPr>
          <p:spPr>
            <a:xfrm>
              <a:off x="6874916" y="3761647"/>
              <a:ext cx="507365" cy="362585"/>
            </a:xfrm>
            <a:custGeom>
              <a:avLst/>
              <a:gdLst/>
              <a:ahLst/>
              <a:cxnLst/>
              <a:rect l="l" t="t" r="r" b="b"/>
              <a:pathLst>
                <a:path w="507365" h="362585">
                  <a:moveTo>
                    <a:pt x="506882" y="288366"/>
                  </a:moveTo>
                  <a:lnTo>
                    <a:pt x="0" y="288366"/>
                  </a:lnTo>
                  <a:lnTo>
                    <a:pt x="0" y="362521"/>
                  </a:lnTo>
                  <a:lnTo>
                    <a:pt x="506882" y="362521"/>
                  </a:lnTo>
                  <a:lnTo>
                    <a:pt x="506882" y="288366"/>
                  </a:lnTo>
                  <a:close/>
                </a:path>
                <a:path w="507365" h="362585">
                  <a:moveTo>
                    <a:pt x="506882" y="144360"/>
                  </a:moveTo>
                  <a:lnTo>
                    <a:pt x="0" y="144360"/>
                  </a:lnTo>
                  <a:lnTo>
                    <a:pt x="0" y="218160"/>
                  </a:lnTo>
                  <a:lnTo>
                    <a:pt x="506882" y="218160"/>
                  </a:lnTo>
                  <a:lnTo>
                    <a:pt x="506882" y="144360"/>
                  </a:lnTo>
                  <a:close/>
                </a:path>
                <a:path w="507365" h="362585">
                  <a:moveTo>
                    <a:pt x="506882" y="0"/>
                  </a:moveTo>
                  <a:lnTo>
                    <a:pt x="0" y="0"/>
                  </a:lnTo>
                  <a:lnTo>
                    <a:pt x="0" y="74155"/>
                  </a:lnTo>
                  <a:lnTo>
                    <a:pt x="506882" y="74155"/>
                  </a:lnTo>
                  <a:lnTo>
                    <a:pt x="506882" y="0"/>
                  </a:lnTo>
                  <a:close/>
                </a:path>
              </a:pathLst>
            </a:custGeom>
            <a:solidFill>
              <a:srgbClr val="FFFFFF"/>
            </a:solidFill>
          </p:spPr>
          <p:txBody>
            <a:bodyPr wrap="square" lIns="0" tIns="0" rIns="0" bIns="0" rtlCol="0"/>
            <a:lstStyle/>
            <a:p>
              <a:endParaRPr/>
            </a:p>
          </p:txBody>
        </p:sp>
      </p:grpSp>
      <p:sp>
        <p:nvSpPr>
          <p:cNvPr id="29" name="object 29"/>
          <p:cNvSpPr/>
          <p:nvPr/>
        </p:nvSpPr>
        <p:spPr>
          <a:xfrm>
            <a:off x="6966001" y="4879094"/>
            <a:ext cx="358775" cy="160655"/>
          </a:xfrm>
          <a:custGeom>
            <a:avLst/>
            <a:gdLst/>
            <a:ahLst/>
            <a:cxnLst/>
            <a:rect l="l" t="t" r="r" b="b"/>
            <a:pathLst>
              <a:path w="358775" h="160654">
                <a:moveTo>
                  <a:pt x="11518" y="30594"/>
                </a:moveTo>
                <a:lnTo>
                  <a:pt x="0" y="30594"/>
                </a:lnTo>
                <a:lnTo>
                  <a:pt x="0" y="160553"/>
                </a:lnTo>
                <a:lnTo>
                  <a:pt x="13677" y="160553"/>
                </a:lnTo>
                <a:lnTo>
                  <a:pt x="13677" y="118795"/>
                </a:lnTo>
                <a:lnTo>
                  <a:pt x="13322" y="115912"/>
                </a:lnTo>
                <a:lnTo>
                  <a:pt x="13322" y="113030"/>
                </a:lnTo>
                <a:lnTo>
                  <a:pt x="13045" y="110871"/>
                </a:lnTo>
                <a:lnTo>
                  <a:pt x="12953" y="107988"/>
                </a:lnTo>
                <a:lnTo>
                  <a:pt x="26445" y="107988"/>
                </a:lnTo>
                <a:lnTo>
                  <a:pt x="24472" y="106553"/>
                </a:lnTo>
                <a:lnTo>
                  <a:pt x="13677" y="83159"/>
                </a:lnTo>
                <a:lnTo>
                  <a:pt x="13677" y="73075"/>
                </a:lnTo>
                <a:lnTo>
                  <a:pt x="13948" y="67604"/>
                </a:lnTo>
                <a:lnTo>
                  <a:pt x="14033" y="65874"/>
                </a:lnTo>
                <a:lnTo>
                  <a:pt x="14757" y="59753"/>
                </a:lnTo>
                <a:lnTo>
                  <a:pt x="16560" y="55079"/>
                </a:lnTo>
                <a:lnTo>
                  <a:pt x="18364" y="50038"/>
                </a:lnTo>
                <a:lnTo>
                  <a:pt x="21234" y="46431"/>
                </a:lnTo>
                <a:lnTo>
                  <a:pt x="24841" y="44272"/>
                </a:lnTo>
                <a:lnTo>
                  <a:pt x="25401" y="43916"/>
                </a:lnTo>
                <a:lnTo>
                  <a:pt x="13322" y="43916"/>
                </a:lnTo>
                <a:lnTo>
                  <a:pt x="11763" y="32397"/>
                </a:lnTo>
                <a:lnTo>
                  <a:pt x="11720" y="32080"/>
                </a:lnTo>
                <a:lnTo>
                  <a:pt x="11616" y="31318"/>
                </a:lnTo>
                <a:lnTo>
                  <a:pt x="11518" y="30594"/>
                </a:lnTo>
                <a:close/>
              </a:path>
              <a:path w="358775" h="160654">
                <a:moveTo>
                  <a:pt x="26445" y="107988"/>
                </a:moveTo>
                <a:lnTo>
                  <a:pt x="13677" y="107988"/>
                </a:lnTo>
                <a:lnTo>
                  <a:pt x="15481" y="110515"/>
                </a:lnTo>
                <a:lnTo>
                  <a:pt x="37083" y="122034"/>
                </a:lnTo>
                <a:lnTo>
                  <a:pt x="49314" y="122034"/>
                </a:lnTo>
                <a:lnTo>
                  <a:pt x="56159" y="120230"/>
                </a:lnTo>
                <a:lnTo>
                  <a:pt x="66954" y="113030"/>
                </a:lnTo>
                <a:lnTo>
                  <a:pt x="68808" y="110871"/>
                </a:lnTo>
                <a:lnTo>
                  <a:pt x="33477" y="110871"/>
                </a:lnTo>
                <a:lnTo>
                  <a:pt x="28435" y="109435"/>
                </a:lnTo>
                <a:lnTo>
                  <a:pt x="26445" y="107988"/>
                </a:lnTo>
                <a:close/>
              </a:path>
              <a:path w="358775" h="160654">
                <a:moveTo>
                  <a:pt x="69113" y="40678"/>
                </a:moveTo>
                <a:lnTo>
                  <a:pt x="48234" y="40678"/>
                </a:lnTo>
                <a:lnTo>
                  <a:pt x="54724" y="43548"/>
                </a:lnTo>
                <a:lnTo>
                  <a:pt x="58674" y="50038"/>
                </a:lnTo>
                <a:lnTo>
                  <a:pt x="61529" y="55079"/>
                </a:lnTo>
                <a:lnTo>
                  <a:pt x="63542" y="60883"/>
                </a:lnTo>
                <a:lnTo>
                  <a:pt x="64758" y="67604"/>
                </a:lnTo>
                <a:lnTo>
                  <a:pt x="65049" y="73075"/>
                </a:lnTo>
                <a:lnTo>
                  <a:pt x="64972" y="83159"/>
                </a:lnTo>
                <a:lnTo>
                  <a:pt x="64084" y="88188"/>
                </a:lnTo>
                <a:lnTo>
                  <a:pt x="60477" y="98996"/>
                </a:lnTo>
                <a:lnTo>
                  <a:pt x="57594" y="103314"/>
                </a:lnTo>
                <a:lnTo>
                  <a:pt x="54000" y="106197"/>
                </a:lnTo>
                <a:lnTo>
                  <a:pt x="50393" y="109435"/>
                </a:lnTo>
                <a:lnTo>
                  <a:pt x="45720" y="110871"/>
                </a:lnTo>
                <a:lnTo>
                  <a:pt x="68808" y="110871"/>
                </a:lnTo>
                <a:lnTo>
                  <a:pt x="71285" y="107988"/>
                </a:lnTo>
                <a:lnTo>
                  <a:pt x="74523" y="101155"/>
                </a:lnTo>
                <a:lnTo>
                  <a:pt x="76409" y="95535"/>
                </a:lnTo>
                <a:lnTo>
                  <a:pt x="77708" y="89636"/>
                </a:lnTo>
                <a:lnTo>
                  <a:pt x="77758" y="89409"/>
                </a:lnTo>
                <a:lnTo>
                  <a:pt x="78512" y="83159"/>
                </a:lnTo>
                <a:lnTo>
                  <a:pt x="78592" y="82080"/>
                </a:lnTo>
                <a:lnTo>
                  <a:pt x="78841" y="75234"/>
                </a:lnTo>
                <a:lnTo>
                  <a:pt x="78415" y="67604"/>
                </a:lnTo>
                <a:lnTo>
                  <a:pt x="78318" y="65874"/>
                </a:lnTo>
                <a:lnTo>
                  <a:pt x="78234" y="64366"/>
                </a:lnTo>
                <a:lnTo>
                  <a:pt x="76429" y="55079"/>
                </a:lnTo>
                <a:lnTo>
                  <a:pt x="73371" y="47088"/>
                </a:lnTo>
                <a:lnTo>
                  <a:pt x="69113" y="40678"/>
                </a:lnTo>
                <a:close/>
              </a:path>
              <a:path w="358775" h="160654">
                <a:moveTo>
                  <a:pt x="42113" y="29159"/>
                </a:moveTo>
                <a:lnTo>
                  <a:pt x="37439" y="29159"/>
                </a:lnTo>
                <a:lnTo>
                  <a:pt x="33061" y="29894"/>
                </a:lnTo>
                <a:lnTo>
                  <a:pt x="29514" y="31318"/>
                </a:lnTo>
                <a:lnTo>
                  <a:pt x="25920" y="32397"/>
                </a:lnTo>
                <a:lnTo>
                  <a:pt x="22682" y="34188"/>
                </a:lnTo>
                <a:lnTo>
                  <a:pt x="20154" y="36715"/>
                </a:lnTo>
                <a:lnTo>
                  <a:pt x="17640" y="38874"/>
                </a:lnTo>
                <a:lnTo>
                  <a:pt x="15481" y="41389"/>
                </a:lnTo>
                <a:lnTo>
                  <a:pt x="13677" y="43916"/>
                </a:lnTo>
                <a:lnTo>
                  <a:pt x="25401" y="43916"/>
                </a:lnTo>
                <a:lnTo>
                  <a:pt x="28803" y="41757"/>
                </a:lnTo>
                <a:lnTo>
                  <a:pt x="33845" y="40678"/>
                </a:lnTo>
                <a:lnTo>
                  <a:pt x="69113" y="40678"/>
                </a:lnTo>
                <a:lnTo>
                  <a:pt x="63581" y="35685"/>
                </a:lnTo>
                <a:lnTo>
                  <a:pt x="57237" y="32080"/>
                </a:lnTo>
                <a:lnTo>
                  <a:pt x="50080" y="29894"/>
                </a:lnTo>
                <a:lnTo>
                  <a:pt x="42113" y="29159"/>
                </a:lnTo>
                <a:close/>
              </a:path>
              <a:path w="358775" h="160654">
                <a:moveTo>
                  <a:pt x="102958" y="30594"/>
                </a:moveTo>
                <a:lnTo>
                  <a:pt x="88201" y="30594"/>
                </a:lnTo>
                <a:lnTo>
                  <a:pt x="122402" y="120599"/>
                </a:lnTo>
                <a:lnTo>
                  <a:pt x="137883" y="120599"/>
                </a:lnTo>
                <a:lnTo>
                  <a:pt x="142676" y="107988"/>
                </a:lnTo>
                <a:lnTo>
                  <a:pt x="129603" y="107988"/>
                </a:lnTo>
                <a:lnTo>
                  <a:pt x="129235" y="105473"/>
                </a:lnTo>
                <a:lnTo>
                  <a:pt x="126720" y="97193"/>
                </a:lnTo>
                <a:lnTo>
                  <a:pt x="123837" y="88557"/>
                </a:lnTo>
                <a:lnTo>
                  <a:pt x="122402" y="84950"/>
                </a:lnTo>
                <a:lnTo>
                  <a:pt x="102958" y="30594"/>
                </a:lnTo>
                <a:close/>
              </a:path>
              <a:path w="358775" h="160654">
                <a:moveTo>
                  <a:pt x="172084" y="30594"/>
                </a:moveTo>
                <a:lnTo>
                  <a:pt x="157314" y="30594"/>
                </a:lnTo>
                <a:lnTo>
                  <a:pt x="137515" y="84950"/>
                </a:lnTo>
                <a:lnTo>
                  <a:pt x="136436" y="88557"/>
                </a:lnTo>
                <a:lnTo>
                  <a:pt x="133553" y="97193"/>
                </a:lnTo>
                <a:lnTo>
                  <a:pt x="131038" y="105473"/>
                </a:lnTo>
                <a:lnTo>
                  <a:pt x="130314" y="107988"/>
                </a:lnTo>
                <a:lnTo>
                  <a:pt x="142676" y="107988"/>
                </a:lnTo>
                <a:lnTo>
                  <a:pt x="172084" y="30594"/>
                </a:lnTo>
                <a:close/>
              </a:path>
              <a:path w="358775" h="160654">
                <a:moveTo>
                  <a:pt x="228244" y="29159"/>
                </a:moveTo>
                <a:lnTo>
                  <a:pt x="212763" y="29159"/>
                </a:lnTo>
                <a:lnTo>
                  <a:pt x="205917" y="30949"/>
                </a:lnTo>
                <a:lnTo>
                  <a:pt x="199796" y="34912"/>
                </a:lnTo>
                <a:lnTo>
                  <a:pt x="194043" y="38519"/>
                </a:lnTo>
                <a:lnTo>
                  <a:pt x="181444" y="76314"/>
                </a:lnTo>
                <a:lnTo>
                  <a:pt x="181444" y="86029"/>
                </a:lnTo>
                <a:lnTo>
                  <a:pt x="207721" y="120230"/>
                </a:lnTo>
                <a:lnTo>
                  <a:pt x="215277" y="122034"/>
                </a:lnTo>
                <a:lnTo>
                  <a:pt x="230035" y="122034"/>
                </a:lnTo>
                <a:lnTo>
                  <a:pt x="235445" y="121678"/>
                </a:lnTo>
                <a:lnTo>
                  <a:pt x="239763" y="120599"/>
                </a:lnTo>
                <a:lnTo>
                  <a:pt x="244081" y="119875"/>
                </a:lnTo>
                <a:lnTo>
                  <a:pt x="248754" y="118440"/>
                </a:lnTo>
                <a:lnTo>
                  <a:pt x="253072" y="116268"/>
                </a:lnTo>
                <a:lnTo>
                  <a:pt x="253072" y="110515"/>
                </a:lnTo>
                <a:lnTo>
                  <a:pt x="215277" y="110515"/>
                </a:lnTo>
                <a:lnTo>
                  <a:pt x="208076" y="107632"/>
                </a:lnTo>
                <a:lnTo>
                  <a:pt x="197993" y="96837"/>
                </a:lnTo>
                <a:lnTo>
                  <a:pt x="195478" y="88557"/>
                </a:lnTo>
                <a:lnTo>
                  <a:pt x="195478" y="78117"/>
                </a:lnTo>
                <a:lnTo>
                  <a:pt x="257403" y="78117"/>
                </a:lnTo>
                <a:lnTo>
                  <a:pt x="257403" y="67310"/>
                </a:lnTo>
                <a:lnTo>
                  <a:pt x="195478" y="67310"/>
                </a:lnTo>
                <a:lnTo>
                  <a:pt x="196557" y="58674"/>
                </a:lnTo>
                <a:lnTo>
                  <a:pt x="199085" y="52197"/>
                </a:lnTo>
                <a:lnTo>
                  <a:pt x="203403" y="47510"/>
                </a:lnTo>
                <a:lnTo>
                  <a:pt x="207721" y="42468"/>
                </a:lnTo>
                <a:lnTo>
                  <a:pt x="213474" y="40309"/>
                </a:lnTo>
                <a:lnTo>
                  <a:pt x="248138" y="40309"/>
                </a:lnTo>
                <a:lnTo>
                  <a:pt x="245884" y="37439"/>
                </a:lnTo>
                <a:lnTo>
                  <a:pt x="235076" y="30949"/>
                </a:lnTo>
                <a:lnTo>
                  <a:pt x="228244" y="29159"/>
                </a:lnTo>
                <a:close/>
              </a:path>
              <a:path w="358775" h="160654">
                <a:moveTo>
                  <a:pt x="253072" y="104394"/>
                </a:moveTo>
                <a:lnTo>
                  <a:pt x="248399" y="106197"/>
                </a:lnTo>
                <a:lnTo>
                  <a:pt x="244081" y="107988"/>
                </a:lnTo>
                <a:lnTo>
                  <a:pt x="239763" y="109080"/>
                </a:lnTo>
                <a:lnTo>
                  <a:pt x="235445" y="109791"/>
                </a:lnTo>
                <a:lnTo>
                  <a:pt x="230403" y="110515"/>
                </a:lnTo>
                <a:lnTo>
                  <a:pt x="253072" y="110515"/>
                </a:lnTo>
                <a:lnTo>
                  <a:pt x="253072" y="104394"/>
                </a:lnTo>
                <a:close/>
              </a:path>
              <a:path w="358775" h="160654">
                <a:moveTo>
                  <a:pt x="248138" y="40309"/>
                </a:moveTo>
                <a:lnTo>
                  <a:pt x="225717" y="40309"/>
                </a:lnTo>
                <a:lnTo>
                  <a:pt x="230035" y="41389"/>
                </a:lnTo>
                <a:lnTo>
                  <a:pt x="233273" y="43548"/>
                </a:lnTo>
                <a:lnTo>
                  <a:pt x="236524" y="46075"/>
                </a:lnTo>
                <a:lnTo>
                  <a:pt x="239039" y="48958"/>
                </a:lnTo>
                <a:lnTo>
                  <a:pt x="240474" y="53276"/>
                </a:lnTo>
                <a:lnTo>
                  <a:pt x="241922" y="57238"/>
                </a:lnTo>
                <a:lnTo>
                  <a:pt x="242919" y="61556"/>
                </a:lnTo>
                <a:lnTo>
                  <a:pt x="243001" y="67310"/>
                </a:lnTo>
                <a:lnTo>
                  <a:pt x="257403" y="67310"/>
                </a:lnTo>
                <a:lnTo>
                  <a:pt x="257403" y="61556"/>
                </a:lnTo>
                <a:lnTo>
                  <a:pt x="255600" y="54356"/>
                </a:lnTo>
                <a:lnTo>
                  <a:pt x="252717" y="48590"/>
                </a:lnTo>
                <a:lnTo>
                  <a:pt x="249834" y="42468"/>
                </a:lnTo>
                <a:lnTo>
                  <a:pt x="248138" y="40309"/>
                </a:lnTo>
                <a:close/>
              </a:path>
              <a:path w="358775" h="160654">
                <a:moveTo>
                  <a:pt x="340563" y="92875"/>
                </a:moveTo>
                <a:lnTo>
                  <a:pt x="327240" y="92875"/>
                </a:lnTo>
                <a:lnTo>
                  <a:pt x="327240" y="120599"/>
                </a:lnTo>
                <a:lnTo>
                  <a:pt x="340563" y="120599"/>
                </a:lnTo>
                <a:lnTo>
                  <a:pt x="340563" y="92875"/>
                </a:lnTo>
                <a:close/>
              </a:path>
              <a:path w="358775" h="160654">
                <a:moveTo>
                  <a:pt x="340563" y="0"/>
                </a:moveTo>
                <a:lnTo>
                  <a:pt x="326517" y="0"/>
                </a:lnTo>
                <a:lnTo>
                  <a:pt x="269633" y="81356"/>
                </a:lnTo>
                <a:lnTo>
                  <a:pt x="269633" y="92875"/>
                </a:lnTo>
                <a:lnTo>
                  <a:pt x="358559" y="92875"/>
                </a:lnTo>
                <a:lnTo>
                  <a:pt x="358559" y="80276"/>
                </a:lnTo>
                <a:lnTo>
                  <a:pt x="282955" y="80276"/>
                </a:lnTo>
                <a:lnTo>
                  <a:pt x="320039" y="28079"/>
                </a:lnTo>
                <a:lnTo>
                  <a:pt x="321119" y="26276"/>
                </a:lnTo>
                <a:lnTo>
                  <a:pt x="322554" y="24117"/>
                </a:lnTo>
                <a:lnTo>
                  <a:pt x="325437" y="19075"/>
                </a:lnTo>
                <a:lnTo>
                  <a:pt x="327596" y="14757"/>
                </a:lnTo>
                <a:lnTo>
                  <a:pt x="340563" y="14757"/>
                </a:lnTo>
                <a:lnTo>
                  <a:pt x="340563" y="0"/>
                </a:lnTo>
                <a:close/>
              </a:path>
              <a:path w="358775" h="160654">
                <a:moveTo>
                  <a:pt x="340563" y="14757"/>
                </a:moveTo>
                <a:lnTo>
                  <a:pt x="328320" y="14757"/>
                </a:lnTo>
                <a:lnTo>
                  <a:pt x="327964" y="16548"/>
                </a:lnTo>
                <a:lnTo>
                  <a:pt x="327964" y="24472"/>
                </a:lnTo>
                <a:lnTo>
                  <a:pt x="327596" y="26276"/>
                </a:lnTo>
                <a:lnTo>
                  <a:pt x="327596" y="33108"/>
                </a:lnTo>
                <a:lnTo>
                  <a:pt x="327240" y="35636"/>
                </a:lnTo>
                <a:lnTo>
                  <a:pt x="327240" y="80276"/>
                </a:lnTo>
                <a:lnTo>
                  <a:pt x="340563" y="80276"/>
                </a:lnTo>
                <a:lnTo>
                  <a:pt x="340563" y="14757"/>
                </a:lnTo>
                <a:close/>
              </a:path>
            </a:pathLst>
          </a:custGeom>
          <a:solidFill>
            <a:srgbClr val="454C4C"/>
          </a:solidFill>
        </p:spPr>
        <p:txBody>
          <a:bodyPr wrap="square" lIns="0" tIns="0" rIns="0" bIns="0" rtlCol="0"/>
          <a:lstStyle/>
          <a:p>
            <a:endParaRPr/>
          </a:p>
        </p:txBody>
      </p:sp>
      <p:sp>
        <p:nvSpPr>
          <p:cNvPr id="30" name="object 3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31" name="object 31"/>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48</a:t>
            </a:fld>
            <a:r>
              <a:rPr spc="-10" dirty="0"/>
              <a:t>/60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5" dirty="0"/>
              <a:t>HA</a:t>
            </a:r>
            <a:r>
              <a:rPr spc="-335" dirty="0"/>
              <a:t> </a:t>
            </a:r>
            <a:r>
              <a:rPr dirty="0"/>
              <a:t>Resource</a:t>
            </a:r>
            <a:r>
              <a:rPr spc="-330" dirty="0"/>
              <a:t> </a:t>
            </a:r>
            <a:r>
              <a:rPr spc="70" dirty="0"/>
              <a:t>Affinity</a:t>
            </a:r>
            <a:r>
              <a:rPr spc="-330" dirty="0"/>
              <a:t> </a:t>
            </a:r>
            <a:r>
              <a:rPr spc="-10" dirty="0"/>
              <a:t>Rules</a:t>
            </a:r>
          </a:p>
        </p:txBody>
      </p:sp>
      <p:grpSp>
        <p:nvGrpSpPr>
          <p:cNvPr id="3" name="object 3"/>
          <p:cNvGrpSpPr/>
          <p:nvPr/>
        </p:nvGrpSpPr>
        <p:grpSpPr>
          <a:xfrm>
            <a:off x="2606039" y="1278365"/>
            <a:ext cx="4097020" cy="3904615"/>
            <a:chOff x="2606039" y="1278365"/>
            <a:chExt cx="4097020" cy="3904615"/>
          </a:xfrm>
        </p:grpSpPr>
        <p:sp>
          <p:nvSpPr>
            <p:cNvPr id="4" name="object 4"/>
            <p:cNvSpPr/>
            <p:nvPr/>
          </p:nvSpPr>
          <p:spPr>
            <a:xfrm>
              <a:off x="3124441" y="2398327"/>
              <a:ext cx="104139" cy="1822450"/>
            </a:xfrm>
            <a:custGeom>
              <a:avLst/>
              <a:gdLst/>
              <a:ahLst/>
              <a:cxnLst/>
              <a:rect l="l" t="t" r="r" b="b"/>
              <a:pathLst>
                <a:path w="104139" h="1822450">
                  <a:moveTo>
                    <a:pt x="104038" y="1821967"/>
                  </a:moveTo>
                  <a:lnTo>
                    <a:pt x="103682" y="0"/>
                  </a:lnTo>
                </a:path>
                <a:path w="104139" h="1822450">
                  <a:moveTo>
                    <a:pt x="355" y="1821967"/>
                  </a:moveTo>
                  <a:lnTo>
                    <a:pt x="0" y="0"/>
                  </a:lnTo>
                </a:path>
              </a:pathLst>
            </a:custGeom>
            <a:ln w="26021">
              <a:solidFill>
                <a:srgbClr val="454C4C"/>
              </a:solidFill>
            </a:ln>
          </p:spPr>
          <p:txBody>
            <a:bodyPr wrap="square" lIns="0" tIns="0" rIns="0" bIns="0" rtlCol="0"/>
            <a:lstStyle/>
            <a:p>
              <a:endParaRPr/>
            </a:p>
          </p:txBody>
        </p:sp>
        <p:sp>
          <p:nvSpPr>
            <p:cNvPr id="5" name="object 5"/>
            <p:cNvSpPr/>
            <p:nvPr/>
          </p:nvSpPr>
          <p:spPr>
            <a:xfrm>
              <a:off x="6183718" y="2398327"/>
              <a:ext cx="635" cy="1822450"/>
            </a:xfrm>
            <a:custGeom>
              <a:avLst/>
              <a:gdLst/>
              <a:ahLst/>
              <a:cxnLst/>
              <a:rect l="l" t="t" r="r" b="b"/>
              <a:pathLst>
                <a:path w="635" h="1822450">
                  <a:moveTo>
                    <a:pt x="355" y="1821967"/>
                  </a:moveTo>
                  <a:lnTo>
                    <a:pt x="0" y="0"/>
                  </a:lnTo>
                </a:path>
              </a:pathLst>
            </a:custGeom>
            <a:ln w="26010">
              <a:solidFill>
                <a:srgbClr val="454C4C"/>
              </a:solidFill>
            </a:ln>
          </p:spPr>
          <p:txBody>
            <a:bodyPr wrap="square" lIns="0" tIns="0" rIns="0" bIns="0" rtlCol="0"/>
            <a:lstStyle/>
            <a:p>
              <a:endParaRPr/>
            </a:p>
          </p:txBody>
        </p:sp>
        <p:sp>
          <p:nvSpPr>
            <p:cNvPr id="6" name="object 6"/>
            <p:cNvSpPr/>
            <p:nvPr/>
          </p:nvSpPr>
          <p:spPr>
            <a:xfrm>
              <a:off x="6080036" y="2398327"/>
              <a:ext cx="635" cy="1822450"/>
            </a:xfrm>
            <a:custGeom>
              <a:avLst/>
              <a:gdLst/>
              <a:ahLst/>
              <a:cxnLst/>
              <a:rect l="l" t="t" r="r" b="b"/>
              <a:pathLst>
                <a:path w="635" h="1822450">
                  <a:moveTo>
                    <a:pt x="368" y="1821967"/>
                  </a:moveTo>
                  <a:lnTo>
                    <a:pt x="0" y="0"/>
                  </a:lnTo>
                </a:path>
              </a:pathLst>
            </a:custGeom>
            <a:ln w="26021">
              <a:solidFill>
                <a:srgbClr val="454C4C"/>
              </a:solidFill>
            </a:ln>
          </p:spPr>
          <p:txBody>
            <a:bodyPr wrap="square" lIns="0" tIns="0" rIns="0" bIns="0" rtlCol="0"/>
            <a:lstStyle/>
            <a:p>
              <a:endParaRPr/>
            </a:p>
          </p:txBody>
        </p:sp>
        <p:sp>
          <p:nvSpPr>
            <p:cNvPr id="7" name="object 7"/>
            <p:cNvSpPr/>
            <p:nvPr/>
          </p:nvSpPr>
          <p:spPr>
            <a:xfrm>
              <a:off x="3719525" y="1797135"/>
              <a:ext cx="1884045" cy="104139"/>
            </a:xfrm>
            <a:custGeom>
              <a:avLst/>
              <a:gdLst/>
              <a:ahLst/>
              <a:cxnLst/>
              <a:rect l="l" t="t" r="r" b="b"/>
              <a:pathLst>
                <a:path w="1884045" h="104139">
                  <a:moveTo>
                    <a:pt x="1883879" y="0"/>
                  </a:moveTo>
                  <a:lnTo>
                    <a:pt x="0" y="355"/>
                  </a:lnTo>
                </a:path>
                <a:path w="1884045" h="104139">
                  <a:moveTo>
                    <a:pt x="1883879" y="103314"/>
                  </a:moveTo>
                  <a:lnTo>
                    <a:pt x="0" y="103670"/>
                  </a:lnTo>
                </a:path>
              </a:pathLst>
            </a:custGeom>
            <a:ln w="26458">
              <a:solidFill>
                <a:srgbClr val="454C4C"/>
              </a:solidFill>
            </a:ln>
          </p:spPr>
          <p:txBody>
            <a:bodyPr wrap="square" lIns="0" tIns="0" rIns="0" bIns="0" rtlCol="0"/>
            <a:lstStyle/>
            <a:p>
              <a:endParaRPr/>
            </a:p>
          </p:txBody>
        </p:sp>
        <p:sp>
          <p:nvSpPr>
            <p:cNvPr id="8" name="object 8"/>
            <p:cNvSpPr/>
            <p:nvPr/>
          </p:nvSpPr>
          <p:spPr>
            <a:xfrm>
              <a:off x="4435563" y="1660686"/>
              <a:ext cx="452120" cy="376555"/>
            </a:xfrm>
            <a:custGeom>
              <a:avLst/>
              <a:gdLst/>
              <a:ahLst/>
              <a:cxnLst/>
              <a:rect l="l" t="t" r="r" b="b"/>
              <a:pathLst>
                <a:path w="452120" h="376555">
                  <a:moveTo>
                    <a:pt x="0" y="376199"/>
                  </a:moveTo>
                  <a:lnTo>
                    <a:pt x="451789" y="0"/>
                  </a:lnTo>
                </a:path>
              </a:pathLst>
            </a:custGeom>
            <a:ln w="26008">
              <a:solidFill>
                <a:srgbClr val="454C4C"/>
              </a:solidFill>
            </a:ln>
          </p:spPr>
          <p:txBody>
            <a:bodyPr wrap="square" lIns="0" tIns="0" rIns="0" bIns="0" rtlCol="0"/>
            <a:lstStyle/>
            <a:p>
              <a:endParaRPr/>
            </a:p>
          </p:txBody>
        </p:sp>
        <p:sp>
          <p:nvSpPr>
            <p:cNvPr id="9" name="object 9"/>
            <p:cNvSpPr/>
            <p:nvPr/>
          </p:nvSpPr>
          <p:spPr>
            <a:xfrm>
              <a:off x="5561634" y="1278365"/>
              <a:ext cx="1141095" cy="1141730"/>
            </a:xfrm>
            <a:custGeom>
              <a:avLst/>
              <a:gdLst/>
              <a:ahLst/>
              <a:cxnLst/>
              <a:rect l="l" t="t" r="r" b="b"/>
              <a:pathLst>
                <a:path w="1141095" h="1141730">
                  <a:moveTo>
                    <a:pt x="997203" y="0"/>
                  </a:moveTo>
                  <a:lnTo>
                    <a:pt x="143649" y="0"/>
                  </a:lnTo>
                  <a:lnTo>
                    <a:pt x="98156" y="7301"/>
                  </a:lnTo>
                  <a:lnTo>
                    <a:pt x="58712" y="27649"/>
                  </a:lnTo>
                  <a:lnTo>
                    <a:pt x="27649" y="58712"/>
                  </a:lnTo>
                  <a:lnTo>
                    <a:pt x="7301" y="98156"/>
                  </a:lnTo>
                  <a:lnTo>
                    <a:pt x="0" y="143649"/>
                  </a:lnTo>
                  <a:lnTo>
                    <a:pt x="0" y="997203"/>
                  </a:lnTo>
                  <a:lnTo>
                    <a:pt x="7301" y="1042870"/>
                  </a:lnTo>
                  <a:lnTo>
                    <a:pt x="27649" y="1082419"/>
                  </a:lnTo>
                  <a:lnTo>
                    <a:pt x="58712" y="1113536"/>
                  </a:lnTo>
                  <a:lnTo>
                    <a:pt x="98156" y="1133905"/>
                  </a:lnTo>
                  <a:lnTo>
                    <a:pt x="143649" y="1141209"/>
                  </a:lnTo>
                  <a:lnTo>
                    <a:pt x="997203" y="1141209"/>
                  </a:lnTo>
                  <a:lnTo>
                    <a:pt x="1042695" y="1133905"/>
                  </a:lnTo>
                  <a:lnTo>
                    <a:pt x="1082136" y="1113536"/>
                  </a:lnTo>
                  <a:lnTo>
                    <a:pt x="1113195" y="1082419"/>
                  </a:lnTo>
                  <a:lnTo>
                    <a:pt x="1133541" y="1042870"/>
                  </a:lnTo>
                  <a:lnTo>
                    <a:pt x="1140841" y="997203"/>
                  </a:lnTo>
                  <a:lnTo>
                    <a:pt x="1140841" y="143649"/>
                  </a:lnTo>
                  <a:lnTo>
                    <a:pt x="1133541" y="98156"/>
                  </a:lnTo>
                  <a:lnTo>
                    <a:pt x="1113195" y="58712"/>
                  </a:lnTo>
                  <a:lnTo>
                    <a:pt x="1082136" y="27649"/>
                  </a:lnTo>
                  <a:lnTo>
                    <a:pt x="1042695" y="7301"/>
                  </a:lnTo>
                  <a:lnTo>
                    <a:pt x="997203" y="0"/>
                  </a:lnTo>
                  <a:close/>
                </a:path>
              </a:pathLst>
            </a:custGeom>
            <a:solidFill>
              <a:srgbClr val="FF9000"/>
            </a:solidFill>
          </p:spPr>
          <p:txBody>
            <a:bodyPr wrap="square" lIns="0" tIns="0" rIns="0" bIns="0" rtlCol="0"/>
            <a:lstStyle/>
            <a:p>
              <a:endParaRPr/>
            </a:p>
          </p:txBody>
        </p:sp>
        <p:sp>
          <p:nvSpPr>
            <p:cNvPr id="10" name="object 10"/>
            <p:cNvSpPr/>
            <p:nvPr/>
          </p:nvSpPr>
          <p:spPr>
            <a:xfrm>
              <a:off x="5813285" y="1775532"/>
              <a:ext cx="669290" cy="146685"/>
            </a:xfrm>
            <a:custGeom>
              <a:avLst/>
              <a:gdLst/>
              <a:ahLst/>
              <a:cxnLst/>
              <a:rect l="l" t="t" r="r" b="b"/>
              <a:pathLst>
                <a:path w="669289" h="146685">
                  <a:moveTo>
                    <a:pt x="17995" y="8991"/>
                  </a:moveTo>
                  <a:lnTo>
                    <a:pt x="0" y="8991"/>
                  </a:lnTo>
                  <a:lnTo>
                    <a:pt x="48590" y="144716"/>
                  </a:lnTo>
                  <a:lnTo>
                    <a:pt x="65519" y="144716"/>
                  </a:lnTo>
                  <a:lnTo>
                    <a:pt x="72348" y="125641"/>
                  </a:lnTo>
                  <a:lnTo>
                    <a:pt x="56870" y="125641"/>
                  </a:lnTo>
                  <a:lnTo>
                    <a:pt x="56159" y="121310"/>
                  </a:lnTo>
                  <a:lnTo>
                    <a:pt x="55079" y="116636"/>
                  </a:lnTo>
                  <a:lnTo>
                    <a:pt x="53632" y="111950"/>
                  </a:lnTo>
                  <a:lnTo>
                    <a:pt x="52197" y="106921"/>
                  </a:lnTo>
                  <a:lnTo>
                    <a:pt x="48590" y="96113"/>
                  </a:lnTo>
                  <a:lnTo>
                    <a:pt x="17995" y="8991"/>
                  </a:lnTo>
                  <a:close/>
                </a:path>
                <a:path w="669289" h="146685">
                  <a:moveTo>
                    <a:pt x="114109" y="8991"/>
                  </a:moveTo>
                  <a:lnTo>
                    <a:pt x="96113" y="8991"/>
                  </a:lnTo>
                  <a:lnTo>
                    <a:pt x="65519" y="95758"/>
                  </a:lnTo>
                  <a:lnTo>
                    <a:pt x="63715" y="101511"/>
                  </a:lnTo>
                  <a:lnTo>
                    <a:pt x="61912" y="106552"/>
                  </a:lnTo>
                  <a:lnTo>
                    <a:pt x="59029" y="116636"/>
                  </a:lnTo>
                  <a:lnTo>
                    <a:pt x="57950" y="121310"/>
                  </a:lnTo>
                  <a:lnTo>
                    <a:pt x="56870" y="125641"/>
                  </a:lnTo>
                  <a:lnTo>
                    <a:pt x="72348" y="125641"/>
                  </a:lnTo>
                  <a:lnTo>
                    <a:pt x="114109" y="8991"/>
                  </a:lnTo>
                  <a:close/>
                </a:path>
                <a:path w="669289" h="146685">
                  <a:moveTo>
                    <a:pt x="157670" y="8991"/>
                  </a:moveTo>
                  <a:lnTo>
                    <a:pt x="132473" y="8991"/>
                  </a:lnTo>
                  <a:lnTo>
                    <a:pt x="132473" y="144716"/>
                  </a:lnTo>
                  <a:lnTo>
                    <a:pt x="148310" y="144716"/>
                  </a:lnTo>
                  <a:lnTo>
                    <a:pt x="148310" y="48234"/>
                  </a:lnTo>
                  <a:lnTo>
                    <a:pt x="147619" y="35280"/>
                  </a:lnTo>
                  <a:lnTo>
                    <a:pt x="147255" y="29870"/>
                  </a:lnTo>
                  <a:lnTo>
                    <a:pt x="146908" y="25920"/>
                  </a:lnTo>
                  <a:lnTo>
                    <a:pt x="146875" y="25552"/>
                  </a:lnTo>
                  <a:lnTo>
                    <a:pt x="163942" y="25552"/>
                  </a:lnTo>
                  <a:lnTo>
                    <a:pt x="157670" y="8991"/>
                  </a:lnTo>
                  <a:close/>
                </a:path>
                <a:path w="669289" h="146685">
                  <a:moveTo>
                    <a:pt x="163942" y="25552"/>
                  </a:moveTo>
                  <a:lnTo>
                    <a:pt x="147599" y="25552"/>
                  </a:lnTo>
                  <a:lnTo>
                    <a:pt x="192595" y="144716"/>
                  </a:lnTo>
                  <a:lnTo>
                    <a:pt x="206629" y="144716"/>
                  </a:lnTo>
                  <a:lnTo>
                    <a:pt x="215905" y="120230"/>
                  </a:lnTo>
                  <a:lnTo>
                    <a:pt x="199796" y="120230"/>
                  </a:lnTo>
                  <a:lnTo>
                    <a:pt x="163942" y="25552"/>
                  </a:lnTo>
                  <a:close/>
                </a:path>
                <a:path w="669289" h="146685">
                  <a:moveTo>
                    <a:pt x="268198" y="25920"/>
                  </a:moveTo>
                  <a:lnTo>
                    <a:pt x="252349" y="25920"/>
                  </a:lnTo>
                  <a:lnTo>
                    <a:pt x="252349" y="29870"/>
                  </a:lnTo>
                  <a:lnTo>
                    <a:pt x="252017" y="34912"/>
                  </a:lnTo>
                  <a:lnTo>
                    <a:pt x="251269" y="48234"/>
                  </a:lnTo>
                  <a:lnTo>
                    <a:pt x="251269" y="144716"/>
                  </a:lnTo>
                  <a:lnTo>
                    <a:pt x="268198" y="144716"/>
                  </a:lnTo>
                  <a:lnTo>
                    <a:pt x="268198" y="25920"/>
                  </a:lnTo>
                  <a:close/>
                </a:path>
                <a:path w="669289" h="146685">
                  <a:moveTo>
                    <a:pt x="268198" y="8991"/>
                  </a:moveTo>
                  <a:lnTo>
                    <a:pt x="242989" y="8991"/>
                  </a:lnTo>
                  <a:lnTo>
                    <a:pt x="200520" y="120230"/>
                  </a:lnTo>
                  <a:lnTo>
                    <a:pt x="215905" y="120230"/>
                  </a:lnTo>
                  <a:lnTo>
                    <a:pt x="251637" y="25920"/>
                  </a:lnTo>
                  <a:lnTo>
                    <a:pt x="268198" y="25920"/>
                  </a:lnTo>
                  <a:lnTo>
                    <a:pt x="268198" y="8991"/>
                  </a:lnTo>
                  <a:close/>
                </a:path>
                <a:path w="669289" h="146685">
                  <a:moveTo>
                    <a:pt x="396354" y="41033"/>
                  </a:moveTo>
                  <a:lnTo>
                    <a:pt x="388429" y="41033"/>
                  </a:lnTo>
                  <a:lnTo>
                    <a:pt x="379448" y="41849"/>
                  </a:lnTo>
                  <a:lnTo>
                    <a:pt x="349361" y="70617"/>
                  </a:lnTo>
                  <a:lnTo>
                    <a:pt x="349242" y="70916"/>
                  </a:lnTo>
                  <a:lnTo>
                    <a:pt x="347053" y="81591"/>
                  </a:lnTo>
                  <a:lnTo>
                    <a:pt x="346316" y="93954"/>
                  </a:lnTo>
                  <a:lnTo>
                    <a:pt x="347008" y="105560"/>
                  </a:lnTo>
                  <a:lnTo>
                    <a:pt x="347053" y="106319"/>
                  </a:lnTo>
                  <a:lnTo>
                    <a:pt x="371108" y="143279"/>
                  </a:lnTo>
                  <a:lnTo>
                    <a:pt x="388429" y="146519"/>
                  </a:lnTo>
                  <a:lnTo>
                    <a:pt x="396354" y="146519"/>
                  </a:lnTo>
                  <a:lnTo>
                    <a:pt x="418763" y="132842"/>
                  </a:lnTo>
                  <a:lnTo>
                    <a:pt x="381952" y="132842"/>
                  </a:lnTo>
                  <a:lnTo>
                    <a:pt x="375119" y="129235"/>
                  </a:lnTo>
                  <a:lnTo>
                    <a:pt x="363956" y="94310"/>
                  </a:lnTo>
                  <a:lnTo>
                    <a:pt x="364361" y="85814"/>
                  </a:lnTo>
                  <a:lnTo>
                    <a:pt x="381952" y="54711"/>
                  </a:lnTo>
                  <a:lnTo>
                    <a:pt x="419230" y="54711"/>
                  </a:lnTo>
                  <a:lnTo>
                    <a:pt x="416877" y="51841"/>
                  </a:lnTo>
                  <a:lnTo>
                    <a:pt x="412915" y="48234"/>
                  </a:lnTo>
                  <a:lnTo>
                    <a:pt x="402831" y="42481"/>
                  </a:lnTo>
                  <a:lnTo>
                    <a:pt x="396354" y="41033"/>
                  </a:lnTo>
                  <a:close/>
                </a:path>
                <a:path w="669289" h="146685">
                  <a:moveTo>
                    <a:pt x="436676" y="131038"/>
                  </a:moveTo>
                  <a:lnTo>
                    <a:pt x="420839" y="131038"/>
                  </a:lnTo>
                  <a:lnTo>
                    <a:pt x="423354" y="144716"/>
                  </a:lnTo>
                  <a:lnTo>
                    <a:pt x="436676" y="144716"/>
                  </a:lnTo>
                  <a:lnTo>
                    <a:pt x="436676" y="131038"/>
                  </a:lnTo>
                  <a:close/>
                </a:path>
                <a:path w="669289" h="146685">
                  <a:moveTo>
                    <a:pt x="419230" y="54711"/>
                  </a:moveTo>
                  <a:lnTo>
                    <a:pt x="402120" y="54711"/>
                  </a:lnTo>
                  <a:lnTo>
                    <a:pt x="409676" y="58318"/>
                  </a:lnTo>
                  <a:lnTo>
                    <a:pt x="413994" y="65150"/>
                  </a:lnTo>
                  <a:lnTo>
                    <a:pt x="416772" y="70617"/>
                  </a:lnTo>
                  <a:lnTo>
                    <a:pt x="418674" y="77262"/>
                  </a:lnTo>
                  <a:lnTo>
                    <a:pt x="419766" y="85051"/>
                  </a:lnTo>
                  <a:lnTo>
                    <a:pt x="420116" y="93954"/>
                  </a:lnTo>
                  <a:lnTo>
                    <a:pt x="420116" y="97193"/>
                  </a:lnTo>
                  <a:lnTo>
                    <a:pt x="419837" y="102957"/>
                  </a:lnTo>
                  <a:lnTo>
                    <a:pt x="419711" y="105560"/>
                  </a:lnTo>
                  <a:lnTo>
                    <a:pt x="401751" y="132842"/>
                  </a:lnTo>
                  <a:lnTo>
                    <a:pt x="418763" y="132842"/>
                  </a:lnTo>
                  <a:lnTo>
                    <a:pt x="420116" y="131038"/>
                  </a:lnTo>
                  <a:lnTo>
                    <a:pt x="436676" y="131038"/>
                  </a:lnTo>
                  <a:lnTo>
                    <a:pt x="436676" y="55791"/>
                  </a:lnTo>
                  <a:lnTo>
                    <a:pt x="420116" y="55791"/>
                  </a:lnTo>
                  <a:lnTo>
                    <a:pt x="419230" y="54711"/>
                  </a:lnTo>
                  <a:close/>
                </a:path>
                <a:path w="669289" h="146685">
                  <a:moveTo>
                    <a:pt x="436676" y="0"/>
                  </a:moveTo>
                  <a:lnTo>
                    <a:pt x="420116" y="0"/>
                  </a:lnTo>
                  <a:lnTo>
                    <a:pt x="420116" y="45351"/>
                  </a:lnTo>
                  <a:lnTo>
                    <a:pt x="420839" y="51841"/>
                  </a:lnTo>
                  <a:lnTo>
                    <a:pt x="421195" y="54356"/>
                  </a:lnTo>
                  <a:lnTo>
                    <a:pt x="421195" y="55791"/>
                  </a:lnTo>
                  <a:lnTo>
                    <a:pt x="436676" y="55791"/>
                  </a:lnTo>
                  <a:lnTo>
                    <a:pt x="436676" y="0"/>
                  </a:lnTo>
                  <a:close/>
                </a:path>
                <a:path w="669289" h="146685">
                  <a:moveTo>
                    <a:pt x="501122" y="131762"/>
                  </a:moveTo>
                  <a:lnTo>
                    <a:pt x="485990" y="131762"/>
                  </a:lnTo>
                  <a:lnTo>
                    <a:pt x="488873" y="135712"/>
                  </a:lnTo>
                  <a:lnTo>
                    <a:pt x="492836" y="139319"/>
                  </a:lnTo>
                  <a:lnTo>
                    <a:pt x="502920" y="145072"/>
                  </a:lnTo>
                  <a:lnTo>
                    <a:pt x="509397" y="146519"/>
                  </a:lnTo>
                  <a:lnTo>
                    <a:pt x="517309" y="146519"/>
                  </a:lnTo>
                  <a:lnTo>
                    <a:pt x="548157" y="132842"/>
                  </a:lnTo>
                  <a:lnTo>
                    <a:pt x="503631" y="132842"/>
                  </a:lnTo>
                  <a:lnTo>
                    <a:pt x="501122" y="131762"/>
                  </a:lnTo>
                  <a:close/>
                </a:path>
                <a:path w="669289" h="146685">
                  <a:moveTo>
                    <a:pt x="485990" y="0"/>
                  </a:moveTo>
                  <a:lnTo>
                    <a:pt x="469074" y="0"/>
                  </a:lnTo>
                  <a:lnTo>
                    <a:pt x="469074" y="144716"/>
                  </a:lnTo>
                  <a:lnTo>
                    <a:pt x="480949" y="144716"/>
                  </a:lnTo>
                  <a:lnTo>
                    <a:pt x="484555" y="131762"/>
                  </a:lnTo>
                  <a:lnTo>
                    <a:pt x="501122" y="131762"/>
                  </a:lnTo>
                  <a:lnTo>
                    <a:pt x="485990" y="93954"/>
                  </a:lnTo>
                  <a:lnTo>
                    <a:pt x="485990" y="93230"/>
                  </a:lnTo>
                  <a:lnTo>
                    <a:pt x="486340" y="84122"/>
                  </a:lnTo>
                  <a:lnTo>
                    <a:pt x="487374" y="76645"/>
                  </a:lnTo>
                  <a:lnTo>
                    <a:pt x="487432" y="76226"/>
                  </a:lnTo>
                  <a:lnTo>
                    <a:pt x="489334" y="69543"/>
                  </a:lnTo>
                  <a:lnTo>
                    <a:pt x="492112" y="64071"/>
                  </a:lnTo>
                  <a:lnTo>
                    <a:pt x="496430" y="57962"/>
                  </a:lnTo>
                  <a:lnTo>
                    <a:pt x="500934" y="56159"/>
                  </a:lnTo>
                  <a:lnTo>
                    <a:pt x="484911" y="56159"/>
                  </a:lnTo>
                  <a:lnTo>
                    <a:pt x="485095" y="55079"/>
                  </a:lnTo>
                  <a:lnTo>
                    <a:pt x="485219" y="54356"/>
                  </a:lnTo>
                  <a:lnTo>
                    <a:pt x="485279" y="51117"/>
                  </a:lnTo>
                  <a:lnTo>
                    <a:pt x="485540" y="48475"/>
                  </a:lnTo>
                  <a:lnTo>
                    <a:pt x="485635" y="43561"/>
                  </a:lnTo>
                  <a:lnTo>
                    <a:pt x="485990" y="39598"/>
                  </a:lnTo>
                  <a:lnTo>
                    <a:pt x="485990" y="0"/>
                  </a:lnTo>
                  <a:close/>
                </a:path>
                <a:path w="669289" h="146685">
                  <a:moveTo>
                    <a:pt x="548407" y="55079"/>
                  </a:moveTo>
                  <a:lnTo>
                    <a:pt x="514438" y="55079"/>
                  </a:lnTo>
                  <a:lnTo>
                    <a:pt x="526510" y="57453"/>
                  </a:lnTo>
                  <a:lnTo>
                    <a:pt x="535176" y="64619"/>
                  </a:lnTo>
                  <a:lnTo>
                    <a:pt x="540401" y="76645"/>
                  </a:lnTo>
                  <a:lnTo>
                    <a:pt x="542112" y="93230"/>
                  </a:lnTo>
                  <a:lnTo>
                    <a:pt x="542133" y="93954"/>
                  </a:lnTo>
                  <a:lnTo>
                    <a:pt x="541739" y="102507"/>
                  </a:lnTo>
                  <a:lnTo>
                    <a:pt x="540486" y="110336"/>
                  </a:lnTo>
                  <a:lnTo>
                    <a:pt x="538455" y="116774"/>
                  </a:lnTo>
                  <a:lnTo>
                    <a:pt x="538356" y="117085"/>
                  </a:lnTo>
                  <a:lnTo>
                    <a:pt x="535317" y="122758"/>
                  </a:lnTo>
                  <a:lnTo>
                    <a:pt x="530999" y="129235"/>
                  </a:lnTo>
                  <a:lnTo>
                    <a:pt x="524154" y="132842"/>
                  </a:lnTo>
                  <a:lnTo>
                    <a:pt x="548157" y="132842"/>
                  </a:lnTo>
                  <a:lnTo>
                    <a:pt x="552903" y="125847"/>
                  </a:lnTo>
                  <a:lnTo>
                    <a:pt x="556301" y="117296"/>
                  </a:lnTo>
                  <a:lnTo>
                    <a:pt x="556385" y="117085"/>
                  </a:lnTo>
                  <a:lnTo>
                    <a:pt x="556509" y="116774"/>
                  </a:lnTo>
                  <a:lnTo>
                    <a:pt x="558697" y="106013"/>
                  </a:lnTo>
                  <a:lnTo>
                    <a:pt x="559413" y="93954"/>
                  </a:lnTo>
                  <a:lnTo>
                    <a:pt x="559412" y="93230"/>
                  </a:lnTo>
                  <a:lnTo>
                    <a:pt x="558697" y="81389"/>
                  </a:lnTo>
                  <a:lnTo>
                    <a:pt x="556509" y="70734"/>
                  </a:lnTo>
                  <a:lnTo>
                    <a:pt x="552903" y="61700"/>
                  </a:lnTo>
                  <a:lnTo>
                    <a:pt x="548407" y="55079"/>
                  </a:lnTo>
                  <a:close/>
                </a:path>
                <a:path w="669289" h="146685">
                  <a:moveTo>
                    <a:pt x="517309" y="41033"/>
                  </a:moveTo>
                  <a:lnTo>
                    <a:pt x="509397" y="41033"/>
                  </a:lnTo>
                  <a:lnTo>
                    <a:pt x="502920" y="42481"/>
                  </a:lnTo>
                  <a:lnTo>
                    <a:pt x="492836" y="48234"/>
                  </a:lnTo>
                  <a:lnTo>
                    <a:pt x="488873" y="51841"/>
                  </a:lnTo>
                  <a:lnTo>
                    <a:pt x="485990" y="56159"/>
                  </a:lnTo>
                  <a:lnTo>
                    <a:pt x="500934" y="56159"/>
                  </a:lnTo>
                  <a:lnTo>
                    <a:pt x="503631" y="55079"/>
                  </a:lnTo>
                  <a:lnTo>
                    <a:pt x="548407" y="55079"/>
                  </a:lnTo>
                  <a:lnTo>
                    <a:pt x="547916" y="54356"/>
                  </a:lnTo>
                  <a:lnTo>
                    <a:pt x="541769" y="48475"/>
                  </a:lnTo>
                  <a:lnTo>
                    <a:pt x="534641" y="44318"/>
                  </a:lnTo>
                  <a:lnTo>
                    <a:pt x="526499" y="41849"/>
                  </a:lnTo>
                  <a:lnTo>
                    <a:pt x="517309" y="41033"/>
                  </a:lnTo>
                  <a:close/>
                </a:path>
                <a:path w="669289" h="146685">
                  <a:moveTo>
                    <a:pt x="656457" y="21234"/>
                  </a:moveTo>
                  <a:lnTo>
                    <a:pt x="629272" y="21234"/>
                  </a:lnTo>
                  <a:lnTo>
                    <a:pt x="635038" y="23393"/>
                  </a:lnTo>
                  <a:lnTo>
                    <a:pt x="639356" y="27000"/>
                  </a:lnTo>
                  <a:lnTo>
                    <a:pt x="644029" y="30962"/>
                  </a:lnTo>
                  <a:lnTo>
                    <a:pt x="646188" y="36715"/>
                  </a:lnTo>
                  <a:lnTo>
                    <a:pt x="646121" y="50393"/>
                  </a:lnTo>
                  <a:lnTo>
                    <a:pt x="621360" y="88201"/>
                  </a:lnTo>
                  <a:lnTo>
                    <a:pt x="578878" y="130670"/>
                  </a:lnTo>
                  <a:lnTo>
                    <a:pt x="578878" y="144716"/>
                  </a:lnTo>
                  <a:lnTo>
                    <a:pt x="668870" y="144716"/>
                  </a:lnTo>
                  <a:lnTo>
                    <a:pt x="668870" y="129590"/>
                  </a:lnTo>
                  <a:lnTo>
                    <a:pt x="600113" y="129590"/>
                  </a:lnTo>
                  <a:lnTo>
                    <a:pt x="600113" y="128879"/>
                  </a:lnTo>
                  <a:lnTo>
                    <a:pt x="628548" y="100799"/>
                  </a:lnTo>
                  <a:lnTo>
                    <a:pt x="655916" y="69481"/>
                  </a:lnTo>
                  <a:lnTo>
                    <a:pt x="658799" y="62992"/>
                  </a:lnTo>
                  <a:lnTo>
                    <a:pt x="661670" y="56870"/>
                  </a:lnTo>
                  <a:lnTo>
                    <a:pt x="663117" y="50393"/>
                  </a:lnTo>
                  <a:lnTo>
                    <a:pt x="663117" y="43192"/>
                  </a:lnTo>
                  <a:lnTo>
                    <a:pt x="662567" y="36715"/>
                  </a:lnTo>
                  <a:lnTo>
                    <a:pt x="662441" y="35238"/>
                  </a:lnTo>
                  <a:lnTo>
                    <a:pt x="660414" y="28124"/>
                  </a:lnTo>
                  <a:lnTo>
                    <a:pt x="657036" y="21886"/>
                  </a:lnTo>
                  <a:lnTo>
                    <a:pt x="656457" y="21234"/>
                  </a:lnTo>
                  <a:close/>
                </a:path>
                <a:path w="669289" h="146685">
                  <a:moveTo>
                    <a:pt x="622071" y="6832"/>
                  </a:moveTo>
                  <a:lnTo>
                    <a:pt x="613435" y="6832"/>
                  </a:lnTo>
                  <a:lnTo>
                    <a:pt x="605878" y="8636"/>
                  </a:lnTo>
                  <a:lnTo>
                    <a:pt x="598678" y="11874"/>
                  </a:lnTo>
                  <a:lnTo>
                    <a:pt x="591832" y="14757"/>
                  </a:lnTo>
                  <a:lnTo>
                    <a:pt x="585711" y="18719"/>
                  </a:lnTo>
                  <a:lnTo>
                    <a:pt x="580669" y="23037"/>
                  </a:lnTo>
                  <a:lnTo>
                    <a:pt x="589673" y="34201"/>
                  </a:lnTo>
                  <a:lnTo>
                    <a:pt x="594715" y="30238"/>
                  </a:lnTo>
                  <a:lnTo>
                    <a:pt x="599757" y="27000"/>
                  </a:lnTo>
                  <a:lnTo>
                    <a:pt x="604799" y="24841"/>
                  </a:lnTo>
                  <a:lnTo>
                    <a:pt x="609828" y="22313"/>
                  </a:lnTo>
                  <a:lnTo>
                    <a:pt x="615594" y="21234"/>
                  </a:lnTo>
                  <a:lnTo>
                    <a:pt x="656457" y="21234"/>
                  </a:lnTo>
                  <a:lnTo>
                    <a:pt x="652310" y="16560"/>
                  </a:lnTo>
                  <a:lnTo>
                    <a:pt x="646220" y="12302"/>
                  </a:lnTo>
                  <a:lnTo>
                    <a:pt x="639219" y="9263"/>
                  </a:lnTo>
                  <a:lnTo>
                    <a:pt x="631203" y="7440"/>
                  </a:lnTo>
                  <a:lnTo>
                    <a:pt x="622071" y="6832"/>
                  </a:lnTo>
                  <a:close/>
                </a:path>
              </a:pathLst>
            </a:custGeom>
            <a:solidFill>
              <a:srgbClr val="FFFFFF"/>
            </a:solidFill>
          </p:spPr>
          <p:txBody>
            <a:bodyPr wrap="square" lIns="0" tIns="0" rIns="0" bIns="0" rtlCol="0"/>
            <a:lstStyle/>
            <a:p>
              <a:endParaRPr/>
            </a:p>
          </p:txBody>
        </p:sp>
        <p:sp>
          <p:nvSpPr>
            <p:cNvPr id="11" name="object 11"/>
            <p:cNvSpPr/>
            <p:nvPr/>
          </p:nvSpPr>
          <p:spPr>
            <a:xfrm>
              <a:off x="2606039" y="1278365"/>
              <a:ext cx="1141095" cy="1141730"/>
            </a:xfrm>
            <a:custGeom>
              <a:avLst/>
              <a:gdLst/>
              <a:ahLst/>
              <a:cxnLst/>
              <a:rect l="l" t="t" r="r" b="b"/>
              <a:pathLst>
                <a:path w="1141095" h="1141730">
                  <a:moveTo>
                    <a:pt x="997204" y="0"/>
                  </a:moveTo>
                  <a:lnTo>
                    <a:pt x="143637" y="0"/>
                  </a:lnTo>
                  <a:lnTo>
                    <a:pt x="98150" y="7301"/>
                  </a:lnTo>
                  <a:lnTo>
                    <a:pt x="58709" y="27649"/>
                  </a:lnTo>
                  <a:lnTo>
                    <a:pt x="27649" y="58712"/>
                  </a:lnTo>
                  <a:lnTo>
                    <a:pt x="7301" y="98156"/>
                  </a:lnTo>
                  <a:lnTo>
                    <a:pt x="0" y="143649"/>
                  </a:lnTo>
                  <a:lnTo>
                    <a:pt x="0" y="997203"/>
                  </a:lnTo>
                  <a:lnTo>
                    <a:pt x="7301" y="1042870"/>
                  </a:lnTo>
                  <a:lnTo>
                    <a:pt x="27649" y="1082419"/>
                  </a:lnTo>
                  <a:lnTo>
                    <a:pt x="58709" y="1113536"/>
                  </a:lnTo>
                  <a:lnTo>
                    <a:pt x="98150" y="1133905"/>
                  </a:lnTo>
                  <a:lnTo>
                    <a:pt x="143637" y="1141209"/>
                  </a:lnTo>
                  <a:lnTo>
                    <a:pt x="997204" y="1141209"/>
                  </a:lnTo>
                  <a:lnTo>
                    <a:pt x="1042690" y="1133905"/>
                  </a:lnTo>
                  <a:lnTo>
                    <a:pt x="1082131" y="1113536"/>
                  </a:lnTo>
                  <a:lnTo>
                    <a:pt x="1113191" y="1082419"/>
                  </a:lnTo>
                  <a:lnTo>
                    <a:pt x="1133539" y="1042870"/>
                  </a:lnTo>
                  <a:lnTo>
                    <a:pt x="1140840" y="997203"/>
                  </a:lnTo>
                  <a:lnTo>
                    <a:pt x="1140840" y="143649"/>
                  </a:lnTo>
                  <a:lnTo>
                    <a:pt x="1133539" y="98156"/>
                  </a:lnTo>
                  <a:lnTo>
                    <a:pt x="1113191" y="58712"/>
                  </a:lnTo>
                  <a:lnTo>
                    <a:pt x="1082131" y="27649"/>
                  </a:lnTo>
                  <a:lnTo>
                    <a:pt x="1042690" y="7301"/>
                  </a:lnTo>
                  <a:lnTo>
                    <a:pt x="997204" y="0"/>
                  </a:lnTo>
                  <a:close/>
                </a:path>
              </a:pathLst>
            </a:custGeom>
            <a:solidFill>
              <a:srgbClr val="FF9000"/>
            </a:solidFill>
          </p:spPr>
          <p:txBody>
            <a:bodyPr wrap="square" lIns="0" tIns="0" rIns="0" bIns="0" rtlCol="0"/>
            <a:lstStyle/>
            <a:p>
              <a:endParaRPr/>
            </a:p>
          </p:txBody>
        </p:sp>
        <p:sp>
          <p:nvSpPr>
            <p:cNvPr id="12" name="object 12"/>
            <p:cNvSpPr/>
            <p:nvPr/>
          </p:nvSpPr>
          <p:spPr>
            <a:xfrm>
              <a:off x="2857677" y="1775532"/>
              <a:ext cx="638175" cy="146685"/>
            </a:xfrm>
            <a:custGeom>
              <a:avLst/>
              <a:gdLst/>
              <a:ahLst/>
              <a:cxnLst/>
              <a:rect l="l" t="t" r="r" b="b"/>
              <a:pathLst>
                <a:path w="638175" h="146685">
                  <a:moveTo>
                    <a:pt x="17995" y="8991"/>
                  </a:moveTo>
                  <a:lnTo>
                    <a:pt x="0" y="8991"/>
                  </a:lnTo>
                  <a:lnTo>
                    <a:pt x="48602" y="144716"/>
                  </a:lnTo>
                  <a:lnTo>
                    <a:pt x="65887" y="144716"/>
                  </a:lnTo>
                  <a:lnTo>
                    <a:pt x="72666" y="125641"/>
                  </a:lnTo>
                  <a:lnTo>
                    <a:pt x="57238" y="125641"/>
                  </a:lnTo>
                  <a:lnTo>
                    <a:pt x="56159" y="121310"/>
                  </a:lnTo>
                  <a:lnTo>
                    <a:pt x="55079" y="116636"/>
                  </a:lnTo>
                  <a:lnTo>
                    <a:pt x="53644" y="111950"/>
                  </a:lnTo>
                  <a:lnTo>
                    <a:pt x="52196" y="106921"/>
                  </a:lnTo>
                  <a:lnTo>
                    <a:pt x="50761" y="101511"/>
                  </a:lnTo>
                  <a:lnTo>
                    <a:pt x="48602" y="96113"/>
                  </a:lnTo>
                  <a:lnTo>
                    <a:pt x="17995" y="8991"/>
                  </a:lnTo>
                  <a:close/>
                </a:path>
                <a:path w="638175" h="146685">
                  <a:moveTo>
                    <a:pt x="114122" y="8991"/>
                  </a:moveTo>
                  <a:lnTo>
                    <a:pt x="96126" y="8991"/>
                  </a:lnTo>
                  <a:lnTo>
                    <a:pt x="65887" y="95758"/>
                  </a:lnTo>
                  <a:lnTo>
                    <a:pt x="63715" y="101511"/>
                  </a:lnTo>
                  <a:lnTo>
                    <a:pt x="61925" y="106552"/>
                  </a:lnTo>
                  <a:lnTo>
                    <a:pt x="59042" y="116636"/>
                  </a:lnTo>
                  <a:lnTo>
                    <a:pt x="57962" y="121310"/>
                  </a:lnTo>
                  <a:lnTo>
                    <a:pt x="57238" y="125641"/>
                  </a:lnTo>
                  <a:lnTo>
                    <a:pt x="72666" y="125641"/>
                  </a:lnTo>
                  <a:lnTo>
                    <a:pt x="114122" y="8991"/>
                  </a:lnTo>
                  <a:close/>
                </a:path>
                <a:path w="638175" h="146685">
                  <a:moveTo>
                    <a:pt x="158038" y="8991"/>
                  </a:moveTo>
                  <a:lnTo>
                    <a:pt x="132841" y="8991"/>
                  </a:lnTo>
                  <a:lnTo>
                    <a:pt x="132841" y="144716"/>
                  </a:lnTo>
                  <a:lnTo>
                    <a:pt x="148323" y="144716"/>
                  </a:lnTo>
                  <a:lnTo>
                    <a:pt x="148323" y="48234"/>
                  </a:lnTo>
                  <a:lnTo>
                    <a:pt x="147967" y="41757"/>
                  </a:lnTo>
                  <a:lnTo>
                    <a:pt x="147967" y="34912"/>
                  </a:lnTo>
                  <a:lnTo>
                    <a:pt x="147623" y="29870"/>
                  </a:lnTo>
                  <a:lnTo>
                    <a:pt x="147276" y="25920"/>
                  </a:lnTo>
                  <a:lnTo>
                    <a:pt x="147243" y="25552"/>
                  </a:lnTo>
                  <a:lnTo>
                    <a:pt x="164255" y="25552"/>
                  </a:lnTo>
                  <a:lnTo>
                    <a:pt x="158038" y="8991"/>
                  </a:lnTo>
                  <a:close/>
                </a:path>
                <a:path w="638175" h="146685">
                  <a:moveTo>
                    <a:pt x="164255" y="25552"/>
                  </a:moveTo>
                  <a:lnTo>
                    <a:pt x="147967" y="25552"/>
                  </a:lnTo>
                  <a:lnTo>
                    <a:pt x="192608" y="144716"/>
                  </a:lnTo>
                  <a:lnTo>
                    <a:pt x="206641" y="144716"/>
                  </a:lnTo>
                  <a:lnTo>
                    <a:pt x="215991" y="120230"/>
                  </a:lnTo>
                  <a:lnTo>
                    <a:pt x="199796" y="120230"/>
                  </a:lnTo>
                  <a:lnTo>
                    <a:pt x="164255" y="25552"/>
                  </a:lnTo>
                  <a:close/>
                </a:path>
                <a:path w="638175" h="146685">
                  <a:moveTo>
                    <a:pt x="268198" y="25920"/>
                  </a:moveTo>
                  <a:lnTo>
                    <a:pt x="252717" y="25920"/>
                  </a:lnTo>
                  <a:lnTo>
                    <a:pt x="252393" y="29514"/>
                  </a:lnTo>
                  <a:lnTo>
                    <a:pt x="252030" y="34912"/>
                  </a:lnTo>
                  <a:lnTo>
                    <a:pt x="251637" y="41757"/>
                  </a:lnTo>
                  <a:lnTo>
                    <a:pt x="251637" y="48234"/>
                  </a:lnTo>
                  <a:lnTo>
                    <a:pt x="251282" y="54711"/>
                  </a:lnTo>
                  <a:lnTo>
                    <a:pt x="251282" y="144716"/>
                  </a:lnTo>
                  <a:lnTo>
                    <a:pt x="268198" y="144716"/>
                  </a:lnTo>
                  <a:lnTo>
                    <a:pt x="268198" y="25920"/>
                  </a:lnTo>
                  <a:close/>
                </a:path>
                <a:path w="638175" h="146685">
                  <a:moveTo>
                    <a:pt x="268198" y="8991"/>
                  </a:moveTo>
                  <a:lnTo>
                    <a:pt x="243001" y="8991"/>
                  </a:lnTo>
                  <a:lnTo>
                    <a:pt x="200520" y="120230"/>
                  </a:lnTo>
                  <a:lnTo>
                    <a:pt x="215991" y="120230"/>
                  </a:lnTo>
                  <a:lnTo>
                    <a:pt x="252006" y="25920"/>
                  </a:lnTo>
                  <a:lnTo>
                    <a:pt x="268198" y="25920"/>
                  </a:lnTo>
                  <a:lnTo>
                    <a:pt x="268198" y="8991"/>
                  </a:lnTo>
                  <a:close/>
                </a:path>
                <a:path w="638175" h="146685">
                  <a:moveTo>
                    <a:pt x="396366" y="41033"/>
                  </a:moveTo>
                  <a:lnTo>
                    <a:pt x="388797" y="41033"/>
                  </a:lnTo>
                  <a:lnTo>
                    <a:pt x="379615" y="41849"/>
                  </a:lnTo>
                  <a:lnTo>
                    <a:pt x="349590" y="70617"/>
                  </a:lnTo>
                  <a:lnTo>
                    <a:pt x="349472" y="70916"/>
                  </a:lnTo>
                  <a:lnTo>
                    <a:pt x="347370" y="81591"/>
                  </a:lnTo>
                  <a:lnTo>
                    <a:pt x="346684" y="93954"/>
                  </a:lnTo>
                  <a:lnTo>
                    <a:pt x="347327" y="105560"/>
                  </a:lnTo>
                  <a:lnTo>
                    <a:pt x="347370" y="106319"/>
                  </a:lnTo>
                  <a:lnTo>
                    <a:pt x="371432" y="143279"/>
                  </a:lnTo>
                  <a:lnTo>
                    <a:pt x="388442" y="146519"/>
                  </a:lnTo>
                  <a:lnTo>
                    <a:pt x="396366" y="146519"/>
                  </a:lnTo>
                  <a:lnTo>
                    <a:pt x="418917" y="132842"/>
                  </a:lnTo>
                  <a:lnTo>
                    <a:pt x="381965" y="132842"/>
                  </a:lnTo>
                  <a:lnTo>
                    <a:pt x="375119" y="129235"/>
                  </a:lnTo>
                  <a:lnTo>
                    <a:pt x="363956" y="94310"/>
                  </a:lnTo>
                  <a:lnTo>
                    <a:pt x="364363" y="85814"/>
                  </a:lnTo>
                  <a:lnTo>
                    <a:pt x="381965" y="54711"/>
                  </a:lnTo>
                  <a:lnTo>
                    <a:pt x="419230" y="54711"/>
                  </a:lnTo>
                  <a:lnTo>
                    <a:pt x="416877" y="51841"/>
                  </a:lnTo>
                  <a:lnTo>
                    <a:pt x="412927" y="48234"/>
                  </a:lnTo>
                  <a:lnTo>
                    <a:pt x="402843" y="42481"/>
                  </a:lnTo>
                  <a:lnTo>
                    <a:pt x="396366" y="41033"/>
                  </a:lnTo>
                  <a:close/>
                </a:path>
                <a:path w="638175" h="146685">
                  <a:moveTo>
                    <a:pt x="437045" y="131038"/>
                  </a:moveTo>
                  <a:lnTo>
                    <a:pt x="420839" y="131038"/>
                  </a:lnTo>
                  <a:lnTo>
                    <a:pt x="423367" y="144716"/>
                  </a:lnTo>
                  <a:lnTo>
                    <a:pt x="437045" y="144716"/>
                  </a:lnTo>
                  <a:lnTo>
                    <a:pt x="437045" y="131038"/>
                  </a:lnTo>
                  <a:close/>
                </a:path>
                <a:path w="638175" h="146685">
                  <a:moveTo>
                    <a:pt x="419230" y="54711"/>
                  </a:moveTo>
                  <a:lnTo>
                    <a:pt x="402120" y="54711"/>
                  </a:lnTo>
                  <a:lnTo>
                    <a:pt x="410044" y="58318"/>
                  </a:lnTo>
                  <a:lnTo>
                    <a:pt x="414007" y="65150"/>
                  </a:lnTo>
                  <a:lnTo>
                    <a:pt x="416840" y="70617"/>
                  </a:lnTo>
                  <a:lnTo>
                    <a:pt x="418865" y="77262"/>
                  </a:lnTo>
                  <a:lnTo>
                    <a:pt x="420079" y="85051"/>
                  </a:lnTo>
                  <a:lnTo>
                    <a:pt x="420484" y="93954"/>
                  </a:lnTo>
                  <a:lnTo>
                    <a:pt x="420484" y="97193"/>
                  </a:lnTo>
                  <a:lnTo>
                    <a:pt x="401764" y="132842"/>
                  </a:lnTo>
                  <a:lnTo>
                    <a:pt x="418917" y="132842"/>
                  </a:lnTo>
                  <a:lnTo>
                    <a:pt x="420115" y="131038"/>
                  </a:lnTo>
                  <a:lnTo>
                    <a:pt x="437045" y="131038"/>
                  </a:lnTo>
                  <a:lnTo>
                    <a:pt x="437045" y="55791"/>
                  </a:lnTo>
                  <a:lnTo>
                    <a:pt x="420115" y="55791"/>
                  </a:lnTo>
                  <a:lnTo>
                    <a:pt x="419230" y="54711"/>
                  </a:lnTo>
                  <a:close/>
                </a:path>
                <a:path w="638175" h="146685">
                  <a:moveTo>
                    <a:pt x="437045" y="0"/>
                  </a:moveTo>
                  <a:lnTo>
                    <a:pt x="420115" y="0"/>
                  </a:lnTo>
                  <a:lnTo>
                    <a:pt x="420115" y="42837"/>
                  </a:lnTo>
                  <a:lnTo>
                    <a:pt x="420484" y="45351"/>
                  </a:lnTo>
                  <a:lnTo>
                    <a:pt x="420484" y="48590"/>
                  </a:lnTo>
                  <a:lnTo>
                    <a:pt x="420839" y="51841"/>
                  </a:lnTo>
                  <a:lnTo>
                    <a:pt x="421208" y="54356"/>
                  </a:lnTo>
                  <a:lnTo>
                    <a:pt x="421208" y="55791"/>
                  </a:lnTo>
                  <a:lnTo>
                    <a:pt x="437045" y="55791"/>
                  </a:lnTo>
                  <a:lnTo>
                    <a:pt x="437045" y="0"/>
                  </a:lnTo>
                  <a:close/>
                </a:path>
                <a:path w="638175" h="146685">
                  <a:moveTo>
                    <a:pt x="501490" y="131762"/>
                  </a:moveTo>
                  <a:lnTo>
                    <a:pt x="486003" y="131762"/>
                  </a:lnTo>
                  <a:lnTo>
                    <a:pt x="488886" y="135712"/>
                  </a:lnTo>
                  <a:lnTo>
                    <a:pt x="492836" y="139319"/>
                  </a:lnTo>
                  <a:lnTo>
                    <a:pt x="502919" y="145072"/>
                  </a:lnTo>
                  <a:lnTo>
                    <a:pt x="509397" y="146519"/>
                  </a:lnTo>
                  <a:lnTo>
                    <a:pt x="517677" y="146519"/>
                  </a:lnTo>
                  <a:lnTo>
                    <a:pt x="548165" y="132842"/>
                  </a:lnTo>
                  <a:lnTo>
                    <a:pt x="503999" y="132842"/>
                  </a:lnTo>
                  <a:lnTo>
                    <a:pt x="501490" y="131762"/>
                  </a:lnTo>
                  <a:close/>
                </a:path>
                <a:path w="638175" h="146685">
                  <a:moveTo>
                    <a:pt x="486003" y="0"/>
                  </a:moveTo>
                  <a:lnTo>
                    <a:pt x="469442" y="0"/>
                  </a:lnTo>
                  <a:lnTo>
                    <a:pt x="469442" y="144716"/>
                  </a:lnTo>
                  <a:lnTo>
                    <a:pt x="481317" y="144716"/>
                  </a:lnTo>
                  <a:lnTo>
                    <a:pt x="484568" y="131762"/>
                  </a:lnTo>
                  <a:lnTo>
                    <a:pt x="501490" y="131762"/>
                  </a:lnTo>
                  <a:lnTo>
                    <a:pt x="486003" y="93954"/>
                  </a:lnTo>
                  <a:lnTo>
                    <a:pt x="486003" y="93230"/>
                  </a:lnTo>
                  <a:lnTo>
                    <a:pt x="501169" y="56159"/>
                  </a:lnTo>
                  <a:lnTo>
                    <a:pt x="484924" y="56159"/>
                  </a:lnTo>
                  <a:lnTo>
                    <a:pt x="485101" y="55079"/>
                  </a:lnTo>
                  <a:lnTo>
                    <a:pt x="485221" y="54356"/>
                  </a:lnTo>
                  <a:lnTo>
                    <a:pt x="485555" y="51841"/>
                  </a:lnTo>
                  <a:lnTo>
                    <a:pt x="485648" y="47510"/>
                  </a:lnTo>
                  <a:lnTo>
                    <a:pt x="485935" y="44318"/>
                  </a:lnTo>
                  <a:lnTo>
                    <a:pt x="486003" y="0"/>
                  </a:lnTo>
                  <a:close/>
                </a:path>
                <a:path w="638175" h="146685">
                  <a:moveTo>
                    <a:pt x="548423" y="55079"/>
                  </a:moveTo>
                  <a:lnTo>
                    <a:pt x="514807" y="55079"/>
                  </a:lnTo>
                  <a:lnTo>
                    <a:pt x="526823" y="57453"/>
                  </a:lnTo>
                  <a:lnTo>
                    <a:pt x="535366" y="64619"/>
                  </a:lnTo>
                  <a:lnTo>
                    <a:pt x="540469" y="76645"/>
                  </a:lnTo>
                  <a:lnTo>
                    <a:pt x="542126" y="93230"/>
                  </a:lnTo>
                  <a:lnTo>
                    <a:pt x="542146" y="93954"/>
                  </a:lnTo>
                  <a:lnTo>
                    <a:pt x="541752" y="102507"/>
                  </a:lnTo>
                  <a:lnTo>
                    <a:pt x="540497" y="110336"/>
                  </a:lnTo>
                  <a:lnTo>
                    <a:pt x="538462" y="116774"/>
                  </a:lnTo>
                  <a:lnTo>
                    <a:pt x="538364" y="117085"/>
                  </a:lnTo>
                  <a:lnTo>
                    <a:pt x="535317" y="122758"/>
                  </a:lnTo>
                  <a:lnTo>
                    <a:pt x="530999" y="129235"/>
                  </a:lnTo>
                  <a:lnTo>
                    <a:pt x="524167" y="132842"/>
                  </a:lnTo>
                  <a:lnTo>
                    <a:pt x="548165" y="132842"/>
                  </a:lnTo>
                  <a:lnTo>
                    <a:pt x="553061" y="125847"/>
                  </a:lnTo>
                  <a:lnTo>
                    <a:pt x="556447" y="117296"/>
                  </a:lnTo>
                  <a:lnTo>
                    <a:pt x="556530" y="117085"/>
                  </a:lnTo>
                  <a:lnTo>
                    <a:pt x="556653" y="116774"/>
                  </a:lnTo>
                  <a:lnTo>
                    <a:pt x="558760" y="106013"/>
                  </a:lnTo>
                  <a:lnTo>
                    <a:pt x="559428" y="93954"/>
                  </a:lnTo>
                  <a:lnTo>
                    <a:pt x="559426" y="93230"/>
                  </a:lnTo>
                  <a:lnTo>
                    <a:pt x="558760" y="81389"/>
                  </a:lnTo>
                  <a:lnTo>
                    <a:pt x="556653" y="70734"/>
                  </a:lnTo>
                  <a:lnTo>
                    <a:pt x="553061" y="61700"/>
                  </a:lnTo>
                  <a:lnTo>
                    <a:pt x="548423" y="55079"/>
                  </a:lnTo>
                  <a:close/>
                </a:path>
                <a:path w="638175" h="146685">
                  <a:moveTo>
                    <a:pt x="517677" y="41033"/>
                  </a:moveTo>
                  <a:lnTo>
                    <a:pt x="509397" y="41033"/>
                  </a:lnTo>
                  <a:lnTo>
                    <a:pt x="502919" y="42481"/>
                  </a:lnTo>
                  <a:lnTo>
                    <a:pt x="492836" y="48234"/>
                  </a:lnTo>
                  <a:lnTo>
                    <a:pt x="488886" y="51841"/>
                  </a:lnTo>
                  <a:lnTo>
                    <a:pt x="486003" y="56159"/>
                  </a:lnTo>
                  <a:lnTo>
                    <a:pt x="501169" y="56159"/>
                  </a:lnTo>
                  <a:lnTo>
                    <a:pt x="503999" y="55079"/>
                  </a:lnTo>
                  <a:lnTo>
                    <a:pt x="548423" y="55079"/>
                  </a:lnTo>
                  <a:lnTo>
                    <a:pt x="547916" y="54356"/>
                  </a:lnTo>
                  <a:lnTo>
                    <a:pt x="541776" y="48475"/>
                  </a:lnTo>
                  <a:lnTo>
                    <a:pt x="534692" y="44318"/>
                  </a:lnTo>
                  <a:lnTo>
                    <a:pt x="526659" y="41849"/>
                  </a:lnTo>
                  <a:lnTo>
                    <a:pt x="517677" y="41033"/>
                  </a:lnTo>
                  <a:close/>
                </a:path>
                <a:path w="638175" h="146685">
                  <a:moveTo>
                    <a:pt x="637565" y="26276"/>
                  </a:moveTo>
                  <a:lnTo>
                    <a:pt x="622084" y="26276"/>
                  </a:lnTo>
                  <a:lnTo>
                    <a:pt x="621541" y="31673"/>
                  </a:lnTo>
                  <a:lnTo>
                    <a:pt x="621432" y="32753"/>
                  </a:lnTo>
                  <a:lnTo>
                    <a:pt x="621360" y="144716"/>
                  </a:lnTo>
                  <a:lnTo>
                    <a:pt x="637565" y="144716"/>
                  </a:lnTo>
                  <a:lnTo>
                    <a:pt x="637565" y="26276"/>
                  </a:lnTo>
                  <a:close/>
                </a:path>
                <a:path w="638175" h="146685">
                  <a:moveTo>
                    <a:pt x="637565" y="8991"/>
                  </a:moveTo>
                  <a:lnTo>
                    <a:pt x="623519" y="8991"/>
                  </a:lnTo>
                  <a:lnTo>
                    <a:pt x="586803" y="37439"/>
                  </a:lnTo>
                  <a:lnTo>
                    <a:pt x="595807" y="48590"/>
                  </a:lnTo>
                  <a:lnTo>
                    <a:pt x="610196" y="36715"/>
                  </a:lnTo>
                  <a:lnTo>
                    <a:pt x="612724" y="34556"/>
                  </a:lnTo>
                  <a:lnTo>
                    <a:pt x="614883" y="32753"/>
                  </a:lnTo>
                  <a:lnTo>
                    <a:pt x="616318" y="31673"/>
                  </a:lnTo>
                  <a:lnTo>
                    <a:pt x="618121" y="30238"/>
                  </a:lnTo>
                  <a:lnTo>
                    <a:pt x="622084" y="26276"/>
                  </a:lnTo>
                  <a:lnTo>
                    <a:pt x="637565" y="26276"/>
                  </a:lnTo>
                  <a:lnTo>
                    <a:pt x="637565" y="8991"/>
                  </a:lnTo>
                  <a:close/>
                </a:path>
              </a:pathLst>
            </a:custGeom>
            <a:solidFill>
              <a:srgbClr val="FFFFFF"/>
            </a:solidFill>
          </p:spPr>
          <p:txBody>
            <a:bodyPr wrap="square" lIns="0" tIns="0" rIns="0" bIns="0" rtlCol="0"/>
            <a:lstStyle/>
            <a:p>
              <a:endParaRPr/>
            </a:p>
          </p:txBody>
        </p:sp>
        <p:sp>
          <p:nvSpPr>
            <p:cNvPr id="13" name="object 13"/>
            <p:cNvSpPr/>
            <p:nvPr/>
          </p:nvSpPr>
          <p:spPr>
            <a:xfrm>
              <a:off x="2606039" y="4041733"/>
              <a:ext cx="1141095" cy="1141730"/>
            </a:xfrm>
            <a:custGeom>
              <a:avLst/>
              <a:gdLst/>
              <a:ahLst/>
              <a:cxnLst/>
              <a:rect l="l" t="t" r="r" b="b"/>
              <a:pathLst>
                <a:path w="1141095" h="1141729">
                  <a:moveTo>
                    <a:pt x="997204" y="0"/>
                  </a:moveTo>
                  <a:lnTo>
                    <a:pt x="143637" y="0"/>
                  </a:lnTo>
                  <a:lnTo>
                    <a:pt x="98150" y="7302"/>
                  </a:lnTo>
                  <a:lnTo>
                    <a:pt x="58709" y="27668"/>
                  </a:lnTo>
                  <a:lnTo>
                    <a:pt x="27649" y="58781"/>
                  </a:lnTo>
                  <a:lnTo>
                    <a:pt x="7301" y="98327"/>
                  </a:lnTo>
                  <a:lnTo>
                    <a:pt x="0" y="143992"/>
                  </a:lnTo>
                  <a:lnTo>
                    <a:pt x="0" y="997559"/>
                  </a:lnTo>
                  <a:lnTo>
                    <a:pt x="7301" y="1043046"/>
                  </a:lnTo>
                  <a:lnTo>
                    <a:pt x="27649" y="1082486"/>
                  </a:lnTo>
                  <a:lnTo>
                    <a:pt x="58709" y="1113547"/>
                  </a:lnTo>
                  <a:lnTo>
                    <a:pt x="98150" y="1133895"/>
                  </a:lnTo>
                  <a:lnTo>
                    <a:pt x="143637" y="1141196"/>
                  </a:lnTo>
                  <a:lnTo>
                    <a:pt x="997204" y="1141196"/>
                  </a:lnTo>
                  <a:lnTo>
                    <a:pt x="1042690" y="1133895"/>
                  </a:lnTo>
                  <a:lnTo>
                    <a:pt x="1082131" y="1113547"/>
                  </a:lnTo>
                  <a:lnTo>
                    <a:pt x="1113191" y="1082486"/>
                  </a:lnTo>
                  <a:lnTo>
                    <a:pt x="1133539" y="1043046"/>
                  </a:lnTo>
                  <a:lnTo>
                    <a:pt x="1140840" y="997559"/>
                  </a:lnTo>
                  <a:lnTo>
                    <a:pt x="1140840" y="143992"/>
                  </a:lnTo>
                  <a:lnTo>
                    <a:pt x="1133539" y="98327"/>
                  </a:lnTo>
                  <a:lnTo>
                    <a:pt x="1113191" y="58781"/>
                  </a:lnTo>
                  <a:lnTo>
                    <a:pt x="1082131" y="27668"/>
                  </a:lnTo>
                  <a:lnTo>
                    <a:pt x="1042690" y="7302"/>
                  </a:lnTo>
                  <a:lnTo>
                    <a:pt x="997204" y="0"/>
                  </a:lnTo>
                  <a:close/>
                </a:path>
              </a:pathLst>
            </a:custGeom>
            <a:solidFill>
              <a:srgbClr val="FF9000"/>
            </a:solidFill>
          </p:spPr>
          <p:txBody>
            <a:bodyPr wrap="square" lIns="0" tIns="0" rIns="0" bIns="0" rtlCol="0"/>
            <a:lstStyle/>
            <a:p>
              <a:endParaRPr/>
            </a:p>
          </p:txBody>
        </p:sp>
        <p:sp>
          <p:nvSpPr>
            <p:cNvPr id="14" name="object 14"/>
            <p:cNvSpPr/>
            <p:nvPr/>
          </p:nvSpPr>
          <p:spPr>
            <a:xfrm>
              <a:off x="2857677" y="4547891"/>
              <a:ext cx="670560" cy="138430"/>
            </a:xfrm>
            <a:custGeom>
              <a:avLst/>
              <a:gdLst/>
              <a:ahLst/>
              <a:cxnLst/>
              <a:rect l="l" t="t" r="r" b="b"/>
              <a:pathLst>
                <a:path w="670560" h="138429">
                  <a:moveTo>
                    <a:pt x="17995" y="0"/>
                  </a:moveTo>
                  <a:lnTo>
                    <a:pt x="0" y="0"/>
                  </a:lnTo>
                  <a:lnTo>
                    <a:pt x="48602" y="135712"/>
                  </a:lnTo>
                  <a:lnTo>
                    <a:pt x="65887" y="135712"/>
                  </a:lnTo>
                  <a:lnTo>
                    <a:pt x="72667" y="116636"/>
                  </a:lnTo>
                  <a:lnTo>
                    <a:pt x="57238" y="116636"/>
                  </a:lnTo>
                  <a:lnTo>
                    <a:pt x="56159" y="112318"/>
                  </a:lnTo>
                  <a:lnTo>
                    <a:pt x="55079" y="107632"/>
                  </a:lnTo>
                  <a:lnTo>
                    <a:pt x="53644" y="102958"/>
                  </a:lnTo>
                  <a:lnTo>
                    <a:pt x="50761" y="92875"/>
                  </a:lnTo>
                  <a:lnTo>
                    <a:pt x="48602" y="87122"/>
                  </a:lnTo>
                  <a:lnTo>
                    <a:pt x="17995" y="0"/>
                  </a:lnTo>
                  <a:close/>
                </a:path>
                <a:path w="670560" h="138429">
                  <a:moveTo>
                    <a:pt x="114122" y="0"/>
                  </a:moveTo>
                  <a:lnTo>
                    <a:pt x="96126" y="0"/>
                  </a:lnTo>
                  <a:lnTo>
                    <a:pt x="65887" y="86753"/>
                  </a:lnTo>
                  <a:lnTo>
                    <a:pt x="63715" y="92519"/>
                  </a:lnTo>
                  <a:lnTo>
                    <a:pt x="57238" y="116636"/>
                  </a:lnTo>
                  <a:lnTo>
                    <a:pt x="72667" y="116636"/>
                  </a:lnTo>
                  <a:lnTo>
                    <a:pt x="114122" y="0"/>
                  </a:lnTo>
                  <a:close/>
                </a:path>
                <a:path w="670560" h="138429">
                  <a:moveTo>
                    <a:pt x="158038" y="0"/>
                  </a:moveTo>
                  <a:lnTo>
                    <a:pt x="132841" y="0"/>
                  </a:lnTo>
                  <a:lnTo>
                    <a:pt x="132841" y="135712"/>
                  </a:lnTo>
                  <a:lnTo>
                    <a:pt x="148323" y="135712"/>
                  </a:lnTo>
                  <a:lnTo>
                    <a:pt x="148323" y="39243"/>
                  </a:lnTo>
                  <a:lnTo>
                    <a:pt x="147967" y="32753"/>
                  </a:lnTo>
                  <a:lnTo>
                    <a:pt x="147967" y="25920"/>
                  </a:lnTo>
                  <a:lnTo>
                    <a:pt x="147623" y="20878"/>
                  </a:lnTo>
                  <a:lnTo>
                    <a:pt x="147243" y="16916"/>
                  </a:lnTo>
                  <a:lnTo>
                    <a:pt x="164388" y="16916"/>
                  </a:lnTo>
                  <a:lnTo>
                    <a:pt x="158038" y="0"/>
                  </a:lnTo>
                  <a:close/>
                </a:path>
                <a:path w="670560" h="138429">
                  <a:moveTo>
                    <a:pt x="164388" y="16916"/>
                  </a:moveTo>
                  <a:lnTo>
                    <a:pt x="147967" y="16916"/>
                  </a:lnTo>
                  <a:lnTo>
                    <a:pt x="192608" y="135712"/>
                  </a:lnTo>
                  <a:lnTo>
                    <a:pt x="206641" y="135712"/>
                  </a:lnTo>
                  <a:lnTo>
                    <a:pt x="215987" y="111239"/>
                  </a:lnTo>
                  <a:lnTo>
                    <a:pt x="199796" y="111239"/>
                  </a:lnTo>
                  <a:lnTo>
                    <a:pt x="164388" y="16916"/>
                  </a:lnTo>
                  <a:close/>
                </a:path>
                <a:path w="670560" h="138429">
                  <a:moveTo>
                    <a:pt x="268198" y="16916"/>
                  </a:moveTo>
                  <a:lnTo>
                    <a:pt x="252717" y="16916"/>
                  </a:lnTo>
                  <a:lnTo>
                    <a:pt x="252393" y="20523"/>
                  </a:lnTo>
                  <a:lnTo>
                    <a:pt x="252029" y="25920"/>
                  </a:lnTo>
                  <a:lnTo>
                    <a:pt x="251637" y="32753"/>
                  </a:lnTo>
                  <a:lnTo>
                    <a:pt x="251637" y="39243"/>
                  </a:lnTo>
                  <a:lnTo>
                    <a:pt x="251282" y="45720"/>
                  </a:lnTo>
                  <a:lnTo>
                    <a:pt x="251282" y="135712"/>
                  </a:lnTo>
                  <a:lnTo>
                    <a:pt x="268198" y="135712"/>
                  </a:lnTo>
                  <a:lnTo>
                    <a:pt x="268198" y="16916"/>
                  </a:lnTo>
                  <a:close/>
                </a:path>
                <a:path w="670560" h="138429">
                  <a:moveTo>
                    <a:pt x="268198" y="0"/>
                  </a:moveTo>
                  <a:lnTo>
                    <a:pt x="243001" y="0"/>
                  </a:lnTo>
                  <a:lnTo>
                    <a:pt x="200520" y="111239"/>
                  </a:lnTo>
                  <a:lnTo>
                    <a:pt x="215987" y="111239"/>
                  </a:lnTo>
                  <a:lnTo>
                    <a:pt x="252006" y="16916"/>
                  </a:lnTo>
                  <a:lnTo>
                    <a:pt x="268198" y="16916"/>
                  </a:lnTo>
                  <a:lnTo>
                    <a:pt x="268198" y="0"/>
                  </a:lnTo>
                  <a:close/>
                </a:path>
                <a:path w="670560" h="138429">
                  <a:moveTo>
                    <a:pt x="345960" y="115912"/>
                  </a:moveTo>
                  <a:lnTo>
                    <a:pt x="345960" y="131394"/>
                  </a:lnTo>
                  <a:lnTo>
                    <a:pt x="350246" y="133322"/>
                  </a:lnTo>
                  <a:lnTo>
                    <a:pt x="354596" y="135001"/>
                  </a:lnTo>
                  <a:lnTo>
                    <a:pt x="364680" y="137160"/>
                  </a:lnTo>
                  <a:lnTo>
                    <a:pt x="370801" y="137871"/>
                  </a:lnTo>
                  <a:lnTo>
                    <a:pt x="378002" y="137871"/>
                  </a:lnTo>
                  <a:lnTo>
                    <a:pt x="415086" y="124917"/>
                  </a:lnTo>
                  <a:lnTo>
                    <a:pt x="415448" y="124193"/>
                  </a:lnTo>
                  <a:lnTo>
                    <a:pt x="372237" y="124193"/>
                  </a:lnTo>
                  <a:lnTo>
                    <a:pt x="366483" y="123482"/>
                  </a:lnTo>
                  <a:lnTo>
                    <a:pt x="354964" y="119875"/>
                  </a:lnTo>
                  <a:lnTo>
                    <a:pt x="349923" y="118071"/>
                  </a:lnTo>
                  <a:lnTo>
                    <a:pt x="345960" y="115912"/>
                  </a:lnTo>
                  <a:close/>
                </a:path>
                <a:path w="670560" h="138429">
                  <a:moveTo>
                    <a:pt x="390245" y="32042"/>
                  </a:moveTo>
                  <a:lnTo>
                    <a:pt x="384124" y="32042"/>
                  </a:lnTo>
                  <a:lnTo>
                    <a:pt x="375895" y="32452"/>
                  </a:lnTo>
                  <a:lnTo>
                    <a:pt x="345960" y="50393"/>
                  </a:lnTo>
                  <a:lnTo>
                    <a:pt x="345960" y="64439"/>
                  </a:lnTo>
                  <a:lnTo>
                    <a:pt x="377278" y="89281"/>
                  </a:lnTo>
                  <a:lnTo>
                    <a:pt x="384124" y="91795"/>
                  </a:lnTo>
                  <a:lnTo>
                    <a:pt x="392760" y="96113"/>
                  </a:lnTo>
                  <a:lnTo>
                    <a:pt x="402488" y="106553"/>
                  </a:lnTo>
                  <a:lnTo>
                    <a:pt x="402488" y="113753"/>
                  </a:lnTo>
                  <a:lnTo>
                    <a:pt x="400685" y="117360"/>
                  </a:lnTo>
                  <a:lnTo>
                    <a:pt x="396722" y="120243"/>
                  </a:lnTo>
                  <a:lnTo>
                    <a:pt x="393128" y="122758"/>
                  </a:lnTo>
                  <a:lnTo>
                    <a:pt x="387007" y="124193"/>
                  </a:lnTo>
                  <a:lnTo>
                    <a:pt x="415448" y="124193"/>
                  </a:lnTo>
                  <a:lnTo>
                    <a:pt x="418680" y="117716"/>
                  </a:lnTo>
                  <a:lnTo>
                    <a:pt x="418680" y="102235"/>
                  </a:lnTo>
                  <a:lnTo>
                    <a:pt x="417601" y="97561"/>
                  </a:lnTo>
                  <a:lnTo>
                    <a:pt x="415086" y="94322"/>
                  </a:lnTo>
                  <a:lnTo>
                    <a:pt x="412559" y="90360"/>
                  </a:lnTo>
                  <a:lnTo>
                    <a:pt x="409321" y="87477"/>
                  </a:lnTo>
                  <a:lnTo>
                    <a:pt x="399961" y="82435"/>
                  </a:lnTo>
                  <a:lnTo>
                    <a:pt x="394563" y="79921"/>
                  </a:lnTo>
                  <a:lnTo>
                    <a:pt x="381596" y="74879"/>
                  </a:lnTo>
                  <a:lnTo>
                    <a:pt x="376567" y="72720"/>
                  </a:lnTo>
                  <a:lnTo>
                    <a:pt x="368642" y="69113"/>
                  </a:lnTo>
                  <a:lnTo>
                    <a:pt x="366128" y="67322"/>
                  </a:lnTo>
                  <a:lnTo>
                    <a:pt x="364324" y="65151"/>
                  </a:lnTo>
                  <a:lnTo>
                    <a:pt x="362521" y="63360"/>
                  </a:lnTo>
                  <a:lnTo>
                    <a:pt x="361797" y="60833"/>
                  </a:lnTo>
                  <a:lnTo>
                    <a:pt x="361797" y="54356"/>
                  </a:lnTo>
                  <a:lnTo>
                    <a:pt x="363600" y="51117"/>
                  </a:lnTo>
                  <a:lnTo>
                    <a:pt x="370801" y="46799"/>
                  </a:lnTo>
                  <a:lnTo>
                    <a:pt x="376199" y="45720"/>
                  </a:lnTo>
                  <a:lnTo>
                    <a:pt x="413559" y="45720"/>
                  </a:lnTo>
                  <a:lnTo>
                    <a:pt x="416521" y="38874"/>
                  </a:lnTo>
                  <a:lnTo>
                    <a:pt x="411848" y="36715"/>
                  </a:lnTo>
                  <a:lnTo>
                    <a:pt x="406806" y="34912"/>
                  </a:lnTo>
                  <a:lnTo>
                    <a:pt x="395998" y="32753"/>
                  </a:lnTo>
                  <a:lnTo>
                    <a:pt x="390245" y="32042"/>
                  </a:lnTo>
                  <a:close/>
                </a:path>
                <a:path w="670560" h="138429">
                  <a:moveTo>
                    <a:pt x="413559" y="45720"/>
                  </a:moveTo>
                  <a:lnTo>
                    <a:pt x="387718" y="45720"/>
                  </a:lnTo>
                  <a:lnTo>
                    <a:pt x="392760" y="46431"/>
                  </a:lnTo>
                  <a:lnTo>
                    <a:pt x="397446" y="47523"/>
                  </a:lnTo>
                  <a:lnTo>
                    <a:pt x="402120" y="48958"/>
                  </a:lnTo>
                  <a:lnTo>
                    <a:pt x="406438" y="50393"/>
                  </a:lnTo>
                  <a:lnTo>
                    <a:pt x="410756" y="52197"/>
                  </a:lnTo>
                  <a:lnTo>
                    <a:pt x="413559" y="45720"/>
                  </a:lnTo>
                  <a:close/>
                </a:path>
                <a:path w="670560" h="138429">
                  <a:moveTo>
                    <a:pt x="457200" y="33832"/>
                  </a:moveTo>
                  <a:lnTo>
                    <a:pt x="443522" y="33832"/>
                  </a:lnTo>
                  <a:lnTo>
                    <a:pt x="443522" y="135712"/>
                  </a:lnTo>
                  <a:lnTo>
                    <a:pt x="460082" y="135712"/>
                  </a:lnTo>
                  <a:lnTo>
                    <a:pt x="460082" y="74523"/>
                  </a:lnTo>
                  <a:lnTo>
                    <a:pt x="461517" y="68757"/>
                  </a:lnTo>
                  <a:lnTo>
                    <a:pt x="464045" y="63715"/>
                  </a:lnTo>
                  <a:lnTo>
                    <a:pt x="466928" y="58318"/>
                  </a:lnTo>
                  <a:lnTo>
                    <a:pt x="470522" y="54356"/>
                  </a:lnTo>
                  <a:lnTo>
                    <a:pt x="473456" y="52552"/>
                  </a:lnTo>
                  <a:lnTo>
                    <a:pt x="459003" y="52552"/>
                  </a:lnTo>
                  <a:lnTo>
                    <a:pt x="457200" y="33832"/>
                  </a:lnTo>
                  <a:close/>
                </a:path>
                <a:path w="670560" h="138429">
                  <a:moveTo>
                    <a:pt x="495007" y="32042"/>
                  </a:moveTo>
                  <a:lnTo>
                    <a:pt x="483844" y="32042"/>
                  </a:lnTo>
                  <a:lnTo>
                    <a:pt x="477723" y="33832"/>
                  </a:lnTo>
                  <a:lnTo>
                    <a:pt x="472325" y="38163"/>
                  </a:lnTo>
                  <a:lnTo>
                    <a:pt x="467283" y="42113"/>
                  </a:lnTo>
                  <a:lnTo>
                    <a:pt x="462965" y="46799"/>
                  </a:lnTo>
                  <a:lnTo>
                    <a:pt x="459727" y="52552"/>
                  </a:lnTo>
                  <a:lnTo>
                    <a:pt x="473456" y="52552"/>
                  </a:lnTo>
                  <a:lnTo>
                    <a:pt x="479882" y="48602"/>
                  </a:lnTo>
                  <a:lnTo>
                    <a:pt x="484568" y="47155"/>
                  </a:lnTo>
                  <a:lnTo>
                    <a:pt x="500962" y="47155"/>
                  </a:lnTo>
                  <a:lnTo>
                    <a:pt x="502820" y="33832"/>
                  </a:lnTo>
                  <a:lnTo>
                    <a:pt x="502919" y="33121"/>
                  </a:lnTo>
                  <a:lnTo>
                    <a:pt x="499325" y="32397"/>
                  </a:lnTo>
                  <a:lnTo>
                    <a:pt x="497166" y="32397"/>
                  </a:lnTo>
                  <a:lnTo>
                    <a:pt x="495007" y="32042"/>
                  </a:lnTo>
                  <a:close/>
                </a:path>
                <a:path w="670560" h="138429">
                  <a:moveTo>
                    <a:pt x="500962" y="47155"/>
                  </a:moveTo>
                  <a:lnTo>
                    <a:pt x="493560" y="47155"/>
                  </a:lnTo>
                  <a:lnTo>
                    <a:pt x="495363" y="47523"/>
                  </a:lnTo>
                  <a:lnTo>
                    <a:pt x="497522" y="47879"/>
                  </a:lnTo>
                  <a:lnTo>
                    <a:pt x="499325" y="48234"/>
                  </a:lnTo>
                  <a:lnTo>
                    <a:pt x="500761" y="48602"/>
                  </a:lnTo>
                  <a:lnTo>
                    <a:pt x="500861" y="47879"/>
                  </a:lnTo>
                  <a:lnTo>
                    <a:pt x="500962" y="47155"/>
                  </a:lnTo>
                  <a:close/>
                </a:path>
                <a:path w="670560" h="138429">
                  <a:moveTo>
                    <a:pt x="523798" y="33832"/>
                  </a:moveTo>
                  <a:lnTo>
                    <a:pt x="505802" y="33832"/>
                  </a:lnTo>
                  <a:lnTo>
                    <a:pt x="544322" y="135712"/>
                  </a:lnTo>
                  <a:lnTo>
                    <a:pt x="563765" y="135712"/>
                  </a:lnTo>
                  <a:lnTo>
                    <a:pt x="569345" y="120954"/>
                  </a:lnTo>
                  <a:lnTo>
                    <a:pt x="553681" y="120954"/>
                  </a:lnTo>
                  <a:lnTo>
                    <a:pt x="552957" y="118795"/>
                  </a:lnTo>
                  <a:lnTo>
                    <a:pt x="552602" y="116281"/>
                  </a:lnTo>
                  <a:lnTo>
                    <a:pt x="551522" y="113042"/>
                  </a:lnTo>
                  <a:lnTo>
                    <a:pt x="550799" y="110159"/>
                  </a:lnTo>
                  <a:lnTo>
                    <a:pt x="549719" y="106553"/>
                  </a:lnTo>
                  <a:lnTo>
                    <a:pt x="548639" y="103314"/>
                  </a:lnTo>
                  <a:lnTo>
                    <a:pt x="547560" y="99720"/>
                  </a:lnTo>
                  <a:lnTo>
                    <a:pt x="545401" y="93954"/>
                  </a:lnTo>
                  <a:lnTo>
                    <a:pt x="523798" y="33832"/>
                  </a:lnTo>
                  <a:close/>
                </a:path>
                <a:path w="670560" h="138429">
                  <a:moveTo>
                    <a:pt x="602284" y="33832"/>
                  </a:moveTo>
                  <a:lnTo>
                    <a:pt x="584644" y="33832"/>
                  </a:lnTo>
                  <a:lnTo>
                    <a:pt x="562686" y="93954"/>
                  </a:lnTo>
                  <a:lnTo>
                    <a:pt x="561962" y="96481"/>
                  </a:lnTo>
                  <a:lnTo>
                    <a:pt x="560882" y="99720"/>
                  </a:lnTo>
                  <a:lnTo>
                    <a:pt x="559447" y="102958"/>
                  </a:lnTo>
                  <a:lnTo>
                    <a:pt x="558368" y="106553"/>
                  </a:lnTo>
                  <a:lnTo>
                    <a:pt x="556196" y="113042"/>
                  </a:lnTo>
                  <a:lnTo>
                    <a:pt x="555485" y="116281"/>
                  </a:lnTo>
                  <a:lnTo>
                    <a:pt x="554761" y="118795"/>
                  </a:lnTo>
                  <a:lnTo>
                    <a:pt x="554405" y="120954"/>
                  </a:lnTo>
                  <a:lnTo>
                    <a:pt x="569345" y="120954"/>
                  </a:lnTo>
                  <a:lnTo>
                    <a:pt x="602284" y="33832"/>
                  </a:lnTo>
                  <a:close/>
                </a:path>
                <a:path w="670560" h="138429">
                  <a:moveTo>
                    <a:pt x="669963" y="17640"/>
                  </a:moveTo>
                  <a:lnTo>
                    <a:pt x="654126" y="17640"/>
                  </a:lnTo>
                  <a:lnTo>
                    <a:pt x="654126" y="21234"/>
                  </a:lnTo>
                  <a:lnTo>
                    <a:pt x="653798" y="24117"/>
                  </a:lnTo>
                  <a:lnTo>
                    <a:pt x="653757" y="30962"/>
                  </a:lnTo>
                  <a:lnTo>
                    <a:pt x="653402" y="35636"/>
                  </a:lnTo>
                  <a:lnTo>
                    <a:pt x="653402" y="135712"/>
                  </a:lnTo>
                  <a:lnTo>
                    <a:pt x="669963" y="135712"/>
                  </a:lnTo>
                  <a:lnTo>
                    <a:pt x="669963" y="17640"/>
                  </a:lnTo>
                  <a:close/>
                </a:path>
                <a:path w="670560" h="138429">
                  <a:moveTo>
                    <a:pt x="669963" y="0"/>
                  </a:moveTo>
                  <a:lnTo>
                    <a:pt x="655916" y="0"/>
                  </a:lnTo>
                  <a:lnTo>
                    <a:pt x="619201" y="28435"/>
                  </a:lnTo>
                  <a:lnTo>
                    <a:pt x="628205" y="39598"/>
                  </a:lnTo>
                  <a:lnTo>
                    <a:pt x="642607" y="28079"/>
                  </a:lnTo>
                  <a:lnTo>
                    <a:pt x="645121" y="25920"/>
                  </a:lnTo>
                  <a:lnTo>
                    <a:pt x="647280" y="24117"/>
                  </a:lnTo>
                  <a:lnTo>
                    <a:pt x="648715" y="22682"/>
                  </a:lnTo>
                  <a:lnTo>
                    <a:pt x="650519" y="21234"/>
                  </a:lnTo>
                  <a:lnTo>
                    <a:pt x="654126" y="17640"/>
                  </a:lnTo>
                  <a:lnTo>
                    <a:pt x="669963" y="17640"/>
                  </a:lnTo>
                  <a:lnTo>
                    <a:pt x="669963" y="0"/>
                  </a:lnTo>
                  <a:close/>
                </a:path>
              </a:pathLst>
            </a:custGeom>
            <a:solidFill>
              <a:srgbClr val="FFFFFF"/>
            </a:solidFill>
          </p:spPr>
          <p:txBody>
            <a:bodyPr wrap="square" lIns="0" tIns="0" rIns="0" bIns="0" rtlCol="0"/>
            <a:lstStyle/>
            <a:p>
              <a:endParaRPr/>
            </a:p>
          </p:txBody>
        </p:sp>
        <p:sp>
          <p:nvSpPr>
            <p:cNvPr id="15" name="object 15"/>
            <p:cNvSpPr/>
            <p:nvPr/>
          </p:nvSpPr>
          <p:spPr>
            <a:xfrm>
              <a:off x="5561634" y="4041733"/>
              <a:ext cx="1141095" cy="1141730"/>
            </a:xfrm>
            <a:custGeom>
              <a:avLst/>
              <a:gdLst/>
              <a:ahLst/>
              <a:cxnLst/>
              <a:rect l="l" t="t" r="r" b="b"/>
              <a:pathLst>
                <a:path w="1141095" h="1141729">
                  <a:moveTo>
                    <a:pt x="997203" y="0"/>
                  </a:moveTo>
                  <a:lnTo>
                    <a:pt x="143649" y="0"/>
                  </a:lnTo>
                  <a:lnTo>
                    <a:pt x="98156" y="7302"/>
                  </a:lnTo>
                  <a:lnTo>
                    <a:pt x="58712" y="27668"/>
                  </a:lnTo>
                  <a:lnTo>
                    <a:pt x="27649" y="58781"/>
                  </a:lnTo>
                  <a:lnTo>
                    <a:pt x="7301" y="98327"/>
                  </a:lnTo>
                  <a:lnTo>
                    <a:pt x="0" y="143992"/>
                  </a:lnTo>
                  <a:lnTo>
                    <a:pt x="0" y="997559"/>
                  </a:lnTo>
                  <a:lnTo>
                    <a:pt x="7301" y="1043046"/>
                  </a:lnTo>
                  <a:lnTo>
                    <a:pt x="27649" y="1082486"/>
                  </a:lnTo>
                  <a:lnTo>
                    <a:pt x="58712" y="1113547"/>
                  </a:lnTo>
                  <a:lnTo>
                    <a:pt x="98156" y="1133895"/>
                  </a:lnTo>
                  <a:lnTo>
                    <a:pt x="143649" y="1141196"/>
                  </a:lnTo>
                  <a:lnTo>
                    <a:pt x="997203" y="1141196"/>
                  </a:lnTo>
                  <a:lnTo>
                    <a:pt x="1042695" y="1133895"/>
                  </a:lnTo>
                  <a:lnTo>
                    <a:pt x="1082136" y="1113547"/>
                  </a:lnTo>
                  <a:lnTo>
                    <a:pt x="1113195" y="1082486"/>
                  </a:lnTo>
                  <a:lnTo>
                    <a:pt x="1133541" y="1043046"/>
                  </a:lnTo>
                  <a:lnTo>
                    <a:pt x="1140841" y="997559"/>
                  </a:lnTo>
                  <a:lnTo>
                    <a:pt x="1140841" y="143992"/>
                  </a:lnTo>
                  <a:lnTo>
                    <a:pt x="1133541" y="98327"/>
                  </a:lnTo>
                  <a:lnTo>
                    <a:pt x="1113195" y="58781"/>
                  </a:lnTo>
                  <a:lnTo>
                    <a:pt x="1082136" y="27668"/>
                  </a:lnTo>
                  <a:lnTo>
                    <a:pt x="1042695" y="7302"/>
                  </a:lnTo>
                  <a:lnTo>
                    <a:pt x="997203" y="0"/>
                  </a:lnTo>
                  <a:close/>
                </a:path>
              </a:pathLst>
            </a:custGeom>
            <a:solidFill>
              <a:srgbClr val="FF9000"/>
            </a:solidFill>
          </p:spPr>
          <p:txBody>
            <a:bodyPr wrap="square" lIns="0" tIns="0" rIns="0" bIns="0" rtlCol="0"/>
            <a:lstStyle/>
            <a:p>
              <a:endParaRPr/>
            </a:p>
          </p:txBody>
        </p:sp>
        <p:sp>
          <p:nvSpPr>
            <p:cNvPr id="16" name="object 16"/>
            <p:cNvSpPr/>
            <p:nvPr/>
          </p:nvSpPr>
          <p:spPr>
            <a:xfrm>
              <a:off x="5813285" y="4546088"/>
              <a:ext cx="701675" cy="139700"/>
            </a:xfrm>
            <a:custGeom>
              <a:avLst/>
              <a:gdLst/>
              <a:ahLst/>
              <a:cxnLst/>
              <a:rect l="l" t="t" r="r" b="b"/>
              <a:pathLst>
                <a:path w="701675" h="139700">
                  <a:moveTo>
                    <a:pt x="17995" y="1803"/>
                  </a:moveTo>
                  <a:lnTo>
                    <a:pt x="0" y="1803"/>
                  </a:lnTo>
                  <a:lnTo>
                    <a:pt x="48590" y="137515"/>
                  </a:lnTo>
                  <a:lnTo>
                    <a:pt x="65519" y="137515"/>
                  </a:lnTo>
                  <a:lnTo>
                    <a:pt x="72349" y="118440"/>
                  </a:lnTo>
                  <a:lnTo>
                    <a:pt x="56870" y="118440"/>
                  </a:lnTo>
                  <a:lnTo>
                    <a:pt x="56159" y="114122"/>
                  </a:lnTo>
                  <a:lnTo>
                    <a:pt x="55079" y="109435"/>
                  </a:lnTo>
                  <a:lnTo>
                    <a:pt x="53632" y="104762"/>
                  </a:lnTo>
                  <a:lnTo>
                    <a:pt x="52197" y="99720"/>
                  </a:lnTo>
                  <a:lnTo>
                    <a:pt x="50393" y="94678"/>
                  </a:lnTo>
                  <a:lnTo>
                    <a:pt x="48590" y="88925"/>
                  </a:lnTo>
                  <a:lnTo>
                    <a:pt x="17995" y="1803"/>
                  </a:lnTo>
                  <a:close/>
                </a:path>
                <a:path w="701675" h="139700">
                  <a:moveTo>
                    <a:pt x="114109" y="1803"/>
                  </a:moveTo>
                  <a:lnTo>
                    <a:pt x="96113" y="1803"/>
                  </a:lnTo>
                  <a:lnTo>
                    <a:pt x="65519" y="88557"/>
                  </a:lnTo>
                  <a:lnTo>
                    <a:pt x="63715" y="94322"/>
                  </a:lnTo>
                  <a:lnTo>
                    <a:pt x="61912" y="99720"/>
                  </a:lnTo>
                  <a:lnTo>
                    <a:pt x="60477" y="104406"/>
                  </a:lnTo>
                  <a:lnTo>
                    <a:pt x="59029" y="109435"/>
                  </a:lnTo>
                  <a:lnTo>
                    <a:pt x="57950" y="114122"/>
                  </a:lnTo>
                  <a:lnTo>
                    <a:pt x="56870" y="118440"/>
                  </a:lnTo>
                  <a:lnTo>
                    <a:pt x="72349" y="118440"/>
                  </a:lnTo>
                  <a:lnTo>
                    <a:pt x="114109" y="1803"/>
                  </a:lnTo>
                  <a:close/>
                </a:path>
                <a:path w="701675" h="139700">
                  <a:moveTo>
                    <a:pt x="157670" y="1803"/>
                  </a:moveTo>
                  <a:lnTo>
                    <a:pt x="132473" y="1803"/>
                  </a:lnTo>
                  <a:lnTo>
                    <a:pt x="132473" y="137515"/>
                  </a:lnTo>
                  <a:lnTo>
                    <a:pt x="148310" y="137515"/>
                  </a:lnTo>
                  <a:lnTo>
                    <a:pt x="148310" y="41046"/>
                  </a:lnTo>
                  <a:lnTo>
                    <a:pt x="147618" y="28079"/>
                  </a:lnTo>
                  <a:lnTo>
                    <a:pt x="147255" y="22682"/>
                  </a:lnTo>
                  <a:lnTo>
                    <a:pt x="146875" y="18719"/>
                  </a:lnTo>
                  <a:lnTo>
                    <a:pt x="164076" y="18719"/>
                  </a:lnTo>
                  <a:lnTo>
                    <a:pt x="157670" y="1803"/>
                  </a:lnTo>
                  <a:close/>
                </a:path>
                <a:path w="701675" h="139700">
                  <a:moveTo>
                    <a:pt x="164076" y="18719"/>
                  </a:moveTo>
                  <a:lnTo>
                    <a:pt x="147599" y="18719"/>
                  </a:lnTo>
                  <a:lnTo>
                    <a:pt x="192595" y="137515"/>
                  </a:lnTo>
                  <a:lnTo>
                    <a:pt x="206629" y="137515"/>
                  </a:lnTo>
                  <a:lnTo>
                    <a:pt x="215901" y="113042"/>
                  </a:lnTo>
                  <a:lnTo>
                    <a:pt x="199796" y="113042"/>
                  </a:lnTo>
                  <a:lnTo>
                    <a:pt x="164076" y="18719"/>
                  </a:lnTo>
                  <a:close/>
                </a:path>
                <a:path w="701675" h="139700">
                  <a:moveTo>
                    <a:pt x="268198" y="18719"/>
                  </a:moveTo>
                  <a:lnTo>
                    <a:pt x="252349" y="18719"/>
                  </a:lnTo>
                  <a:lnTo>
                    <a:pt x="252349" y="22682"/>
                  </a:lnTo>
                  <a:lnTo>
                    <a:pt x="252016" y="27724"/>
                  </a:lnTo>
                  <a:lnTo>
                    <a:pt x="251269" y="41046"/>
                  </a:lnTo>
                  <a:lnTo>
                    <a:pt x="251269" y="137515"/>
                  </a:lnTo>
                  <a:lnTo>
                    <a:pt x="268198" y="137515"/>
                  </a:lnTo>
                  <a:lnTo>
                    <a:pt x="268198" y="18719"/>
                  </a:lnTo>
                  <a:close/>
                </a:path>
                <a:path w="701675" h="139700">
                  <a:moveTo>
                    <a:pt x="268198" y="1803"/>
                  </a:moveTo>
                  <a:lnTo>
                    <a:pt x="242989" y="1803"/>
                  </a:lnTo>
                  <a:lnTo>
                    <a:pt x="200520" y="113042"/>
                  </a:lnTo>
                  <a:lnTo>
                    <a:pt x="215901" y="113042"/>
                  </a:lnTo>
                  <a:lnTo>
                    <a:pt x="251637" y="18719"/>
                  </a:lnTo>
                  <a:lnTo>
                    <a:pt x="268198" y="18719"/>
                  </a:lnTo>
                  <a:lnTo>
                    <a:pt x="268198" y="1803"/>
                  </a:lnTo>
                  <a:close/>
                </a:path>
                <a:path w="701675" h="139700">
                  <a:moveTo>
                    <a:pt x="345960" y="117716"/>
                  </a:moveTo>
                  <a:lnTo>
                    <a:pt x="345960" y="133197"/>
                  </a:lnTo>
                  <a:lnTo>
                    <a:pt x="350209" y="135125"/>
                  </a:lnTo>
                  <a:lnTo>
                    <a:pt x="354228" y="136804"/>
                  </a:lnTo>
                  <a:lnTo>
                    <a:pt x="359270" y="137883"/>
                  </a:lnTo>
                  <a:lnTo>
                    <a:pt x="364680" y="138963"/>
                  </a:lnTo>
                  <a:lnTo>
                    <a:pt x="370789" y="139674"/>
                  </a:lnTo>
                  <a:lnTo>
                    <a:pt x="377990" y="139674"/>
                  </a:lnTo>
                  <a:lnTo>
                    <a:pt x="414718" y="126720"/>
                  </a:lnTo>
                  <a:lnTo>
                    <a:pt x="415116" y="125996"/>
                  </a:lnTo>
                  <a:lnTo>
                    <a:pt x="372237" y="125996"/>
                  </a:lnTo>
                  <a:lnTo>
                    <a:pt x="366471" y="125285"/>
                  </a:lnTo>
                  <a:lnTo>
                    <a:pt x="354952" y="121678"/>
                  </a:lnTo>
                  <a:lnTo>
                    <a:pt x="349910" y="119875"/>
                  </a:lnTo>
                  <a:lnTo>
                    <a:pt x="345960" y="117716"/>
                  </a:lnTo>
                  <a:close/>
                </a:path>
                <a:path w="701675" h="139700">
                  <a:moveTo>
                    <a:pt x="390232" y="33845"/>
                  </a:moveTo>
                  <a:lnTo>
                    <a:pt x="383755" y="33845"/>
                  </a:lnTo>
                  <a:lnTo>
                    <a:pt x="375727" y="34255"/>
                  </a:lnTo>
                  <a:lnTo>
                    <a:pt x="345592" y="52197"/>
                  </a:lnTo>
                  <a:lnTo>
                    <a:pt x="345592" y="66243"/>
                  </a:lnTo>
                  <a:lnTo>
                    <a:pt x="377278" y="91084"/>
                  </a:lnTo>
                  <a:lnTo>
                    <a:pt x="384111" y="93599"/>
                  </a:lnTo>
                  <a:lnTo>
                    <a:pt x="392760" y="97917"/>
                  </a:lnTo>
                  <a:lnTo>
                    <a:pt x="402475" y="108356"/>
                  </a:lnTo>
                  <a:lnTo>
                    <a:pt x="402475" y="115557"/>
                  </a:lnTo>
                  <a:lnTo>
                    <a:pt x="400316" y="119164"/>
                  </a:lnTo>
                  <a:lnTo>
                    <a:pt x="396709" y="122047"/>
                  </a:lnTo>
                  <a:lnTo>
                    <a:pt x="392760" y="124561"/>
                  </a:lnTo>
                  <a:lnTo>
                    <a:pt x="386638" y="125996"/>
                  </a:lnTo>
                  <a:lnTo>
                    <a:pt x="415116" y="125996"/>
                  </a:lnTo>
                  <a:lnTo>
                    <a:pt x="418680" y="119519"/>
                  </a:lnTo>
                  <a:lnTo>
                    <a:pt x="418680" y="104038"/>
                  </a:lnTo>
                  <a:lnTo>
                    <a:pt x="417233" y="99364"/>
                  </a:lnTo>
                  <a:lnTo>
                    <a:pt x="415074" y="96126"/>
                  </a:lnTo>
                  <a:lnTo>
                    <a:pt x="412559" y="92163"/>
                  </a:lnTo>
                  <a:lnTo>
                    <a:pt x="381596" y="76682"/>
                  </a:lnTo>
                  <a:lnTo>
                    <a:pt x="376199" y="74523"/>
                  </a:lnTo>
                  <a:lnTo>
                    <a:pt x="372237" y="72720"/>
                  </a:lnTo>
                  <a:lnTo>
                    <a:pt x="368630" y="70916"/>
                  </a:lnTo>
                  <a:lnTo>
                    <a:pt x="365760" y="69126"/>
                  </a:lnTo>
                  <a:lnTo>
                    <a:pt x="364312" y="66954"/>
                  </a:lnTo>
                  <a:lnTo>
                    <a:pt x="362508" y="65163"/>
                  </a:lnTo>
                  <a:lnTo>
                    <a:pt x="361797" y="62636"/>
                  </a:lnTo>
                  <a:lnTo>
                    <a:pt x="361797" y="56159"/>
                  </a:lnTo>
                  <a:lnTo>
                    <a:pt x="363601" y="52920"/>
                  </a:lnTo>
                  <a:lnTo>
                    <a:pt x="366839" y="50761"/>
                  </a:lnTo>
                  <a:lnTo>
                    <a:pt x="370789" y="48602"/>
                  </a:lnTo>
                  <a:lnTo>
                    <a:pt x="375831" y="47523"/>
                  </a:lnTo>
                  <a:lnTo>
                    <a:pt x="413553" y="47523"/>
                  </a:lnTo>
                  <a:lnTo>
                    <a:pt x="416509" y="40678"/>
                  </a:lnTo>
                  <a:lnTo>
                    <a:pt x="411835" y="38519"/>
                  </a:lnTo>
                  <a:lnTo>
                    <a:pt x="406793" y="36715"/>
                  </a:lnTo>
                  <a:lnTo>
                    <a:pt x="395998" y="34556"/>
                  </a:lnTo>
                  <a:lnTo>
                    <a:pt x="390232" y="33845"/>
                  </a:lnTo>
                  <a:close/>
                </a:path>
                <a:path w="701675" h="139700">
                  <a:moveTo>
                    <a:pt x="413553" y="47523"/>
                  </a:moveTo>
                  <a:lnTo>
                    <a:pt x="387718" y="47523"/>
                  </a:lnTo>
                  <a:lnTo>
                    <a:pt x="392391" y="48234"/>
                  </a:lnTo>
                  <a:lnTo>
                    <a:pt x="397078" y="49326"/>
                  </a:lnTo>
                  <a:lnTo>
                    <a:pt x="406438" y="52197"/>
                  </a:lnTo>
                  <a:lnTo>
                    <a:pt x="410756" y="54000"/>
                  </a:lnTo>
                  <a:lnTo>
                    <a:pt x="413553" y="47523"/>
                  </a:lnTo>
                  <a:close/>
                </a:path>
                <a:path w="701675" h="139700">
                  <a:moveTo>
                    <a:pt x="456831" y="35636"/>
                  </a:moveTo>
                  <a:lnTo>
                    <a:pt x="443153" y="35636"/>
                  </a:lnTo>
                  <a:lnTo>
                    <a:pt x="443153" y="137515"/>
                  </a:lnTo>
                  <a:lnTo>
                    <a:pt x="460070" y="137515"/>
                  </a:lnTo>
                  <a:lnTo>
                    <a:pt x="460070" y="76327"/>
                  </a:lnTo>
                  <a:lnTo>
                    <a:pt x="461149" y="70561"/>
                  </a:lnTo>
                  <a:lnTo>
                    <a:pt x="464032" y="65519"/>
                  </a:lnTo>
                  <a:lnTo>
                    <a:pt x="466915" y="60121"/>
                  </a:lnTo>
                  <a:lnTo>
                    <a:pt x="470509" y="56159"/>
                  </a:lnTo>
                  <a:lnTo>
                    <a:pt x="473441" y="54356"/>
                  </a:lnTo>
                  <a:lnTo>
                    <a:pt x="458990" y="54356"/>
                  </a:lnTo>
                  <a:lnTo>
                    <a:pt x="456831" y="35636"/>
                  </a:lnTo>
                  <a:close/>
                </a:path>
                <a:path w="701675" h="139700">
                  <a:moveTo>
                    <a:pt x="494639" y="33845"/>
                  </a:moveTo>
                  <a:lnTo>
                    <a:pt x="483831" y="33845"/>
                  </a:lnTo>
                  <a:lnTo>
                    <a:pt x="477710" y="35636"/>
                  </a:lnTo>
                  <a:lnTo>
                    <a:pt x="472313" y="39966"/>
                  </a:lnTo>
                  <a:lnTo>
                    <a:pt x="467271" y="43916"/>
                  </a:lnTo>
                  <a:lnTo>
                    <a:pt x="462953" y="48602"/>
                  </a:lnTo>
                  <a:lnTo>
                    <a:pt x="459714" y="54356"/>
                  </a:lnTo>
                  <a:lnTo>
                    <a:pt x="473441" y="54356"/>
                  </a:lnTo>
                  <a:lnTo>
                    <a:pt x="475195" y="53276"/>
                  </a:lnTo>
                  <a:lnTo>
                    <a:pt x="479513" y="50406"/>
                  </a:lnTo>
                  <a:lnTo>
                    <a:pt x="484555" y="48958"/>
                  </a:lnTo>
                  <a:lnTo>
                    <a:pt x="500962" y="48958"/>
                  </a:lnTo>
                  <a:lnTo>
                    <a:pt x="502820" y="35636"/>
                  </a:lnTo>
                  <a:lnTo>
                    <a:pt x="502920" y="34925"/>
                  </a:lnTo>
                  <a:lnTo>
                    <a:pt x="499313" y="34201"/>
                  </a:lnTo>
                  <a:lnTo>
                    <a:pt x="496798" y="34201"/>
                  </a:lnTo>
                  <a:lnTo>
                    <a:pt x="494639" y="33845"/>
                  </a:lnTo>
                  <a:close/>
                </a:path>
                <a:path w="701675" h="139700">
                  <a:moveTo>
                    <a:pt x="500962" y="48958"/>
                  </a:moveTo>
                  <a:lnTo>
                    <a:pt x="493191" y="48958"/>
                  </a:lnTo>
                  <a:lnTo>
                    <a:pt x="495350" y="49326"/>
                  </a:lnTo>
                  <a:lnTo>
                    <a:pt x="500761" y="50406"/>
                  </a:lnTo>
                  <a:lnTo>
                    <a:pt x="500911" y="49326"/>
                  </a:lnTo>
                  <a:lnTo>
                    <a:pt x="500962" y="48958"/>
                  </a:lnTo>
                  <a:close/>
                </a:path>
                <a:path w="701675" h="139700">
                  <a:moveTo>
                    <a:pt x="523430" y="35636"/>
                  </a:moveTo>
                  <a:lnTo>
                    <a:pt x="505790" y="35636"/>
                  </a:lnTo>
                  <a:lnTo>
                    <a:pt x="544309" y="137515"/>
                  </a:lnTo>
                  <a:lnTo>
                    <a:pt x="563397" y="137515"/>
                  </a:lnTo>
                  <a:lnTo>
                    <a:pt x="569028" y="122758"/>
                  </a:lnTo>
                  <a:lnTo>
                    <a:pt x="553313" y="122758"/>
                  </a:lnTo>
                  <a:lnTo>
                    <a:pt x="552958" y="120599"/>
                  </a:lnTo>
                  <a:lnTo>
                    <a:pt x="552234" y="118084"/>
                  </a:lnTo>
                  <a:lnTo>
                    <a:pt x="551510" y="114846"/>
                  </a:lnTo>
                  <a:lnTo>
                    <a:pt x="550430" y="111963"/>
                  </a:lnTo>
                  <a:lnTo>
                    <a:pt x="549719" y="108356"/>
                  </a:lnTo>
                  <a:lnTo>
                    <a:pt x="548271" y="105117"/>
                  </a:lnTo>
                  <a:lnTo>
                    <a:pt x="547192" y="101523"/>
                  </a:lnTo>
                  <a:lnTo>
                    <a:pt x="545033" y="95758"/>
                  </a:lnTo>
                  <a:lnTo>
                    <a:pt x="523430" y="35636"/>
                  </a:lnTo>
                  <a:close/>
                </a:path>
                <a:path w="701675" h="139700">
                  <a:moveTo>
                    <a:pt x="602272" y="35636"/>
                  </a:moveTo>
                  <a:lnTo>
                    <a:pt x="584276" y="35636"/>
                  </a:lnTo>
                  <a:lnTo>
                    <a:pt x="562673" y="95758"/>
                  </a:lnTo>
                  <a:lnTo>
                    <a:pt x="561949" y="98285"/>
                  </a:lnTo>
                  <a:lnTo>
                    <a:pt x="560870" y="101523"/>
                  </a:lnTo>
                  <a:lnTo>
                    <a:pt x="559435" y="104762"/>
                  </a:lnTo>
                  <a:lnTo>
                    <a:pt x="558355" y="108356"/>
                  </a:lnTo>
                  <a:lnTo>
                    <a:pt x="556196" y="114846"/>
                  </a:lnTo>
                  <a:lnTo>
                    <a:pt x="555472" y="118084"/>
                  </a:lnTo>
                  <a:lnTo>
                    <a:pt x="554748" y="120599"/>
                  </a:lnTo>
                  <a:lnTo>
                    <a:pt x="554037" y="122758"/>
                  </a:lnTo>
                  <a:lnTo>
                    <a:pt x="569028" y="122758"/>
                  </a:lnTo>
                  <a:lnTo>
                    <a:pt x="602272" y="35636"/>
                  </a:lnTo>
                  <a:close/>
                </a:path>
                <a:path w="701675" h="139700">
                  <a:moveTo>
                    <a:pt x="688712" y="14046"/>
                  </a:moveTo>
                  <a:lnTo>
                    <a:pt x="661670" y="14046"/>
                  </a:lnTo>
                  <a:lnTo>
                    <a:pt x="667435" y="16205"/>
                  </a:lnTo>
                  <a:lnTo>
                    <a:pt x="671753" y="20154"/>
                  </a:lnTo>
                  <a:lnTo>
                    <a:pt x="676440" y="23761"/>
                  </a:lnTo>
                  <a:lnTo>
                    <a:pt x="678599" y="29514"/>
                  </a:lnTo>
                  <a:lnTo>
                    <a:pt x="678599" y="43205"/>
                  </a:lnTo>
                  <a:lnTo>
                    <a:pt x="653757" y="81000"/>
                  </a:lnTo>
                  <a:lnTo>
                    <a:pt x="611276" y="123837"/>
                  </a:lnTo>
                  <a:lnTo>
                    <a:pt x="611276" y="137515"/>
                  </a:lnTo>
                  <a:lnTo>
                    <a:pt x="701268" y="137515"/>
                  </a:lnTo>
                  <a:lnTo>
                    <a:pt x="701268" y="122402"/>
                  </a:lnTo>
                  <a:lnTo>
                    <a:pt x="632510" y="122402"/>
                  </a:lnTo>
                  <a:lnTo>
                    <a:pt x="632510" y="121678"/>
                  </a:lnTo>
                  <a:lnTo>
                    <a:pt x="660958" y="93599"/>
                  </a:lnTo>
                  <a:lnTo>
                    <a:pt x="688314" y="62280"/>
                  </a:lnTo>
                  <a:lnTo>
                    <a:pt x="695515" y="43205"/>
                  </a:lnTo>
                  <a:lnTo>
                    <a:pt x="695515" y="36004"/>
                  </a:lnTo>
                  <a:lnTo>
                    <a:pt x="694964" y="29514"/>
                  </a:lnTo>
                  <a:lnTo>
                    <a:pt x="694839" y="28048"/>
                  </a:lnTo>
                  <a:lnTo>
                    <a:pt x="692813" y="20969"/>
                  </a:lnTo>
                  <a:lnTo>
                    <a:pt x="689439" y="14835"/>
                  </a:lnTo>
                  <a:lnTo>
                    <a:pt x="688712" y="14046"/>
                  </a:lnTo>
                  <a:close/>
                </a:path>
                <a:path w="701675" h="139700">
                  <a:moveTo>
                    <a:pt x="654469" y="0"/>
                  </a:moveTo>
                  <a:lnTo>
                    <a:pt x="645833" y="0"/>
                  </a:lnTo>
                  <a:lnTo>
                    <a:pt x="638276" y="1435"/>
                  </a:lnTo>
                  <a:lnTo>
                    <a:pt x="631075" y="4686"/>
                  </a:lnTo>
                  <a:lnTo>
                    <a:pt x="624230" y="7556"/>
                  </a:lnTo>
                  <a:lnTo>
                    <a:pt x="618109" y="11518"/>
                  </a:lnTo>
                  <a:lnTo>
                    <a:pt x="612711" y="15836"/>
                  </a:lnTo>
                  <a:lnTo>
                    <a:pt x="621715" y="27000"/>
                  </a:lnTo>
                  <a:lnTo>
                    <a:pt x="627113" y="23037"/>
                  </a:lnTo>
                  <a:lnTo>
                    <a:pt x="632155" y="19799"/>
                  </a:lnTo>
                  <a:lnTo>
                    <a:pt x="642239" y="15481"/>
                  </a:lnTo>
                  <a:lnTo>
                    <a:pt x="647992" y="14046"/>
                  </a:lnTo>
                  <a:lnTo>
                    <a:pt x="688712" y="14046"/>
                  </a:lnTo>
                  <a:lnTo>
                    <a:pt x="684720" y="9715"/>
                  </a:lnTo>
                  <a:lnTo>
                    <a:pt x="678573" y="5464"/>
                  </a:lnTo>
                  <a:lnTo>
                    <a:pt x="671485" y="2428"/>
                  </a:lnTo>
                  <a:lnTo>
                    <a:pt x="663451" y="607"/>
                  </a:lnTo>
                  <a:lnTo>
                    <a:pt x="654469" y="0"/>
                  </a:lnTo>
                  <a:close/>
                </a:path>
              </a:pathLst>
            </a:custGeom>
            <a:solidFill>
              <a:srgbClr val="FFFFFF"/>
            </a:solidFill>
          </p:spPr>
          <p:txBody>
            <a:bodyPr wrap="square" lIns="0" tIns="0" rIns="0" bIns="0" rtlCol="0"/>
            <a:lstStyle/>
            <a:p>
              <a:endParaRPr/>
            </a:p>
          </p:txBody>
        </p:sp>
      </p:grpSp>
      <p:pic>
        <p:nvPicPr>
          <p:cNvPr id="17" name="object 17"/>
          <p:cNvPicPr/>
          <p:nvPr/>
        </p:nvPicPr>
        <p:blipFill>
          <a:blip r:embed="rId2" cstate="print"/>
          <a:stretch>
            <a:fillRect/>
          </a:stretch>
        </p:blipFill>
        <p:spPr>
          <a:xfrm>
            <a:off x="4201553" y="1431730"/>
            <a:ext cx="984250" cy="151917"/>
          </a:xfrm>
          <a:prstGeom prst="rect">
            <a:avLst/>
          </a:prstGeom>
        </p:spPr>
      </p:pic>
      <p:pic>
        <p:nvPicPr>
          <p:cNvPr id="18" name="object 18"/>
          <p:cNvPicPr/>
          <p:nvPr/>
        </p:nvPicPr>
        <p:blipFill>
          <a:blip r:embed="rId3" cstate="print"/>
          <a:stretch>
            <a:fillRect/>
          </a:stretch>
        </p:blipFill>
        <p:spPr>
          <a:xfrm>
            <a:off x="3353041" y="3182044"/>
            <a:ext cx="976680" cy="152285"/>
          </a:xfrm>
          <a:prstGeom prst="rect">
            <a:avLst/>
          </a:prstGeom>
        </p:spPr>
      </p:pic>
      <p:pic>
        <p:nvPicPr>
          <p:cNvPr id="19" name="object 19"/>
          <p:cNvPicPr/>
          <p:nvPr/>
        </p:nvPicPr>
        <p:blipFill>
          <a:blip r:embed="rId4" cstate="print"/>
          <a:stretch>
            <a:fillRect/>
          </a:stretch>
        </p:blipFill>
        <p:spPr>
          <a:xfrm>
            <a:off x="5022722" y="3182044"/>
            <a:ext cx="977036" cy="152285"/>
          </a:xfrm>
          <a:prstGeom prst="rect">
            <a:avLst/>
          </a:prstGeom>
        </p:spPr>
      </p:pic>
      <p:sp>
        <p:nvSpPr>
          <p:cNvPr id="20" name="object 20"/>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21" name="object 21"/>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49</a:t>
            </a:fld>
            <a:r>
              <a:rPr spc="-10" dirty="0"/>
              <a:t>/60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5" dirty="0"/>
              <a:t>HA</a:t>
            </a:r>
            <a:r>
              <a:rPr spc="-310" dirty="0"/>
              <a:t> </a:t>
            </a:r>
            <a:r>
              <a:rPr dirty="0"/>
              <a:t>–</a:t>
            </a:r>
            <a:r>
              <a:rPr spc="-310" dirty="0"/>
              <a:t> </a:t>
            </a:r>
            <a:r>
              <a:rPr spc="-25" dirty="0"/>
              <a:t>Shared</a:t>
            </a:r>
            <a:r>
              <a:rPr spc="-305" dirty="0"/>
              <a:t> </a:t>
            </a:r>
            <a:r>
              <a:rPr spc="-114" dirty="0"/>
              <a:t>vs.</a:t>
            </a:r>
            <a:r>
              <a:rPr spc="-310" dirty="0"/>
              <a:t> </a:t>
            </a:r>
            <a:r>
              <a:rPr dirty="0"/>
              <a:t>Replicated</a:t>
            </a:r>
            <a:r>
              <a:rPr spc="-305" dirty="0"/>
              <a:t> </a:t>
            </a:r>
            <a:r>
              <a:rPr spc="-10" dirty="0"/>
              <a:t>Storage</a:t>
            </a:r>
          </a:p>
        </p:txBody>
      </p:sp>
      <p:grpSp>
        <p:nvGrpSpPr>
          <p:cNvPr id="3" name="object 3"/>
          <p:cNvGrpSpPr/>
          <p:nvPr/>
        </p:nvGrpSpPr>
        <p:grpSpPr>
          <a:xfrm>
            <a:off x="2169363" y="1685171"/>
            <a:ext cx="2110105" cy="2179320"/>
            <a:chOff x="2169363" y="1685171"/>
            <a:chExt cx="2110105" cy="2179320"/>
          </a:xfrm>
        </p:grpSpPr>
        <p:sp>
          <p:nvSpPr>
            <p:cNvPr id="4" name="object 4"/>
            <p:cNvSpPr/>
            <p:nvPr/>
          </p:nvSpPr>
          <p:spPr>
            <a:xfrm>
              <a:off x="2469603" y="2391850"/>
              <a:ext cx="1460500" cy="694055"/>
            </a:xfrm>
            <a:custGeom>
              <a:avLst/>
              <a:gdLst/>
              <a:ahLst/>
              <a:cxnLst/>
              <a:rect l="l" t="t" r="r" b="b"/>
              <a:pathLst>
                <a:path w="1460500" h="694055">
                  <a:moveTo>
                    <a:pt x="0" y="0"/>
                  </a:moveTo>
                  <a:lnTo>
                    <a:pt x="457555" y="683996"/>
                  </a:lnTo>
                </a:path>
                <a:path w="1460500" h="694055">
                  <a:moveTo>
                    <a:pt x="1460157" y="9715"/>
                  </a:moveTo>
                  <a:lnTo>
                    <a:pt x="1002601" y="693712"/>
                  </a:lnTo>
                </a:path>
              </a:pathLst>
            </a:custGeom>
            <a:ln w="19927">
              <a:solidFill>
                <a:srgbClr val="FF9000"/>
              </a:solidFill>
            </a:ln>
          </p:spPr>
          <p:txBody>
            <a:bodyPr wrap="square" lIns="0" tIns="0" rIns="0" bIns="0" rtlCol="0"/>
            <a:lstStyle/>
            <a:p>
              <a:endParaRPr/>
            </a:p>
          </p:txBody>
        </p:sp>
        <p:sp>
          <p:nvSpPr>
            <p:cNvPr id="5" name="object 5"/>
            <p:cNvSpPr/>
            <p:nvPr/>
          </p:nvSpPr>
          <p:spPr>
            <a:xfrm>
              <a:off x="3200761" y="2420285"/>
              <a:ext cx="0" cy="611505"/>
            </a:xfrm>
            <a:custGeom>
              <a:avLst/>
              <a:gdLst/>
              <a:ahLst/>
              <a:cxnLst/>
              <a:rect l="l" t="t" r="r" b="b"/>
              <a:pathLst>
                <a:path h="611505">
                  <a:moveTo>
                    <a:pt x="0" y="0"/>
                  </a:moveTo>
                  <a:lnTo>
                    <a:pt x="0" y="611466"/>
                  </a:lnTo>
                </a:path>
              </a:pathLst>
            </a:custGeom>
            <a:ln w="18375">
              <a:solidFill>
                <a:srgbClr val="FF9000"/>
              </a:solidFill>
            </a:ln>
          </p:spPr>
          <p:txBody>
            <a:bodyPr wrap="square" lIns="0" tIns="0" rIns="0" bIns="0" rtlCol="0"/>
            <a:lstStyle/>
            <a:p>
              <a:endParaRPr/>
            </a:p>
          </p:txBody>
        </p:sp>
        <p:sp>
          <p:nvSpPr>
            <p:cNvPr id="6" name="object 6"/>
            <p:cNvSpPr/>
            <p:nvPr/>
          </p:nvSpPr>
          <p:spPr>
            <a:xfrm>
              <a:off x="2169363" y="1685171"/>
              <a:ext cx="454659" cy="735330"/>
            </a:xfrm>
            <a:custGeom>
              <a:avLst/>
              <a:gdLst/>
              <a:ahLst/>
              <a:cxnLst/>
              <a:rect l="l" t="t" r="r" b="b"/>
              <a:pathLst>
                <a:path w="454660" h="735330">
                  <a:moveTo>
                    <a:pt x="454317" y="0"/>
                  </a:moveTo>
                  <a:lnTo>
                    <a:pt x="0" y="0"/>
                  </a:lnTo>
                  <a:lnTo>
                    <a:pt x="0" y="735114"/>
                  </a:lnTo>
                  <a:lnTo>
                    <a:pt x="454317" y="735114"/>
                  </a:lnTo>
                  <a:lnTo>
                    <a:pt x="454317" y="0"/>
                  </a:lnTo>
                  <a:close/>
                </a:path>
              </a:pathLst>
            </a:custGeom>
            <a:solidFill>
              <a:srgbClr val="454C4C"/>
            </a:solidFill>
          </p:spPr>
          <p:txBody>
            <a:bodyPr wrap="square" lIns="0" tIns="0" rIns="0" bIns="0" rtlCol="0"/>
            <a:lstStyle/>
            <a:p>
              <a:endParaRPr/>
            </a:p>
          </p:txBody>
        </p:sp>
        <p:sp>
          <p:nvSpPr>
            <p:cNvPr id="7" name="object 7"/>
            <p:cNvSpPr/>
            <p:nvPr/>
          </p:nvSpPr>
          <p:spPr>
            <a:xfrm>
              <a:off x="2227681" y="1985044"/>
              <a:ext cx="335280" cy="41910"/>
            </a:xfrm>
            <a:custGeom>
              <a:avLst/>
              <a:gdLst/>
              <a:ahLst/>
              <a:cxnLst/>
              <a:rect l="l" t="t" r="r" b="b"/>
              <a:pathLst>
                <a:path w="335280" h="41910">
                  <a:moveTo>
                    <a:pt x="334797" y="0"/>
                  </a:moveTo>
                  <a:lnTo>
                    <a:pt x="0" y="0"/>
                  </a:lnTo>
                  <a:lnTo>
                    <a:pt x="0" y="41401"/>
                  </a:lnTo>
                  <a:lnTo>
                    <a:pt x="334797" y="41401"/>
                  </a:lnTo>
                  <a:lnTo>
                    <a:pt x="334797" y="0"/>
                  </a:lnTo>
                  <a:close/>
                </a:path>
              </a:pathLst>
            </a:custGeom>
            <a:solidFill>
              <a:srgbClr val="ECECEC"/>
            </a:solidFill>
          </p:spPr>
          <p:txBody>
            <a:bodyPr wrap="square" lIns="0" tIns="0" rIns="0" bIns="0" rtlCol="0"/>
            <a:lstStyle/>
            <a:p>
              <a:endParaRPr/>
            </a:p>
          </p:txBody>
        </p:sp>
        <p:pic>
          <p:nvPicPr>
            <p:cNvPr id="8" name="object 8"/>
            <p:cNvPicPr/>
            <p:nvPr/>
          </p:nvPicPr>
          <p:blipFill>
            <a:blip r:embed="rId2" cstate="print"/>
            <a:stretch>
              <a:fillRect/>
            </a:stretch>
          </p:blipFill>
          <p:spPr>
            <a:xfrm>
              <a:off x="2349715" y="2192765"/>
              <a:ext cx="93967" cy="93967"/>
            </a:xfrm>
            <a:prstGeom prst="rect">
              <a:avLst/>
            </a:prstGeom>
          </p:spPr>
        </p:pic>
        <p:sp>
          <p:nvSpPr>
            <p:cNvPr id="9" name="object 9"/>
            <p:cNvSpPr/>
            <p:nvPr/>
          </p:nvSpPr>
          <p:spPr>
            <a:xfrm>
              <a:off x="2227681" y="1791368"/>
              <a:ext cx="335280" cy="138430"/>
            </a:xfrm>
            <a:custGeom>
              <a:avLst/>
              <a:gdLst/>
              <a:ahLst/>
              <a:cxnLst/>
              <a:rect l="l" t="t" r="r" b="b"/>
              <a:pathLst>
                <a:path w="335280" h="138430">
                  <a:moveTo>
                    <a:pt x="334797" y="96837"/>
                  </a:moveTo>
                  <a:lnTo>
                    <a:pt x="0" y="96837"/>
                  </a:lnTo>
                  <a:lnTo>
                    <a:pt x="0" y="138239"/>
                  </a:lnTo>
                  <a:lnTo>
                    <a:pt x="334797" y="138239"/>
                  </a:lnTo>
                  <a:lnTo>
                    <a:pt x="334797" y="96837"/>
                  </a:lnTo>
                  <a:close/>
                </a:path>
                <a:path w="335280" h="138430">
                  <a:moveTo>
                    <a:pt x="334797" y="0"/>
                  </a:moveTo>
                  <a:lnTo>
                    <a:pt x="0" y="0"/>
                  </a:lnTo>
                  <a:lnTo>
                    <a:pt x="0" y="41402"/>
                  </a:lnTo>
                  <a:lnTo>
                    <a:pt x="334797" y="41402"/>
                  </a:lnTo>
                  <a:lnTo>
                    <a:pt x="334797" y="0"/>
                  </a:lnTo>
                  <a:close/>
                </a:path>
              </a:pathLst>
            </a:custGeom>
            <a:solidFill>
              <a:srgbClr val="ECECEC"/>
            </a:solidFill>
          </p:spPr>
          <p:txBody>
            <a:bodyPr wrap="square" lIns="0" tIns="0" rIns="0" bIns="0" rtlCol="0"/>
            <a:lstStyle/>
            <a:p>
              <a:endParaRPr/>
            </a:p>
          </p:txBody>
        </p:sp>
        <p:sp>
          <p:nvSpPr>
            <p:cNvPr id="10" name="object 10"/>
            <p:cNvSpPr/>
            <p:nvPr/>
          </p:nvSpPr>
          <p:spPr>
            <a:xfrm>
              <a:off x="2407480" y="2336216"/>
              <a:ext cx="5080" cy="5080"/>
            </a:xfrm>
            <a:custGeom>
              <a:avLst/>
              <a:gdLst/>
              <a:ahLst/>
              <a:cxnLst/>
              <a:rect l="l" t="t" r="r" b="b"/>
              <a:pathLst>
                <a:path w="5080" h="5080">
                  <a:moveTo>
                    <a:pt x="0" y="2357"/>
                  </a:moveTo>
                  <a:lnTo>
                    <a:pt x="690" y="690"/>
                  </a:lnTo>
                  <a:lnTo>
                    <a:pt x="2357" y="0"/>
                  </a:lnTo>
                  <a:lnTo>
                    <a:pt x="4023" y="690"/>
                  </a:lnTo>
                  <a:lnTo>
                    <a:pt x="4714" y="2357"/>
                  </a:lnTo>
                  <a:lnTo>
                    <a:pt x="4023" y="4023"/>
                  </a:lnTo>
                  <a:lnTo>
                    <a:pt x="2357" y="4714"/>
                  </a:lnTo>
                  <a:lnTo>
                    <a:pt x="690" y="4023"/>
                  </a:lnTo>
                  <a:lnTo>
                    <a:pt x="0" y="2357"/>
                  </a:lnTo>
                  <a:close/>
                </a:path>
              </a:pathLst>
            </a:custGeom>
            <a:solidFill>
              <a:srgbClr val="000000"/>
            </a:solidFill>
          </p:spPr>
          <p:txBody>
            <a:bodyPr wrap="square" lIns="0" tIns="0" rIns="0" bIns="0" rtlCol="0"/>
            <a:lstStyle/>
            <a:p>
              <a:endParaRPr/>
            </a:p>
          </p:txBody>
        </p:sp>
        <p:sp>
          <p:nvSpPr>
            <p:cNvPr id="11" name="object 11"/>
            <p:cNvSpPr/>
            <p:nvPr/>
          </p:nvSpPr>
          <p:spPr>
            <a:xfrm>
              <a:off x="2996996" y="1685171"/>
              <a:ext cx="454659" cy="735330"/>
            </a:xfrm>
            <a:custGeom>
              <a:avLst/>
              <a:gdLst/>
              <a:ahLst/>
              <a:cxnLst/>
              <a:rect l="l" t="t" r="r" b="b"/>
              <a:pathLst>
                <a:path w="454660" h="735330">
                  <a:moveTo>
                    <a:pt x="454317" y="0"/>
                  </a:moveTo>
                  <a:lnTo>
                    <a:pt x="0" y="0"/>
                  </a:lnTo>
                  <a:lnTo>
                    <a:pt x="0" y="735114"/>
                  </a:lnTo>
                  <a:lnTo>
                    <a:pt x="454317" y="735114"/>
                  </a:lnTo>
                  <a:lnTo>
                    <a:pt x="454317" y="0"/>
                  </a:lnTo>
                  <a:close/>
                </a:path>
              </a:pathLst>
            </a:custGeom>
            <a:solidFill>
              <a:srgbClr val="454C4C"/>
            </a:solidFill>
          </p:spPr>
          <p:txBody>
            <a:bodyPr wrap="square" lIns="0" tIns="0" rIns="0" bIns="0" rtlCol="0"/>
            <a:lstStyle/>
            <a:p>
              <a:endParaRPr/>
            </a:p>
          </p:txBody>
        </p:sp>
        <p:sp>
          <p:nvSpPr>
            <p:cNvPr id="12" name="object 12"/>
            <p:cNvSpPr/>
            <p:nvPr/>
          </p:nvSpPr>
          <p:spPr>
            <a:xfrm>
              <a:off x="3055315" y="1985044"/>
              <a:ext cx="334645" cy="41910"/>
            </a:xfrm>
            <a:custGeom>
              <a:avLst/>
              <a:gdLst/>
              <a:ahLst/>
              <a:cxnLst/>
              <a:rect l="l" t="t" r="r" b="b"/>
              <a:pathLst>
                <a:path w="334645" h="41910">
                  <a:moveTo>
                    <a:pt x="334441" y="0"/>
                  </a:moveTo>
                  <a:lnTo>
                    <a:pt x="0" y="0"/>
                  </a:lnTo>
                  <a:lnTo>
                    <a:pt x="0" y="41401"/>
                  </a:lnTo>
                  <a:lnTo>
                    <a:pt x="334441" y="41401"/>
                  </a:lnTo>
                  <a:lnTo>
                    <a:pt x="334441" y="0"/>
                  </a:lnTo>
                  <a:close/>
                </a:path>
              </a:pathLst>
            </a:custGeom>
            <a:solidFill>
              <a:srgbClr val="ECECEC"/>
            </a:solidFill>
          </p:spPr>
          <p:txBody>
            <a:bodyPr wrap="square" lIns="0" tIns="0" rIns="0" bIns="0" rtlCol="0"/>
            <a:lstStyle/>
            <a:p>
              <a:endParaRPr/>
            </a:p>
          </p:txBody>
        </p:sp>
        <p:pic>
          <p:nvPicPr>
            <p:cNvPr id="13" name="object 13"/>
            <p:cNvPicPr/>
            <p:nvPr/>
          </p:nvPicPr>
          <p:blipFill>
            <a:blip r:embed="rId3" cstate="print"/>
            <a:stretch>
              <a:fillRect/>
            </a:stretch>
          </p:blipFill>
          <p:spPr>
            <a:xfrm>
              <a:off x="3176993" y="2192765"/>
              <a:ext cx="94322" cy="93967"/>
            </a:xfrm>
            <a:prstGeom prst="rect">
              <a:avLst/>
            </a:prstGeom>
          </p:spPr>
        </p:pic>
        <p:sp>
          <p:nvSpPr>
            <p:cNvPr id="14" name="object 14"/>
            <p:cNvSpPr/>
            <p:nvPr/>
          </p:nvSpPr>
          <p:spPr>
            <a:xfrm>
              <a:off x="3055315" y="1791368"/>
              <a:ext cx="334645" cy="138430"/>
            </a:xfrm>
            <a:custGeom>
              <a:avLst/>
              <a:gdLst/>
              <a:ahLst/>
              <a:cxnLst/>
              <a:rect l="l" t="t" r="r" b="b"/>
              <a:pathLst>
                <a:path w="334645" h="138430">
                  <a:moveTo>
                    <a:pt x="334441" y="96837"/>
                  </a:moveTo>
                  <a:lnTo>
                    <a:pt x="0" y="96837"/>
                  </a:lnTo>
                  <a:lnTo>
                    <a:pt x="0" y="138239"/>
                  </a:lnTo>
                  <a:lnTo>
                    <a:pt x="334441" y="138239"/>
                  </a:lnTo>
                  <a:lnTo>
                    <a:pt x="334441" y="96837"/>
                  </a:lnTo>
                  <a:close/>
                </a:path>
                <a:path w="334645" h="138430">
                  <a:moveTo>
                    <a:pt x="334441" y="0"/>
                  </a:moveTo>
                  <a:lnTo>
                    <a:pt x="0" y="0"/>
                  </a:lnTo>
                  <a:lnTo>
                    <a:pt x="0" y="41402"/>
                  </a:lnTo>
                  <a:lnTo>
                    <a:pt x="334441" y="41402"/>
                  </a:lnTo>
                  <a:lnTo>
                    <a:pt x="334441" y="0"/>
                  </a:lnTo>
                  <a:close/>
                </a:path>
              </a:pathLst>
            </a:custGeom>
            <a:solidFill>
              <a:srgbClr val="ECECEC"/>
            </a:solidFill>
          </p:spPr>
          <p:txBody>
            <a:bodyPr wrap="square" lIns="0" tIns="0" rIns="0" bIns="0" rtlCol="0"/>
            <a:lstStyle/>
            <a:p>
              <a:endParaRPr/>
            </a:p>
          </p:txBody>
        </p:sp>
        <p:sp>
          <p:nvSpPr>
            <p:cNvPr id="15" name="object 15"/>
            <p:cNvSpPr/>
            <p:nvPr/>
          </p:nvSpPr>
          <p:spPr>
            <a:xfrm>
              <a:off x="3235126" y="2336216"/>
              <a:ext cx="5080" cy="5080"/>
            </a:xfrm>
            <a:custGeom>
              <a:avLst/>
              <a:gdLst/>
              <a:ahLst/>
              <a:cxnLst/>
              <a:rect l="l" t="t" r="r" b="b"/>
              <a:pathLst>
                <a:path w="5080" h="5080">
                  <a:moveTo>
                    <a:pt x="0" y="2357"/>
                  </a:moveTo>
                  <a:lnTo>
                    <a:pt x="690" y="690"/>
                  </a:lnTo>
                  <a:lnTo>
                    <a:pt x="2357" y="0"/>
                  </a:lnTo>
                  <a:lnTo>
                    <a:pt x="4023" y="690"/>
                  </a:lnTo>
                  <a:lnTo>
                    <a:pt x="4714" y="2357"/>
                  </a:lnTo>
                  <a:lnTo>
                    <a:pt x="4023" y="4023"/>
                  </a:lnTo>
                  <a:lnTo>
                    <a:pt x="2357" y="4714"/>
                  </a:lnTo>
                  <a:lnTo>
                    <a:pt x="690" y="4023"/>
                  </a:lnTo>
                  <a:lnTo>
                    <a:pt x="0" y="2357"/>
                  </a:lnTo>
                  <a:close/>
                </a:path>
              </a:pathLst>
            </a:custGeom>
            <a:solidFill>
              <a:srgbClr val="000000"/>
            </a:solidFill>
          </p:spPr>
          <p:txBody>
            <a:bodyPr wrap="square" lIns="0" tIns="0" rIns="0" bIns="0" rtlCol="0"/>
            <a:lstStyle/>
            <a:p>
              <a:endParaRPr/>
            </a:p>
          </p:txBody>
        </p:sp>
        <p:sp>
          <p:nvSpPr>
            <p:cNvPr id="16" name="object 16"/>
            <p:cNvSpPr/>
            <p:nvPr/>
          </p:nvSpPr>
          <p:spPr>
            <a:xfrm>
              <a:off x="3824643" y="1685171"/>
              <a:ext cx="454659" cy="735330"/>
            </a:xfrm>
            <a:custGeom>
              <a:avLst/>
              <a:gdLst/>
              <a:ahLst/>
              <a:cxnLst/>
              <a:rect l="l" t="t" r="r" b="b"/>
              <a:pathLst>
                <a:path w="454660" h="735330">
                  <a:moveTo>
                    <a:pt x="454317" y="0"/>
                  </a:moveTo>
                  <a:lnTo>
                    <a:pt x="0" y="0"/>
                  </a:lnTo>
                  <a:lnTo>
                    <a:pt x="0" y="735114"/>
                  </a:lnTo>
                  <a:lnTo>
                    <a:pt x="454317" y="735114"/>
                  </a:lnTo>
                  <a:lnTo>
                    <a:pt x="454317" y="0"/>
                  </a:lnTo>
                  <a:close/>
                </a:path>
              </a:pathLst>
            </a:custGeom>
            <a:solidFill>
              <a:srgbClr val="454C4C"/>
            </a:solidFill>
          </p:spPr>
          <p:txBody>
            <a:bodyPr wrap="square" lIns="0" tIns="0" rIns="0" bIns="0" rtlCol="0"/>
            <a:lstStyle/>
            <a:p>
              <a:endParaRPr/>
            </a:p>
          </p:txBody>
        </p:sp>
        <p:sp>
          <p:nvSpPr>
            <p:cNvPr id="17" name="object 17"/>
            <p:cNvSpPr/>
            <p:nvPr/>
          </p:nvSpPr>
          <p:spPr>
            <a:xfrm>
              <a:off x="3882961" y="1985044"/>
              <a:ext cx="334645" cy="41910"/>
            </a:xfrm>
            <a:custGeom>
              <a:avLst/>
              <a:gdLst/>
              <a:ahLst/>
              <a:cxnLst/>
              <a:rect l="l" t="t" r="r" b="b"/>
              <a:pathLst>
                <a:path w="334645" h="41910">
                  <a:moveTo>
                    <a:pt x="334441" y="0"/>
                  </a:moveTo>
                  <a:lnTo>
                    <a:pt x="0" y="0"/>
                  </a:lnTo>
                  <a:lnTo>
                    <a:pt x="0" y="41401"/>
                  </a:lnTo>
                  <a:lnTo>
                    <a:pt x="334441" y="41401"/>
                  </a:lnTo>
                  <a:lnTo>
                    <a:pt x="334441" y="0"/>
                  </a:lnTo>
                  <a:close/>
                </a:path>
              </a:pathLst>
            </a:custGeom>
            <a:solidFill>
              <a:srgbClr val="ECECEC"/>
            </a:solidFill>
          </p:spPr>
          <p:txBody>
            <a:bodyPr wrap="square" lIns="0" tIns="0" rIns="0" bIns="0" rtlCol="0"/>
            <a:lstStyle/>
            <a:p>
              <a:endParaRPr/>
            </a:p>
          </p:txBody>
        </p:sp>
        <p:pic>
          <p:nvPicPr>
            <p:cNvPr id="18" name="object 18"/>
            <p:cNvPicPr/>
            <p:nvPr/>
          </p:nvPicPr>
          <p:blipFill>
            <a:blip r:embed="rId4" cstate="print"/>
            <a:stretch>
              <a:fillRect/>
            </a:stretch>
          </p:blipFill>
          <p:spPr>
            <a:xfrm>
              <a:off x="4004640" y="2192765"/>
              <a:ext cx="93954" cy="93967"/>
            </a:xfrm>
            <a:prstGeom prst="rect">
              <a:avLst/>
            </a:prstGeom>
          </p:spPr>
        </p:pic>
        <p:sp>
          <p:nvSpPr>
            <p:cNvPr id="19" name="object 19"/>
            <p:cNvSpPr/>
            <p:nvPr/>
          </p:nvSpPr>
          <p:spPr>
            <a:xfrm>
              <a:off x="3882961" y="1791368"/>
              <a:ext cx="334645" cy="138430"/>
            </a:xfrm>
            <a:custGeom>
              <a:avLst/>
              <a:gdLst/>
              <a:ahLst/>
              <a:cxnLst/>
              <a:rect l="l" t="t" r="r" b="b"/>
              <a:pathLst>
                <a:path w="334645" h="138430">
                  <a:moveTo>
                    <a:pt x="334441" y="96837"/>
                  </a:moveTo>
                  <a:lnTo>
                    <a:pt x="0" y="96837"/>
                  </a:lnTo>
                  <a:lnTo>
                    <a:pt x="0" y="138239"/>
                  </a:lnTo>
                  <a:lnTo>
                    <a:pt x="334441" y="138239"/>
                  </a:lnTo>
                  <a:lnTo>
                    <a:pt x="334441" y="96837"/>
                  </a:lnTo>
                  <a:close/>
                </a:path>
                <a:path w="334645" h="138430">
                  <a:moveTo>
                    <a:pt x="334441" y="0"/>
                  </a:moveTo>
                  <a:lnTo>
                    <a:pt x="0" y="0"/>
                  </a:lnTo>
                  <a:lnTo>
                    <a:pt x="0" y="41402"/>
                  </a:lnTo>
                  <a:lnTo>
                    <a:pt x="334441" y="41402"/>
                  </a:lnTo>
                  <a:lnTo>
                    <a:pt x="334441" y="0"/>
                  </a:lnTo>
                  <a:close/>
                </a:path>
              </a:pathLst>
            </a:custGeom>
            <a:solidFill>
              <a:srgbClr val="ECECEC"/>
            </a:solidFill>
          </p:spPr>
          <p:txBody>
            <a:bodyPr wrap="square" lIns="0" tIns="0" rIns="0" bIns="0" rtlCol="0"/>
            <a:lstStyle/>
            <a:p>
              <a:endParaRPr/>
            </a:p>
          </p:txBody>
        </p:sp>
        <p:sp>
          <p:nvSpPr>
            <p:cNvPr id="20" name="object 20"/>
            <p:cNvSpPr/>
            <p:nvPr/>
          </p:nvSpPr>
          <p:spPr>
            <a:xfrm>
              <a:off x="4062760" y="2336216"/>
              <a:ext cx="5080" cy="5080"/>
            </a:xfrm>
            <a:custGeom>
              <a:avLst/>
              <a:gdLst/>
              <a:ahLst/>
              <a:cxnLst/>
              <a:rect l="l" t="t" r="r" b="b"/>
              <a:pathLst>
                <a:path w="5079" h="5080">
                  <a:moveTo>
                    <a:pt x="0" y="2357"/>
                  </a:moveTo>
                  <a:lnTo>
                    <a:pt x="690" y="690"/>
                  </a:lnTo>
                  <a:lnTo>
                    <a:pt x="2357" y="0"/>
                  </a:lnTo>
                  <a:lnTo>
                    <a:pt x="4023" y="690"/>
                  </a:lnTo>
                  <a:lnTo>
                    <a:pt x="4714" y="2357"/>
                  </a:lnTo>
                  <a:lnTo>
                    <a:pt x="4023" y="4023"/>
                  </a:lnTo>
                  <a:lnTo>
                    <a:pt x="2357" y="4714"/>
                  </a:lnTo>
                  <a:lnTo>
                    <a:pt x="690" y="4023"/>
                  </a:lnTo>
                  <a:lnTo>
                    <a:pt x="0" y="2357"/>
                  </a:lnTo>
                  <a:close/>
                </a:path>
              </a:pathLst>
            </a:custGeom>
            <a:solidFill>
              <a:srgbClr val="000000"/>
            </a:solidFill>
          </p:spPr>
          <p:txBody>
            <a:bodyPr wrap="square" lIns="0" tIns="0" rIns="0" bIns="0" rtlCol="0"/>
            <a:lstStyle/>
            <a:p>
              <a:endParaRPr/>
            </a:p>
          </p:txBody>
        </p:sp>
        <p:sp>
          <p:nvSpPr>
            <p:cNvPr id="21" name="object 21"/>
            <p:cNvSpPr/>
            <p:nvPr/>
          </p:nvSpPr>
          <p:spPr>
            <a:xfrm>
              <a:off x="2884677" y="3515762"/>
              <a:ext cx="627380" cy="334010"/>
            </a:xfrm>
            <a:custGeom>
              <a:avLst/>
              <a:gdLst/>
              <a:ahLst/>
              <a:cxnLst/>
              <a:rect l="l" t="t" r="r" b="b"/>
              <a:pathLst>
                <a:path w="627379" h="334010">
                  <a:moveTo>
                    <a:pt x="627126" y="178206"/>
                  </a:moveTo>
                  <a:lnTo>
                    <a:pt x="609867" y="236020"/>
                  </a:lnTo>
                  <a:lnTo>
                    <a:pt x="548733" y="284586"/>
                  </a:lnTo>
                  <a:lnTo>
                    <a:pt x="504666" y="303819"/>
                  </a:lnTo>
                  <a:lnTo>
                    <a:pt x="453173" y="318843"/>
                  </a:lnTo>
                  <a:lnTo>
                    <a:pt x="395437" y="329024"/>
                  </a:lnTo>
                  <a:lnTo>
                    <a:pt x="332638" y="333730"/>
                  </a:lnTo>
                  <a:lnTo>
                    <a:pt x="269193" y="332575"/>
                  </a:lnTo>
                  <a:lnTo>
                    <a:pt x="209346" y="325704"/>
                  </a:lnTo>
                  <a:lnTo>
                    <a:pt x="154435" y="313676"/>
                  </a:lnTo>
                  <a:lnTo>
                    <a:pt x="105797" y="297054"/>
                  </a:lnTo>
                  <a:lnTo>
                    <a:pt x="64769" y="276399"/>
                  </a:lnTo>
                  <a:lnTo>
                    <a:pt x="32690" y="252272"/>
                  </a:lnTo>
                  <a:lnTo>
                    <a:pt x="723" y="195846"/>
                  </a:lnTo>
                  <a:lnTo>
                    <a:pt x="0" y="190449"/>
                  </a:lnTo>
                  <a:lnTo>
                    <a:pt x="0" y="185407"/>
                  </a:lnTo>
                  <a:lnTo>
                    <a:pt x="723" y="180365"/>
                  </a:lnTo>
                </a:path>
                <a:path w="627379" h="334010">
                  <a:moveTo>
                    <a:pt x="627126" y="0"/>
                  </a:moveTo>
                  <a:lnTo>
                    <a:pt x="609867" y="58026"/>
                  </a:lnTo>
                  <a:lnTo>
                    <a:pt x="548733" y="106702"/>
                  </a:lnTo>
                  <a:lnTo>
                    <a:pt x="504666" y="125962"/>
                  </a:lnTo>
                  <a:lnTo>
                    <a:pt x="453173" y="140999"/>
                  </a:lnTo>
                  <a:lnTo>
                    <a:pt x="395437" y="151185"/>
                  </a:lnTo>
                  <a:lnTo>
                    <a:pt x="332638" y="155892"/>
                  </a:lnTo>
                  <a:lnTo>
                    <a:pt x="269193" y="154733"/>
                  </a:lnTo>
                  <a:lnTo>
                    <a:pt x="209346" y="147854"/>
                  </a:lnTo>
                  <a:lnTo>
                    <a:pt x="154435" y="135813"/>
                  </a:lnTo>
                  <a:lnTo>
                    <a:pt x="105797" y="119165"/>
                  </a:lnTo>
                  <a:lnTo>
                    <a:pt x="64769" y="98468"/>
                  </a:lnTo>
                  <a:lnTo>
                    <a:pt x="32690" y="74276"/>
                  </a:lnTo>
                  <a:lnTo>
                    <a:pt x="723" y="17640"/>
                  </a:lnTo>
                  <a:lnTo>
                    <a:pt x="0" y="12611"/>
                  </a:lnTo>
                  <a:lnTo>
                    <a:pt x="0" y="7569"/>
                  </a:lnTo>
                  <a:lnTo>
                    <a:pt x="723" y="2527"/>
                  </a:lnTo>
                </a:path>
              </a:pathLst>
            </a:custGeom>
            <a:ln w="28802">
              <a:solidFill>
                <a:srgbClr val="454C4C"/>
              </a:solidFill>
            </a:ln>
          </p:spPr>
          <p:txBody>
            <a:bodyPr wrap="square" lIns="0" tIns="0" rIns="0" bIns="0" rtlCol="0"/>
            <a:lstStyle/>
            <a:p>
              <a:endParaRPr/>
            </a:p>
          </p:txBody>
        </p:sp>
        <p:sp>
          <p:nvSpPr>
            <p:cNvPr id="22" name="object 22"/>
            <p:cNvSpPr/>
            <p:nvPr/>
          </p:nvSpPr>
          <p:spPr>
            <a:xfrm>
              <a:off x="2885046" y="3017884"/>
              <a:ext cx="626110" cy="291465"/>
            </a:xfrm>
            <a:custGeom>
              <a:avLst/>
              <a:gdLst/>
              <a:ahLst/>
              <a:cxnLst/>
              <a:rect l="l" t="t" r="r" b="b"/>
              <a:pathLst>
                <a:path w="626110" h="291464">
                  <a:moveTo>
                    <a:pt x="625678" y="145440"/>
                  </a:moveTo>
                  <a:lnTo>
                    <a:pt x="601096" y="202037"/>
                  </a:lnTo>
                  <a:lnTo>
                    <a:pt x="534057" y="248269"/>
                  </a:lnTo>
                  <a:lnTo>
                    <a:pt x="487759" y="266032"/>
                  </a:lnTo>
                  <a:lnTo>
                    <a:pt x="434618" y="279446"/>
                  </a:lnTo>
                  <a:lnTo>
                    <a:pt x="375892" y="287924"/>
                  </a:lnTo>
                  <a:lnTo>
                    <a:pt x="312839" y="290880"/>
                  </a:lnTo>
                  <a:lnTo>
                    <a:pt x="249781" y="287924"/>
                  </a:lnTo>
                  <a:lnTo>
                    <a:pt x="191054" y="279446"/>
                  </a:lnTo>
                  <a:lnTo>
                    <a:pt x="137913" y="266032"/>
                  </a:lnTo>
                  <a:lnTo>
                    <a:pt x="91616" y="248269"/>
                  </a:lnTo>
                  <a:lnTo>
                    <a:pt x="53419" y="226742"/>
                  </a:lnTo>
                  <a:lnTo>
                    <a:pt x="6354" y="174741"/>
                  </a:lnTo>
                  <a:lnTo>
                    <a:pt x="0" y="145440"/>
                  </a:lnTo>
                  <a:lnTo>
                    <a:pt x="6354" y="116142"/>
                  </a:lnTo>
                  <a:lnTo>
                    <a:pt x="53419" y="64144"/>
                  </a:lnTo>
                  <a:lnTo>
                    <a:pt x="91616" y="42616"/>
                  </a:lnTo>
                  <a:lnTo>
                    <a:pt x="137913" y="24851"/>
                  </a:lnTo>
                  <a:lnTo>
                    <a:pt x="191054" y="11436"/>
                  </a:lnTo>
                  <a:lnTo>
                    <a:pt x="249781" y="2956"/>
                  </a:lnTo>
                  <a:lnTo>
                    <a:pt x="312839" y="0"/>
                  </a:lnTo>
                  <a:lnTo>
                    <a:pt x="375892" y="2956"/>
                  </a:lnTo>
                  <a:lnTo>
                    <a:pt x="434618" y="11436"/>
                  </a:lnTo>
                  <a:lnTo>
                    <a:pt x="487759" y="24851"/>
                  </a:lnTo>
                  <a:lnTo>
                    <a:pt x="534057" y="42616"/>
                  </a:lnTo>
                  <a:lnTo>
                    <a:pt x="572255" y="64144"/>
                  </a:lnTo>
                  <a:lnTo>
                    <a:pt x="619323" y="116142"/>
                  </a:lnTo>
                  <a:lnTo>
                    <a:pt x="625678" y="145440"/>
                  </a:lnTo>
                  <a:close/>
                </a:path>
              </a:pathLst>
            </a:custGeom>
            <a:ln w="28942">
              <a:solidFill>
                <a:srgbClr val="454C4C"/>
              </a:solidFill>
            </a:ln>
          </p:spPr>
          <p:txBody>
            <a:bodyPr wrap="square" lIns="0" tIns="0" rIns="0" bIns="0" rtlCol="0"/>
            <a:lstStyle/>
            <a:p>
              <a:endParaRPr/>
            </a:p>
          </p:txBody>
        </p:sp>
        <p:sp>
          <p:nvSpPr>
            <p:cNvPr id="23" name="object 23"/>
            <p:cNvSpPr/>
            <p:nvPr/>
          </p:nvSpPr>
          <p:spPr>
            <a:xfrm>
              <a:off x="2884322" y="3170525"/>
              <a:ext cx="1270" cy="535305"/>
            </a:xfrm>
            <a:custGeom>
              <a:avLst/>
              <a:gdLst/>
              <a:ahLst/>
              <a:cxnLst/>
              <a:rect l="l" t="t" r="r" b="b"/>
              <a:pathLst>
                <a:path w="1269" h="535304">
                  <a:moveTo>
                    <a:pt x="1079" y="534962"/>
                  </a:moveTo>
                  <a:lnTo>
                    <a:pt x="0" y="0"/>
                  </a:lnTo>
                </a:path>
              </a:pathLst>
            </a:custGeom>
            <a:ln w="31908">
              <a:solidFill>
                <a:srgbClr val="454C4C"/>
              </a:solidFill>
            </a:ln>
          </p:spPr>
          <p:txBody>
            <a:bodyPr wrap="square" lIns="0" tIns="0" rIns="0" bIns="0" rtlCol="0"/>
            <a:lstStyle/>
            <a:p>
              <a:endParaRPr/>
            </a:p>
          </p:txBody>
        </p:sp>
        <p:sp>
          <p:nvSpPr>
            <p:cNvPr id="24" name="object 24"/>
            <p:cNvSpPr/>
            <p:nvPr/>
          </p:nvSpPr>
          <p:spPr>
            <a:xfrm>
              <a:off x="2884677" y="3344045"/>
              <a:ext cx="627380" cy="156210"/>
            </a:xfrm>
            <a:custGeom>
              <a:avLst/>
              <a:gdLst/>
              <a:ahLst/>
              <a:cxnLst/>
              <a:rect l="l" t="t" r="r" b="b"/>
              <a:pathLst>
                <a:path w="627379" h="156210">
                  <a:moveTo>
                    <a:pt x="627126" y="0"/>
                  </a:moveTo>
                  <a:lnTo>
                    <a:pt x="609867" y="57974"/>
                  </a:lnTo>
                  <a:lnTo>
                    <a:pt x="548733" y="106562"/>
                  </a:lnTo>
                  <a:lnTo>
                    <a:pt x="504666" y="125797"/>
                  </a:lnTo>
                  <a:lnTo>
                    <a:pt x="453173" y="140839"/>
                  </a:lnTo>
                  <a:lnTo>
                    <a:pt x="395437" y="151071"/>
                  </a:lnTo>
                  <a:lnTo>
                    <a:pt x="332638" y="155879"/>
                  </a:lnTo>
                  <a:lnTo>
                    <a:pt x="269193" y="154724"/>
                  </a:lnTo>
                  <a:lnTo>
                    <a:pt x="209346" y="147849"/>
                  </a:lnTo>
                  <a:lnTo>
                    <a:pt x="154435" y="135810"/>
                  </a:lnTo>
                  <a:lnTo>
                    <a:pt x="105797" y="119164"/>
                  </a:lnTo>
                  <a:lnTo>
                    <a:pt x="64769" y="98467"/>
                  </a:lnTo>
                  <a:lnTo>
                    <a:pt x="32690" y="74276"/>
                  </a:lnTo>
                  <a:lnTo>
                    <a:pt x="723" y="17640"/>
                  </a:lnTo>
                  <a:lnTo>
                    <a:pt x="0" y="12598"/>
                  </a:lnTo>
                  <a:lnTo>
                    <a:pt x="0" y="7569"/>
                  </a:lnTo>
                  <a:lnTo>
                    <a:pt x="723" y="2527"/>
                  </a:lnTo>
                </a:path>
              </a:pathLst>
            </a:custGeom>
            <a:ln w="28802">
              <a:solidFill>
                <a:srgbClr val="454C4C"/>
              </a:solidFill>
            </a:ln>
          </p:spPr>
          <p:txBody>
            <a:bodyPr wrap="square" lIns="0" tIns="0" rIns="0" bIns="0" rtlCol="0"/>
            <a:lstStyle/>
            <a:p>
              <a:endParaRPr/>
            </a:p>
          </p:txBody>
        </p:sp>
        <p:sp>
          <p:nvSpPr>
            <p:cNvPr id="25" name="object 25"/>
            <p:cNvSpPr/>
            <p:nvPr/>
          </p:nvSpPr>
          <p:spPr>
            <a:xfrm>
              <a:off x="3511435" y="3170525"/>
              <a:ext cx="1270" cy="535305"/>
            </a:xfrm>
            <a:custGeom>
              <a:avLst/>
              <a:gdLst/>
              <a:ahLst/>
              <a:cxnLst/>
              <a:rect l="l" t="t" r="r" b="b"/>
              <a:pathLst>
                <a:path w="1270" h="535304">
                  <a:moveTo>
                    <a:pt x="1079" y="534962"/>
                  </a:moveTo>
                  <a:lnTo>
                    <a:pt x="0" y="0"/>
                  </a:lnTo>
                </a:path>
              </a:pathLst>
            </a:custGeom>
            <a:ln w="31908">
              <a:solidFill>
                <a:srgbClr val="454C4C"/>
              </a:solidFill>
            </a:ln>
          </p:spPr>
          <p:txBody>
            <a:bodyPr wrap="square" lIns="0" tIns="0" rIns="0" bIns="0" rtlCol="0"/>
            <a:lstStyle/>
            <a:p>
              <a:endParaRPr/>
            </a:p>
          </p:txBody>
        </p:sp>
      </p:grpSp>
      <p:sp>
        <p:nvSpPr>
          <p:cNvPr id="26" name="object 26"/>
          <p:cNvSpPr txBox="1"/>
          <p:nvPr/>
        </p:nvSpPr>
        <p:spPr>
          <a:xfrm>
            <a:off x="2129904" y="1409302"/>
            <a:ext cx="563245" cy="217804"/>
          </a:xfrm>
          <a:prstGeom prst="rect">
            <a:avLst/>
          </a:prstGeom>
        </p:spPr>
        <p:txBody>
          <a:bodyPr vert="horz" wrap="square" lIns="0" tIns="13970" rIns="0" bIns="0" rtlCol="0">
            <a:spAutoFit/>
          </a:bodyPr>
          <a:lstStyle/>
          <a:p>
            <a:pPr marL="12700">
              <a:lnSpc>
                <a:spcPct val="100000"/>
              </a:lnSpc>
              <a:spcBef>
                <a:spcPts val="110"/>
              </a:spcBef>
            </a:pPr>
            <a:r>
              <a:rPr sz="1250" dirty="0">
                <a:solidFill>
                  <a:srgbClr val="454C4C"/>
                </a:solidFill>
                <a:latin typeface="Lucida Sans Unicode"/>
                <a:cs typeface="Lucida Sans Unicode"/>
              </a:rPr>
              <a:t>Node</a:t>
            </a:r>
            <a:r>
              <a:rPr sz="1250" spc="-85" dirty="0">
                <a:solidFill>
                  <a:srgbClr val="454C4C"/>
                </a:solidFill>
                <a:latin typeface="Lucida Sans Unicode"/>
                <a:cs typeface="Lucida Sans Unicode"/>
              </a:rPr>
              <a:t> </a:t>
            </a:r>
            <a:r>
              <a:rPr sz="1250" spc="-50" dirty="0">
                <a:solidFill>
                  <a:srgbClr val="454C4C"/>
                </a:solidFill>
                <a:latin typeface="Lucida Sans Unicode"/>
                <a:cs typeface="Lucida Sans Unicode"/>
              </a:rPr>
              <a:t>1</a:t>
            </a:r>
            <a:endParaRPr sz="1250">
              <a:latin typeface="Lucida Sans Unicode"/>
              <a:cs typeface="Lucida Sans Unicode"/>
            </a:endParaRPr>
          </a:p>
        </p:txBody>
      </p:sp>
      <p:sp>
        <p:nvSpPr>
          <p:cNvPr id="27" name="object 27"/>
          <p:cNvSpPr txBox="1"/>
          <p:nvPr/>
        </p:nvSpPr>
        <p:spPr>
          <a:xfrm>
            <a:off x="2944050" y="1409302"/>
            <a:ext cx="563245" cy="217804"/>
          </a:xfrm>
          <a:prstGeom prst="rect">
            <a:avLst/>
          </a:prstGeom>
        </p:spPr>
        <p:txBody>
          <a:bodyPr vert="horz" wrap="square" lIns="0" tIns="13970" rIns="0" bIns="0" rtlCol="0">
            <a:spAutoFit/>
          </a:bodyPr>
          <a:lstStyle/>
          <a:p>
            <a:pPr marL="12700">
              <a:lnSpc>
                <a:spcPct val="100000"/>
              </a:lnSpc>
              <a:spcBef>
                <a:spcPts val="110"/>
              </a:spcBef>
            </a:pPr>
            <a:r>
              <a:rPr sz="1250" dirty="0">
                <a:solidFill>
                  <a:srgbClr val="454C4C"/>
                </a:solidFill>
                <a:latin typeface="Lucida Sans Unicode"/>
                <a:cs typeface="Lucida Sans Unicode"/>
              </a:rPr>
              <a:t>Node</a:t>
            </a:r>
            <a:r>
              <a:rPr sz="1250" spc="-85" dirty="0">
                <a:solidFill>
                  <a:srgbClr val="454C4C"/>
                </a:solidFill>
                <a:latin typeface="Lucida Sans Unicode"/>
                <a:cs typeface="Lucida Sans Unicode"/>
              </a:rPr>
              <a:t> </a:t>
            </a:r>
            <a:r>
              <a:rPr sz="1250" spc="-50" dirty="0">
                <a:solidFill>
                  <a:srgbClr val="454C4C"/>
                </a:solidFill>
                <a:latin typeface="Lucida Sans Unicode"/>
                <a:cs typeface="Lucida Sans Unicode"/>
              </a:rPr>
              <a:t>2</a:t>
            </a:r>
            <a:endParaRPr sz="1250">
              <a:latin typeface="Lucida Sans Unicode"/>
              <a:cs typeface="Lucida Sans Unicode"/>
            </a:endParaRPr>
          </a:p>
        </p:txBody>
      </p:sp>
      <p:sp>
        <p:nvSpPr>
          <p:cNvPr id="28" name="object 28"/>
          <p:cNvSpPr txBox="1"/>
          <p:nvPr/>
        </p:nvSpPr>
        <p:spPr>
          <a:xfrm>
            <a:off x="3771862" y="1409302"/>
            <a:ext cx="563245" cy="217804"/>
          </a:xfrm>
          <a:prstGeom prst="rect">
            <a:avLst/>
          </a:prstGeom>
        </p:spPr>
        <p:txBody>
          <a:bodyPr vert="horz" wrap="square" lIns="0" tIns="13970" rIns="0" bIns="0" rtlCol="0">
            <a:spAutoFit/>
          </a:bodyPr>
          <a:lstStyle/>
          <a:p>
            <a:pPr marL="12700">
              <a:lnSpc>
                <a:spcPct val="100000"/>
              </a:lnSpc>
              <a:spcBef>
                <a:spcPts val="110"/>
              </a:spcBef>
            </a:pPr>
            <a:r>
              <a:rPr sz="1250" dirty="0">
                <a:solidFill>
                  <a:srgbClr val="454C4C"/>
                </a:solidFill>
                <a:latin typeface="Lucida Sans Unicode"/>
                <a:cs typeface="Lucida Sans Unicode"/>
              </a:rPr>
              <a:t>Node</a:t>
            </a:r>
            <a:r>
              <a:rPr sz="1250" spc="-85" dirty="0">
                <a:solidFill>
                  <a:srgbClr val="454C4C"/>
                </a:solidFill>
                <a:latin typeface="Lucida Sans Unicode"/>
                <a:cs typeface="Lucida Sans Unicode"/>
              </a:rPr>
              <a:t> </a:t>
            </a:r>
            <a:r>
              <a:rPr sz="1250" spc="-50" dirty="0">
                <a:solidFill>
                  <a:srgbClr val="454C4C"/>
                </a:solidFill>
                <a:latin typeface="Lucida Sans Unicode"/>
                <a:cs typeface="Lucida Sans Unicode"/>
              </a:rPr>
              <a:t>3</a:t>
            </a:r>
            <a:endParaRPr sz="1250">
              <a:latin typeface="Lucida Sans Unicode"/>
              <a:cs typeface="Lucida Sans Unicode"/>
            </a:endParaRPr>
          </a:p>
        </p:txBody>
      </p:sp>
      <p:grpSp>
        <p:nvGrpSpPr>
          <p:cNvPr id="29" name="object 29"/>
          <p:cNvGrpSpPr/>
          <p:nvPr/>
        </p:nvGrpSpPr>
        <p:grpSpPr>
          <a:xfrm>
            <a:off x="6535141" y="2897709"/>
            <a:ext cx="381000" cy="381000"/>
            <a:chOff x="6535141" y="2897709"/>
            <a:chExt cx="381000" cy="381000"/>
          </a:xfrm>
        </p:grpSpPr>
        <p:sp>
          <p:nvSpPr>
            <p:cNvPr id="30" name="object 30"/>
            <p:cNvSpPr/>
            <p:nvPr/>
          </p:nvSpPr>
          <p:spPr>
            <a:xfrm>
              <a:off x="6546465" y="2910115"/>
              <a:ext cx="336550" cy="336550"/>
            </a:xfrm>
            <a:custGeom>
              <a:avLst/>
              <a:gdLst/>
              <a:ahLst/>
              <a:cxnLst/>
              <a:rect l="l" t="t" r="r" b="b"/>
              <a:pathLst>
                <a:path w="336550" h="336550">
                  <a:moveTo>
                    <a:pt x="169470" y="0"/>
                  </a:moveTo>
                  <a:lnTo>
                    <a:pt x="125771" y="5178"/>
                  </a:lnTo>
                  <a:lnTo>
                    <a:pt x="85140" y="21778"/>
                  </a:lnTo>
                  <a:lnTo>
                    <a:pt x="50168" y="48371"/>
                  </a:lnTo>
                  <a:lnTo>
                    <a:pt x="23169" y="82843"/>
                  </a:lnTo>
                  <a:lnTo>
                    <a:pt x="5895" y="123250"/>
                  </a:lnTo>
                  <a:lnTo>
                    <a:pt x="0" y="166677"/>
                  </a:lnTo>
                  <a:lnTo>
                    <a:pt x="1184" y="188608"/>
                  </a:lnTo>
                  <a:lnTo>
                    <a:pt x="12174" y="231245"/>
                  </a:lnTo>
                  <a:lnTo>
                    <a:pt x="33881" y="269352"/>
                  </a:lnTo>
                  <a:lnTo>
                    <a:pt x="64729" y="300588"/>
                  </a:lnTo>
                  <a:lnTo>
                    <a:pt x="102439" y="322928"/>
                  </a:lnTo>
                  <a:lnTo>
                    <a:pt x="144815" y="334566"/>
                  </a:lnTo>
                  <a:lnTo>
                    <a:pt x="166679" y="336148"/>
                  </a:lnTo>
                  <a:lnTo>
                    <a:pt x="188613" y="334960"/>
                  </a:lnTo>
                  <a:lnTo>
                    <a:pt x="231199" y="323970"/>
                  </a:lnTo>
                  <a:lnTo>
                    <a:pt x="269198" y="302273"/>
                  </a:lnTo>
                  <a:lnTo>
                    <a:pt x="300582" y="271419"/>
                  </a:lnTo>
                  <a:lnTo>
                    <a:pt x="322927" y="233709"/>
                  </a:lnTo>
                  <a:lnTo>
                    <a:pt x="334567" y="191334"/>
                  </a:lnTo>
                  <a:lnTo>
                    <a:pt x="336149" y="169467"/>
                  </a:lnTo>
                  <a:lnTo>
                    <a:pt x="334965" y="147536"/>
                  </a:lnTo>
                  <a:lnTo>
                    <a:pt x="323969" y="104949"/>
                  </a:lnTo>
                  <a:lnTo>
                    <a:pt x="302267" y="66945"/>
                  </a:lnTo>
                  <a:lnTo>
                    <a:pt x="271413" y="35561"/>
                  </a:lnTo>
                  <a:lnTo>
                    <a:pt x="233703" y="13216"/>
                  </a:lnTo>
                  <a:lnTo>
                    <a:pt x="191334" y="1577"/>
                  </a:lnTo>
                  <a:lnTo>
                    <a:pt x="169470" y="0"/>
                  </a:lnTo>
                  <a:close/>
                </a:path>
              </a:pathLst>
            </a:custGeom>
            <a:solidFill>
              <a:srgbClr val="FFFFFF"/>
            </a:solidFill>
          </p:spPr>
          <p:txBody>
            <a:bodyPr wrap="square" lIns="0" tIns="0" rIns="0" bIns="0" rtlCol="0"/>
            <a:lstStyle/>
            <a:p>
              <a:endParaRPr/>
            </a:p>
          </p:txBody>
        </p:sp>
        <p:sp>
          <p:nvSpPr>
            <p:cNvPr id="31" name="object 31"/>
            <p:cNvSpPr/>
            <p:nvPr/>
          </p:nvSpPr>
          <p:spPr>
            <a:xfrm>
              <a:off x="6553395" y="2915963"/>
              <a:ext cx="344170" cy="344805"/>
            </a:xfrm>
            <a:custGeom>
              <a:avLst/>
              <a:gdLst/>
              <a:ahLst/>
              <a:cxnLst/>
              <a:rect l="l" t="t" r="r" b="b"/>
              <a:pathLst>
                <a:path w="344170" h="344804">
                  <a:moveTo>
                    <a:pt x="88958" y="21643"/>
                  </a:moveTo>
                  <a:lnTo>
                    <a:pt x="98548" y="16581"/>
                  </a:lnTo>
                  <a:lnTo>
                    <a:pt x="108404" y="12193"/>
                  </a:lnTo>
                  <a:lnTo>
                    <a:pt x="118528" y="8479"/>
                  </a:lnTo>
                  <a:lnTo>
                    <a:pt x="128925" y="5438"/>
                  </a:lnTo>
                  <a:lnTo>
                    <a:pt x="151019" y="1251"/>
                  </a:lnTo>
                  <a:lnTo>
                    <a:pt x="173383" y="0"/>
                  </a:lnTo>
                  <a:lnTo>
                    <a:pt x="195750" y="1649"/>
                  </a:lnTo>
                  <a:lnTo>
                    <a:pt x="239146" y="13706"/>
                  </a:lnTo>
                  <a:lnTo>
                    <a:pt x="277683" y="36489"/>
                  </a:lnTo>
                  <a:lnTo>
                    <a:pt x="306039" y="64125"/>
                  </a:lnTo>
                  <a:lnTo>
                    <a:pt x="332930" y="111454"/>
                  </a:lnTo>
                  <a:lnTo>
                    <a:pt x="342689" y="151072"/>
                  </a:lnTo>
                  <a:lnTo>
                    <a:pt x="344027" y="173561"/>
                  </a:lnTo>
                  <a:lnTo>
                    <a:pt x="342395" y="196050"/>
                  </a:lnTo>
                  <a:lnTo>
                    <a:pt x="331593" y="236411"/>
                  </a:lnTo>
                  <a:lnTo>
                    <a:pt x="313526" y="269995"/>
                  </a:lnTo>
                  <a:lnTo>
                    <a:pt x="301721" y="285168"/>
                  </a:lnTo>
                  <a:lnTo>
                    <a:pt x="298838" y="288407"/>
                  </a:lnTo>
                  <a:lnTo>
                    <a:pt x="295600" y="291645"/>
                  </a:lnTo>
                  <a:lnTo>
                    <a:pt x="292730" y="294884"/>
                  </a:lnTo>
                  <a:lnTo>
                    <a:pt x="256816" y="321971"/>
                  </a:lnTo>
                  <a:lnTo>
                    <a:pt x="214968" y="338801"/>
                  </a:lnTo>
                  <a:lnTo>
                    <a:pt x="170505" y="344250"/>
                  </a:lnTo>
                  <a:lnTo>
                    <a:pt x="148138" y="342603"/>
                  </a:lnTo>
                  <a:lnTo>
                    <a:pt x="103908" y="330211"/>
                  </a:lnTo>
                  <a:lnTo>
                    <a:pt x="82850" y="319370"/>
                  </a:lnTo>
                  <a:lnTo>
                    <a:pt x="49360" y="292725"/>
                  </a:lnTo>
                  <a:lnTo>
                    <a:pt x="22272" y="256860"/>
                  </a:lnTo>
                  <a:lnTo>
                    <a:pt x="5443" y="215318"/>
                  </a:lnTo>
                  <a:lnTo>
                    <a:pt x="0" y="170729"/>
                  </a:lnTo>
                  <a:lnTo>
                    <a:pt x="1648" y="148349"/>
                  </a:lnTo>
                  <a:lnTo>
                    <a:pt x="6167" y="126406"/>
                  </a:lnTo>
                  <a:lnTo>
                    <a:pt x="7602" y="120640"/>
                  </a:lnTo>
                  <a:lnTo>
                    <a:pt x="9405" y="115242"/>
                  </a:lnTo>
                  <a:lnTo>
                    <a:pt x="11564" y="110201"/>
                  </a:lnTo>
                </a:path>
              </a:pathLst>
            </a:custGeom>
            <a:ln w="36507">
              <a:solidFill>
                <a:srgbClr val="454C4C"/>
              </a:solidFill>
            </a:ln>
          </p:spPr>
          <p:txBody>
            <a:bodyPr wrap="square" lIns="0" tIns="0" rIns="0" bIns="0" rtlCol="0"/>
            <a:lstStyle/>
            <a:p>
              <a:endParaRPr/>
            </a:p>
          </p:txBody>
        </p:sp>
        <p:pic>
          <p:nvPicPr>
            <p:cNvPr id="32" name="object 32"/>
            <p:cNvPicPr/>
            <p:nvPr/>
          </p:nvPicPr>
          <p:blipFill>
            <a:blip r:embed="rId5" cstate="print"/>
            <a:stretch>
              <a:fillRect/>
            </a:stretch>
          </p:blipFill>
          <p:spPr>
            <a:xfrm>
              <a:off x="6588954" y="2902559"/>
              <a:ext cx="75862" cy="76942"/>
            </a:xfrm>
            <a:prstGeom prst="rect">
              <a:avLst/>
            </a:prstGeom>
          </p:spPr>
        </p:pic>
        <p:pic>
          <p:nvPicPr>
            <p:cNvPr id="33" name="object 33"/>
            <p:cNvPicPr/>
            <p:nvPr/>
          </p:nvPicPr>
          <p:blipFill>
            <a:blip r:embed="rId6" cstate="print"/>
            <a:stretch>
              <a:fillRect/>
            </a:stretch>
          </p:blipFill>
          <p:spPr>
            <a:xfrm>
              <a:off x="6707359" y="2965529"/>
              <a:ext cx="107606" cy="154761"/>
            </a:xfrm>
            <a:prstGeom prst="rect">
              <a:avLst/>
            </a:prstGeom>
          </p:spPr>
        </p:pic>
      </p:grpSp>
      <p:grpSp>
        <p:nvGrpSpPr>
          <p:cNvPr id="34" name="object 34"/>
          <p:cNvGrpSpPr/>
          <p:nvPr/>
        </p:nvGrpSpPr>
        <p:grpSpPr>
          <a:xfrm>
            <a:off x="5431202" y="1685171"/>
            <a:ext cx="660400" cy="2179320"/>
            <a:chOff x="5431202" y="1685171"/>
            <a:chExt cx="660400" cy="2179320"/>
          </a:xfrm>
        </p:grpSpPr>
        <p:sp>
          <p:nvSpPr>
            <p:cNvPr id="35" name="object 35"/>
            <p:cNvSpPr/>
            <p:nvPr/>
          </p:nvSpPr>
          <p:spPr>
            <a:xfrm>
              <a:off x="5772238" y="2420285"/>
              <a:ext cx="0" cy="608965"/>
            </a:xfrm>
            <a:custGeom>
              <a:avLst/>
              <a:gdLst/>
              <a:ahLst/>
              <a:cxnLst/>
              <a:rect l="l" t="t" r="r" b="b"/>
              <a:pathLst>
                <a:path h="608964">
                  <a:moveTo>
                    <a:pt x="0" y="0"/>
                  </a:moveTo>
                  <a:lnTo>
                    <a:pt x="0" y="608951"/>
                  </a:lnTo>
                </a:path>
              </a:pathLst>
            </a:custGeom>
            <a:ln w="18362">
              <a:solidFill>
                <a:srgbClr val="FF9000"/>
              </a:solidFill>
            </a:ln>
          </p:spPr>
          <p:txBody>
            <a:bodyPr wrap="square" lIns="0" tIns="0" rIns="0" bIns="0" rtlCol="0"/>
            <a:lstStyle/>
            <a:p>
              <a:endParaRPr/>
            </a:p>
          </p:txBody>
        </p:sp>
        <p:sp>
          <p:nvSpPr>
            <p:cNvPr id="36" name="object 36"/>
            <p:cNvSpPr/>
            <p:nvPr/>
          </p:nvSpPr>
          <p:spPr>
            <a:xfrm>
              <a:off x="5447525" y="3515762"/>
              <a:ext cx="627380" cy="334010"/>
            </a:xfrm>
            <a:custGeom>
              <a:avLst/>
              <a:gdLst/>
              <a:ahLst/>
              <a:cxnLst/>
              <a:rect l="l" t="t" r="r" b="b"/>
              <a:pathLst>
                <a:path w="627379" h="334010">
                  <a:moveTo>
                    <a:pt x="627113" y="178206"/>
                  </a:moveTo>
                  <a:lnTo>
                    <a:pt x="609855" y="236020"/>
                  </a:lnTo>
                  <a:lnTo>
                    <a:pt x="548722" y="284586"/>
                  </a:lnTo>
                  <a:lnTo>
                    <a:pt x="504656" y="303819"/>
                  </a:lnTo>
                  <a:lnTo>
                    <a:pt x="453166" y="318843"/>
                  </a:lnTo>
                  <a:lnTo>
                    <a:pt x="395433" y="329024"/>
                  </a:lnTo>
                  <a:lnTo>
                    <a:pt x="332638" y="333730"/>
                  </a:lnTo>
                  <a:lnTo>
                    <a:pt x="269189" y="332575"/>
                  </a:lnTo>
                  <a:lnTo>
                    <a:pt x="209339" y="325704"/>
                  </a:lnTo>
                  <a:lnTo>
                    <a:pt x="154425" y="313676"/>
                  </a:lnTo>
                  <a:lnTo>
                    <a:pt x="105786" y="297054"/>
                  </a:lnTo>
                  <a:lnTo>
                    <a:pt x="64757" y="276399"/>
                  </a:lnTo>
                  <a:lnTo>
                    <a:pt x="32677" y="252272"/>
                  </a:lnTo>
                  <a:lnTo>
                    <a:pt x="711" y="195846"/>
                  </a:lnTo>
                  <a:lnTo>
                    <a:pt x="0" y="190449"/>
                  </a:lnTo>
                  <a:lnTo>
                    <a:pt x="0" y="185407"/>
                  </a:lnTo>
                  <a:lnTo>
                    <a:pt x="355" y="180365"/>
                  </a:lnTo>
                </a:path>
                <a:path w="627379" h="334010">
                  <a:moveTo>
                    <a:pt x="627113" y="0"/>
                  </a:moveTo>
                  <a:lnTo>
                    <a:pt x="609855" y="58026"/>
                  </a:lnTo>
                  <a:lnTo>
                    <a:pt x="548722" y="106702"/>
                  </a:lnTo>
                  <a:lnTo>
                    <a:pt x="504656" y="125962"/>
                  </a:lnTo>
                  <a:lnTo>
                    <a:pt x="453166" y="140999"/>
                  </a:lnTo>
                  <a:lnTo>
                    <a:pt x="395433" y="151185"/>
                  </a:lnTo>
                  <a:lnTo>
                    <a:pt x="332638" y="155892"/>
                  </a:lnTo>
                  <a:lnTo>
                    <a:pt x="269189" y="154733"/>
                  </a:lnTo>
                  <a:lnTo>
                    <a:pt x="209339" y="147854"/>
                  </a:lnTo>
                  <a:lnTo>
                    <a:pt x="154425" y="135813"/>
                  </a:lnTo>
                  <a:lnTo>
                    <a:pt x="105786" y="119165"/>
                  </a:lnTo>
                  <a:lnTo>
                    <a:pt x="64757" y="98468"/>
                  </a:lnTo>
                  <a:lnTo>
                    <a:pt x="32677" y="74276"/>
                  </a:lnTo>
                  <a:lnTo>
                    <a:pt x="711" y="17640"/>
                  </a:lnTo>
                  <a:lnTo>
                    <a:pt x="0" y="12611"/>
                  </a:lnTo>
                  <a:lnTo>
                    <a:pt x="0" y="7569"/>
                  </a:lnTo>
                  <a:lnTo>
                    <a:pt x="355" y="2527"/>
                  </a:lnTo>
                </a:path>
              </a:pathLst>
            </a:custGeom>
            <a:ln w="28802">
              <a:solidFill>
                <a:srgbClr val="454C4C"/>
              </a:solidFill>
            </a:ln>
          </p:spPr>
          <p:txBody>
            <a:bodyPr wrap="square" lIns="0" tIns="0" rIns="0" bIns="0" rtlCol="0"/>
            <a:lstStyle/>
            <a:p>
              <a:endParaRPr/>
            </a:p>
          </p:txBody>
        </p:sp>
        <p:sp>
          <p:nvSpPr>
            <p:cNvPr id="37" name="object 37"/>
            <p:cNvSpPr/>
            <p:nvPr/>
          </p:nvSpPr>
          <p:spPr>
            <a:xfrm>
              <a:off x="5447880" y="3017884"/>
              <a:ext cx="626110" cy="291465"/>
            </a:xfrm>
            <a:custGeom>
              <a:avLst/>
              <a:gdLst/>
              <a:ahLst/>
              <a:cxnLst/>
              <a:rect l="l" t="t" r="r" b="b"/>
              <a:pathLst>
                <a:path w="626110" h="291464">
                  <a:moveTo>
                    <a:pt x="625678" y="145440"/>
                  </a:moveTo>
                  <a:lnTo>
                    <a:pt x="601096" y="202037"/>
                  </a:lnTo>
                  <a:lnTo>
                    <a:pt x="534057" y="248269"/>
                  </a:lnTo>
                  <a:lnTo>
                    <a:pt x="487759" y="266032"/>
                  </a:lnTo>
                  <a:lnTo>
                    <a:pt x="434618" y="279446"/>
                  </a:lnTo>
                  <a:lnTo>
                    <a:pt x="375892" y="287924"/>
                  </a:lnTo>
                  <a:lnTo>
                    <a:pt x="312839" y="290880"/>
                  </a:lnTo>
                  <a:lnTo>
                    <a:pt x="249785" y="287924"/>
                  </a:lnTo>
                  <a:lnTo>
                    <a:pt x="191059" y="279446"/>
                  </a:lnTo>
                  <a:lnTo>
                    <a:pt x="137919" y="266032"/>
                  </a:lnTo>
                  <a:lnTo>
                    <a:pt x="91620" y="248269"/>
                  </a:lnTo>
                  <a:lnTo>
                    <a:pt x="53422" y="226742"/>
                  </a:lnTo>
                  <a:lnTo>
                    <a:pt x="6354" y="174741"/>
                  </a:lnTo>
                  <a:lnTo>
                    <a:pt x="0" y="145440"/>
                  </a:lnTo>
                  <a:lnTo>
                    <a:pt x="6354" y="116142"/>
                  </a:lnTo>
                  <a:lnTo>
                    <a:pt x="53422" y="64144"/>
                  </a:lnTo>
                  <a:lnTo>
                    <a:pt x="91620" y="42616"/>
                  </a:lnTo>
                  <a:lnTo>
                    <a:pt x="137919" y="24851"/>
                  </a:lnTo>
                  <a:lnTo>
                    <a:pt x="191059" y="11436"/>
                  </a:lnTo>
                  <a:lnTo>
                    <a:pt x="249785" y="2956"/>
                  </a:lnTo>
                  <a:lnTo>
                    <a:pt x="312839" y="0"/>
                  </a:lnTo>
                  <a:lnTo>
                    <a:pt x="375892" y="2956"/>
                  </a:lnTo>
                  <a:lnTo>
                    <a:pt x="434618" y="11436"/>
                  </a:lnTo>
                  <a:lnTo>
                    <a:pt x="487759" y="24851"/>
                  </a:lnTo>
                  <a:lnTo>
                    <a:pt x="534057" y="42616"/>
                  </a:lnTo>
                  <a:lnTo>
                    <a:pt x="572255" y="64144"/>
                  </a:lnTo>
                  <a:lnTo>
                    <a:pt x="619323" y="116142"/>
                  </a:lnTo>
                  <a:lnTo>
                    <a:pt x="625678" y="145440"/>
                  </a:lnTo>
                  <a:close/>
                </a:path>
              </a:pathLst>
            </a:custGeom>
            <a:ln w="28942">
              <a:solidFill>
                <a:srgbClr val="454C4C"/>
              </a:solidFill>
            </a:ln>
          </p:spPr>
          <p:txBody>
            <a:bodyPr wrap="square" lIns="0" tIns="0" rIns="0" bIns="0" rtlCol="0"/>
            <a:lstStyle/>
            <a:p>
              <a:endParaRPr/>
            </a:p>
          </p:txBody>
        </p:sp>
        <p:sp>
          <p:nvSpPr>
            <p:cNvPr id="38" name="object 38"/>
            <p:cNvSpPr/>
            <p:nvPr/>
          </p:nvSpPr>
          <p:spPr>
            <a:xfrm>
              <a:off x="5447157" y="3170525"/>
              <a:ext cx="1270" cy="535305"/>
            </a:xfrm>
            <a:custGeom>
              <a:avLst/>
              <a:gdLst/>
              <a:ahLst/>
              <a:cxnLst/>
              <a:rect l="l" t="t" r="r" b="b"/>
              <a:pathLst>
                <a:path w="1270" h="535304">
                  <a:moveTo>
                    <a:pt x="1079" y="534962"/>
                  </a:moveTo>
                  <a:lnTo>
                    <a:pt x="0" y="0"/>
                  </a:lnTo>
                </a:path>
              </a:pathLst>
            </a:custGeom>
            <a:ln w="31908">
              <a:solidFill>
                <a:srgbClr val="454C4C"/>
              </a:solidFill>
            </a:ln>
          </p:spPr>
          <p:txBody>
            <a:bodyPr wrap="square" lIns="0" tIns="0" rIns="0" bIns="0" rtlCol="0"/>
            <a:lstStyle/>
            <a:p>
              <a:endParaRPr/>
            </a:p>
          </p:txBody>
        </p:sp>
        <p:sp>
          <p:nvSpPr>
            <p:cNvPr id="39" name="object 39"/>
            <p:cNvSpPr/>
            <p:nvPr/>
          </p:nvSpPr>
          <p:spPr>
            <a:xfrm>
              <a:off x="5447525" y="3344045"/>
              <a:ext cx="627380" cy="156210"/>
            </a:xfrm>
            <a:custGeom>
              <a:avLst/>
              <a:gdLst/>
              <a:ahLst/>
              <a:cxnLst/>
              <a:rect l="l" t="t" r="r" b="b"/>
              <a:pathLst>
                <a:path w="627379" h="156210">
                  <a:moveTo>
                    <a:pt x="627113" y="0"/>
                  </a:moveTo>
                  <a:lnTo>
                    <a:pt x="609855" y="57974"/>
                  </a:lnTo>
                  <a:lnTo>
                    <a:pt x="548722" y="106562"/>
                  </a:lnTo>
                  <a:lnTo>
                    <a:pt x="504656" y="125797"/>
                  </a:lnTo>
                  <a:lnTo>
                    <a:pt x="453166" y="140839"/>
                  </a:lnTo>
                  <a:lnTo>
                    <a:pt x="395433" y="151071"/>
                  </a:lnTo>
                  <a:lnTo>
                    <a:pt x="332638" y="155879"/>
                  </a:lnTo>
                  <a:lnTo>
                    <a:pt x="269189" y="154724"/>
                  </a:lnTo>
                  <a:lnTo>
                    <a:pt x="209339" y="147849"/>
                  </a:lnTo>
                  <a:lnTo>
                    <a:pt x="154425" y="135810"/>
                  </a:lnTo>
                  <a:lnTo>
                    <a:pt x="105786" y="119164"/>
                  </a:lnTo>
                  <a:lnTo>
                    <a:pt x="64757" y="98467"/>
                  </a:lnTo>
                  <a:lnTo>
                    <a:pt x="32677" y="74276"/>
                  </a:lnTo>
                  <a:lnTo>
                    <a:pt x="711" y="17640"/>
                  </a:lnTo>
                  <a:lnTo>
                    <a:pt x="0" y="12598"/>
                  </a:lnTo>
                  <a:lnTo>
                    <a:pt x="0" y="7569"/>
                  </a:lnTo>
                  <a:lnTo>
                    <a:pt x="355" y="2527"/>
                  </a:lnTo>
                </a:path>
              </a:pathLst>
            </a:custGeom>
            <a:ln w="28802">
              <a:solidFill>
                <a:srgbClr val="454C4C"/>
              </a:solidFill>
            </a:ln>
          </p:spPr>
          <p:txBody>
            <a:bodyPr wrap="square" lIns="0" tIns="0" rIns="0" bIns="0" rtlCol="0"/>
            <a:lstStyle/>
            <a:p>
              <a:endParaRPr/>
            </a:p>
          </p:txBody>
        </p:sp>
        <p:sp>
          <p:nvSpPr>
            <p:cNvPr id="40" name="object 40"/>
            <p:cNvSpPr/>
            <p:nvPr/>
          </p:nvSpPr>
          <p:spPr>
            <a:xfrm>
              <a:off x="6074283" y="3170525"/>
              <a:ext cx="1270" cy="535305"/>
            </a:xfrm>
            <a:custGeom>
              <a:avLst/>
              <a:gdLst/>
              <a:ahLst/>
              <a:cxnLst/>
              <a:rect l="l" t="t" r="r" b="b"/>
              <a:pathLst>
                <a:path w="1270" h="535304">
                  <a:moveTo>
                    <a:pt x="1079" y="534962"/>
                  </a:moveTo>
                  <a:lnTo>
                    <a:pt x="0" y="0"/>
                  </a:lnTo>
                </a:path>
              </a:pathLst>
            </a:custGeom>
            <a:ln w="31908">
              <a:solidFill>
                <a:srgbClr val="454C4C"/>
              </a:solidFill>
            </a:ln>
          </p:spPr>
          <p:txBody>
            <a:bodyPr wrap="square" lIns="0" tIns="0" rIns="0" bIns="0" rtlCol="0"/>
            <a:lstStyle/>
            <a:p>
              <a:endParaRPr/>
            </a:p>
          </p:txBody>
        </p:sp>
        <p:sp>
          <p:nvSpPr>
            <p:cNvPr id="41" name="object 41"/>
            <p:cNvSpPr/>
            <p:nvPr/>
          </p:nvSpPr>
          <p:spPr>
            <a:xfrm>
              <a:off x="5543994" y="1685171"/>
              <a:ext cx="454659" cy="735330"/>
            </a:xfrm>
            <a:custGeom>
              <a:avLst/>
              <a:gdLst/>
              <a:ahLst/>
              <a:cxnLst/>
              <a:rect l="l" t="t" r="r" b="b"/>
              <a:pathLst>
                <a:path w="454660" h="735330">
                  <a:moveTo>
                    <a:pt x="454329" y="0"/>
                  </a:moveTo>
                  <a:lnTo>
                    <a:pt x="0" y="0"/>
                  </a:lnTo>
                  <a:lnTo>
                    <a:pt x="0" y="735114"/>
                  </a:lnTo>
                  <a:lnTo>
                    <a:pt x="454329" y="735114"/>
                  </a:lnTo>
                  <a:lnTo>
                    <a:pt x="454329" y="0"/>
                  </a:lnTo>
                  <a:close/>
                </a:path>
              </a:pathLst>
            </a:custGeom>
            <a:solidFill>
              <a:srgbClr val="454C4C"/>
            </a:solidFill>
          </p:spPr>
          <p:txBody>
            <a:bodyPr wrap="square" lIns="0" tIns="0" rIns="0" bIns="0" rtlCol="0"/>
            <a:lstStyle/>
            <a:p>
              <a:endParaRPr/>
            </a:p>
          </p:txBody>
        </p:sp>
        <p:sp>
          <p:nvSpPr>
            <p:cNvPr id="42" name="object 42"/>
            <p:cNvSpPr/>
            <p:nvPr/>
          </p:nvSpPr>
          <p:spPr>
            <a:xfrm>
              <a:off x="5602325" y="1985044"/>
              <a:ext cx="335280" cy="41910"/>
            </a:xfrm>
            <a:custGeom>
              <a:avLst/>
              <a:gdLst/>
              <a:ahLst/>
              <a:cxnLst/>
              <a:rect l="l" t="t" r="r" b="b"/>
              <a:pathLst>
                <a:path w="335279" h="41910">
                  <a:moveTo>
                    <a:pt x="334797" y="0"/>
                  </a:moveTo>
                  <a:lnTo>
                    <a:pt x="0" y="0"/>
                  </a:lnTo>
                  <a:lnTo>
                    <a:pt x="0" y="41401"/>
                  </a:lnTo>
                  <a:lnTo>
                    <a:pt x="334797" y="41401"/>
                  </a:lnTo>
                  <a:lnTo>
                    <a:pt x="334797" y="0"/>
                  </a:lnTo>
                  <a:close/>
                </a:path>
              </a:pathLst>
            </a:custGeom>
            <a:solidFill>
              <a:srgbClr val="ECECEC"/>
            </a:solidFill>
          </p:spPr>
          <p:txBody>
            <a:bodyPr wrap="square" lIns="0" tIns="0" rIns="0" bIns="0" rtlCol="0"/>
            <a:lstStyle/>
            <a:p>
              <a:endParaRPr/>
            </a:p>
          </p:txBody>
        </p:sp>
        <p:pic>
          <p:nvPicPr>
            <p:cNvPr id="43" name="object 43"/>
            <p:cNvPicPr/>
            <p:nvPr/>
          </p:nvPicPr>
          <p:blipFill>
            <a:blip r:embed="rId7" cstate="print"/>
            <a:stretch>
              <a:fillRect/>
            </a:stretch>
          </p:blipFill>
          <p:spPr>
            <a:xfrm>
              <a:off x="5724359" y="2192765"/>
              <a:ext cx="93954" cy="93967"/>
            </a:xfrm>
            <a:prstGeom prst="rect">
              <a:avLst/>
            </a:prstGeom>
          </p:spPr>
        </p:pic>
        <p:sp>
          <p:nvSpPr>
            <p:cNvPr id="44" name="object 44"/>
            <p:cNvSpPr/>
            <p:nvPr/>
          </p:nvSpPr>
          <p:spPr>
            <a:xfrm>
              <a:off x="5602325" y="1791368"/>
              <a:ext cx="335280" cy="138430"/>
            </a:xfrm>
            <a:custGeom>
              <a:avLst/>
              <a:gdLst/>
              <a:ahLst/>
              <a:cxnLst/>
              <a:rect l="l" t="t" r="r" b="b"/>
              <a:pathLst>
                <a:path w="335279" h="138430">
                  <a:moveTo>
                    <a:pt x="334797" y="96837"/>
                  </a:moveTo>
                  <a:lnTo>
                    <a:pt x="0" y="96837"/>
                  </a:lnTo>
                  <a:lnTo>
                    <a:pt x="0" y="138239"/>
                  </a:lnTo>
                  <a:lnTo>
                    <a:pt x="334797" y="138239"/>
                  </a:lnTo>
                  <a:lnTo>
                    <a:pt x="334797" y="96837"/>
                  </a:lnTo>
                  <a:close/>
                </a:path>
                <a:path w="335279" h="138430">
                  <a:moveTo>
                    <a:pt x="334797" y="0"/>
                  </a:moveTo>
                  <a:lnTo>
                    <a:pt x="0" y="0"/>
                  </a:lnTo>
                  <a:lnTo>
                    <a:pt x="0" y="41402"/>
                  </a:lnTo>
                  <a:lnTo>
                    <a:pt x="334797" y="41402"/>
                  </a:lnTo>
                  <a:lnTo>
                    <a:pt x="334797" y="0"/>
                  </a:lnTo>
                  <a:close/>
                </a:path>
              </a:pathLst>
            </a:custGeom>
            <a:solidFill>
              <a:srgbClr val="ECECEC"/>
            </a:solidFill>
          </p:spPr>
          <p:txBody>
            <a:bodyPr wrap="square" lIns="0" tIns="0" rIns="0" bIns="0" rtlCol="0"/>
            <a:lstStyle/>
            <a:p>
              <a:endParaRPr/>
            </a:p>
          </p:txBody>
        </p:sp>
        <p:sp>
          <p:nvSpPr>
            <p:cNvPr id="45" name="object 45"/>
            <p:cNvSpPr/>
            <p:nvPr/>
          </p:nvSpPr>
          <p:spPr>
            <a:xfrm>
              <a:off x="5782124" y="2336216"/>
              <a:ext cx="5080" cy="5080"/>
            </a:xfrm>
            <a:custGeom>
              <a:avLst/>
              <a:gdLst/>
              <a:ahLst/>
              <a:cxnLst/>
              <a:rect l="l" t="t" r="r" b="b"/>
              <a:pathLst>
                <a:path w="5079" h="5080">
                  <a:moveTo>
                    <a:pt x="0" y="2357"/>
                  </a:moveTo>
                  <a:lnTo>
                    <a:pt x="690" y="690"/>
                  </a:lnTo>
                  <a:lnTo>
                    <a:pt x="2357" y="0"/>
                  </a:lnTo>
                  <a:lnTo>
                    <a:pt x="4023" y="690"/>
                  </a:lnTo>
                  <a:lnTo>
                    <a:pt x="4714" y="2357"/>
                  </a:lnTo>
                  <a:lnTo>
                    <a:pt x="4023" y="4023"/>
                  </a:lnTo>
                  <a:lnTo>
                    <a:pt x="2357" y="4714"/>
                  </a:lnTo>
                  <a:lnTo>
                    <a:pt x="690" y="4023"/>
                  </a:lnTo>
                  <a:lnTo>
                    <a:pt x="0" y="2357"/>
                  </a:lnTo>
                  <a:close/>
                </a:path>
              </a:pathLst>
            </a:custGeom>
            <a:solidFill>
              <a:srgbClr val="000000"/>
            </a:solidFill>
          </p:spPr>
          <p:txBody>
            <a:bodyPr wrap="square" lIns="0" tIns="0" rIns="0" bIns="0" rtlCol="0"/>
            <a:lstStyle/>
            <a:p>
              <a:endParaRPr/>
            </a:p>
          </p:txBody>
        </p:sp>
      </p:grpSp>
      <p:grpSp>
        <p:nvGrpSpPr>
          <p:cNvPr id="46" name="object 46"/>
          <p:cNvGrpSpPr/>
          <p:nvPr/>
        </p:nvGrpSpPr>
        <p:grpSpPr>
          <a:xfrm>
            <a:off x="7254961" y="1685171"/>
            <a:ext cx="660400" cy="2179320"/>
            <a:chOff x="7254961" y="1685171"/>
            <a:chExt cx="660400" cy="2179320"/>
          </a:xfrm>
        </p:grpSpPr>
        <p:sp>
          <p:nvSpPr>
            <p:cNvPr id="47" name="object 47"/>
            <p:cNvSpPr/>
            <p:nvPr/>
          </p:nvSpPr>
          <p:spPr>
            <a:xfrm>
              <a:off x="7585564" y="2420285"/>
              <a:ext cx="0" cy="598170"/>
            </a:xfrm>
            <a:custGeom>
              <a:avLst/>
              <a:gdLst/>
              <a:ahLst/>
              <a:cxnLst/>
              <a:rect l="l" t="t" r="r" b="b"/>
              <a:pathLst>
                <a:path h="598169">
                  <a:moveTo>
                    <a:pt x="0" y="0"/>
                  </a:moveTo>
                  <a:lnTo>
                    <a:pt x="0" y="597788"/>
                  </a:lnTo>
                </a:path>
              </a:pathLst>
            </a:custGeom>
            <a:ln w="18375">
              <a:solidFill>
                <a:srgbClr val="FF9000"/>
              </a:solidFill>
            </a:ln>
          </p:spPr>
          <p:txBody>
            <a:bodyPr wrap="square" lIns="0" tIns="0" rIns="0" bIns="0" rtlCol="0"/>
            <a:lstStyle/>
            <a:p>
              <a:endParaRPr/>
            </a:p>
          </p:txBody>
        </p:sp>
        <p:sp>
          <p:nvSpPr>
            <p:cNvPr id="48" name="object 48"/>
            <p:cNvSpPr/>
            <p:nvPr/>
          </p:nvSpPr>
          <p:spPr>
            <a:xfrm>
              <a:off x="7271283" y="3515762"/>
              <a:ext cx="627380" cy="334010"/>
            </a:xfrm>
            <a:custGeom>
              <a:avLst/>
              <a:gdLst/>
              <a:ahLst/>
              <a:cxnLst/>
              <a:rect l="l" t="t" r="r" b="b"/>
              <a:pathLst>
                <a:path w="627379" h="334010">
                  <a:moveTo>
                    <a:pt x="627113" y="178206"/>
                  </a:moveTo>
                  <a:lnTo>
                    <a:pt x="609862" y="236020"/>
                  </a:lnTo>
                  <a:lnTo>
                    <a:pt x="548771" y="284586"/>
                  </a:lnTo>
                  <a:lnTo>
                    <a:pt x="504749" y="303819"/>
                  </a:lnTo>
                  <a:lnTo>
                    <a:pt x="453321" y="318843"/>
                  </a:lnTo>
                  <a:lnTo>
                    <a:pt x="395675" y="329024"/>
                  </a:lnTo>
                  <a:lnTo>
                    <a:pt x="332993" y="333730"/>
                  </a:lnTo>
                  <a:lnTo>
                    <a:pt x="269430" y="332575"/>
                  </a:lnTo>
                  <a:lnTo>
                    <a:pt x="209494" y="325704"/>
                  </a:lnTo>
                  <a:lnTo>
                    <a:pt x="154518" y="313676"/>
                  </a:lnTo>
                  <a:lnTo>
                    <a:pt x="105835" y="297054"/>
                  </a:lnTo>
                  <a:lnTo>
                    <a:pt x="64779" y="276399"/>
                  </a:lnTo>
                  <a:lnTo>
                    <a:pt x="32685" y="252272"/>
                  </a:lnTo>
                  <a:lnTo>
                    <a:pt x="711" y="195846"/>
                  </a:lnTo>
                  <a:lnTo>
                    <a:pt x="355" y="190449"/>
                  </a:lnTo>
                  <a:lnTo>
                    <a:pt x="0" y="185407"/>
                  </a:lnTo>
                  <a:lnTo>
                    <a:pt x="711" y="180365"/>
                  </a:lnTo>
                </a:path>
                <a:path w="627379" h="334010">
                  <a:moveTo>
                    <a:pt x="627113" y="0"/>
                  </a:moveTo>
                  <a:lnTo>
                    <a:pt x="609862" y="58026"/>
                  </a:lnTo>
                  <a:lnTo>
                    <a:pt x="548771" y="106702"/>
                  </a:lnTo>
                  <a:lnTo>
                    <a:pt x="504749" y="125962"/>
                  </a:lnTo>
                  <a:lnTo>
                    <a:pt x="453321" y="140999"/>
                  </a:lnTo>
                  <a:lnTo>
                    <a:pt x="395675" y="151185"/>
                  </a:lnTo>
                  <a:lnTo>
                    <a:pt x="332993" y="155892"/>
                  </a:lnTo>
                  <a:lnTo>
                    <a:pt x="269430" y="154733"/>
                  </a:lnTo>
                  <a:lnTo>
                    <a:pt x="209494" y="147854"/>
                  </a:lnTo>
                  <a:lnTo>
                    <a:pt x="154518" y="135813"/>
                  </a:lnTo>
                  <a:lnTo>
                    <a:pt x="105835" y="119165"/>
                  </a:lnTo>
                  <a:lnTo>
                    <a:pt x="64779" y="98468"/>
                  </a:lnTo>
                  <a:lnTo>
                    <a:pt x="32685" y="74276"/>
                  </a:lnTo>
                  <a:lnTo>
                    <a:pt x="711" y="17640"/>
                  </a:lnTo>
                  <a:lnTo>
                    <a:pt x="0" y="7569"/>
                  </a:lnTo>
                  <a:lnTo>
                    <a:pt x="711" y="2527"/>
                  </a:lnTo>
                </a:path>
              </a:pathLst>
            </a:custGeom>
            <a:ln w="28802">
              <a:solidFill>
                <a:srgbClr val="454C4C"/>
              </a:solidFill>
            </a:ln>
          </p:spPr>
          <p:txBody>
            <a:bodyPr wrap="square" lIns="0" tIns="0" rIns="0" bIns="0" rtlCol="0"/>
            <a:lstStyle/>
            <a:p>
              <a:endParaRPr/>
            </a:p>
          </p:txBody>
        </p:sp>
        <p:sp>
          <p:nvSpPr>
            <p:cNvPr id="49" name="object 49"/>
            <p:cNvSpPr/>
            <p:nvPr/>
          </p:nvSpPr>
          <p:spPr>
            <a:xfrm>
              <a:off x="7271994" y="3017884"/>
              <a:ext cx="625475" cy="291465"/>
            </a:xfrm>
            <a:custGeom>
              <a:avLst/>
              <a:gdLst/>
              <a:ahLst/>
              <a:cxnLst/>
              <a:rect l="l" t="t" r="r" b="b"/>
              <a:pathLst>
                <a:path w="625475" h="291464">
                  <a:moveTo>
                    <a:pt x="625322" y="145440"/>
                  </a:moveTo>
                  <a:lnTo>
                    <a:pt x="600740" y="202037"/>
                  </a:lnTo>
                  <a:lnTo>
                    <a:pt x="533701" y="248269"/>
                  </a:lnTo>
                  <a:lnTo>
                    <a:pt x="487403" y="266032"/>
                  </a:lnTo>
                  <a:lnTo>
                    <a:pt x="434263" y="279446"/>
                  </a:lnTo>
                  <a:lnTo>
                    <a:pt x="375537" y="287924"/>
                  </a:lnTo>
                  <a:lnTo>
                    <a:pt x="312483" y="290880"/>
                  </a:lnTo>
                  <a:lnTo>
                    <a:pt x="249445" y="287924"/>
                  </a:lnTo>
                  <a:lnTo>
                    <a:pt x="190759" y="279446"/>
                  </a:lnTo>
                  <a:lnTo>
                    <a:pt x="137675" y="266032"/>
                  </a:lnTo>
                  <a:lnTo>
                    <a:pt x="91443" y="248269"/>
                  </a:lnTo>
                  <a:lnTo>
                    <a:pt x="53310" y="226742"/>
                  </a:lnTo>
                  <a:lnTo>
                    <a:pt x="6339" y="174741"/>
                  </a:lnTo>
                  <a:lnTo>
                    <a:pt x="0" y="145440"/>
                  </a:lnTo>
                  <a:lnTo>
                    <a:pt x="6339" y="116142"/>
                  </a:lnTo>
                  <a:lnTo>
                    <a:pt x="53310" y="64144"/>
                  </a:lnTo>
                  <a:lnTo>
                    <a:pt x="91443" y="42616"/>
                  </a:lnTo>
                  <a:lnTo>
                    <a:pt x="137675" y="24851"/>
                  </a:lnTo>
                  <a:lnTo>
                    <a:pt x="190759" y="11436"/>
                  </a:lnTo>
                  <a:lnTo>
                    <a:pt x="249445" y="2956"/>
                  </a:lnTo>
                  <a:lnTo>
                    <a:pt x="312483" y="0"/>
                  </a:lnTo>
                  <a:lnTo>
                    <a:pt x="375537" y="2956"/>
                  </a:lnTo>
                  <a:lnTo>
                    <a:pt x="434263" y="11436"/>
                  </a:lnTo>
                  <a:lnTo>
                    <a:pt x="487403" y="24851"/>
                  </a:lnTo>
                  <a:lnTo>
                    <a:pt x="533701" y="42616"/>
                  </a:lnTo>
                  <a:lnTo>
                    <a:pt x="571899" y="64144"/>
                  </a:lnTo>
                  <a:lnTo>
                    <a:pt x="618967" y="116142"/>
                  </a:lnTo>
                  <a:lnTo>
                    <a:pt x="625322" y="145440"/>
                  </a:lnTo>
                  <a:close/>
                </a:path>
              </a:pathLst>
            </a:custGeom>
            <a:ln w="28942">
              <a:solidFill>
                <a:srgbClr val="454C4C"/>
              </a:solidFill>
            </a:ln>
          </p:spPr>
          <p:txBody>
            <a:bodyPr wrap="square" lIns="0" tIns="0" rIns="0" bIns="0" rtlCol="0"/>
            <a:lstStyle/>
            <a:p>
              <a:endParaRPr/>
            </a:p>
          </p:txBody>
        </p:sp>
        <p:sp>
          <p:nvSpPr>
            <p:cNvPr id="50" name="object 50"/>
            <p:cNvSpPr/>
            <p:nvPr/>
          </p:nvSpPr>
          <p:spPr>
            <a:xfrm>
              <a:off x="7270915" y="3170525"/>
              <a:ext cx="1270" cy="535305"/>
            </a:xfrm>
            <a:custGeom>
              <a:avLst/>
              <a:gdLst/>
              <a:ahLst/>
              <a:cxnLst/>
              <a:rect l="l" t="t" r="r" b="b"/>
              <a:pathLst>
                <a:path w="1270" h="535304">
                  <a:moveTo>
                    <a:pt x="1079" y="534962"/>
                  </a:moveTo>
                  <a:lnTo>
                    <a:pt x="0" y="0"/>
                  </a:lnTo>
                </a:path>
              </a:pathLst>
            </a:custGeom>
            <a:ln w="31908">
              <a:solidFill>
                <a:srgbClr val="454C4C"/>
              </a:solidFill>
            </a:ln>
          </p:spPr>
          <p:txBody>
            <a:bodyPr wrap="square" lIns="0" tIns="0" rIns="0" bIns="0" rtlCol="0"/>
            <a:lstStyle/>
            <a:p>
              <a:endParaRPr/>
            </a:p>
          </p:txBody>
        </p:sp>
        <p:sp>
          <p:nvSpPr>
            <p:cNvPr id="51" name="object 51"/>
            <p:cNvSpPr/>
            <p:nvPr/>
          </p:nvSpPr>
          <p:spPr>
            <a:xfrm>
              <a:off x="7271283" y="3344045"/>
              <a:ext cx="627380" cy="156210"/>
            </a:xfrm>
            <a:custGeom>
              <a:avLst/>
              <a:gdLst/>
              <a:ahLst/>
              <a:cxnLst/>
              <a:rect l="l" t="t" r="r" b="b"/>
              <a:pathLst>
                <a:path w="627379" h="156210">
                  <a:moveTo>
                    <a:pt x="627113" y="0"/>
                  </a:moveTo>
                  <a:lnTo>
                    <a:pt x="609862" y="57974"/>
                  </a:lnTo>
                  <a:lnTo>
                    <a:pt x="548771" y="106562"/>
                  </a:lnTo>
                  <a:lnTo>
                    <a:pt x="504749" y="125797"/>
                  </a:lnTo>
                  <a:lnTo>
                    <a:pt x="453321" y="140839"/>
                  </a:lnTo>
                  <a:lnTo>
                    <a:pt x="395675" y="151071"/>
                  </a:lnTo>
                  <a:lnTo>
                    <a:pt x="332993" y="155879"/>
                  </a:lnTo>
                  <a:lnTo>
                    <a:pt x="269430" y="154724"/>
                  </a:lnTo>
                  <a:lnTo>
                    <a:pt x="209494" y="147849"/>
                  </a:lnTo>
                  <a:lnTo>
                    <a:pt x="154518" y="135810"/>
                  </a:lnTo>
                  <a:lnTo>
                    <a:pt x="105835" y="119164"/>
                  </a:lnTo>
                  <a:lnTo>
                    <a:pt x="64779" y="98467"/>
                  </a:lnTo>
                  <a:lnTo>
                    <a:pt x="32685" y="74276"/>
                  </a:lnTo>
                  <a:lnTo>
                    <a:pt x="711" y="17640"/>
                  </a:lnTo>
                  <a:lnTo>
                    <a:pt x="355" y="12598"/>
                  </a:lnTo>
                  <a:lnTo>
                    <a:pt x="0" y="7569"/>
                  </a:lnTo>
                  <a:lnTo>
                    <a:pt x="711" y="2527"/>
                  </a:lnTo>
                </a:path>
              </a:pathLst>
            </a:custGeom>
            <a:ln w="28802">
              <a:solidFill>
                <a:srgbClr val="454C4C"/>
              </a:solidFill>
            </a:ln>
          </p:spPr>
          <p:txBody>
            <a:bodyPr wrap="square" lIns="0" tIns="0" rIns="0" bIns="0" rtlCol="0"/>
            <a:lstStyle/>
            <a:p>
              <a:endParaRPr/>
            </a:p>
          </p:txBody>
        </p:sp>
        <p:sp>
          <p:nvSpPr>
            <p:cNvPr id="52" name="object 52"/>
            <p:cNvSpPr/>
            <p:nvPr/>
          </p:nvSpPr>
          <p:spPr>
            <a:xfrm>
              <a:off x="7898041" y="3170525"/>
              <a:ext cx="1270" cy="535305"/>
            </a:xfrm>
            <a:custGeom>
              <a:avLst/>
              <a:gdLst/>
              <a:ahLst/>
              <a:cxnLst/>
              <a:rect l="l" t="t" r="r" b="b"/>
              <a:pathLst>
                <a:path w="1270" h="535304">
                  <a:moveTo>
                    <a:pt x="1079" y="534962"/>
                  </a:moveTo>
                  <a:lnTo>
                    <a:pt x="0" y="0"/>
                  </a:lnTo>
                </a:path>
              </a:pathLst>
            </a:custGeom>
            <a:ln w="31908">
              <a:solidFill>
                <a:srgbClr val="454C4C"/>
              </a:solidFill>
            </a:ln>
          </p:spPr>
          <p:txBody>
            <a:bodyPr wrap="square" lIns="0" tIns="0" rIns="0" bIns="0" rtlCol="0"/>
            <a:lstStyle/>
            <a:p>
              <a:endParaRPr/>
            </a:p>
          </p:txBody>
        </p:sp>
        <p:sp>
          <p:nvSpPr>
            <p:cNvPr id="53" name="object 53"/>
            <p:cNvSpPr/>
            <p:nvPr/>
          </p:nvSpPr>
          <p:spPr>
            <a:xfrm>
              <a:off x="7348321" y="1685171"/>
              <a:ext cx="454659" cy="735330"/>
            </a:xfrm>
            <a:custGeom>
              <a:avLst/>
              <a:gdLst/>
              <a:ahLst/>
              <a:cxnLst/>
              <a:rect l="l" t="t" r="r" b="b"/>
              <a:pathLst>
                <a:path w="454659" h="735330">
                  <a:moveTo>
                    <a:pt x="454317" y="0"/>
                  </a:moveTo>
                  <a:lnTo>
                    <a:pt x="0" y="0"/>
                  </a:lnTo>
                  <a:lnTo>
                    <a:pt x="0" y="735114"/>
                  </a:lnTo>
                  <a:lnTo>
                    <a:pt x="454317" y="735114"/>
                  </a:lnTo>
                  <a:lnTo>
                    <a:pt x="454317" y="0"/>
                  </a:lnTo>
                  <a:close/>
                </a:path>
              </a:pathLst>
            </a:custGeom>
            <a:solidFill>
              <a:srgbClr val="454C4C"/>
            </a:solidFill>
          </p:spPr>
          <p:txBody>
            <a:bodyPr wrap="square" lIns="0" tIns="0" rIns="0" bIns="0" rtlCol="0"/>
            <a:lstStyle/>
            <a:p>
              <a:endParaRPr/>
            </a:p>
          </p:txBody>
        </p:sp>
        <p:sp>
          <p:nvSpPr>
            <p:cNvPr id="54" name="object 54"/>
            <p:cNvSpPr/>
            <p:nvPr/>
          </p:nvSpPr>
          <p:spPr>
            <a:xfrm>
              <a:off x="7406640" y="1985044"/>
              <a:ext cx="334645" cy="41910"/>
            </a:xfrm>
            <a:custGeom>
              <a:avLst/>
              <a:gdLst/>
              <a:ahLst/>
              <a:cxnLst/>
              <a:rect l="l" t="t" r="r" b="b"/>
              <a:pathLst>
                <a:path w="334645" h="41910">
                  <a:moveTo>
                    <a:pt x="334441" y="0"/>
                  </a:moveTo>
                  <a:lnTo>
                    <a:pt x="0" y="0"/>
                  </a:lnTo>
                  <a:lnTo>
                    <a:pt x="0" y="41401"/>
                  </a:lnTo>
                  <a:lnTo>
                    <a:pt x="334441" y="41401"/>
                  </a:lnTo>
                  <a:lnTo>
                    <a:pt x="334441" y="0"/>
                  </a:lnTo>
                  <a:close/>
                </a:path>
              </a:pathLst>
            </a:custGeom>
            <a:solidFill>
              <a:srgbClr val="ECECEC"/>
            </a:solidFill>
          </p:spPr>
          <p:txBody>
            <a:bodyPr wrap="square" lIns="0" tIns="0" rIns="0" bIns="0" rtlCol="0"/>
            <a:lstStyle/>
            <a:p>
              <a:endParaRPr/>
            </a:p>
          </p:txBody>
        </p:sp>
        <p:pic>
          <p:nvPicPr>
            <p:cNvPr id="55" name="object 55"/>
            <p:cNvPicPr/>
            <p:nvPr/>
          </p:nvPicPr>
          <p:blipFill>
            <a:blip r:embed="rId8" cstate="print"/>
            <a:stretch>
              <a:fillRect/>
            </a:stretch>
          </p:blipFill>
          <p:spPr>
            <a:xfrm>
              <a:off x="7528319" y="2192765"/>
              <a:ext cx="93967" cy="93967"/>
            </a:xfrm>
            <a:prstGeom prst="rect">
              <a:avLst/>
            </a:prstGeom>
          </p:spPr>
        </p:pic>
        <p:sp>
          <p:nvSpPr>
            <p:cNvPr id="56" name="object 56"/>
            <p:cNvSpPr/>
            <p:nvPr/>
          </p:nvSpPr>
          <p:spPr>
            <a:xfrm>
              <a:off x="7406640" y="1791368"/>
              <a:ext cx="334645" cy="138430"/>
            </a:xfrm>
            <a:custGeom>
              <a:avLst/>
              <a:gdLst/>
              <a:ahLst/>
              <a:cxnLst/>
              <a:rect l="l" t="t" r="r" b="b"/>
              <a:pathLst>
                <a:path w="334645" h="138430">
                  <a:moveTo>
                    <a:pt x="334441" y="96837"/>
                  </a:moveTo>
                  <a:lnTo>
                    <a:pt x="0" y="96837"/>
                  </a:lnTo>
                  <a:lnTo>
                    <a:pt x="0" y="138239"/>
                  </a:lnTo>
                  <a:lnTo>
                    <a:pt x="334441" y="138239"/>
                  </a:lnTo>
                  <a:lnTo>
                    <a:pt x="334441" y="96837"/>
                  </a:lnTo>
                  <a:close/>
                </a:path>
                <a:path w="334645" h="138430">
                  <a:moveTo>
                    <a:pt x="334441" y="0"/>
                  </a:moveTo>
                  <a:lnTo>
                    <a:pt x="0" y="0"/>
                  </a:lnTo>
                  <a:lnTo>
                    <a:pt x="0" y="41402"/>
                  </a:lnTo>
                  <a:lnTo>
                    <a:pt x="334441" y="41402"/>
                  </a:lnTo>
                  <a:lnTo>
                    <a:pt x="334441" y="0"/>
                  </a:lnTo>
                  <a:close/>
                </a:path>
              </a:pathLst>
            </a:custGeom>
            <a:solidFill>
              <a:srgbClr val="ECECEC"/>
            </a:solidFill>
          </p:spPr>
          <p:txBody>
            <a:bodyPr wrap="square" lIns="0" tIns="0" rIns="0" bIns="0" rtlCol="0"/>
            <a:lstStyle/>
            <a:p>
              <a:endParaRPr/>
            </a:p>
          </p:txBody>
        </p:sp>
        <p:sp>
          <p:nvSpPr>
            <p:cNvPr id="57" name="object 57"/>
            <p:cNvSpPr/>
            <p:nvPr/>
          </p:nvSpPr>
          <p:spPr>
            <a:xfrm>
              <a:off x="7586439" y="2336216"/>
              <a:ext cx="5080" cy="5080"/>
            </a:xfrm>
            <a:custGeom>
              <a:avLst/>
              <a:gdLst/>
              <a:ahLst/>
              <a:cxnLst/>
              <a:rect l="l" t="t" r="r" b="b"/>
              <a:pathLst>
                <a:path w="5079" h="5080">
                  <a:moveTo>
                    <a:pt x="0" y="2357"/>
                  </a:moveTo>
                  <a:lnTo>
                    <a:pt x="690" y="690"/>
                  </a:lnTo>
                  <a:lnTo>
                    <a:pt x="2357" y="0"/>
                  </a:lnTo>
                  <a:lnTo>
                    <a:pt x="4023" y="690"/>
                  </a:lnTo>
                  <a:lnTo>
                    <a:pt x="4714" y="2357"/>
                  </a:lnTo>
                  <a:lnTo>
                    <a:pt x="4023" y="4023"/>
                  </a:lnTo>
                  <a:lnTo>
                    <a:pt x="2357" y="4714"/>
                  </a:lnTo>
                  <a:lnTo>
                    <a:pt x="690" y="4023"/>
                  </a:lnTo>
                  <a:lnTo>
                    <a:pt x="0" y="2357"/>
                  </a:lnTo>
                  <a:close/>
                </a:path>
              </a:pathLst>
            </a:custGeom>
            <a:solidFill>
              <a:srgbClr val="000000"/>
            </a:solidFill>
          </p:spPr>
          <p:txBody>
            <a:bodyPr wrap="square" lIns="0" tIns="0" rIns="0" bIns="0" rtlCol="0"/>
            <a:lstStyle/>
            <a:p>
              <a:endParaRPr/>
            </a:p>
          </p:txBody>
        </p:sp>
      </p:grpSp>
      <p:grpSp>
        <p:nvGrpSpPr>
          <p:cNvPr id="58" name="object 58"/>
          <p:cNvGrpSpPr/>
          <p:nvPr/>
        </p:nvGrpSpPr>
        <p:grpSpPr>
          <a:xfrm>
            <a:off x="6206401" y="3466092"/>
            <a:ext cx="975994" cy="92710"/>
            <a:chOff x="6206401" y="3466092"/>
            <a:chExt cx="975994" cy="92710"/>
          </a:xfrm>
        </p:grpSpPr>
        <p:sp>
          <p:nvSpPr>
            <p:cNvPr id="59" name="object 59"/>
            <p:cNvSpPr/>
            <p:nvPr/>
          </p:nvSpPr>
          <p:spPr>
            <a:xfrm>
              <a:off x="6206401" y="3466092"/>
              <a:ext cx="975994" cy="92710"/>
            </a:xfrm>
            <a:custGeom>
              <a:avLst/>
              <a:gdLst/>
              <a:ahLst/>
              <a:cxnLst/>
              <a:rect l="l" t="t" r="r" b="b"/>
              <a:pathLst>
                <a:path w="975995" h="92710">
                  <a:moveTo>
                    <a:pt x="49314" y="0"/>
                  </a:moveTo>
                  <a:lnTo>
                    <a:pt x="0" y="46431"/>
                  </a:lnTo>
                  <a:lnTo>
                    <a:pt x="48958" y="92151"/>
                  </a:lnTo>
                  <a:lnTo>
                    <a:pt x="49314" y="0"/>
                  </a:lnTo>
                  <a:close/>
                </a:path>
                <a:path w="975995" h="92710">
                  <a:moveTo>
                    <a:pt x="975601" y="46431"/>
                  </a:moveTo>
                  <a:lnTo>
                    <a:pt x="925918" y="0"/>
                  </a:lnTo>
                  <a:lnTo>
                    <a:pt x="926274" y="92151"/>
                  </a:lnTo>
                  <a:lnTo>
                    <a:pt x="975601" y="46431"/>
                  </a:lnTo>
                  <a:close/>
                </a:path>
              </a:pathLst>
            </a:custGeom>
            <a:solidFill>
              <a:srgbClr val="FF9000"/>
            </a:solidFill>
          </p:spPr>
          <p:txBody>
            <a:bodyPr wrap="square" lIns="0" tIns="0" rIns="0" bIns="0" rtlCol="0"/>
            <a:lstStyle/>
            <a:p>
              <a:endParaRPr/>
            </a:p>
          </p:txBody>
        </p:sp>
        <p:sp>
          <p:nvSpPr>
            <p:cNvPr id="60" name="object 60"/>
            <p:cNvSpPr/>
            <p:nvPr/>
          </p:nvSpPr>
          <p:spPr>
            <a:xfrm>
              <a:off x="6248882" y="3510009"/>
              <a:ext cx="891540" cy="0"/>
            </a:xfrm>
            <a:custGeom>
              <a:avLst/>
              <a:gdLst/>
              <a:ahLst/>
              <a:cxnLst/>
              <a:rect l="l" t="t" r="r" b="b"/>
              <a:pathLst>
                <a:path w="891540">
                  <a:moveTo>
                    <a:pt x="0" y="0"/>
                  </a:moveTo>
                  <a:lnTo>
                    <a:pt x="891362" y="0"/>
                  </a:lnTo>
                </a:path>
              </a:pathLst>
            </a:custGeom>
            <a:ln w="18050">
              <a:solidFill>
                <a:srgbClr val="FF9000"/>
              </a:solidFill>
            </a:ln>
          </p:spPr>
          <p:txBody>
            <a:bodyPr wrap="square" lIns="0" tIns="0" rIns="0" bIns="0" rtlCol="0"/>
            <a:lstStyle/>
            <a:p>
              <a:endParaRPr/>
            </a:p>
          </p:txBody>
        </p:sp>
      </p:grpSp>
      <p:sp>
        <p:nvSpPr>
          <p:cNvPr id="61" name="object 61"/>
          <p:cNvSpPr txBox="1"/>
          <p:nvPr/>
        </p:nvSpPr>
        <p:spPr>
          <a:xfrm>
            <a:off x="5504522" y="1409302"/>
            <a:ext cx="563245" cy="217804"/>
          </a:xfrm>
          <a:prstGeom prst="rect">
            <a:avLst/>
          </a:prstGeom>
        </p:spPr>
        <p:txBody>
          <a:bodyPr vert="horz" wrap="square" lIns="0" tIns="13970" rIns="0" bIns="0" rtlCol="0">
            <a:spAutoFit/>
          </a:bodyPr>
          <a:lstStyle/>
          <a:p>
            <a:pPr marL="12700">
              <a:lnSpc>
                <a:spcPct val="100000"/>
              </a:lnSpc>
              <a:spcBef>
                <a:spcPts val="110"/>
              </a:spcBef>
            </a:pPr>
            <a:r>
              <a:rPr sz="1250" dirty="0">
                <a:solidFill>
                  <a:srgbClr val="454C4C"/>
                </a:solidFill>
                <a:latin typeface="Lucida Sans Unicode"/>
                <a:cs typeface="Lucida Sans Unicode"/>
              </a:rPr>
              <a:t>Node</a:t>
            </a:r>
            <a:r>
              <a:rPr sz="1250" spc="-85" dirty="0">
                <a:solidFill>
                  <a:srgbClr val="454C4C"/>
                </a:solidFill>
                <a:latin typeface="Lucida Sans Unicode"/>
                <a:cs typeface="Lucida Sans Unicode"/>
              </a:rPr>
              <a:t> </a:t>
            </a:r>
            <a:r>
              <a:rPr sz="1250" spc="-50" dirty="0">
                <a:solidFill>
                  <a:srgbClr val="454C4C"/>
                </a:solidFill>
                <a:latin typeface="Lucida Sans Unicode"/>
                <a:cs typeface="Lucida Sans Unicode"/>
              </a:rPr>
              <a:t>1</a:t>
            </a:r>
            <a:endParaRPr sz="1250">
              <a:latin typeface="Lucida Sans Unicode"/>
              <a:cs typeface="Lucida Sans Unicode"/>
            </a:endParaRPr>
          </a:p>
        </p:txBody>
      </p:sp>
      <p:sp>
        <p:nvSpPr>
          <p:cNvPr id="65" name="object 65"/>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66" name="object 66"/>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50</a:t>
            </a:fld>
            <a:r>
              <a:rPr spc="-10" dirty="0"/>
              <a:t>/60</a:t>
            </a:r>
          </a:p>
        </p:txBody>
      </p:sp>
      <p:sp>
        <p:nvSpPr>
          <p:cNvPr id="62" name="object 62"/>
          <p:cNvSpPr txBox="1"/>
          <p:nvPr/>
        </p:nvSpPr>
        <p:spPr>
          <a:xfrm>
            <a:off x="7295133" y="1409302"/>
            <a:ext cx="563245" cy="217804"/>
          </a:xfrm>
          <a:prstGeom prst="rect">
            <a:avLst/>
          </a:prstGeom>
        </p:spPr>
        <p:txBody>
          <a:bodyPr vert="horz" wrap="square" lIns="0" tIns="13970" rIns="0" bIns="0" rtlCol="0">
            <a:spAutoFit/>
          </a:bodyPr>
          <a:lstStyle/>
          <a:p>
            <a:pPr marL="12700">
              <a:lnSpc>
                <a:spcPct val="100000"/>
              </a:lnSpc>
              <a:spcBef>
                <a:spcPts val="110"/>
              </a:spcBef>
            </a:pPr>
            <a:r>
              <a:rPr sz="1250" dirty="0">
                <a:solidFill>
                  <a:srgbClr val="454C4C"/>
                </a:solidFill>
                <a:latin typeface="Lucida Sans Unicode"/>
                <a:cs typeface="Lucida Sans Unicode"/>
              </a:rPr>
              <a:t>Node</a:t>
            </a:r>
            <a:r>
              <a:rPr sz="1250" spc="-85" dirty="0">
                <a:solidFill>
                  <a:srgbClr val="454C4C"/>
                </a:solidFill>
                <a:latin typeface="Lucida Sans Unicode"/>
                <a:cs typeface="Lucida Sans Unicode"/>
              </a:rPr>
              <a:t> </a:t>
            </a:r>
            <a:r>
              <a:rPr sz="1250" spc="-50" dirty="0">
                <a:solidFill>
                  <a:srgbClr val="454C4C"/>
                </a:solidFill>
                <a:latin typeface="Lucida Sans Unicode"/>
                <a:cs typeface="Lucida Sans Unicode"/>
              </a:rPr>
              <a:t>2</a:t>
            </a:r>
            <a:endParaRPr sz="1250">
              <a:latin typeface="Lucida Sans Unicode"/>
              <a:cs typeface="Lucida Sans Unicode"/>
            </a:endParaRPr>
          </a:p>
        </p:txBody>
      </p:sp>
      <p:sp>
        <p:nvSpPr>
          <p:cNvPr id="63" name="object 63"/>
          <p:cNvSpPr txBox="1"/>
          <p:nvPr/>
        </p:nvSpPr>
        <p:spPr>
          <a:xfrm>
            <a:off x="1795576" y="3891641"/>
            <a:ext cx="2649220" cy="857885"/>
          </a:xfrm>
          <a:prstGeom prst="rect">
            <a:avLst/>
          </a:prstGeom>
        </p:spPr>
        <p:txBody>
          <a:bodyPr vert="horz" wrap="square" lIns="0" tIns="12700" rIns="0" bIns="0" rtlCol="0">
            <a:spAutoFit/>
          </a:bodyPr>
          <a:lstStyle/>
          <a:p>
            <a:pPr marL="295910" marR="5080" indent="-283845">
              <a:lnSpc>
                <a:spcPct val="113799"/>
              </a:lnSpc>
              <a:spcBef>
                <a:spcPts val="100"/>
              </a:spcBef>
            </a:pPr>
            <a:r>
              <a:rPr sz="2400" spc="-35" dirty="0">
                <a:solidFill>
                  <a:srgbClr val="454C4C"/>
                </a:solidFill>
                <a:latin typeface="Arial MT"/>
                <a:cs typeface="Arial MT"/>
              </a:rPr>
              <a:t>All</a:t>
            </a:r>
            <a:r>
              <a:rPr sz="2400" spc="-65" dirty="0">
                <a:solidFill>
                  <a:srgbClr val="454C4C"/>
                </a:solidFill>
                <a:latin typeface="Arial MT"/>
                <a:cs typeface="Arial MT"/>
              </a:rPr>
              <a:t> </a:t>
            </a:r>
            <a:r>
              <a:rPr sz="2400" dirty="0">
                <a:solidFill>
                  <a:srgbClr val="454C4C"/>
                </a:solidFill>
                <a:latin typeface="Arial MT"/>
                <a:cs typeface="Arial MT"/>
              </a:rPr>
              <a:t>nodes</a:t>
            </a:r>
            <a:r>
              <a:rPr sz="2400" spc="-55" dirty="0">
                <a:solidFill>
                  <a:srgbClr val="454C4C"/>
                </a:solidFill>
                <a:latin typeface="Arial MT"/>
                <a:cs typeface="Arial MT"/>
              </a:rPr>
              <a:t> </a:t>
            </a:r>
            <a:r>
              <a:rPr sz="2400" spc="-20" dirty="0">
                <a:solidFill>
                  <a:srgbClr val="454C4C"/>
                </a:solidFill>
                <a:latin typeface="Arial MT"/>
                <a:cs typeface="Arial MT"/>
              </a:rPr>
              <a:t>see</a:t>
            </a:r>
            <a:r>
              <a:rPr sz="2400" spc="-65" dirty="0">
                <a:solidFill>
                  <a:srgbClr val="454C4C"/>
                </a:solidFill>
                <a:latin typeface="Arial MT"/>
                <a:cs typeface="Arial MT"/>
              </a:rPr>
              <a:t> </a:t>
            </a:r>
            <a:r>
              <a:rPr sz="2400" spc="-20" dirty="0">
                <a:solidFill>
                  <a:srgbClr val="454C4C"/>
                </a:solidFill>
                <a:latin typeface="Arial MT"/>
                <a:cs typeface="Arial MT"/>
              </a:rPr>
              <a:t>same </a:t>
            </a:r>
            <a:r>
              <a:rPr sz="2400" dirty="0">
                <a:solidFill>
                  <a:srgbClr val="454C4C"/>
                </a:solidFill>
                <a:latin typeface="Arial MT"/>
                <a:cs typeface="Arial MT"/>
              </a:rPr>
              <a:t>shared</a:t>
            </a:r>
            <a:r>
              <a:rPr sz="2400" spc="-5" dirty="0">
                <a:solidFill>
                  <a:srgbClr val="454C4C"/>
                </a:solidFill>
                <a:latin typeface="Arial MT"/>
                <a:cs typeface="Arial MT"/>
              </a:rPr>
              <a:t> </a:t>
            </a:r>
            <a:r>
              <a:rPr sz="2400" spc="-10" dirty="0">
                <a:solidFill>
                  <a:srgbClr val="454C4C"/>
                </a:solidFill>
                <a:latin typeface="Arial MT"/>
                <a:cs typeface="Arial MT"/>
              </a:rPr>
              <a:t>storage</a:t>
            </a:r>
            <a:endParaRPr sz="2400">
              <a:latin typeface="Arial MT"/>
              <a:cs typeface="Arial MT"/>
            </a:endParaRPr>
          </a:p>
        </p:txBody>
      </p:sp>
      <p:sp>
        <p:nvSpPr>
          <p:cNvPr id="64" name="object 64"/>
          <p:cNvSpPr txBox="1"/>
          <p:nvPr/>
        </p:nvSpPr>
        <p:spPr>
          <a:xfrm>
            <a:off x="4973294" y="3891641"/>
            <a:ext cx="3571240" cy="857885"/>
          </a:xfrm>
          <a:prstGeom prst="rect">
            <a:avLst/>
          </a:prstGeom>
        </p:spPr>
        <p:txBody>
          <a:bodyPr vert="horz" wrap="square" lIns="0" tIns="12700" rIns="0" bIns="0" rtlCol="0">
            <a:spAutoFit/>
          </a:bodyPr>
          <a:lstStyle/>
          <a:p>
            <a:pPr marL="12700" marR="5080" indent="146685">
              <a:lnSpc>
                <a:spcPct val="113799"/>
              </a:lnSpc>
              <a:spcBef>
                <a:spcPts val="100"/>
              </a:spcBef>
            </a:pPr>
            <a:r>
              <a:rPr sz="2400" dirty="0">
                <a:solidFill>
                  <a:srgbClr val="454C4C"/>
                </a:solidFill>
                <a:latin typeface="Arial MT"/>
                <a:cs typeface="Arial MT"/>
              </a:rPr>
              <a:t>Nodes</a:t>
            </a:r>
            <a:r>
              <a:rPr sz="2400" spc="-100" dirty="0">
                <a:solidFill>
                  <a:srgbClr val="454C4C"/>
                </a:solidFill>
                <a:latin typeface="Arial MT"/>
                <a:cs typeface="Arial MT"/>
              </a:rPr>
              <a:t> </a:t>
            </a:r>
            <a:r>
              <a:rPr sz="2400" spc="-25" dirty="0">
                <a:solidFill>
                  <a:srgbClr val="454C4C"/>
                </a:solidFill>
                <a:latin typeface="Arial MT"/>
                <a:cs typeface="Arial MT"/>
              </a:rPr>
              <a:t>see</a:t>
            </a:r>
            <a:r>
              <a:rPr sz="2400" spc="-100" dirty="0">
                <a:solidFill>
                  <a:srgbClr val="454C4C"/>
                </a:solidFill>
                <a:latin typeface="Arial MT"/>
                <a:cs typeface="Arial MT"/>
              </a:rPr>
              <a:t> </a:t>
            </a:r>
            <a:r>
              <a:rPr sz="2400" dirty="0">
                <a:solidFill>
                  <a:srgbClr val="454C4C"/>
                </a:solidFill>
                <a:latin typeface="Arial MT"/>
                <a:cs typeface="Arial MT"/>
              </a:rPr>
              <a:t>local</a:t>
            </a:r>
            <a:r>
              <a:rPr sz="2400" spc="-95" dirty="0">
                <a:solidFill>
                  <a:srgbClr val="454C4C"/>
                </a:solidFill>
                <a:latin typeface="Arial MT"/>
                <a:cs typeface="Arial MT"/>
              </a:rPr>
              <a:t> </a:t>
            </a:r>
            <a:r>
              <a:rPr sz="2400" spc="-10" dirty="0">
                <a:solidFill>
                  <a:srgbClr val="454C4C"/>
                </a:solidFill>
                <a:latin typeface="Arial MT"/>
                <a:cs typeface="Arial MT"/>
              </a:rPr>
              <a:t>storage </a:t>
            </a:r>
            <a:r>
              <a:rPr sz="2400" dirty="0">
                <a:solidFill>
                  <a:srgbClr val="454C4C"/>
                </a:solidFill>
                <a:latin typeface="Arial MT"/>
                <a:cs typeface="Arial MT"/>
              </a:rPr>
              <a:t>with</a:t>
            </a:r>
            <a:r>
              <a:rPr sz="2400" spc="190" dirty="0">
                <a:solidFill>
                  <a:srgbClr val="454C4C"/>
                </a:solidFill>
                <a:latin typeface="Arial MT"/>
                <a:cs typeface="Arial MT"/>
              </a:rPr>
              <a:t> </a:t>
            </a:r>
            <a:r>
              <a:rPr sz="2400" dirty="0">
                <a:solidFill>
                  <a:srgbClr val="454C4C"/>
                </a:solidFill>
                <a:latin typeface="Arial MT"/>
                <a:cs typeface="Arial MT"/>
              </a:rPr>
              <a:t>potentially</a:t>
            </a:r>
            <a:r>
              <a:rPr sz="2400" spc="190" dirty="0">
                <a:solidFill>
                  <a:srgbClr val="454C4C"/>
                </a:solidFill>
                <a:latin typeface="Arial MT"/>
                <a:cs typeface="Arial MT"/>
              </a:rPr>
              <a:t> </a:t>
            </a:r>
            <a:r>
              <a:rPr sz="2400" dirty="0">
                <a:solidFill>
                  <a:srgbClr val="454C4C"/>
                </a:solidFill>
                <a:latin typeface="Arial MT"/>
                <a:cs typeface="Arial MT"/>
              </a:rPr>
              <a:t>older</a:t>
            </a:r>
            <a:r>
              <a:rPr sz="2400" spc="190" dirty="0">
                <a:solidFill>
                  <a:srgbClr val="454C4C"/>
                </a:solidFill>
                <a:latin typeface="Arial MT"/>
                <a:cs typeface="Arial MT"/>
              </a:rPr>
              <a:t> </a:t>
            </a:r>
            <a:r>
              <a:rPr sz="2400" spc="-20" dirty="0">
                <a:solidFill>
                  <a:srgbClr val="454C4C"/>
                </a:solidFill>
                <a:latin typeface="Arial MT"/>
                <a:cs typeface="Arial MT"/>
              </a:rPr>
              <a:t>data</a:t>
            </a:r>
            <a:endParaRPr sz="2400">
              <a:latin typeface="Arial MT"/>
              <a:cs typeface="Arial M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215" y="118278"/>
            <a:ext cx="5683885" cy="1150620"/>
          </a:xfrm>
          <a:prstGeom prst="rect">
            <a:avLst/>
          </a:prstGeom>
        </p:spPr>
        <p:txBody>
          <a:bodyPr vert="horz" wrap="square" lIns="0" tIns="12700" rIns="0" bIns="0" rtlCol="0">
            <a:spAutoFit/>
          </a:bodyPr>
          <a:lstStyle/>
          <a:p>
            <a:pPr marL="12700" marR="5080">
              <a:lnSpc>
                <a:spcPct val="115300"/>
              </a:lnSpc>
              <a:spcBef>
                <a:spcPts val="100"/>
              </a:spcBef>
            </a:pPr>
            <a:r>
              <a:rPr dirty="0"/>
              <a:t>Proxmox</a:t>
            </a:r>
            <a:r>
              <a:rPr spc="-210" dirty="0"/>
              <a:t> </a:t>
            </a:r>
            <a:r>
              <a:rPr dirty="0"/>
              <a:t>Backup</a:t>
            </a:r>
            <a:r>
              <a:rPr spc="-210" dirty="0"/>
              <a:t> </a:t>
            </a:r>
            <a:r>
              <a:rPr dirty="0"/>
              <a:t>Server</a:t>
            </a:r>
            <a:r>
              <a:rPr spc="-210" dirty="0"/>
              <a:t> </a:t>
            </a:r>
            <a:r>
              <a:rPr spc="-10" dirty="0"/>
              <a:t>Chunks Deduplication</a:t>
            </a:r>
          </a:p>
        </p:txBody>
      </p:sp>
      <p:grpSp>
        <p:nvGrpSpPr>
          <p:cNvPr id="3" name="object 3"/>
          <p:cNvGrpSpPr/>
          <p:nvPr/>
        </p:nvGrpSpPr>
        <p:grpSpPr>
          <a:xfrm>
            <a:off x="1619999" y="1260013"/>
            <a:ext cx="6840220" cy="3952875"/>
            <a:chOff x="1619999" y="1260013"/>
            <a:chExt cx="6840220" cy="3952875"/>
          </a:xfrm>
        </p:grpSpPr>
        <p:sp>
          <p:nvSpPr>
            <p:cNvPr id="4" name="object 4"/>
            <p:cNvSpPr/>
            <p:nvPr/>
          </p:nvSpPr>
          <p:spPr>
            <a:xfrm>
              <a:off x="1619999" y="1260013"/>
              <a:ext cx="6840220" cy="3952875"/>
            </a:xfrm>
            <a:custGeom>
              <a:avLst/>
              <a:gdLst/>
              <a:ahLst/>
              <a:cxnLst/>
              <a:rect l="l" t="t" r="r" b="b"/>
              <a:pathLst>
                <a:path w="6840220" h="3952875">
                  <a:moveTo>
                    <a:pt x="6840004" y="0"/>
                  </a:moveTo>
                  <a:lnTo>
                    <a:pt x="0" y="0"/>
                  </a:lnTo>
                  <a:lnTo>
                    <a:pt x="0" y="3952798"/>
                  </a:lnTo>
                  <a:lnTo>
                    <a:pt x="6840004" y="3952798"/>
                  </a:lnTo>
                  <a:lnTo>
                    <a:pt x="6840004" y="0"/>
                  </a:lnTo>
                  <a:close/>
                </a:path>
              </a:pathLst>
            </a:custGeom>
            <a:solidFill>
              <a:srgbClr val="FFFFFF"/>
            </a:solidFill>
          </p:spPr>
          <p:txBody>
            <a:bodyPr wrap="square" lIns="0" tIns="0" rIns="0" bIns="0" rtlCol="0"/>
            <a:lstStyle/>
            <a:p>
              <a:endParaRPr/>
            </a:p>
          </p:txBody>
        </p:sp>
        <p:pic>
          <p:nvPicPr>
            <p:cNvPr id="5" name="object 5"/>
            <p:cNvPicPr/>
            <p:nvPr/>
          </p:nvPicPr>
          <p:blipFill>
            <a:blip r:embed="rId2" cstate="print"/>
            <a:stretch>
              <a:fillRect/>
            </a:stretch>
          </p:blipFill>
          <p:spPr>
            <a:xfrm>
              <a:off x="4512233" y="2318406"/>
              <a:ext cx="64084" cy="64439"/>
            </a:xfrm>
            <a:prstGeom prst="rect">
              <a:avLst/>
            </a:prstGeom>
          </p:spPr>
        </p:pic>
        <p:sp>
          <p:nvSpPr>
            <p:cNvPr id="6" name="object 6"/>
            <p:cNvSpPr/>
            <p:nvPr/>
          </p:nvSpPr>
          <p:spPr>
            <a:xfrm>
              <a:off x="1964524" y="1926725"/>
              <a:ext cx="3450590" cy="1795145"/>
            </a:xfrm>
            <a:custGeom>
              <a:avLst/>
              <a:gdLst/>
              <a:ahLst/>
              <a:cxnLst/>
              <a:rect l="l" t="t" r="r" b="b"/>
              <a:pathLst>
                <a:path w="3450590" h="1795145">
                  <a:moveTo>
                    <a:pt x="0" y="0"/>
                  </a:moveTo>
                  <a:lnTo>
                    <a:pt x="0" y="428040"/>
                  </a:lnTo>
                  <a:lnTo>
                    <a:pt x="3450234" y="428040"/>
                  </a:lnTo>
                  <a:lnTo>
                    <a:pt x="3450590" y="13677"/>
                  </a:lnTo>
                </a:path>
                <a:path w="3450590" h="1795145">
                  <a:moveTo>
                    <a:pt x="925918" y="430923"/>
                  </a:moveTo>
                  <a:lnTo>
                    <a:pt x="925918" y="9359"/>
                  </a:lnTo>
                </a:path>
                <a:path w="3450590" h="1795145">
                  <a:moveTo>
                    <a:pt x="2578315" y="428040"/>
                  </a:moveTo>
                  <a:lnTo>
                    <a:pt x="2578315" y="10807"/>
                  </a:lnTo>
                </a:path>
                <a:path w="3450590" h="1795145">
                  <a:moveTo>
                    <a:pt x="1203833" y="1781644"/>
                  </a:moveTo>
                  <a:lnTo>
                    <a:pt x="2107793" y="1781644"/>
                  </a:lnTo>
                </a:path>
                <a:path w="3450590" h="1795145">
                  <a:moveTo>
                    <a:pt x="2094471" y="426237"/>
                  </a:moveTo>
                  <a:lnTo>
                    <a:pt x="2094471" y="1794598"/>
                  </a:lnTo>
                </a:path>
              </a:pathLst>
            </a:custGeom>
            <a:ln w="24576">
              <a:solidFill>
                <a:srgbClr val="E46F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856953" y="2322013"/>
              <a:ext cx="64439" cy="64439"/>
            </a:xfrm>
            <a:prstGeom prst="rect">
              <a:avLst/>
            </a:prstGeom>
          </p:spPr>
        </p:pic>
        <p:pic>
          <p:nvPicPr>
            <p:cNvPr id="8" name="object 8"/>
            <p:cNvPicPr/>
            <p:nvPr/>
          </p:nvPicPr>
          <p:blipFill>
            <a:blip r:embed="rId4" cstate="print"/>
            <a:stretch>
              <a:fillRect/>
            </a:stretch>
          </p:blipFill>
          <p:spPr>
            <a:xfrm>
              <a:off x="4028046" y="2322013"/>
              <a:ext cx="64439" cy="64439"/>
            </a:xfrm>
            <a:prstGeom prst="rect">
              <a:avLst/>
            </a:prstGeom>
          </p:spPr>
        </p:pic>
        <p:pic>
          <p:nvPicPr>
            <p:cNvPr id="9" name="object 9"/>
            <p:cNvPicPr/>
            <p:nvPr/>
          </p:nvPicPr>
          <p:blipFill>
            <a:blip r:embed="rId5" cstate="print"/>
            <a:stretch>
              <a:fillRect/>
            </a:stretch>
          </p:blipFill>
          <p:spPr>
            <a:xfrm>
              <a:off x="3689273" y="2410214"/>
              <a:ext cx="64452" cy="64439"/>
            </a:xfrm>
            <a:prstGeom prst="rect">
              <a:avLst/>
            </a:prstGeom>
          </p:spPr>
        </p:pic>
        <p:sp>
          <p:nvSpPr>
            <p:cNvPr id="10" name="object 10"/>
            <p:cNvSpPr/>
            <p:nvPr/>
          </p:nvSpPr>
          <p:spPr>
            <a:xfrm>
              <a:off x="2022843" y="1934295"/>
              <a:ext cx="4250690" cy="516255"/>
            </a:xfrm>
            <a:custGeom>
              <a:avLst/>
              <a:gdLst/>
              <a:ahLst/>
              <a:cxnLst/>
              <a:rect l="l" t="t" r="r" b="b"/>
              <a:pathLst>
                <a:path w="4250690" h="516255">
                  <a:moveTo>
                    <a:pt x="0" y="0"/>
                  </a:moveTo>
                  <a:lnTo>
                    <a:pt x="0" y="512279"/>
                  </a:lnTo>
                  <a:lnTo>
                    <a:pt x="4250156" y="512279"/>
                  </a:lnTo>
                  <a:lnTo>
                    <a:pt x="4249801" y="2870"/>
                  </a:lnTo>
                </a:path>
                <a:path w="4250690" h="516255">
                  <a:moveTo>
                    <a:pt x="957592" y="516229"/>
                  </a:moveTo>
                  <a:lnTo>
                    <a:pt x="957592" y="5753"/>
                  </a:lnTo>
                </a:path>
                <a:path w="4250690" h="516255">
                  <a:moveTo>
                    <a:pt x="1696681" y="501827"/>
                  </a:moveTo>
                  <a:lnTo>
                    <a:pt x="1696681" y="4673"/>
                  </a:lnTo>
                </a:path>
              </a:pathLst>
            </a:custGeom>
            <a:ln w="24576">
              <a:solidFill>
                <a:srgbClr val="FF9C00"/>
              </a:solidFill>
            </a:ln>
          </p:spPr>
          <p:txBody>
            <a:bodyPr wrap="square" lIns="0" tIns="0" rIns="0" bIns="0" rtlCol="0"/>
            <a:lstStyle/>
            <a:p>
              <a:endParaRPr/>
            </a:p>
          </p:txBody>
        </p:sp>
        <p:sp>
          <p:nvSpPr>
            <p:cNvPr id="11" name="object 11"/>
            <p:cNvSpPr/>
            <p:nvPr/>
          </p:nvSpPr>
          <p:spPr>
            <a:xfrm>
              <a:off x="4199039" y="2439005"/>
              <a:ext cx="24765" cy="1732280"/>
            </a:xfrm>
            <a:custGeom>
              <a:avLst/>
              <a:gdLst/>
              <a:ahLst/>
              <a:cxnLst/>
              <a:rect l="l" t="t" r="r" b="b"/>
              <a:pathLst>
                <a:path w="24764" h="1732279">
                  <a:moveTo>
                    <a:pt x="24485" y="0"/>
                  </a:moveTo>
                  <a:lnTo>
                    <a:pt x="0" y="0"/>
                  </a:lnTo>
                  <a:lnTo>
                    <a:pt x="0" y="1731962"/>
                  </a:lnTo>
                  <a:lnTo>
                    <a:pt x="24485" y="1731962"/>
                  </a:lnTo>
                  <a:lnTo>
                    <a:pt x="24485" y="0"/>
                  </a:lnTo>
                  <a:close/>
                </a:path>
              </a:pathLst>
            </a:custGeom>
            <a:solidFill>
              <a:srgbClr val="FF9C00"/>
            </a:solidFill>
          </p:spPr>
          <p:txBody>
            <a:bodyPr wrap="square" lIns="0" tIns="0" rIns="0" bIns="0" rtlCol="0"/>
            <a:lstStyle/>
            <a:p>
              <a:endParaRPr/>
            </a:p>
          </p:txBody>
        </p:sp>
        <p:sp>
          <p:nvSpPr>
            <p:cNvPr id="12" name="object 12"/>
            <p:cNvSpPr/>
            <p:nvPr/>
          </p:nvSpPr>
          <p:spPr>
            <a:xfrm>
              <a:off x="3240722" y="4170612"/>
              <a:ext cx="982980" cy="0"/>
            </a:xfrm>
            <a:custGeom>
              <a:avLst/>
              <a:gdLst/>
              <a:ahLst/>
              <a:cxnLst/>
              <a:rect l="l" t="t" r="r" b="b"/>
              <a:pathLst>
                <a:path w="982979">
                  <a:moveTo>
                    <a:pt x="982802" y="0"/>
                  </a:moveTo>
                  <a:lnTo>
                    <a:pt x="0" y="0"/>
                  </a:lnTo>
                </a:path>
              </a:pathLst>
            </a:custGeom>
            <a:ln w="24576">
              <a:solidFill>
                <a:srgbClr val="FF9C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2948393" y="2409846"/>
              <a:ext cx="64084" cy="64439"/>
            </a:xfrm>
            <a:prstGeom prst="rect">
              <a:avLst/>
            </a:prstGeom>
          </p:spPr>
        </p:pic>
        <p:pic>
          <p:nvPicPr>
            <p:cNvPr id="14" name="object 14"/>
            <p:cNvPicPr/>
            <p:nvPr/>
          </p:nvPicPr>
          <p:blipFill>
            <a:blip r:embed="rId7" cstate="print"/>
            <a:stretch>
              <a:fillRect/>
            </a:stretch>
          </p:blipFill>
          <p:spPr>
            <a:xfrm>
              <a:off x="4180674" y="2413085"/>
              <a:ext cx="64439" cy="64084"/>
            </a:xfrm>
            <a:prstGeom prst="rect">
              <a:avLst/>
            </a:prstGeom>
          </p:spPr>
        </p:pic>
        <p:sp>
          <p:nvSpPr>
            <p:cNvPr id="15" name="object 15"/>
            <p:cNvSpPr/>
            <p:nvPr/>
          </p:nvSpPr>
          <p:spPr>
            <a:xfrm>
              <a:off x="4366806" y="2532973"/>
              <a:ext cx="25400" cy="2087245"/>
            </a:xfrm>
            <a:custGeom>
              <a:avLst/>
              <a:gdLst/>
              <a:ahLst/>
              <a:cxnLst/>
              <a:rect l="l" t="t" r="r" b="b"/>
              <a:pathLst>
                <a:path w="25400" h="2087245">
                  <a:moveTo>
                    <a:pt x="24828" y="0"/>
                  </a:moveTo>
                  <a:lnTo>
                    <a:pt x="0" y="0"/>
                  </a:lnTo>
                  <a:lnTo>
                    <a:pt x="0" y="2086914"/>
                  </a:lnTo>
                  <a:lnTo>
                    <a:pt x="24828" y="2086914"/>
                  </a:lnTo>
                  <a:lnTo>
                    <a:pt x="24828" y="0"/>
                  </a:lnTo>
                  <a:close/>
                </a:path>
              </a:pathLst>
            </a:custGeom>
            <a:solidFill>
              <a:srgbClr val="FFC400"/>
            </a:solidFill>
          </p:spPr>
          <p:txBody>
            <a:bodyPr wrap="square" lIns="0" tIns="0" rIns="0" bIns="0" rtlCol="0"/>
            <a:lstStyle/>
            <a:p>
              <a:endParaRPr/>
            </a:p>
          </p:txBody>
        </p:sp>
        <p:sp>
          <p:nvSpPr>
            <p:cNvPr id="16" name="object 16"/>
            <p:cNvSpPr/>
            <p:nvPr/>
          </p:nvSpPr>
          <p:spPr>
            <a:xfrm>
              <a:off x="2096274" y="1935006"/>
              <a:ext cx="4240530" cy="2686685"/>
            </a:xfrm>
            <a:custGeom>
              <a:avLst/>
              <a:gdLst/>
              <a:ahLst/>
              <a:cxnLst/>
              <a:rect l="l" t="t" r="r" b="b"/>
              <a:pathLst>
                <a:path w="4240530" h="2686685">
                  <a:moveTo>
                    <a:pt x="2293200" y="2686316"/>
                  </a:moveTo>
                  <a:lnTo>
                    <a:pt x="1063802" y="2686316"/>
                  </a:lnTo>
                </a:path>
                <a:path w="4240530" h="2686685">
                  <a:moveTo>
                    <a:pt x="1695970" y="606958"/>
                  </a:moveTo>
                  <a:lnTo>
                    <a:pt x="1695970" y="3962"/>
                  </a:lnTo>
                </a:path>
                <a:path w="4240530" h="2686685">
                  <a:moveTo>
                    <a:pt x="0" y="0"/>
                  </a:moveTo>
                  <a:lnTo>
                    <a:pt x="0" y="605523"/>
                  </a:lnTo>
                  <a:lnTo>
                    <a:pt x="4240441" y="605523"/>
                  </a:lnTo>
                  <a:lnTo>
                    <a:pt x="4240441" y="4686"/>
                  </a:lnTo>
                </a:path>
                <a:path w="4240530" h="2686685">
                  <a:moveTo>
                    <a:pt x="2537282" y="606958"/>
                  </a:moveTo>
                  <a:lnTo>
                    <a:pt x="2537282" y="5765"/>
                  </a:lnTo>
                </a:path>
              </a:pathLst>
            </a:custGeom>
            <a:ln w="24576">
              <a:solidFill>
                <a:srgbClr val="FFC400"/>
              </a:solidFill>
            </a:ln>
          </p:spPr>
          <p:txBody>
            <a:bodyPr wrap="square" lIns="0" tIns="0" rIns="0" bIns="0" rtlCol="0"/>
            <a:lstStyle/>
            <a:p>
              <a:endParaRPr/>
            </a:p>
          </p:txBody>
        </p:sp>
        <p:pic>
          <p:nvPicPr>
            <p:cNvPr id="17" name="object 17"/>
            <p:cNvPicPr/>
            <p:nvPr/>
          </p:nvPicPr>
          <p:blipFill>
            <a:blip r:embed="rId8" cstate="print"/>
            <a:stretch>
              <a:fillRect/>
            </a:stretch>
          </p:blipFill>
          <p:spPr>
            <a:xfrm>
              <a:off x="3760914" y="2500207"/>
              <a:ext cx="64084" cy="64084"/>
            </a:xfrm>
            <a:prstGeom prst="rect">
              <a:avLst/>
            </a:prstGeom>
          </p:spPr>
        </p:pic>
        <p:pic>
          <p:nvPicPr>
            <p:cNvPr id="18" name="object 18"/>
            <p:cNvPicPr/>
            <p:nvPr/>
          </p:nvPicPr>
          <p:blipFill>
            <a:blip r:embed="rId9" cstate="print"/>
            <a:stretch>
              <a:fillRect/>
            </a:stretch>
          </p:blipFill>
          <p:spPr>
            <a:xfrm>
              <a:off x="4344835" y="2507052"/>
              <a:ext cx="64439" cy="64439"/>
            </a:xfrm>
            <a:prstGeom prst="rect">
              <a:avLst/>
            </a:prstGeom>
          </p:spPr>
        </p:pic>
        <p:pic>
          <p:nvPicPr>
            <p:cNvPr id="19" name="object 19"/>
            <p:cNvPicPr/>
            <p:nvPr/>
          </p:nvPicPr>
          <p:blipFill>
            <a:blip r:embed="rId10" cstate="print"/>
            <a:stretch>
              <a:fillRect/>
            </a:stretch>
          </p:blipFill>
          <p:spPr>
            <a:xfrm>
              <a:off x="4602238" y="2506328"/>
              <a:ext cx="64084" cy="64439"/>
            </a:xfrm>
            <a:prstGeom prst="rect">
              <a:avLst/>
            </a:prstGeom>
          </p:spPr>
        </p:pic>
        <p:pic>
          <p:nvPicPr>
            <p:cNvPr id="20" name="object 20"/>
            <p:cNvPicPr/>
            <p:nvPr/>
          </p:nvPicPr>
          <p:blipFill>
            <a:blip r:embed="rId11" cstate="print"/>
            <a:stretch>
              <a:fillRect/>
            </a:stretch>
          </p:blipFill>
          <p:spPr>
            <a:xfrm>
              <a:off x="1723863" y="3159188"/>
              <a:ext cx="1796039" cy="1871642"/>
            </a:xfrm>
            <a:prstGeom prst="rect">
              <a:avLst/>
            </a:prstGeom>
          </p:spPr>
        </p:pic>
        <p:sp>
          <p:nvSpPr>
            <p:cNvPr id="21" name="object 21"/>
            <p:cNvSpPr/>
            <p:nvPr/>
          </p:nvSpPr>
          <p:spPr>
            <a:xfrm>
              <a:off x="3961434" y="1940772"/>
              <a:ext cx="4286885" cy="1753235"/>
            </a:xfrm>
            <a:custGeom>
              <a:avLst/>
              <a:gdLst/>
              <a:ahLst/>
              <a:cxnLst/>
              <a:rect l="l" t="t" r="r" b="b"/>
              <a:pathLst>
                <a:path w="4286884" h="1753235">
                  <a:moveTo>
                    <a:pt x="2908084" y="1740242"/>
                  </a:moveTo>
                  <a:lnTo>
                    <a:pt x="1366926" y="1740242"/>
                  </a:lnTo>
                </a:path>
                <a:path w="4286884" h="1753235">
                  <a:moveTo>
                    <a:pt x="1371244" y="714590"/>
                  </a:moveTo>
                  <a:lnTo>
                    <a:pt x="1371244" y="1752841"/>
                  </a:lnTo>
                </a:path>
                <a:path w="4286884" h="1753235">
                  <a:moveTo>
                    <a:pt x="4286529" y="0"/>
                  </a:moveTo>
                  <a:lnTo>
                    <a:pt x="4286529" y="708837"/>
                  </a:lnTo>
                  <a:lnTo>
                    <a:pt x="723" y="708837"/>
                  </a:lnTo>
                  <a:lnTo>
                    <a:pt x="0" y="1790"/>
                  </a:lnTo>
                </a:path>
              </a:pathLst>
            </a:custGeom>
            <a:ln w="24576">
              <a:solidFill>
                <a:srgbClr val="003E5D"/>
              </a:solidFill>
            </a:ln>
          </p:spPr>
          <p:txBody>
            <a:bodyPr wrap="square" lIns="0" tIns="0" rIns="0" bIns="0" rtlCol="0"/>
            <a:lstStyle/>
            <a:p>
              <a:endParaRPr/>
            </a:p>
          </p:txBody>
        </p:sp>
        <p:pic>
          <p:nvPicPr>
            <p:cNvPr id="22" name="object 22"/>
            <p:cNvPicPr/>
            <p:nvPr/>
          </p:nvPicPr>
          <p:blipFill>
            <a:blip r:embed="rId12" cstate="print"/>
            <a:stretch>
              <a:fillRect/>
            </a:stretch>
          </p:blipFill>
          <p:spPr>
            <a:xfrm>
              <a:off x="5304243" y="2619726"/>
              <a:ext cx="64439" cy="64439"/>
            </a:xfrm>
            <a:prstGeom prst="rect">
              <a:avLst/>
            </a:prstGeom>
          </p:spPr>
        </p:pic>
        <p:sp>
          <p:nvSpPr>
            <p:cNvPr id="23" name="object 23"/>
            <p:cNvSpPr/>
            <p:nvPr/>
          </p:nvSpPr>
          <p:spPr>
            <a:xfrm>
              <a:off x="6533273" y="1940403"/>
              <a:ext cx="0" cy="722630"/>
            </a:xfrm>
            <a:custGeom>
              <a:avLst/>
              <a:gdLst/>
              <a:ahLst/>
              <a:cxnLst/>
              <a:rect l="l" t="t" r="r" b="b"/>
              <a:pathLst>
                <a:path h="722630">
                  <a:moveTo>
                    <a:pt x="0" y="722160"/>
                  </a:moveTo>
                  <a:lnTo>
                    <a:pt x="0" y="0"/>
                  </a:lnTo>
                </a:path>
              </a:pathLst>
            </a:custGeom>
            <a:ln w="24576">
              <a:solidFill>
                <a:srgbClr val="003E5D"/>
              </a:solidFill>
            </a:ln>
          </p:spPr>
          <p:txBody>
            <a:bodyPr wrap="square" lIns="0" tIns="0" rIns="0" bIns="0" rtlCol="0"/>
            <a:lstStyle/>
            <a:p>
              <a:endParaRPr/>
            </a:p>
          </p:txBody>
        </p:sp>
        <p:pic>
          <p:nvPicPr>
            <p:cNvPr id="24" name="object 24"/>
            <p:cNvPicPr/>
            <p:nvPr/>
          </p:nvPicPr>
          <p:blipFill>
            <a:blip r:embed="rId13" cstate="print"/>
            <a:stretch>
              <a:fillRect/>
            </a:stretch>
          </p:blipFill>
          <p:spPr>
            <a:xfrm>
              <a:off x="6499085" y="2619002"/>
              <a:ext cx="64439" cy="64439"/>
            </a:xfrm>
            <a:prstGeom prst="rect">
              <a:avLst/>
            </a:prstGeom>
          </p:spPr>
        </p:pic>
        <p:sp>
          <p:nvSpPr>
            <p:cNvPr id="25" name="object 25"/>
            <p:cNvSpPr/>
            <p:nvPr/>
          </p:nvSpPr>
          <p:spPr>
            <a:xfrm>
              <a:off x="5181485" y="2746802"/>
              <a:ext cx="1671320" cy="1379220"/>
            </a:xfrm>
            <a:custGeom>
              <a:avLst/>
              <a:gdLst/>
              <a:ahLst/>
              <a:cxnLst/>
              <a:rect l="l" t="t" r="r" b="b"/>
              <a:pathLst>
                <a:path w="1671320" h="1379220">
                  <a:moveTo>
                    <a:pt x="11150" y="0"/>
                  </a:moveTo>
                  <a:lnTo>
                    <a:pt x="11150" y="1378800"/>
                  </a:lnTo>
                  <a:lnTo>
                    <a:pt x="11150" y="0"/>
                  </a:lnTo>
                  <a:close/>
                </a:path>
                <a:path w="1671320" h="1379220">
                  <a:moveTo>
                    <a:pt x="0" y="1369085"/>
                  </a:moveTo>
                  <a:lnTo>
                    <a:pt x="1671116" y="1369085"/>
                  </a:lnTo>
                </a:path>
              </a:pathLst>
            </a:custGeom>
            <a:ln w="24576">
              <a:solidFill>
                <a:srgbClr val="00789D"/>
              </a:solidFill>
            </a:ln>
          </p:spPr>
          <p:txBody>
            <a:bodyPr wrap="square" lIns="0" tIns="0" rIns="0" bIns="0" rtlCol="0"/>
            <a:lstStyle/>
            <a:p>
              <a:endParaRPr/>
            </a:p>
          </p:txBody>
        </p:sp>
        <p:pic>
          <p:nvPicPr>
            <p:cNvPr id="26" name="object 26"/>
            <p:cNvPicPr/>
            <p:nvPr/>
          </p:nvPicPr>
          <p:blipFill>
            <a:blip r:embed="rId14" cstate="print"/>
            <a:stretch>
              <a:fillRect/>
            </a:stretch>
          </p:blipFill>
          <p:spPr>
            <a:xfrm>
              <a:off x="6423482" y="2719802"/>
              <a:ext cx="64439" cy="64439"/>
            </a:xfrm>
            <a:prstGeom prst="rect">
              <a:avLst/>
            </a:prstGeom>
          </p:spPr>
        </p:pic>
        <p:pic>
          <p:nvPicPr>
            <p:cNvPr id="27" name="object 27"/>
            <p:cNvPicPr/>
            <p:nvPr/>
          </p:nvPicPr>
          <p:blipFill>
            <a:blip r:embed="rId15" cstate="print"/>
            <a:stretch>
              <a:fillRect/>
            </a:stretch>
          </p:blipFill>
          <p:spPr>
            <a:xfrm>
              <a:off x="5534278" y="2724844"/>
              <a:ext cx="64439" cy="64439"/>
            </a:xfrm>
            <a:prstGeom prst="rect">
              <a:avLst/>
            </a:prstGeom>
          </p:spPr>
        </p:pic>
        <p:sp>
          <p:nvSpPr>
            <p:cNvPr id="28" name="object 28"/>
            <p:cNvSpPr/>
            <p:nvPr/>
          </p:nvSpPr>
          <p:spPr>
            <a:xfrm>
              <a:off x="3875760" y="1930688"/>
              <a:ext cx="4290060" cy="824865"/>
            </a:xfrm>
            <a:custGeom>
              <a:avLst/>
              <a:gdLst/>
              <a:ahLst/>
              <a:cxnLst/>
              <a:rect l="l" t="t" r="r" b="b"/>
              <a:pathLst>
                <a:path w="4290059" h="824864">
                  <a:moveTo>
                    <a:pt x="4289755" y="0"/>
                  </a:moveTo>
                  <a:lnTo>
                    <a:pt x="4289755" y="822960"/>
                  </a:lnTo>
                  <a:lnTo>
                    <a:pt x="0" y="822960"/>
                  </a:lnTo>
                  <a:lnTo>
                    <a:pt x="0" y="723"/>
                  </a:lnTo>
                </a:path>
                <a:path w="4290059" h="824864">
                  <a:moveTo>
                    <a:pt x="2580474" y="824763"/>
                  </a:moveTo>
                  <a:lnTo>
                    <a:pt x="2580474" y="4318"/>
                  </a:lnTo>
                </a:path>
                <a:path w="4290059" h="824864">
                  <a:moveTo>
                    <a:pt x="1690204" y="822960"/>
                  </a:moveTo>
                  <a:lnTo>
                    <a:pt x="1690204" y="9715"/>
                  </a:lnTo>
                </a:path>
              </a:pathLst>
            </a:custGeom>
            <a:ln w="24576">
              <a:solidFill>
                <a:srgbClr val="00789D"/>
              </a:solidFill>
            </a:ln>
          </p:spPr>
          <p:txBody>
            <a:bodyPr wrap="square" lIns="0" tIns="0" rIns="0" bIns="0" rtlCol="0"/>
            <a:lstStyle/>
            <a:p>
              <a:endParaRPr/>
            </a:p>
          </p:txBody>
        </p:sp>
        <p:pic>
          <p:nvPicPr>
            <p:cNvPr id="29" name="object 29"/>
            <p:cNvPicPr/>
            <p:nvPr/>
          </p:nvPicPr>
          <p:blipFill>
            <a:blip r:embed="rId16" cstate="print"/>
            <a:stretch>
              <a:fillRect/>
            </a:stretch>
          </p:blipFill>
          <p:spPr>
            <a:xfrm>
              <a:off x="5159882" y="2715853"/>
              <a:ext cx="64439" cy="64439"/>
            </a:xfrm>
            <a:prstGeom prst="rect">
              <a:avLst/>
            </a:prstGeom>
          </p:spPr>
        </p:pic>
        <p:pic>
          <p:nvPicPr>
            <p:cNvPr id="30" name="object 30"/>
            <p:cNvPicPr/>
            <p:nvPr/>
          </p:nvPicPr>
          <p:blipFill>
            <a:blip r:embed="rId17" cstate="print"/>
            <a:stretch>
              <a:fillRect/>
            </a:stretch>
          </p:blipFill>
          <p:spPr>
            <a:xfrm>
              <a:off x="5020563" y="2839690"/>
              <a:ext cx="64439" cy="64084"/>
            </a:xfrm>
            <a:prstGeom prst="rect">
              <a:avLst/>
            </a:prstGeom>
          </p:spPr>
        </p:pic>
        <p:sp>
          <p:nvSpPr>
            <p:cNvPr id="31" name="object 31"/>
            <p:cNvSpPr/>
            <p:nvPr/>
          </p:nvSpPr>
          <p:spPr>
            <a:xfrm>
              <a:off x="5041442" y="4537452"/>
              <a:ext cx="1844675" cy="0"/>
            </a:xfrm>
            <a:custGeom>
              <a:avLst/>
              <a:gdLst/>
              <a:ahLst/>
              <a:cxnLst/>
              <a:rect l="l" t="t" r="r" b="b"/>
              <a:pathLst>
                <a:path w="1844675">
                  <a:moveTo>
                    <a:pt x="0" y="0"/>
                  </a:moveTo>
                  <a:lnTo>
                    <a:pt x="1844636" y="0"/>
                  </a:lnTo>
                </a:path>
              </a:pathLst>
            </a:custGeom>
            <a:ln w="24576">
              <a:solidFill>
                <a:srgbClr val="94C0FF"/>
              </a:solidFill>
            </a:ln>
          </p:spPr>
          <p:txBody>
            <a:bodyPr wrap="square" lIns="0" tIns="0" rIns="0" bIns="0" rtlCol="0"/>
            <a:lstStyle/>
            <a:p>
              <a:endParaRPr/>
            </a:p>
          </p:txBody>
        </p:sp>
        <p:sp>
          <p:nvSpPr>
            <p:cNvPr id="32" name="object 32"/>
            <p:cNvSpPr/>
            <p:nvPr/>
          </p:nvSpPr>
          <p:spPr>
            <a:xfrm>
              <a:off x="5040363" y="2870653"/>
              <a:ext cx="26034" cy="1670050"/>
            </a:xfrm>
            <a:custGeom>
              <a:avLst/>
              <a:gdLst/>
              <a:ahLst/>
              <a:cxnLst/>
              <a:rect l="l" t="t" r="r" b="b"/>
              <a:pathLst>
                <a:path w="26035" h="1670050">
                  <a:moveTo>
                    <a:pt x="25552" y="0"/>
                  </a:moveTo>
                  <a:lnTo>
                    <a:pt x="0" y="0"/>
                  </a:lnTo>
                  <a:lnTo>
                    <a:pt x="0" y="1670037"/>
                  </a:lnTo>
                  <a:lnTo>
                    <a:pt x="25552" y="1670037"/>
                  </a:lnTo>
                  <a:lnTo>
                    <a:pt x="25552" y="0"/>
                  </a:lnTo>
                  <a:close/>
                </a:path>
              </a:pathLst>
            </a:custGeom>
            <a:solidFill>
              <a:srgbClr val="94C0FF"/>
            </a:solidFill>
          </p:spPr>
          <p:txBody>
            <a:bodyPr wrap="square" lIns="0" tIns="0" rIns="0" bIns="0" rtlCol="0"/>
            <a:lstStyle/>
            <a:p>
              <a:endParaRPr/>
            </a:p>
          </p:txBody>
        </p:sp>
        <p:pic>
          <p:nvPicPr>
            <p:cNvPr id="33" name="object 33"/>
            <p:cNvPicPr/>
            <p:nvPr/>
          </p:nvPicPr>
          <p:blipFill>
            <a:blip r:embed="rId18" cstate="print"/>
            <a:stretch>
              <a:fillRect/>
            </a:stretch>
          </p:blipFill>
          <p:spPr>
            <a:xfrm>
              <a:off x="6364795" y="2845088"/>
              <a:ext cx="64439" cy="64439"/>
            </a:xfrm>
            <a:prstGeom prst="rect">
              <a:avLst/>
            </a:prstGeom>
          </p:spPr>
        </p:pic>
        <p:sp>
          <p:nvSpPr>
            <p:cNvPr id="34" name="object 34"/>
            <p:cNvSpPr/>
            <p:nvPr/>
          </p:nvSpPr>
          <p:spPr>
            <a:xfrm>
              <a:off x="4778641" y="1930688"/>
              <a:ext cx="3282315" cy="949325"/>
            </a:xfrm>
            <a:custGeom>
              <a:avLst/>
              <a:gdLst/>
              <a:ahLst/>
              <a:cxnLst/>
              <a:rect l="l" t="t" r="r" b="b"/>
              <a:pathLst>
                <a:path w="3282315" h="949325">
                  <a:moveTo>
                    <a:pt x="3282124" y="6477"/>
                  </a:moveTo>
                  <a:lnTo>
                    <a:pt x="3282124" y="946442"/>
                  </a:lnTo>
                  <a:lnTo>
                    <a:pt x="0" y="946442"/>
                  </a:lnTo>
                  <a:lnTo>
                    <a:pt x="0" y="5397"/>
                  </a:lnTo>
                </a:path>
                <a:path w="3282315" h="949325">
                  <a:moveTo>
                    <a:pt x="2391473" y="936002"/>
                  </a:moveTo>
                  <a:lnTo>
                    <a:pt x="2391473" y="0"/>
                  </a:lnTo>
                </a:path>
                <a:path w="3282315" h="949325">
                  <a:moveTo>
                    <a:pt x="1618564" y="948956"/>
                  </a:moveTo>
                  <a:lnTo>
                    <a:pt x="1618564" y="10439"/>
                  </a:lnTo>
                </a:path>
              </a:pathLst>
            </a:custGeom>
            <a:ln w="24576">
              <a:solidFill>
                <a:srgbClr val="94C0FF"/>
              </a:solidFill>
            </a:ln>
          </p:spPr>
          <p:txBody>
            <a:bodyPr wrap="square" lIns="0" tIns="0" rIns="0" bIns="0" rtlCol="0"/>
            <a:lstStyle/>
            <a:p>
              <a:endParaRPr/>
            </a:p>
          </p:txBody>
        </p:sp>
        <p:pic>
          <p:nvPicPr>
            <p:cNvPr id="35" name="object 35"/>
            <p:cNvPicPr/>
            <p:nvPr/>
          </p:nvPicPr>
          <p:blipFill>
            <a:blip r:embed="rId19" cstate="print"/>
            <a:stretch>
              <a:fillRect/>
            </a:stretch>
          </p:blipFill>
          <p:spPr>
            <a:xfrm>
              <a:off x="7138085" y="2847602"/>
              <a:ext cx="64439" cy="64439"/>
            </a:xfrm>
            <a:prstGeom prst="rect">
              <a:avLst/>
            </a:prstGeom>
          </p:spPr>
        </p:pic>
        <p:pic>
          <p:nvPicPr>
            <p:cNvPr id="36" name="object 36"/>
            <p:cNvPicPr/>
            <p:nvPr/>
          </p:nvPicPr>
          <p:blipFill>
            <a:blip r:embed="rId20" cstate="print"/>
            <a:stretch>
              <a:fillRect/>
            </a:stretch>
          </p:blipFill>
          <p:spPr>
            <a:xfrm>
              <a:off x="6432655" y="3159188"/>
              <a:ext cx="1796039" cy="1871642"/>
            </a:xfrm>
            <a:prstGeom prst="rect">
              <a:avLst/>
            </a:prstGeom>
          </p:spPr>
        </p:pic>
        <p:sp>
          <p:nvSpPr>
            <p:cNvPr id="37" name="object 37"/>
            <p:cNvSpPr/>
            <p:nvPr/>
          </p:nvSpPr>
          <p:spPr>
            <a:xfrm>
              <a:off x="1760766" y="1385654"/>
              <a:ext cx="3189605" cy="600710"/>
            </a:xfrm>
            <a:custGeom>
              <a:avLst/>
              <a:gdLst/>
              <a:ahLst/>
              <a:cxnLst/>
              <a:rect l="l" t="t" r="r" b="b"/>
              <a:pathLst>
                <a:path w="3189604" h="600710">
                  <a:moveTo>
                    <a:pt x="600468" y="152273"/>
                  </a:moveTo>
                  <a:lnTo>
                    <a:pt x="592709" y="104089"/>
                  </a:lnTo>
                  <a:lnTo>
                    <a:pt x="571119" y="62293"/>
                  </a:lnTo>
                  <a:lnTo>
                    <a:pt x="538175" y="29349"/>
                  </a:lnTo>
                  <a:lnTo>
                    <a:pt x="496379" y="7759"/>
                  </a:lnTo>
                  <a:lnTo>
                    <a:pt x="448195" y="0"/>
                  </a:lnTo>
                  <a:lnTo>
                    <a:pt x="152628" y="0"/>
                  </a:lnTo>
                  <a:lnTo>
                    <a:pt x="104267" y="7759"/>
                  </a:lnTo>
                  <a:lnTo>
                    <a:pt x="62357" y="29349"/>
                  </a:lnTo>
                  <a:lnTo>
                    <a:pt x="29349" y="62293"/>
                  </a:lnTo>
                  <a:lnTo>
                    <a:pt x="7747" y="104089"/>
                  </a:lnTo>
                  <a:lnTo>
                    <a:pt x="0" y="152273"/>
                  </a:lnTo>
                  <a:lnTo>
                    <a:pt x="0" y="448195"/>
                  </a:lnTo>
                  <a:lnTo>
                    <a:pt x="7747" y="496392"/>
                  </a:lnTo>
                  <a:lnTo>
                    <a:pt x="29349" y="538187"/>
                  </a:lnTo>
                  <a:lnTo>
                    <a:pt x="62357" y="571131"/>
                  </a:lnTo>
                  <a:lnTo>
                    <a:pt x="104267" y="592721"/>
                  </a:lnTo>
                  <a:lnTo>
                    <a:pt x="152628" y="600468"/>
                  </a:lnTo>
                  <a:lnTo>
                    <a:pt x="448195" y="600468"/>
                  </a:lnTo>
                  <a:lnTo>
                    <a:pt x="496379" y="592721"/>
                  </a:lnTo>
                  <a:lnTo>
                    <a:pt x="538175" y="571131"/>
                  </a:lnTo>
                  <a:lnTo>
                    <a:pt x="571119" y="538187"/>
                  </a:lnTo>
                  <a:lnTo>
                    <a:pt x="592709" y="496392"/>
                  </a:lnTo>
                  <a:lnTo>
                    <a:pt x="600468" y="448195"/>
                  </a:lnTo>
                  <a:lnTo>
                    <a:pt x="600468" y="152273"/>
                  </a:lnTo>
                  <a:close/>
                </a:path>
                <a:path w="3189604" h="600710">
                  <a:moveTo>
                    <a:pt x="2325598" y="152273"/>
                  </a:moveTo>
                  <a:lnTo>
                    <a:pt x="2317839" y="104089"/>
                  </a:lnTo>
                  <a:lnTo>
                    <a:pt x="2296249" y="62293"/>
                  </a:lnTo>
                  <a:lnTo>
                    <a:pt x="2263305" y="29349"/>
                  </a:lnTo>
                  <a:lnTo>
                    <a:pt x="2221496" y="7759"/>
                  </a:lnTo>
                  <a:lnTo>
                    <a:pt x="2173313" y="0"/>
                  </a:lnTo>
                  <a:lnTo>
                    <a:pt x="1877758" y="0"/>
                  </a:lnTo>
                  <a:lnTo>
                    <a:pt x="1829384" y="7759"/>
                  </a:lnTo>
                  <a:lnTo>
                    <a:pt x="1787474" y="29349"/>
                  </a:lnTo>
                  <a:lnTo>
                    <a:pt x="1754479" y="62293"/>
                  </a:lnTo>
                  <a:lnTo>
                    <a:pt x="1732864" y="104089"/>
                  </a:lnTo>
                  <a:lnTo>
                    <a:pt x="1725117" y="152273"/>
                  </a:lnTo>
                  <a:lnTo>
                    <a:pt x="1725117" y="448195"/>
                  </a:lnTo>
                  <a:lnTo>
                    <a:pt x="1732864" y="496392"/>
                  </a:lnTo>
                  <a:lnTo>
                    <a:pt x="1754479" y="538187"/>
                  </a:lnTo>
                  <a:lnTo>
                    <a:pt x="1787474" y="571131"/>
                  </a:lnTo>
                  <a:lnTo>
                    <a:pt x="1829384" y="592721"/>
                  </a:lnTo>
                  <a:lnTo>
                    <a:pt x="1877758" y="600468"/>
                  </a:lnTo>
                  <a:lnTo>
                    <a:pt x="2173313" y="600468"/>
                  </a:lnTo>
                  <a:lnTo>
                    <a:pt x="2221496" y="592721"/>
                  </a:lnTo>
                  <a:lnTo>
                    <a:pt x="2263305" y="571131"/>
                  </a:lnTo>
                  <a:lnTo>
                    <a:pt x="2296249" y="538187"/>
                  </a:lnTo>
                  <a:lnTo>
                    <a:pt x="2317839" y="496392"/>
                  </a:lnTo>
                  <a:lnTo>
                    <a:pt x="2325598" y="448195"/>
                  </a:lnTo>
                  <a:lnTo>
                    <a:pt x="2325598" y="152273"/>
                  </a:lnTo>
                  <a:close/>
                </a:path>
                <a:path w="3189604" h="600710">
                  <a:moveTo>
                    <a:pt x="3189592" y="152273"/>
                  </a:moveTo>
                  <a:lnTo>
                    <a:pt x="3181832" y="104089"/>
                  </a:lnTo>
                  <a:lnTo>
                    <a:pt x="3160242" y="62293"/>
                  </a:lnTo>
                  <a:lnTo>
                    <a:pt x="3127298" y="29349"/>
                  </a:lnTo>
                  <a:lnTo>
                    <a:pt x="3085503" y="7759"/>
                  </a:lnTo>
                  <a:lnTo>
                    <a:pt x="3037319" y="0"/>
                  </a:lnTo>
                  <a:lnTo>
                    <a:pt x="2741396" y="0"/>
                  </a:lnTo>
                  <a:lnTo>
                    <a:pt x="2693200" y="7759"/>
                  </a:lnTo>
                  <a:lnTo>
                    <a:pt x="2651391" y="29349"/>
                  </a:lnTo>
                  <a:lnTo>
                    <a:pt x="2618448" y="62293"/>
                  </a:lnTo>
                  <a:lnTo>
                    <a:pt x="2596858" y="104089"/>
                  </a:lnTo>
                  <a:lnTo>
                    <a:pt x="2589111" y="152273"/>
                  </a:lnTo>
                  <a:lnTo>
                    <a:pt x="2589111" y="448195"/>
                  </a:lnTo>
                  <a:lnTo>
                    <a:pt x="2596858" y="496392"/>
                  </a:lnTo>
                  <a:lnTo>
                    <a:pt x="2618448" y="538187"/>
                  </a:lnTo>
                  <a:lnTo>
                    <a:pt x="2651391" y="571131"/>
                  </a:lnTo>
                  <a:lnTo>
                    <a:pt x="2693200" y="592721"/>
                  </a:lnTo>
                  <a:lnTo>
                    <a:pt x="2741396" y="600468"/>
                  </a:lnTo>
                  <a:lnTo>
                    <a:pt x="3037319" y="600468"/>
                  </a:lnTo>
                  <a:lnTo>
                    <a:pt x="3085503" y="592721"/>
                  </a:lnTo>
                  <a:lnTo>
                    <a:pt x="3127298" y="571131"/>
                  </a:lnTo>
                  <a:lnTo>
                    <a:pt x="3160242" y="538187"/>
                  </a:lnTo>
                  <a:lnTo>
                    <a:pt x="3181832" y="496392"/>
                  </a:lnTo>
                  <a:lnTo>
                    <a:pt x="3189592" y="448195"/>
                  </a:lnTo>
                  <a:lnTo>
                    <a:pt x="3189592" y="152273"/>
                  </a:lnTo>
                  <a:close/>
                </a:path>
              </a:pathLst>
            </a:custGeom>
            <a:solidFill>
              <a:srgbClr val="DAD6D4"/>
            </a:solidFill>
          </p:spPr>
          <p:txBody>
            <a:bodyPr wrap="square" lIns="0" tIns="0" rIns="0" bIns="0" rtlCol="0"/>
            <a:lstStyle/>
            <a:p>
              <a:endParaRPr/>
            </a:p>
          </p:txBody>
        </p:sp>
        <p:pic>
          <p:nvPicPr>
            <p:cNvPr id="38" name="object 38"/>
            <p:cNvPicPr/>
            <p:nvPr/>
          </p:nvPicPr>
          <p:blipFill>
            <a:blip r:embed="rId21" cstate="print"/>
            <a:stretch>
              <a:fillRect/>
            </a:stretch>
          </p:blipFill>
          <p:spPr>
            <a:xfrm>
              <a:off x="1951558" y="1562413"/>
              <a:ext cx="155155" cy="211315"/>
            </a:xfrm>
            <a:prstGeom prst="rect">
              <a:avLst/>
            </a:prstGeom>
          </p:spPr>
        </p:pic>
        <p:sp>
          <p:nvSpPr>
            <p:cNvPr id="39" name="object 39"/>
            <p:cNvSpPr/>
            <p:nvPr/>
          </p:nvSpPr>
          <p:spPr>
            <a:xfrm>
              <a:off x="2135162" y="1710013"/>
              <a:ext cx="36195" cy="99695"/>
            </a:xfrm>
            <a:custGeom>
              <a:avLst/>
              <a:gdLst/>
              <a:ahLst/>
              <a:cxnLst/>
              <a:rect l="l" t="t" r="r" b="b"/>
              <a:pathLst>
                <a:path w="36194" h="99694">
                  <a:moveTo>
                    <a:pt x="35636" y="0"/>
                  </a:moveTo>
                  <a:lnTo>
                    <a:pt x="26276" y="0"/>
                  </a:lnTo>
                  <a:lnTo>
                    <a:pt x="0" y="20154"/>
                  </a:lnTo>
                  <a:lnTo>
                    <a:pt x="5753" y="28079"/>
                  </a:lnTo>
                  <a:lnTo>
                    <a:pt x="20878" y="15836"/>
                  </a:lnTo>
                  <a:lnTo>
                    <a:pt x="21958" y="14757"/>
                  </a:lnTo>
                  <a:lnTo>
                    <a:pt x="23393" y="13677"/>
                  </a:lnTo>
                  <a:lnTo>
                    <a:pt x="24117" y="12598"/>
                  </a:lnTo>
                  <a:lnTo>
                    <a:pt x="25196" y="11874"/>
                  </a:lnTo>
                  <a:lnTo>
                    <a:pt x="24841" y="16916"/>
                  </a:lnTo>
                  <a:lnTo>
                    <a:pt x="24841" y="99352"/>
                  </a:lnTo>
                  <a:lnTo>
                    <a:pt x="35636" y="99352"/>
                  </a:lnTo>
                  <a:lnTo>
                    <a:pt x="35636" y="0"/>
                  </a:lnTo>
                  <a:close/>
                </a:path>
              </a:pathLst>
            </a:custGeom>
            <a:solidFill>
              <a:srgbClr val="484746"/>
            </a:solidFill>
          </p:spPr>
          <p:txBody>
            <a:bodyPr wrap="square" lIns="0" tIns="0" rIns="0" bIns="0" rtlCol="0"/>
            <a:lstStyle/>
            <a:p>
              <a:endParaRPr/>
            </a:p>
          </p:txBody>
        </p:sp>
        <p:sp>
          <p:nvSpPr>
            <p:cNvPr id="40" name="object 40"/>
            <p:cNvSpPr/>
            <p:nvPr/>
          </p:nvSpPr>
          <p:spPr>
            <a:xfrm>
              <a:off x="2624035" y="1385655"/>
              <a:ext cx="600710" cy="600710"/>
            </a:xfrm>
            <a:custGeom>
              <a:avLst/>
              <a:gdLst/>
              <a:ahLst/>
              <a:cxnLst/>
              <a:rect l="l" t="t" r="r" b="b"/>
              <a:pathLst>
                <a:path w="600710" h="600710">
                  <a:moveTo>
                    <a:pt x="447840" y="0"/>
                  </a:moveTo>
                  <a:lnTo>
                    <a:pt x="152285" y="0"/>
                  </a:lnTo>
                  <a:lnTo>
                    <a:pt x="103958" y="7749"/>
                  </a:lnTo>
                  <a:lnTo>
                    <a:pt x="62130" y="29339"/>
                  </a:lnTo>
                  <a:lnTo>
                    <a:pt x="29237" y="62281"/>
                  </a:lnTo>
                  <a:lnTo>
                    <a:pt x="7715" y="104088"/>
                  </a:lnTo>
                  <a:lnTo>
                    <a:pt x="0" y="152273"/>
                  </a:lnTo>
                  <a:lnTo>
                    <a:pt x="0" y="448195"/>
                  </a:lnTo>
                  <a:lnTo>
                    <a:pt x="7715" y="496379"/>
                  </a:lnTo>
                  <a:lnTo>
                    <a:pt x="29237" y="538187"/>
                  </a:lnTo>
                  <a:lnTo>
                    <a:pt x="62130" y="571129"/>
                  </a:lnTo>
                  <a:lnTo>
                    <a:pt x="103958" y="592719"/>
                  </a:lnTo>
                  <a:lnTo>
                    <a:pt x="152285" y="600468"/>
                  </a:lnTo>
                  <a:lnTo>
                    <a:pt x="447840" y="600468"/>
                  </a:lnTo>
                  <a:lnTo>
                    <a:pt x="496167" y="592719"/>
                  </a:lnTo>
                  <a:lnTo>
                    <a:pt x="537995" y="571129"/>
                  </a:lnTo>
                  <a:lnTo>
                    <a:pt x="570888" y="538187"/>
                  </a:lnTo>
                  <a:lnTo>
                    <a:pt x="592410" y="496379"/>
                  </a:lnTo>
                  <a:lnTo>
                    <a:pt x="600125" y="448195"/>
                  </a:lnTo>
                  <a:lnTo>
                    <a:pt x="600125" y="152273"/>
                  </a:lnTo>
                  <a:lnTo>
                    <a:pt x="592410" y="104088"/>
                  </a:lnTo>
                  <a:lnTo>
                    <a:pt x="570888" y="62281"/>
                  </a:lnTo>
                  <a:lnTo>
                    <a:pt x="537995" y="29339"/>
                  </a:lnTo>
                  <a:lnTo>
                    <a:pt x="496167" y="7749"/>
                  </a:lnTo>
                  <a:lnTo>
                    <a:pt x="447840" y="0"/>
                  </a:lnTo>
                  <a:close/>
                </a:path>
              </a:pathLst>
            </a:custGeom>
            <a:solidFill>
              <a:srgbClr val="DAD6D4"/>
            </a:solidFill>
          </p:spPr>
          <p:txBody>
            <a:bodyPr wrap="square" lIns="0" tIns="0" rIns="0" bIns="0" rtlCol="0"/>
            <a:lstStyle/>
            <a:p>
              <a:endParaRPr/>
            </a:p>
          </p:txBody>
        </p:sp>
        <p:pic>
          <p:nvPicPr>
            <p:cNvPr id="41" name="object 41"/>
            <p:cNvPicPr/>
            <p:nvPr/>
          </p:nvPicPr>
          <p:blipFill>
            <a:blip r:embed="rId22" cstate="print"/>
            <a:stretch>
              <a:fillRect/>
            </a:stretch>
          </p:blipFill>
          <p:spPr>
            <a:xfrm>
              <a:off x="2802242" y="1562413"/>
              <a:ext cx="155511" cy="211315"/>
            </a:xfrm>
            <a:prstGeom prst="rect">
              <a:avLst/>
            </a:prstGeom>
          </p:spPr>
        </p:pic>
        <p:pic>
          <p:nvPicPr>
            <p:cNvPr id="42" name="object 42"/>
            <p:cNvPicPr/>
            <p:nvPr/>
          </p:nvPicPr>
          <p:blipFill>
            <a:blip r:embed="rId23" cstate="print"/>
            <a:stretch>
              <a:fillRect/>
            </a:stretch>
          </p:blipFill>
          <p:spPr>
            <a:xfrm>
              <a:off x="2979724" y="1708565"/>
              <a:ext cx="65519" cy="100799"/>
            </a:xfrm>
            <a:prstGeom prst="rect">
              <a:avLst/>
            </a:prstGeom>
          </p:spPr>
        </p:pic>
        <p:sp>
          <p:nvSpPr>
            <p:cNvPr id="43" name="object 43"/>
            <p:cNvSpPr/>
            <p:nvPr/>
          </p:nvSpPr>
          <p:spPr>
            <a:xfrm>
              <a:off x="7784998" y="1385655"/>
              <a:ext cx="600710" cy="600710"/>
            </a:xfrm>
            <a:custGeom>
              <a:avLst/>
              <a:gdLst/>
              <a:ahLst/>
              <a:cxnLst/>
              <a:rect l="l" t="t" r="r" b="b"/>
              <a:pathLst>
                <a:path w="600709" h="600710">
                  <a:moveTo>
                    <a:pt x="448195" y="0"/>
                  </a:moveTo>
                  <a:lnTo>
                    <a:pt x="152285" y="0"/>
                  </a:lnTo>
                  <a:lnTo>
                    <a:pt x="104100" y="7749"/>
                  </a:lnTo>
                  <a:lnTo>
                    <a:pt x="62289" y="29339"/>
                  </a:lnTo>
                  <a:lnTo>
                    <a:pt x="29343" y="62281"/>
                  </a:lnTo>
                  <a:lnTo>
                    <a:pt x="7750" y="104088"/>
                  </a:lnTo>
                  <a:lnTo>
                    <a:pt x="0" y="152273"/>
                  </a:lnTo>
                  <a:lnTo>
                    <a:pt x="0" y="448195"/>
                  </a:lnTo>
                  <a:lnTo>
                    <a:pt x="7750" y="496379"/>
                  </a:lnTo>
                  <a:lnTo>
                    <a:pt x="29343" y="538187"/>
                  </a:lnTo>
                  <a:lnTo>
                    <a:pt x="62289" y="571129"/>
                  </a:lnTo>
                  <a:lnTo>
                    <a:pt x="104100" y="592719"/>
                  </a:lnTo>
                  <a:lnTo>
                    <a:pt x="152285" y="600468"/>
                  </a:lnTo>
                  <a:lnTo>
                    <a:pt x="448195" y="600468"/>
                  </a:lnTo>
                  <a:lnTo>
                    <a:pt x="496386" y="592719"/>
                  </a:lnTo>
                  <a:lnTo>
                    <a:pt x="538197" y="571129"/>
                  </a:lnTo>
                  <a:lnTo>
                    <a:pt x="571141" y="538187"/>
                  </a:lnTo>
                  <a:lnTo>
                    <a:pt x="592731" y="496379"/>
                  </a:lnTo>
                  <a:lnTo>
                    <a:pt x="600481" y="448195"/>
                  </a:lnTo>
                  <a:lnTo>
                    <a:pt x="600481" y="152273"/>
                  </a:lnTo>
                  <a:lnTo>
                    <a:pt x="592731" y="104088"/>
                  </a:lnTo>
                  <a:lnTo>
                    <a:pt x="571141" y="62281"/>
                  </a:lnTo>
                  <a:lnTo>
                    <a:pt x="538197" y="29339"/>
                  </a:lnTo>
                  <a:lnTo>
                    <a:pt x="496386" y="7749"/>
                  </a:lnTo>
                  <a:lnTo>
                    <a:pt x="448195" y="0"/>
                  </a:lnTo>
                  <a:close/>
                </a:path>
              </a:pathLst>
            </a:custGeom>
            <a:solidFill>
              <a:srgbClr val="DAD6D4"/>
            </a:solidFill>
          </p:spPr>
          <p:txBody>
            <a:bodyPr wrap="square" lIns="0" tIns="0" rIns="0" bIns="0" rtlCol="0"/>
            <a:lstStyle/>
            <a:p>
              <a:endParaRPr/>
            </a:p>
          </p:txBody>
        </p:sp>
        <p:pic>
          <p:nvPicPr>
            <p:cNvPr id="44" name="object 44"/>
            <p:cNvPicPr/>
            <p:nvPr/>
          </p:nvPicPr>
          <p:blipFill>
            <a:blip r:embed="rId24" cstate="print"/>
            <a:stretch>
              <a:fillRect/>
            </a:stretch>
          </p:blipFill>
          <p:spPr>
            <a:xfrm>
              <a:off x="7962480" y="1562413"/>
              <a:ext cx="155524" cy="211315"/>
            </a:xfrm>
            <a:prstGeom prst="rect">
              <a:avLst/>
            </a:prstGeom>
          </p:spPr>
        </p:pic>
        <p:sp>
          <p:nvSpPr>
            <p:cNvPr id="45" name="object 45"/>
            <p:cNvSpPr/>
            <p:nvPr/>
          </p:nvSpPr>
          <p:spPr>
            <a:xfrm>
              <a:off x="8145360" y="1733406"/>
              <a:ext cx="62865" cy="76200"/>
            </a:xfrm>
            <a:custGeom>
              <a:avLst/>
              <a:gdLst/>
              <a:ahLst/>
              <a:cxnLst/>
              <a:rect l="l" t="t" r="r" b="b"/>
              <a:pathLst>
                <a:path w="62865" h="76200">
                  <a:moveTo>
                    <a:pt x="44284" y="0"/>
                  </a:moveTo>
                  <a:lnTo>
                    <a:pt x="30238" y="0"/>
                  </a:lnTo>
                  <a:lnTo>
                    <a:pt x="25565" y="1079"/>
                  </a:lnTo>
                  <a:lnTo>
                    <a:pt x="21234" y="3238"/>
                  </a:lnTo>
                  <a:lnTo>
                    <a:pt x="17284" y="5041"/>
                  </a:lnTo>
                  <a:lnTo>
                    <a:pt x="14033" y="7924"/>
                  </a:lnTo>
                  <a:lnTo>
                    <a:pt x="11518" y="11518"/>
                  </a:lnTo>
                  <a:lnTo>
                    <a:pt x="11163" y="11518"/>
                  </a:lnTo>
                  <a:lnTo>
                    <a:pt x="9359" y="1447"/>
                  </a:lnTo>
                  <a:lnTo>
                    <a:pt x="0" y="1447"/>
                  </a:lnTo>
                  <a:lnTo>
                    <a:pt x="0" y="75958"/>
                  </a:lnTo>
                  <a:lnTo>
                    <a:pt x="11518" y="75958"/>
                  </a:lnTo>
                  <a:lnTo>
                    <a:pt x="11518" y="27368"/>
                  </a:lnTo>
                  <a:lnTo>
                    <a:pt x="13322" y="20167"/>
                  </a:lnTo>
                  <a:lnTo>
                    <a:pt x="16916" y="15836"/>
                  </a:lnTo>
                  <a:lnTo>
                    <a:pt x="20523" y="11887"/>
                  </a:lnTo>
                  <a:lnTo>
                    <a:pt x="26276" y="9728"/>
                  </a:lnTo>
                  <a:lnTo>
                    <a:pt x="39954" y="9728"/>
                  </a:lnTo>
                  <a:lnTo>
                    <a:pt x="44284" y="11163"/>
                  </a:lnTo>
                  <a:lnTo>
                    <a:pt x="49682" y="17284"/>
                  </a:lnTo>
                  <a:lnTo>
                    <a:pt x="51117" y="21602"/>
                  </a:lnTo>
                  <a:lnTo>
                    <a:pt x="51117" y="75958"/>
                  </a:lnTo>
                  <a:lnTo>
                    <a:pt x="62280" y="75958"/>
                  </a:lnTo>
                  <a:lnTo>
                    <a:pt x="62280" y="18008"/>
                  </a:lnTo>
                  <a:lnTo>
                    <a:pt x="60121" y="10807"/>
                  </a:lnTo>
                  <a:lnTo>
                    <a:pt x="55435" y="6476"/>
                  </a:lnTo>
                  <a:lnTo>
                    <a:pt x="51117" y="2159"/>
                  </a:lnTo>
                  <a:lnTo>
                    <a:pt x="44284" y="0"/>
                  </a:lnTo>
                  <a:close/>
                </a:path>
              </a:pathLst>
            </a:custGeom>
            <a:solidFill>
              <a:srgbClr val="484746"/>
            </a:solidFill>
          </p:spPr>
          <p:txBody>
            <a:bodyPr wrap="square" lIns="0" tIns="0" rIns="0" bIns="0" rtlCol="0"/>
            <a:lstStyle/>
            <a:p>
              <a:endParaRPr/>
            </a:p>
          </p:txBody>
        </p:sp>
        <p:pic>
          <p:nvPicPr>
            <p:cNvPr id="46" name="object 46"/>
            <p:cNvPicPr/>
            <p:nvPr/>
          </p:nvPicPr>
          <p:blipFill>
            <a:blip r:embed="rId25" cstate="print"/>
            <a:stretch>
              <a:fillRect/>
            </a:stretch>
          </p:blipFill>
          <p:spPr>
            <a:xfrm>
              <a:off x="4525556" y="1562413"/>
              <a:ext cx="247688" cy="246951"/>
            </a:xfrm>
            <a:prstGeom prst="rect">
              <a:avLst/>
            </a:prstGeom>
          </p:spPr>
        </p:pic>
        <p:pic>
          <p:nvPicPr>
            <p:cNvPr id="47" name="object 47"/>
            <p:cNvPicPr/>
            <p:nvPr/>
          </p:nvPicPr>
          <p:blipFill>
            <a:blip r:embed="rId26" cstate="print"/>
            <a:stretch>
              <a:fillRect/>
            </a:stretch>
          </p:blipFill>
          <p:spPr>
            <a:xfrm>
              <a:off x="3665524" y="1561689"/>
              <a:ext cx="155155" cy="211315"/>
            </a:xfrm>
            <a:prstGeom prst="rect">
              <a:avLst/>
            </a:prstGeom>
          </p:spPr>
        </p:pic>
        <p:pic>
          <p:nvPicPr>
            <p:cNvPr id="48" name="object 48"/>
            <p:cNvPicPr/>
            <p:nvPr/>
          </p:nvPicPr>
          <p:blipFill>
            <a:blip r:embed="rId27" cstate="print"/>
            <a:stretch>
              <a:fillRect/>
            </a:stretch>
          </p:blipFill>
          <p:spPr>
            <a:xfrm>
              <a:off x="3842638" y="1707854"/>
              <a:ext cx="64795" cy="102235"/>
            </a:xfrm>
            <a:prstGeom prst="rect">
              <a:avLst/>
            </a:prstGeom>
          </p:spPr>
        </p:pic>
        <p:sp>
          <p:nvSpPr>
            <p:cNvPr id="49" name="object 49"/>
            <p:cNvSpPr/>
            <p:nvPr/>
          </p:nvSpPr>
          <p:spPr>
            <a:xfrm>
              <a:off x="5212080" y="1385655"/>
              <a:ext cx="600710" cy="600710"/>
            </a:xfrm>
            <a:custGeom>
              <a:avLst/>
              <a:gdLst/>
              <a:ahLst/>
              <a:cxnLst/>
              <a:rect l="l" t="t" r="r" b="b"/>
              <a:pathLst>
                <a:path w="600710" h="600710">
                  <a:moveTo>
                    <a:pt x="447840" y="0"/>
                  </a:moveTo>
                  <a:lnTo>
                    <a:pt x="152285" y="0"/>
                  </a:lnTo>
                  <a:lnTo>
                    <a:pt x="104095" y="7749"/>
                  </a:lnTo>
                  <a:lnTo>
                    <a:pt x="62284" y="29339"/>
                  </a:lnTo>
                  <a:lnTo>
                    <a:pt x="29340" y="62281"/>
                  </a:lnTo>
                  <a:lnTo>
                    <a:pt x="7749" y="104088"/>
                  </a:lnTo>
                  <a:lnTo>
                    <a:pt x="0" y="152273"/>
                  </a:lnTo>
                  <a:lnTo>
                    <a:pt x="0" y="448195"/>
                  </a:lnTo>
                  <a:lnTo>
                    <a:pt x="7749" y="496379"/>
                  </a:lnTo>
                  <a:lnTo>
                    <a:pt x="29340" y="538187"/>
                  </a:lnTo>
                  <a:lnTo>
                    <a:pt x="62284" y="571129"/>
                  </a:lnTo>
                  <a:lnTo>
                    <a:pt x="104095" y="592719"/>
                  </a:lnTo>
                  <a:lnTo>
                    <a:pt x="152285" y="600468"/>
                  </a:lnTo>
                  <a:lnTo>
                    <a:pt x="447840" y="600468"/>
                  </a:lnTo>
                  <a:lnTo>
                    <a:pt x="496199" y="592719"/>
                  </a:lnTo>
                  <a:lnTo>
                    <a:pt x="538114" y="571129"/>
                  </a:lnTo>
                  <a:lnTo>
                    <a:pt x="571114" y="538187"/>
                  </a:lnTo>
                  <a:lnTo>
                    <a:pt x="592727" y="496379"/>
                  </a:lnTo>
                  <a:lnTo>
                    <a:pt x="600481" y="448195"/>
                  </a:lnTo>
                  <a:lnTo>
                    <a:pt x="600481" y="152273"/>
                  </a:lnTo>
                  <a:lnTo>
                    <a:pt x="592727" y="104088"/>
                  </a:lnTo>
                  <a:lnTo>
                    <a:pt x="571114" y="62281"/>
                  </a:lnTo>
                  <a:lnTo>
                    <a:pt x="538114" y="29339"/>
                  </a:lnTo>
                  <a:lnTo>
                    <a:pt x="496199" y="7749"/>
                  </a:lnTo>
                  <a:lnTo>
                    <a:pt x="447840" y="0"/>
                  </a:lnTo>
                  <a:close/>
                </a:path>
              </a:pathLst>
            </a:custGeom>
            <a:solidFill>
              <a:srgbClr val="DAD6D4"/>
            </a:solidFill>
          </p:spPr>
          <p:txBody>
            <a:bodyPr wrap="square" lIns="0" tIns="0" rIns="0" bIns="0" rtlCol="0"/>
            <a:lstStyle/>
            <a:p>
              <a:endParaRPr/>
            </a:p>
          </p:txBody>
        </p:sp>
        <p:pic>
          <p:nvPicPr>
            <p:cNvPr id="50" name="object 50"/>
            <p:cNvPicPr/>
            <p:nvPr/>
          </p:nvPicPr>
          <p:blipFill>
            <a:blip r:embed="rId28" cstate="print"/>
            <a:stretch>
              <a:fillRect/>
            </a:stretch>
          </p:blipFill>
          <p:spPr>
            <a:xfrm>
              <a:off x="5391365" y="1561689"/>
              <a:ext cx="155511" cy="211315"/>
            </a:xfrm>
            <a:prstGeom prst="rect">
              <a:avLst/>
            </a:prstGeom>
          </p:spPr>
        </p:pic>
        <p:sp>
          <p:nvSpPr>
            <p:cNvPr id="51" name="object 51"/>
            <p:cNvSpPr/>
            <p:nvPr/>
          </p:nvSpPr>
          <p:spPr>
            <a:xfrm>
              <a:off x="5571363" y="1709289"/>
              <a:ext cx="62865" cy="100965"/>
            </a:xfrm>
            <a:custGeom>
              <a:avLst/>
              <a:gdLst/>
              <a:ahLst/>
              <a:cxnLst/>
              <a:rect l="l" t="t" r="r" b="b"/>
              <a:pathLst>
                <a:path w="62864" h="100964">
                  <a:moveTo>
                    <a:pt x="0" y="84594"/>
                  </a:moveTo>
                  <a:lnTo>
                    <a:pt x="0" y="95402"/>
                  </a:lnTo>
                  <a:lnTo>
                    <a:pt x="4851" y="97762"/>
                  </a:lnTo>
                  <a:lnTo>
                    <a:pt x="10752" y="99448"/>
                  </a:lnTo>
                  <a:lnTo>
                    <a:pt x="17664" y="100461"/>
                  </a:lnTo>
                  <a:lnTo>
                    <a:pt x="25552" y="100799"/>
                  </a:lnTo>
                  <a:lnTo>
                    <a:pt x="33719" y="100259"/>
                  </a:lnTo>
                  <a:lnTo>
                    <a:pt x="40943" y="98639"/>
                  </a:lnTo>
                  <a:lnTo>
                    <a:pt x="47221" y="95940"/>
                  </a:lnTo>
                  <a:lnTo>
                    <a:pt x="52552" y="92163"/>
                  </a:lnTo>
                  <a:lnTo>
                    <a:pt x="53559" y="91084"/>
                  </a:lnTo>
                  <a:lnTo>
                    <a:pt x="21234" y="91084"/>
                  </a:lnTo>
                  <a:lnTo>
                    <a:pt x="16560" y="90716"/>
                  </a:lnTo>
                  <a:lnTo>
                    <a:pt x="11874" y="89636"/>
                  </a:lnTo>
                  <a:lnTo>
                    <a:pt x="7200" y="88201"/>
                  </a:lnTo>
                  <a:lnTo>
                    <a:pt x="3238" y="86753"/>
                  </a:lnTo>
                  <a:lnTo>
                    <a:pt x="0" y="84594"/>
                  </a:lnTo>
                  <a:close/>
                </a:path>
                <a:path w="62864" h="100964">
                  <a:moveTo>
                    <a:pt x="55544" y="48234"/>
                  </a:moveTo>
                  <a:lnTo>
                    <a:pt x="25552" y="48234"/>
                  </a:lnTo>
                  <a:lnTo>
                    <a:pt x="36688" y="49573"/>
                  </a:lnTo>
                  <a:lnTo>
                    <a:pt x="44683" y="53544"/>
                  </a:lnTo>
                  <a:lnTo>
                    <a:pt x="49503" y="60080"/>
                  </a:lnTo>
                  <a:lnTo>
                    <a:pt x="51117" y="69113"/>
                  </a:lnTo>
                  <a:lnTo>
                    <a:pt x="51117" y="76314"/>
                  </a:lnTo>
                  <a:lnTo>
                    <a:pt x="48602" y="81724"/>
                  </a:lnTo>
                  <a:lnTo>
                    <a:pt x="44272" y="85674"/>
                  </a:lnTo>
                  <a:lnTo>
                    <a:pt x="39954" y="89281"/>
                  </a:lnTo>
                  <a:lnTo>
                    <a:pt x="33832" y="91084"/>
                  </a:lnTo>
                  <a:lnTo>
                    <a:pt x="53559" y="91084"/>
                  </a:lnTo>
                  <a:lnTo>
                    <a:pt x="62636" y="59042"/>
                  </a:lnTo>
                  <a:lnTo>
                    <a:pt x="59397" y="51841"/>
                  </a:lnTo>
                  <a:lnTo>
                    <a:pt x="55544" y="48234"/>
                  </a:lnTo>
                  <a:close/>
                </a:path>
                <a:path w="62864" h="100964">
                  <a:moveTo>
                    <a:pt x="55435" y="0"/>
                  </a:moveTo>
                  <a:lnTo>
                    <a:pt x="6121" y="0"/>
                  </a:lnTo>
                  <a:lnTo>
                    <a:pt x="2159" y="46443"/>
                  </a:lnTo>
                  <a:lnTo>
                    <a:pt x="8280" y="50393"/>
                  </a:lnTo>
                  <a:lnTo>
                    <a:pt x="15481" y="48958"/>
                  </a:lnTo>
                  <a:lnTo>
                    <a:pt x="21234" y="48234"/>
                  </a:lnTo>
                  <a:lnTo>
                    <a:pt x="55544" y="48234"/>
                  </a:lnTo>
                  <a:lnTo>
                    <a:pt x="53632" y="46443"/>
                  </a:lnTo>
                  <a:lnTo>
                    <a:pt x="48638" y="43134"/>
                  </a:lnTo>
                  <a:lnTo>
                    <a:pt x="42835" y="40768"/>
                  </a:lnTo>
                  <a:lnTo>
                    <a:pt x="40757" y="40322"/>
                  </a:lnTo>
                  <a:lnTo>
                    <a:pt x="13322" y="40322"/>
                  </a:lnTo>
                  <a:lnTo>
                    <a:pt x="15836" y="10439"/>
                  </a:lnTo>
                  <a:lnTo>
                    <a:pt x="55435" y="10439"/>
                  </a:lnTo>
                  <a:lnTo>
                    <a:pt x="55435" y="0"/>
                  </a:lnTo>
                  <a:close/>
                </a:path>
                <a:path w="62864" h="100964">
                  <a:moveTo>
                    <a:pt x="28790" y="38874"/>
                  </a:moveTo>
                  <a:lnTo>
                    <a:pt x="23761" y="38874"/>
                  </a:lnTo>
                  <a:lnTo>
                    <a:pt x="16803" y="39348"/>
                  </a:lnTo>
                  <a:lnTo>
                    <a:pt x="17860" y="39348"/>
                  </a:lnTo>
                  <a:lnTo>
                    <a:pt x="13322" y="40322"/>
                  </a:lnTo>
                  <a:lnTo>
                    <a:pt x="40757" y="40322"/>
                  </a:lnTo>
                  <a:lnTo>
                    <a:pt x="36220" y="39348"/>
                  </a:lnTo>
                  <a:lnTo>
                    <a:pt x="28790" y="38874"/>
                  </a:lnTo>
                  <a:close/>
                </a:path>
              </a:pathLst>
            </a:custGeom>
            <a:solidFill>
              <a:srgbClr val="484746"/>
            </a:solidFill>
          </p:spPr>
          <p:txBody>
            <a:bodyPr wrap="square" lIns="0" tIns="0" rIns="0" bIns="0" rtlCol="0"/>
            <a:lstStyle/>
            <a:p>
              <a:endParaRPr/>
            </a:p>
          </p:txBody>
        </p:sp>
        <p:sp>
          <p:nvSpPr>
            <p:cNvPr id="52" name="object 52"/>
            <p:cNvSpPr/>
            <p:nvPr/>
          </p:nvSpPr>
          <p:spPr>
            <a:xfrm>
              <a:off x="6034316" y="1385655"/>
              <a:ext cx="600710" cy="600710"/>
            </a:xfrm>
            <a:custGeom>
              <a:avLst/>
              <a:gdLst/>
              <a:ahLst/>
              <a:cxnLst/>
              <a:rect l="l" t="t" r="r" b="b"/>
              <a:pathLst>
                <a:path w="600709" h="600710">
                  <a:moveTo>
                    <a:pt x="448208" y="0"/>
                  </a:moveTo>
                  <a:lnTo>
                    <a:pt x="152641" y="0"/>
                  </a:lnTo>
                  <a:lnTo>
                    <a:pt x="104282" y="7749"/>
                  </a:lnTo>
                  <a:lnTo>
                    <a:pt x="62366" y="29339"/>
                  </a:lnTo>
                  <a:lnTo>
                    <a:pt x="29366" y="62281"/>
                  </a:lnTo>
                  <a:lnTo>
                    <a:pt x="7753" y="104088"/>
                  </a:lnTo>
                  <a:lnTo>
                    <a:pt x="0" y="152273"/>
                  </a:lnTo>
                  <a:lnTo>
                    <a:pt x="0" y="448195"/>
                  </a:lnTo>
                  <a:lnTo>
                    <a:pt x="7753" y="496379"/>
                  </a:lnTo>
                  <a:lnTo>
                    <a:pt x="29366" y="538187"/>
                  </a:lnTo>
                  <a:lnTo>
                    <a:pt x="62366" y="571129"/>
                  </a:lnTo>
                  <a:lnTo>
                    <a:pt x="104282" y="592719"/>
                  </a:lnTo>
                  <a:lnTo>
                    <a:pt x="152641" y="600468"/>
                  </a:lnTo>
                  <a:lnTo>
                    <a:pt x="448208" y="600468"/>
                  </a:lnTo>
                  <a:lnTo>
                    <a:pt x="496392" y="592719"/>
                  </a:lnTo>
                  <a:lnTo>
                    <a:pt x="538199" y="571129"/>
                  </a:lnTo>
                  <a:lnTo>
                    <a:pt x="571142" y="538187"/>
                  </a:lnTo>
                  <a:lnTo>
                    <a:pt x="592731" y="496379"/>
                  </a:lnTo>
                  <a:lnTo>
                    <a:pt x="600481" y="448195"/>
                  </a:lnTo>
                  <a:lnTo>
                    <a:pt x="600481" y="152273"/>
                  </a:lnTo>
                  <a:lnTo>
                    <a:pt x="592731" y="104088"/>
                  </a:lnTo>
                  <a:lnTo>
                    <a:pt x="571142" y="62281"/>
                  </a:lnTo>
                  <a:lnTo>
                    <a:pt x="538199" y="29339"/>
                  </a:lnTo>
                  <a:lnTo>
                    <a:pt x="496392" y="7749"/>
                  </a:lnTo>
                  <a:lnTo>
                    <a:pt x="448208" y="0"/>
                  </a:lnTo>
                  <a:close/>
                </a:path>
              </a:pathLst>
            </a:custGeom>
            <a:solidFill>
              <a:srgbClr val="DAD6D4"/>
            </a:solidFill>
          </p:spPr>
          <p:txBody>
            <a:bodyPr wrap="square" lIns="0" tIns="0" rIns="0" bIns="0" rtlCol="0"/>
            <a:lstStyle/>
            <a:p>
              <a:endParaRPr/>
            </a:p>
          </p:txBody>
        </p:sp>
        <p:pic>
          <p:nvPicPr>
            <p:cNvPr id="53" name="object 53"/>
            <p:cNvPicPr/>
            <p:nvPr/>
          </p:nvPicPr>
          <p:blipFill>
            <a:blip r:embed="rId29" cstate="print"/>
            <a:stretch>
              <a:fillRect/>
            </a:stretch>
          </p:blipFill>
          <p:spPr>
            <a:xfrm>
              <a:off x="6212154" y="1561689"/>
              <a:ext cx="155168" cy="211315"/>
            </a:xfrm>
            <a:prstGeom prst="rect">
              <a:avLst/>
            </a:prstGeom>
          </p:spPr>
        </p:pic>
        <p:pic>
          <p:nvPicPr>
            <p:cNvPr id="54" name="object 54"/>
            <p:cNvPicPr/>
            <p:nvPr/>
          </p:nvPicPr>
          <p:blipFill>
            <a:blip r:embed="rId30" cstate="print"/>
            <a:stretch>
              <a:fillRect/>
            </a:stretch>
          </p:blipFill>
          <p:spPr>
            <a:xfrm>
              <a:off x="6390999" y="1707854"/>
              <a:ext cx="64524" cy="102235"/>
            </a:xfrm>
            <a:prstGeom prst="rect">
              <a:avLst/>
            </a:prstGeom>
          </p:spPr>
        </p:pic>
        <p:sp>
          <p:nvSpPr>
            <p:cNvPr id="55" name="object 55"/>
            <p:cNvSpPr/>
            <p:nvPr/>
          </p:nvSpPr>
          <p:spPr>
            <a:xfrm>
              <a:off x="6896519" y="1385655"/>
              <a:ext cx="600710" cy="600710"/>
            </a:xfrm>
            <a:custGeom>
              <a:avLst/>
              <a:gdLst/>
              <a:ahLst/>
              <a:cxnLst/>
              <a:rect l="l" t="t" r="r" b="b"/>
              <a:pathLst>
                <a:path w="600709" h="600710">
                  <a:moveTo>
                    <a:pt x="448195" y="0"/>
                  </a:moveTo>
                  <a:lnTo>
                    <a:pt x="152285" y="0"/>
                  </a:lnTo>
                  <a:lnTo>
                    <a:pt x="104100" y="7749"/>
                  </a:lnTo>
                  <a:lnTo>
                    <a:pt x="62289" y="29339"/>
                  </a:lnTo>
                  <a:lnTo>
                    <a:pt x="29343" y="62281"/>
                  </a:lnTo>
                  <a:lnTo>
                    <a:pt x="7750" y="104088"/>
                  </a:lnTo>
                  <a:lnTo>
                    <a:pt x="0" y="152273"/>
                  </a:lnTo>
                  <a:lnTo>
                    <a:pt x="0" y="448195"/>
                  </a:lnTo>
                  <a:lnTo>
                    <a:pt x="7750" y="496379"/>
                  </a:lnTo>
                  <a:lnTo>
                    <a:pt x="29343" y="538187"/>
                  </a:lnTo>
                  <a:lnTo>
                    <a:pt x="62289" y="571129"/>
                  </a:lnTo>
                  <a:lnTo>
                    <a:pt x="104100" y="592719"/>
                  </a:lnTo>
                  <a:lnTo>
                    <a:pt x="152285" y="600468"/>
                  </a:lnTo>
                  <a:lnTo>
                    <a:pt x="448195" y="600468"/>
                  </a:lnTo>
                  <a:lnTo>
                    <a:pt x="496381" y="592719"/>
                  </a:lnTo>
                  <a:lnTo>
                    <a:pt x="538191" y="571129"/>
                  </a:lnTo>
                  <a:lnTo>
                    <a:pt x="571137" y="538187"/>
                  </a:lnTo>
                  <a:lnTo>
                    <a:pt x="592730" y="496379"/>
                  </a:lnTo>
                  <a:lnTo>
                    <a:pt x="600481" y="448195"/>
                  </a:lnTo>
                  <a:lnTo>
                    <a:pt x="600481" y="152273"/>
                  </a:lnTo>
                  <a:lnTo>
                    <a:pt x="592730" y="104088"/>
                  </a:lnTo>
                  <a:lnTo>
                    <a:pt x="571137" y="62281"/>
                  </a:lnTo>
                  <a:lnTo>
                    <a:pt x="538191" y="29339"/>
                  </a:lnTo>
                  <a:lnTo>
                    <a:pt x="496381" y="7749"/>
                  </a:lnTo>
                  <a:lnTo>
                    <a:pt x="448195" y="0"/>
                  </a:lnTo>
                  <a:close/>
                </a:path>
              </a:pathLst>
            </a:custGeom>
            <a:solidFill>
              <a:srgbClr val="DAD6D4"/>
            </a:solidFill>
          </p:spPr>
          <p:txBody>
            <a:bodyPr wrap="square" lIns="0" tIns="0" rIns="0" bIns="0" rtlCol="0"/>
            <a:lstStyle/>
            <a:p>
              <a:endParaRPr/>
            </a:p>
          </p:txBody>
        </p:sp>
        <p:pic>
          <p:nvPicPr>
            <p:cNvPr id="56" name="object 56"/>
            <p:cNvPicPr/>
            <p:nvPr/>
          </p:nvPicPr>
          <p:blipFill>
            <a:blip r:embed="rId31" cstate="print"/>
            <a:stretch>
              <a:fillRect/>
            </a:stretch>
          </p:blipFill>
          <p:spPr>
            <a:xfrm>
              <a:off x="7075805" y="1562413"/>
              <a:ext cx="155511" cy="211315"/>
            </a:xfrm>
            <a:prstGeom prst="rect">
              <a:avLst/>
            </a:prstGeom>
          </p:spPr>
        </p:pic>
        <p:pic>
          <p:nvPicPr>
            <p:cNvPr id="57" name="object 57"/>
            <p:cNvPicPr/>
            <p:nvPr/>
          </p:nvPicPr>
          <p:blipFill>
            <a:blip r:embed="rId32" cstate="print"/>
            <a:stretch>
              <a:fillRect/>
            </a:stretch>
          </p:blipFill>
          <p:spPr>
            <a:xfrm>
              <a:off x="7253274" y="1710013"/>
              <a:ext cx="65887" cy="99352"/>
            </a:xfrm>
            <a:prstGeom prst="rect">
              <a:avLst/>
            </a:prstGeom>
          </p:spPr>
        </p:pic>
      </p:grpSp>
      <p:sp>
        <p:nvSpPr>
          <p:cNvPr id="58" name="object 5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9" name="object 59"/>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51</a:t>
            </a:fld>
            <a:r>
              <a:rPr spc="-10" dirty="0"/>
              <a:t>/60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009015">
              <a:lnSpc>
                <a:spcPct val="100000"/>
              </a:lnSpc>
              <a:spcBef>
                <a:spcPts val="100"/>
              </a:spcBef>
            </a:pPr>
            <a:r>
              <a:rPr sz="3600" spc="415" dirty="0"/>
              <a:t>ROADMAP</a:t>
            </a:r>
            <a:endParaRPr sz="3600"/>
          </a:p>
        </p:txBody>
      </p:sp>
      <p:sp>
        <p:nvSpPr>
          <p:cNvPr id="4" name="object 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object 5"/>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52</a:t>
            </a:fld>
            <a:r>
              <a:rPr spc="-10" dirty="0"/>
              <a:t>/60</a:t>
            </a:r>
          </a:p>
        </p:txBody>
      </p:sp>
      <p:sp>
        <p:nvSpPr>
          <p:cNvPr id="3" name="object 3"/>
          <p:cNvSpPr txBox="1"/>
          <p:nvPr/>
        </p:nvSpPr>
        <p:spPr>
          <a:xfrm>
            <a:off x="3698176" y="3462028"/>
            <a:ext cx="269494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54C4C"/>
                </a:solidFill>
                <a:latin typeface="Arial MT"/>
                <a:cs typeface="Arial MT"/>
              </a:rPr>
              <a:t>Upcoming</a:t>
            </a:r>
            <a:r>
              <a:rPr sz="2400" spc="75" dirty="0">
                <a:solidFill>
                  <a:srgbClr val="454C4C"/>
                </a:solidFill>
                <a:latin typeface="Arial MT"/>
                <a:cs typeface="Arial MT"/>
              </a:rPr>
              <a:t> </a:t>
            </a:r>
            <a:r>
              <a:rPr sz="2400" spc="-10" dirty="0">
                <a:solidFill>
                  <a:srgbClr val="454C4C"/>
                </a:solidFill>
                <a:latin typeface="Arial MT"/>
                <a:cs typeface="Arial MT"/>
              </a:rPr>
              <a:t>Features</a:t>
            </a:r>
            <a:endParaRPr sz="2400">
              <a:latin typeface="Arial MT"/>
              <a:cs typeface="Arial M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Roadmap</a:t>
            </a:r>
          </a:p>
        </p:txBody>
      </p:sp>
      <p:sp>
        <p:nvSpPr>
          <p:cNvPr id="6" name="object 6"/>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7" name="object 7"/>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53</a:t>
            </a:fld>
            <a:r>
              <a:rPr spc="-10" dirty="0"/>
              <a:t>/60</a:t>
            </a:r>
          </a:p>
        </p:txBody>
      </p:sp>
      <p:sp>
        <p:nvSpPr>
          <p:cNvPr id="3" name="object 3"/>
          <p:cNvSpPr txBox="1"/>
          <p:nvPr/>
        </p:nvSpPr>
        <p:spPr>
          <a:xfrm>
            <a:off x="562940"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4" name="object 4"/>
          <p:cNvSpPr txBox="1">
            <a:spLocks noGrp="1"/>
          </p:cNvSpPr>
          <p:nvPr>
            <p:ph type="body" idx="1"/>
          </p:nvPr>
        </p:nvSpPr>
        <p:spPr>
          <a:prstGeom prst="rect">
            <a:avLst/>
          </a:prstGeom>
        </p:spPr>
        <p:txBody>
          <a:bodyPr vert="horz" wrap="square" lIns="0" tIns="56515" rIns="0" bIns="0" rtlCol="0">
            <a:spAutoFit/>
          </a:bodyPr>
          <a:lstStyle/>
          <a:p>
            <a:pPr marL="12700" marR="5080">
              <a:lnSpc>
                <a:spcPts val="2570"/>
              </a:lnSpc>
              <a:spcBef>
                <a:spcPts val="445"/>
              </a:spcBef>
            </a:pPr>
            <a:r>
              <a:rPr dirty="0"/>
              <a:t>Proxmox</a:t>
            </a:r>
            <a:r>
              <a:rPr spc="-20" dirty="0"/>
              <a:t> </a:t>
            </a:r>
            <a:r>
              <a:rPr spc="-260" dirty="0"/>
              <a:t>VE</a:t>
            </a:r>
            <a:r>
              <a:rPr spc="-20" dirty="0"/>
              <a:t> </a:t>
            </a:r>
            <a:r>
              <a:rPr dirty="0"/>
              <a:t>9.1</a:t>
            </a:r>
            <a:r>
              <a:rPr spc="-15" dirty="0"/>
              <a:t> </a:t>
            </a:r>
            <a:r>
              <a:rPr dirty="0"/>
              <a:t>is</a:t>
            </a:r>
            <a:r>
              <a:rPr spc="-15" dirty="0"/>
              <a:t> </a:t>
            </a:r>
            <a:r>
              <a:rPr dirty="0"/>
              <a:t>planned</a:t>
            </a:r>
            <a:r>
              <a:rPr spc="-15" dirty="0"/>
              <a:t> </a:t>
            </a:r>
            <a:r>
              <a:rPr spc="80" dirty="0"/>
              <a:t>for</a:t>
            </a:r>
            <a:r>
              <a:rPr spc="-20" dirty="0"/>
              <a:t> </a:t>
            </a:r>
            <a:r>
              <a:rPr dirty="0"/>
              <a:t>Q3/Q4</a:t>
            </a:r>
            <a:r>
              <a:rPr spc="-10" dirty="0"/>
              <a:t> </a:t>
            </a:r>
            <a:r>
              <a:rPr dirty="0"/>
              <a:t>2025:</a:t>
            </a:r>
            <a:r>
              <a:rPr spc="15" dirty="0"/>
              <a:t> </a:t>
            </a:r>
            <a:r>
              <a:rPr spc="-10" dirty="0">
                <a:solidFill>
                  <a:srgbClr val="287FB8"/>
                </a:solidFill>
                <a:hlinkClick r:id="rId2"/>
              </a:rPr>
              <a:t>https://pve.proxmo</a:t>
            </a:r>
            <a:r>
              <a:rPr spc="-10" dirty="0">
                <a:solidFill>
                  <a:srgbClr val="287FB8"/>
                </a:solidFill>
              </a:rPr>
              <a:t> </a:t>
            </a:r>
            <a:r>
              <a:rPr spc="-10" dirty="0">
                <a:solidFill>
                  <a:srgbClr val="287FB8"/>
                </a:solidFill>
                <a:hlinkClick r:id="rId2"/>
              </a:rPr>
              <a:t>x.com/wiki/Roadmap</a:t>
            </a:r>
          </a:p>
          <a:p>
            <a:pPr marL="12700" marR="52069">
              <a:lnSpc>
                <a:spcPts val="2570"/>
              </a:lnSpc>
              <a:spcBef>
                <a:spcPts val="1555"/>
              </a:spcBef>
            </a:pPr>
            <a:r>
              <a:rPr spc="-10" dirty="0"/>
              <a:t>Follow</a:t>
            </a:r>
            <a:r>
              <a:rPr spc="-60" dirty="0"/>
              <a:t> </a:t>
            </a:r>
            <a:r>
              <a:rPr spc="85" dirty="0"/>
              <a:t>our</a:t>
            </a:r>
            <a:r>
              <a:rPr spc="-60" dirty="0"/>
              <a:t> </a:t>
            </a:r>
            <a:r>
              <a:rPr dirty="0"/>
              <a:t>mailing</a:t>
            </a:r>
            <a:r>
              <a:rPr spc="-55" dirty="0"/>
              <a:t> </a:t>
            </a:r>
            <a:r>
              <a:rPr dirty="0"/>
              <a:t>lists</a:t>
            </a:r>
            <a:r>
              <a:rPr spc="-60" dirty="0"/>
              <a:t> </a:t>
            </a:r>
            <a:r>
              <a:rPr spc="80" dirty="0"/>
              <a:t>for</a:t>
            </a:r>
            <a:r>
              <a:rPr spc="-60" dirty="0"/>
              <a:t> </a:t>
            </a:r>
            <a:r>
              <a:rPr dirty="0"/>
              <a:t>latest</a:t>
            </a:r>
            <a:r>
              <a:rPr spc="-55" dirty="0"/>
              <a:t> </a:t>
            </a:r>
            <a:r>
              <a:rPr spc="55" dirty="0"/>
              <a:t>information</a:t>
            </a:r>
            <a:r>
              <a:rPr spc="-20" dirty="0"/>
              <a:t> </a:t>
            </a:r>
            <a:r>
              <a:rPr spc="-10" dirty="0">
                <a:solidFill>
                  <a:srgbClr val="287FB8"/>
                </a:solidFill>
                <a:hlinkClick r:id="rId3"/>
              </a:rPr>
              <a:t>https://lists.proxm</a:t>
            </a:r>
            <a:r>
              <a:rPr spc="-10" dirty="0">
                <a:solidFill>
                  <a:srgbClr val="287FB8"/>
                </a:solidFill>
              </a:rPr>
              <a:t> </a:t>
            </a:r>
            <a:r>
              <a:rPr spc="-10" dirty="0">
                <a:solidFill>
                  <a:srgbClr val="287FB8"/>
                </a:solidFill>
                <a:hlinkClick r:id="rId3"/>
              </a:rPr>
              <a:t>ox.com</a:t>
            </a:r>
          </a:p>
        </p:txBody>
      </p:sp>
      <p:sp>
        <p:nvSpPr>
          <p:cNvPr id="5" name="object 5"/>
          <p:cNvSpPr txBox="1"/>
          <p:nvPr/>
        </p:nvSpPr>
        <p:spPr>
          <a:xfrm>
            <a:off x="562940" y="2266831"/>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2854" y="1896030"/>
            <a:ext cx="4825365" cy="1287145"/>
          </a:xfrm>
          <a:prstGeom prst="rect">
            <a:avLst/>
          </a:prstGeom>
        </p:spPr>
        <p:txBody>
          <a:bodyPr vert="horz" wrap="square" lIns="0" tIns="94615" rIns="0" bIns="0" rtlCol="0">
            <a:spAutoFit/>
          </a:bodyPr>
          <a:lstStyle/>
          <a:p>
            <a:pPr marR="12065" algn="ctr">
              <a:lnSpc>
                <a:spcPct val="100000"/>
              </a:lnSpc>
              <a:spcBef>
                <a:spcPts val="745"/>
              </a:spcBef>
            </a:pPr>
            <a:r>
              <a:rPr sz="3600" spc="395" dirty="0"/>
              <a:t>PROXMOX</a:t>
            </a:r>
            <a:endParaRPr sz="3600"/>
          </a:p>
          <a:p>
            <a:pPr algn="ctr">
              <a:lnSpc>
                <a:spcPct val="100000"/>
              </a:lnSpc>
              <a:spcBef>
                <a:spcPts val="645"/>
              </a:spcBef>
            </a:pPr>
            <a:r>
              <a:rPr sz="3600" spc="295" dirty="0"/>
              <a:t>SUPPORT</a:t>
            </a:r>
            <a:r>
              <a:rPr sz="3600" spc="-10" dirty="0"/>
              <a:t> </a:t>
            </a:r>
            <a:r>
              <a:rPr sz="3600" spc="95" dirty="0"/>
              <a:t>&amp;</a:t>
            </a:r>
            <a:r>
              <a:rPr sz="3600" spc="-10" dirty="0"/>
              <a:t> </a:t>
            </a:r>
            <a:r>
              <a:rPr sz="3600" spc="225" dirty="0"/>
              <a:t>SERVICE</a:t>
            </a:r>
            <a:endParaRPr sz="3600"/>
          </a:p>
        </p:txBody>
      </p:sp>
      <p:sp>
        <p:nvSpPr>
          <p:cNvPr id="3" name="object 3"/>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4" name="object 4"/>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54</a:t>
            </a:fld>
            <a:r>
              <a:rPr spc="-10" dirty="0"/>
              <a:t>/60</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Enterprise</a:t>
            </a:r>
            <a:r>
              <a:rPr spc="40" dirty="0"/>
              <a:t> </a:t>
            </a:r>
            <a:r>
              <a:rPr spc="-10" dirty="0"/>
              <a:t>Support</a:t>
            </a:r>
          </a:p>
        </p:txBody>
      </p:sp>
      <p:sp>
        <p:nvSpPr>
          <p:cNvPr id="8" name="object 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9" name="object 9"/>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55</a:t>
            </a:fld>
            <a:r>
              <a:rPr spc="-10" dirty="0"/>
              <a:t>/60</a:t>
            </a:r>
          </a:p>
        </p:txBody>
      </p:sp>
      <p:sp>
        <p:nvSpPr>
          <p:cNvPr id="3" name="object 3"/>
          <p:cNvSpPr txBox="1"/>
          <p:nvPr/>
        </p:nvSpPr>
        <p:spPr>
          <a:xfrm>
            <a:off x="562940"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4" name="object 4"/>
          <p:cNvSpPr txBox="1"/>
          <p:nvPr/>
        </p:nvSpPr>
        <p:spPr>
          <a:xfrm>
            <a:off x="886942" y="1284522"/>
            <a:ext cx="8630920" cy="3173095"/>
          </a:xfrm>
          <a:prstGeom prst="rect">
            <a:avLst/>
          </a:prstGeom>
        </p:spPr>
        <p:txBody>
          <a:bodyPr vert="horz" wrap="square" lIns="0" tIns="12700" rIns="0" bIns="0" rtlCol="0">
            <a:spAutoFit/>
          </a:bodyPr>
          <a:lstStyle/>
          <a:p>
            <a:pPr marL="12700" marR="299085">
              <a:lnSpc>
                <a:spcPct val="113799"/>
              </a:lnSpc>
              <a:spcBef>
                <a:spcPts val="100"/>
              </a:spcBef>
            </a:pPr>
            <a:r>
              <a:rPr sz="2400" dirty="0">
                <a:solidFill>
                  <a:srgbClr val="454C4C"/>
                </a:solidFill>
                <a:latin typeface="Arial MT"/>
                <a:cs typeface="Arial MT"/>
              </a:rPr>
              <a:t>Annual</a:t>
            </a:r>
            <a:r>
              <a:rPr sz="2400" spc="10" dirty="0">
                <a:solidFill>
                  <a:srgbClr val="454C4C"/>
                </a:solidFill>
                <a:latin typeface="Arial MT"/>
                <a:cs typeface="Arial MT"/>
              </a:rPr>
              <a:t> </a:t>
            </a:r>
            <a:r>
              <a:rPr sz="2400" dirty="0">
                <a:solidFill>
                  <a:srgbClr val="454C4C"/>
                </a:solidFill>
                <a:latin typeface="Arial MT"/>
                <a:cs typeface="Arial MT"/>
              </a:rPr>
              <a:t>subscription:</a:t>
            </a:r>
            <a:r>
              <a:rPr sz="2400" spc="15" dirty="0">
                <a:solidFill>
                  <a:srgbClr val="454C4C"/>
                </a:solidFill>
                <a:latin typeface="Arial MT"/>
                <a:cs typeface="Arial MT"/>
              </a:rPr>
              <a:t> </a:t>
            </a:r>
            <a:r>
              <a:rPr sz="2400" dirty="0">
                <a:solidFill>
                  <a:srgbClr val="454C4C"/>
                </a:solidFill>
                <a:latin typeface="Arial MT"/>
                <a:cs typeface="Arial MT"/>
              </a:rPr>
              <a:t>provides</a:t>
            </a:r>
            <a:r>
              <a:rPr sz="2400" spc="10" dirty="0">
                <a:solidFill>
                  <a:srgbClr val="454C4C"/>
                </a:solidFill>
                <a:latin typeface="Arial MT"/>
                <a:cs typeface="Arial MT"/>
              </a:rPr>
              <a:t> </a:t>
            </a:r>
            <a:r>
              <a:rPr sz="2400" spc="-70" dirty="0">
                <a:solidFill>
                  <a:srgbClr val="454C4C"/>
                </a:solidFill>
                <a:latin typeface="Arial MT"/>
                <a:cs typeface="Arial MT"/>
              </a:rPr>
              <a:t>access</a:t>
            </a:r>
            <a:r>
              <a:rPr sz="2400" spc="15" dirty="0">
                <a:solidFill>
                  <a:srgbClr val="454C4C"/>
                </a:solidFill>
                <a:latin typeface="Arial MT"/>
                <a:cs typeface="Arial MT"/>
              </a:rPr>
              <a:t> </a:t>
            </a:r>
            <a:r>
              <a:rPr sz="2400" spc="95" dirty="0">
                <a:solidFill>
                  <a:srgbClr val="454C4C"/>
                </a:solidFill>
                <a:latin typeface="Arial MT"/>
                <a:cs typeface="Arial MT"/>
              </a:rPr>
              <a:t>to</a:t>
            </a:r>
            <a:r>
              <a:rPr sz="2400" spc="10" dirty="0">
                <a:solidFill>
                  <a:srgbClr val="454C4C"/>
                </a:solidFill>
                <a:latin typeface="Arial MT"/>
                <a:cs typeface="Arial MT"/>
              </a:rPr>
              <a:t> </a:t>
            </a:r>
            <a:r>
              <a:rPr sz="2400" spc="60" dirty="0">
                <a:solidFill>
                  <a:srgbClr val="454C4C"/>
                </a:solidFill>
                <a:latin typeface="Arial MT"/>
                <a:cs typeface="Arial MT"/>
              </a:rPr>
              <a:t>the</a:t>
            </a:r>
            <a:r>
              <a:rPr sz="2400" spc="15" dirty="0">
                <a:solidFill>
                  <a:srgbClr val="454C4C"/>
                </a:solidFill>
                <a:latin typeface="Arial MT"/>
                <a:cs typeface="Arial MT"/>
              </a:rPr>
              <a:t> </a:t>
            </a:r>
            <a:r>
              <a:rPr sz="2400" dirty="0">
                <a:solidFill>
                  <a:srgbClr val="454C4C"/>
                </a:solidFill>
                <a:latin typeface="Arial MT"/>
                <a:cs typeface="Arial MT"/>
              </a:rPr>
              <a:t>stable</a:t>
            </a:r>
            <a:r>
              <a:rPr sz="2400" spc="10" dirty="0">
                <a:solidFill>
                  <a:srgbClr val="454C4C"/>
                </a:solidFill>
                <a:latin typeface="Arial MT"/>
                <a:cs typeface="Arial MT"/>
              </a:rPr>
              <a:t> </a:t>
            </a:r>
            <a:r>
              <a:rPr sz="2400" spc="-10" dirty="0">
                <a:solidFill>
                  <a:srgbClr val="454C4C"/>
                </a:solidFill>
                <a:latin typeface="Arial MT"/>
                <a:cs typeface="Arial MT"/>
              </a:rPr>
              <a:t>Enterprise repositories</a:t>
            </a:r>
            <a:endParaRPr sz="2400">
              <a:latin typeface="Arial MT"/>
              <a:cs typeface="Arial MT"/>
            </a:endParaRPr>
          </a:p>
          <a:p>
            <a:pPr marL="12700" marR="813435">
              <a:lnSpc>
                <a:spcPct val="113799"/>
              </a:lnSpc>
              <a:spcBef>
                <a:spcPts val="850"/>
              </a:spcBef>
            </a:pPr>
            <a:r>
              <a:rPr sz="2400" spc="-30" dirty="0">
                <a:solidFill>
                  <a:srgbClr val="454C4C"/>
                </a:solidFill>
                <a:latin typeface="Arial MT"/>
                <a:cs typeface="Arial MT"/>
              </a:rPr>
              <a:t>Technical</a:t>
            </a:r>
            <a:r>
              <a:rPr sz="2400" spc="-10" dirty="0">
                <a:solidFill>
                  <a:srgbClr val="454C4C"/>
                </a:solidFill>
                <a:latin typeface="Arial MT"/>
                <a:cs typeface="Arial MT"/>
              </a:rPr>
              <a:t> </a:t>
            </a:r>
            <a:r>
              <a:rPr sz="2400" dirty="0">
                <a:solidFill>
                  <a:srgbClr val="454C4C"/>
                </a:solidFill>
                <a:latin typeface="Arial MT"/>
                <a:cs typeface="Arial MT"/>
              </a:rPr>
              <a:t>help:</a:t>
            </a:r>
            <a:r>
              <a:rPr sz="2400" spc="-5" dirty="0">
                <a:solidFill>
                  <a:srgbClr val="454C4C"/>
                </a:solidFill>
                <a:latin typeface="Arial MT"/>
                <a:cs typeface="Arial MT"/>
              </a:rPr>
              <a:t> </a:t>
            </a:r>
            <a:r>
              <a:rPr sz="2400" dirty="0">
                <a:solidFill>
                  <a:srgbClr val="454C4C"/>
                </a:solidFill>
                <a:latin typeface="Arial MT"/>
                <a:cs typeface="Arial MT"/>
              </a:rPr>
              <a:t>fast</a:t>
            </a:r>
            <a:r>
              <a:rPr sz="2400" spc="-5" dirty="0">
                <a:solidFill>
                  <a:srgbClr val="454C4C"/>
                </a:solidFill>
                <a:latin typeface="Arial MT"/>
                <a:cs typeface="Arial MT"/>
              </a:rPr>
              <a:t> </a:t>
            </a:r>
            <a:r>
              <a:rPr sz="2400" dirty="0">
                <a:solidFill>
                  <a:srgbClr val="454C4C"/>
                </a:solidFill>
                <a:latin typeface="Arial MT"/>
                <a:cs typeface="Arial MT"/>
              </a:rPr>
              <a:t>and</a:t>
            </a:r>
            <a:r>
              <a:rPr sz="2400" spc="-5" dirty="0">
                <a:solidFill>
                  <a:srgbClr val="454C4C"/>
                </a:solidFill>
                <a:latin typeface="Arial MT"/>
                <a:cs typeface="Arial MT"/>
              </a:rPr>
              <a:t> </a:t>
            </a:r>
            <a:r>
              <a:rPr sz="2400" dirty="0">
                <a:solidFill>
                  <a:srgbClr val="454C4C"/>
                </a:solidFill>
                <a:latin typeface="Arial MT"/>
                <a:cs typeface="Arial MT"/>
              </a:rPr>
              <a:t>direct</a:t>
            </a:r>
            <a:r>
              <a:rPr sz="2400" spc="-5" dirty="0">
                <a:solidFill>
                  <a:srgbClr val="454C4C"/>
                </a:solidFill>
                <a:latin typeface="Arial MT"/>
                <a:cs typeface="Arial MT"/>
              </a:rPr>
              <a:t> </a:t>
            </a:r>
            <a:r>
              <a:rPr sz="2400" spc="60" dirty="0">
                <a:solidFill>
                  <a:srgbClr val="454C4C"/>
                </a:solidFill>
                <a:latin typeface="Arial MT"/>
                <a:cs typeface="Arial MT"/>
              </a:rPr>
              <a:t>support</a:t>
            </a:r>
            <a:r>
              <a:rPr sz="2400" spc="-5" dirty="0">
                <a:solidFill>
                  <a:srgbClr val="454C4C"/>
                </a:solidFill>
                <a:latin typeface="Arial MT"/>
                <a:cs typeface="Arial MT"/>
              </a:rPr>
              <a:t> </a:t>
            </a:r>
            <a:r>
              <a:rPr sz="2400" spc="80" dirty="0">
                <a:solidFill>
                  <a:srgbClr val="454C4C"/>
                </a:solidFill>
                <a:latin typeface="Arial MT"/>
                <a:cs typeface="Arial MT"/>
              </a:rPr>
              <a:t>from</a:t>
            </a:r>
            <a:r>
              <a:rPr sz="2400" spc="-5" dirty="0">
                <a:solidFill>
                  <a:srgbClr val="454C4C"/>
                </a:solidFill>
                <a:latin typeface="Arial MT"/>
                <a:cs typeface="Arial MT"/>
              </a:rPr>
              <a:t> </a:t>
            </a:r>
            <a:r>
              <a:rPr sz="2400" spc="60" dirty="0">
                <a:solidFill>
                  <a:srgbClr val="454C4C"/>
                </a:solidFill>
                <a:latin typeface="Arial MT"/>
                <a:cs typeface="Arial MT"/>
              </a:rPr>
              <a:t>the</a:t>
            </a:r>
            <a:r>
              <a:rPr sz="2400" spc="-5" dirty="0">
                <a:solidFill>
                  <a:srgbClr val="454C4C"/>
                </a:solidFill>
                <a:latin typeface="Arial MT"/>
                <a:cs typeface="Arial MT"/>
              </a:rPr>
              <a:t> </a:t>
            </a:r>
            <a:r>
              <a:rPr sz="2400" spc="-10" dirty="0">
                <a:solidFill>
                  <a:srgbClr val="454C4C"/>
                </a:solidFill>
                <a:latin typeface="Arial MT"/>
                <a:cs typeface="Arial MT"/>
              </a:rPr>
              <a:t>Proxmox </a:t>
            </a:r>
            <a:r>
              <a:rPr sz="2400" spc="60" dirty="0">
                <a:solidFill>
                  <a:srgbClr val="454C4C"/>
                </a:solidFill>
                <a:latin typeface="Arial MT"/>
                <a:cs typeface="Arial MT"/>
              </a:rPr>
              <a:t>support</a:t>
            </a:r>
            <a:r>
              <a:rPr sz="2400" spc="-20" dirty="0">
                <a:solidFill>
                  <a:srgbClr val="454C4C"/>
                </a:solidFill>
                <a:latin typeface="Arial MT"/>
                <a:cs typeface="Arial MT"/>
              </a:rPr>
              <a:t> team</a:t>
            </a:r>
            <a:endParaRPr sz="2400">
              <a:latin typeface="Arial MT"/>
              <a:cs typeface="Arial MT"/>
            </a:endParaRPr>
          </a:p>
          <a:p>
            <a:pPr marL="12700" marR="5080">
              <a:lnSpc>
                <a:spcPts val="2570"/>
              </a:lnSpc>
              <a:spcBef>
                <a:spcPts val="1590"/>
              </a:spcBef>
            </a:pPr>
            <a:r>
              <a:rPr sz="2400" spc="-80" dirty="0">
                <a:solidFill>
                  <a:srgbClr val="454C4C"/>
                </a:solidFill>
                <a:latin typeface="Arial MT"/>
                <a:cs typeface="Arial MT"/>
              </a:rPr>
              <a:t>Access</a:t>
            </a:r>
            <a:r>
              <a:rPr sz="2400" spc="-15" dirty="0">
                <a:solidFill>
                  <a:srgbClr val="454C4C"/>
                </a:solidFill>
                <a:latin typeface="Arial MT"/>
                <a:cs typeface="Arial MT"/>
              </a:rPr>
              <a:t> </a:t>
            </a:r>
            <a:r>
              <a:rPr sz="2400" spc="95" dirty="0">
                <a:solidFill>
                  <a:srgbClr val="454C4C"/>
                </a:solidFill>
                <a:latin typeface="Arial MT"/>
                <a:cs typeface="Arial MT"/>
              </a:rPr>
              <a:t>to</a:t>
            </a:r>
            <a:r>
              <a:rPr sz="2400" spc="-10" dirty="0">
                <a:solidFill>
                  <a:srgbClr val="454C4C"/>
                </a:solidFill>
                <a:latin typeface="Arial MT"/>
                <a:cs typeface="Arial MT"/>
              </a:rPr>
              <a:t> </a:t>
            </a:r>
            <a:r>
              <a:rPr sz="2400" spc="60" dirty="0">
                <a:solidFill>
                  <a:srgbClr val="454C4C"/>
                </a:solidFill>
                <a:latin typeface="Arial MT"/>
                <a:cs typeface="Arial MT"/>
              </a:rPr>
              <a:t>the</a:t>
            </a:r>
            <a:r>
              <a:rPr sz="2400" spc="-10" dirty="0">
                <a:solidFill>
                  <a:srgbClr val="454C4C"/>
                </a:solidFill>
                <a:latin typeface="Arial MT"/>
                <a:cs typeface="Arial MT"/>
              </a:rPr>
              <a:t> </a:t>
            </a:r>
            <a:r>
              <a:rPr sz="2400" dirty="0">
                <a:solidFill>
                  <a:srgbClr val="454C4C"/>
                </a:solidFill>
                <a:latin typeface="Arial MT"/>
                <a:cs typeface="Arial MT"/>
              </a:rPr>
              <a:t>Proxmox</a:t>
            </a:r>
            <a:r>
              <a:rPr sz="2400" spc="-10" dirty="0">
                <a:solidFill>
                  <a:srgbClr val="454C4C"/>
                </a:solidFill>
                <a:latin typeface="Arial MT"/>
                <a:cs typeface="Arial MT"/>
              </a:rPr>
              <a:t> </a:t>
            </a:r>
            <a:r>
              <a:rPr sz="2400" dirty="0">
                <a:solidFill>
                  <a:srgbClr val="454C4C"/>
                </a:solidFill>
                <a:latin typeface="Arial MT"/>
                <a:cs typeface="Arial MT"/>
              </a:rPr>
              <a:t>Customer</a:t>
            </a:r>
            <a:r>
              <a:rPr sz="2400" spc="-10" dirty="0">
                <a:solidFill>
                  <a:srgbClr val="454C4C"/>
                </a:solidFill>
                <a:latin typeface="Arial MT"/>
                <a:cs typeface="Arial MT"/>
              </a:rPr>
              <a:t> </a:t>
            </a:r>
            <a:r>
              <a:rPr sz="2400" dirty="0">
                <a:solidFill>
                  <a:srgbClr val="454C4C"/>
                </a:solidFill>
                <a:latin typeface="Arial MT"/>
                <a:cs typeface="Arial MT"/>
              </a:rPr>
              <a:t>Portal</a:t>
            </a:r>
            <a:r>
              <a:rPr sz="2400" spc="20" dirty="0">
                <a:solidFill>
                  <a:srgbClr val="454C4C"/>
                </a:solidFill>
                <a:latin typeface="Arial MT"/>
                <a:cs typeface="Arial MT"/>
              </a:rPr>
              <a:t> </a:t>
            </a:r>
            <a:r>
              <a:rPr sz="2400" spc="-10" dirty="0">
                <a:solidFill>
                  <a:srgbClr val="287FB8"/>
                </a:solidFill>
                <a:latin typeface="Arial MT"/>
                <a:cs typeface="Arial MT"/>
                <a:hlinkClick r:id="rId2"/>
              </a:rPr>
              <a:t>https://my.proxmox.co</a:t>
            </a:r>
            <a:r>
              <a:rPr sz="2400" spc="-10" dirty="0">
                <a:solidFill>
                  <a:srgbClr val="287FB8"/>
                </a:solidFill>
                <a:latin typeface="Arial MT"/>
                <a:cs typeface="Arial MT"/>
              </a:rPr>
              <a:t> </a:t>
            </a:r>
            <a:r>
              <a:rPr sz="2400" spc="50" dirty="0">
                <a:solidFill>
                  <a:srgbClr val="287FB8"/>
                </a:solidFill>
                <a:latin typeface="Arial MT"/>
                <a:cs typeface="Arial MT"/>
                <a:hlinkClick r:id="rId2"/>
              </a:rPr>
              <a:t>m</a:t>
            </a:r>
            <a:endParaRPr sz="2400">
              <a:latin typeface="Arial MT"/>
              <a:cs typeface="Arial MT"/>
            </a:endParaRPr>
          </a:p>
          <a:p>
            <a:pPr marL="12700">
              <a:lnSpc>
                <a:spcPct val="100000"/>
              </a:lnSpc>
              <a:spcBef>
                <a:spcPts val="1210"/>
              </a:spcBef>
            </a:pPr>
            <a:r>
              <a:rPr sz="2400" dirty="0">
                <a:solidFill>
                  <a:srgbClr val="454C4C"/>
                </a:solidFill>
                <a:latin typeface="Arial MT"/>
                <a:cs typeface="Arial MT"/>
              </a:rPr>
              <a:t>Remote</a:t>
            </a:r>
            <a:r>
              <a:rPr sz="2400" spc="-120" dirty="0">
                <a:solidFill>
                  <a:srgbClr val="454C4C"/>
                </a:solidFill>
                <a:latin typeface="Arial MT"/>
                <a:cs typeface="Arial MT"/>
              </a:rPr>
              <a:t> </a:t>
            </a:r>
            <a:r>
              <a:rPr sz="2400" spc="-70" dirty="0">
                <a:solidFill>
                  <a:srgbClr val="454C4C"/>
                </a:solidFill>
                <a:latin typeface="Arial MT"/>
                <a:cs typeface="Arial MT"/>
              </a:rPr>
              <a:t>access</a:t>
            </a:r>
            <a:r>
              <a:rPr sz="2400" spc="-95" dirty="0">
                <a:solidFill>
                  <a:srgbClr val="454C4C"/>
                </a:solidFill>
                <a:latin typeface="Arial MT"/>
                <a:cs typeface="Arial MT"/>
              </a:rPr>
              <a:t> </a:t>
            </a:r>
            <a:r>
              <a:rPr sz="2400" spc="-45" dirty="0">
                <a:solidFill>
                  <a:srgbClr val="454C4C"/>
                </a:solidFill>
                <a:latin typeface="Arial MT"/>
                <a:cs typeface="Arial MT"/>
              </a:rPr>
              <a:t>via</a:t>
            </a:r>
            <a:r>
              <a:rPr sz="2400" spc="-105" dirty="0">
                <a:solidFill>
                  <a:srgbClr val="454C4C"/>
                </a:solidFill>
                <a:latin typeface="Arial MT"/>
                <a:cs typeface="Arial MT"/>
              </a:rPr>
              <a:t> </a:t>
            </a:r>
            <a:r>
              <a:rPr sz="2400" spc="-45" dirty="0">
                <a:solidFill>
                  <a:srgbClr val="454C4C"/>
                </a:solidFill>
                <a:latin typeface="Arial MT"/>
                <a:cs typeface="Arial MT"/>
              </a:rPr>
              <a:t>SSH/HTTPS</a:t>
            </a:r>
            <a:endParaRPr sz="2400">
              <a:latin typeface="Arial MT"/>
              <a:cs typeface="Arial MT"/>
            </a:endParaRPr>
          </a:p>
        </p:txBody>
      </p:sp>
      <p:sp>
        <p:nvSpPr>
          <p:cNvPr id="5" name="object 5"/>
          <p:cNvSpPr txBox="1"/>
          <p:nvPr/>
        </p:nvSpPr>
        <p:spPr>
          <a:xfrm>
            <a:off x="562940" y="235682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6" name="object 6"/>
          <p:cNvSpPr txBox="1"/>
          <p:nvPr/>
        </p:nvSpPr>
        <p:spPr>
          <a:xfrm>
            <a:off x="562940" y="3297144"/>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7" name="object 7"/>
          <p:cNvSpPr txBox="1"/>
          <p:nvPr/>
        </p:nvSpPr>
        <p:spPr>
          <a:xfrm>
            <a:off x="562940" y="414747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Package</a:t>
            </a:r>
            <a:r>
              <a:rPr spc="-350" dirty="0"/>
              <a:t> </a:t>
            </a:r>
            <a:r>
              <a:rPr spc="-10" dirty="0"/>
              <a:t>Repositories</a:t>
            </a:r>
          </a:p>
        </p:txBody>
      </p:sp>
      <p:sp>
        <p:nvSpPr>
          <p:cNvPr id="3" name="object 3"/>
          <p:cNvSpPr txBox="1"/>
          <p:nvPr/>
        </p:nvSpPr>
        <p:spPr>
          <a:xfrm>
            <a:off x="469341" y="1093318"/>
            <a:ext cx="8900160" cy="788035"/>
          </a:xfrm>
          <a:prstGeom prst="rect">
            <a:avLst/>
          </a:prstGeom>
        </p:spPr>
        <p:txBody>
          <a:bodyPr vert="horz" wrap="square" lIns="0" tIns="12700" rIns="0" bIns="0" rtlCol="0">
            <a:spAutoFit/>
          </a:bodyPr>
          <a:lstStyle/>
          <a:p>
            <a:pPr marL="12700" marR="5080">
              <a:lnSpc>
                <a:spcPct val="113700"/>
              </a:lnSpc>
              <a:spcBef>
                <a:spcPts val="100"/>
              </a:spcBef>
            </a:pPr>
            <a:r>
              <a:rPr sz="2200" dirty="0">
                <a:solidFill>
                  <a:srgbClr val="454C4C"/>
                </a:solidFill>
                <a:latin typeface="Arial MT"/>
                <a:cs typeface="Arial MT"/>
              </a:rPr>
              <a:t>Proxmox</a:t>
            </a:r>
            <a:r>
              <a:rPr sz="2200" spc="-35" dirty="0">
                <a:solidFill>
                  <a:srgbClr val="454C4C"/>
                </a:solidFill>
                <a:latin typeface="Arial MT"/>
                <a:cs typeface="Arial MT"/>
              </a:rPr>
              <a:t> </a:t>
            </a:r>
            <a:r>
              <a:rPr sz="2200" dirty="0">
                <a:solidFill>
                  <a:srgbClr val="454C4C"/>
                </a:solidFill>
                <a:latin typeface="Arial MT"/>
                <a:cs typeface="Arial MT"/>
              </a:rPr>
              <a:t>solutions</a:t>
            </a:r>
            <a:r>
              <a:rPr sz="2200" spc="-30" dirty="0">
                <a:solidFill>
                  <a:srgbClr val="454C4C"/>
                </a:solidFill>
                <a:latin typeface="Arial MT"/>
                <a:cs typeface="Arial MT"/>
              </a:rPr>
              <a:t> </a:t>
            </a:r>
            <a:r>
              <a:rPr sz="2200" dirty="0">
                <a:solidFill>
                  <a:srgbClr val="454C4C"/>
                </a:solidFill>
                <a:latin typeface="Arial MT"/>
                <a:cs typeface="Arial MT"/>
              </a:rPr>
              <a:t>use</a:t>
            </a:r>
            <a:r>
              <a:rPr sz="2200" spc="-30" dirty="0">
                <a:solidFill>
                  <a:srgbClr val="454C4C"/>
                </a:solidFill>
                <a:latin typeface="Arial MT"/>
                <a:cs typeface="Arial MT"/>
              </a:rPr>
              <a:t> </a:t>
            </a:r>
            <a:r>
              <a:rPr sz="2200" spc="-190" dirty="0">
                <a:solidFill>
                  <a:srgbClr val="454C4C"/>
                </a:solidFill>
                <a:latin typeface="Arial MT"/>
                <a:cs typeface="Arial MT"/>
              </a:rPr>
              <a:t>APT</a:t>
            </a:r>
            <a:r>
              <a:rPr sz="2200" spc="-35" dirty="0">
                <a:solidFill>
                  <a:srgbClr val="454C4C"/>
                </a:solidFill>
                <a:latin typeface="Arial MT"/>
                <a:cs typeface="Arial MT"/>
              </a:rPr>
              <a:t> </a:t>
            </a:r>
            <a:r>
              <a:rPr sz="2200" spc="-45" dirty="0">
                <a:solidFill>
                  <a:srgbClr val="454C4C"/>
                </a:solidFill>
                <a:latin typeface="Arial MT"/>
                <a:cs typeface="Arial MT"/>
              </a:rPr>
              <a:t>as</a:t>
            </a:r>
            <a:r>
              <a:rPr sz="2200" spc="-30" dirty="0">
                <a:solidFill>
                  <a:srgbClr val="454C4C"/>
                </a:solidFill>
                <a:latin typeface="Arial MT"/>
                <a:cs typeface="Arial MT"/>
              </a:rPr>
              <a:t> </a:t>
            </a:r>
            <a:r>
              <a:rPr sz="2200" spc="-35" dirty="0">
                <a:solidFill>
                  <a:srgbClr val="454C4C"/>
                </a:solidFill>
                <a:latin typeface="Arial MT"/>
                <a:cs typeface="Arial MT"/>
              </a:rPr>
              <a:t>package</a:t>
            </a:r>
            <a:r>
              <a:rPr sz="2200" spc="-30" dirty="0">
                <a:solidFill>
                  <a:srgbClr val="454C4C"/>
                </a:solidFill>
                <a:latin typeface="Arial MT"/>
                <a:cs typeface="Arial MT"/>
              </a:rPr>
              <a:t> </a:t>
            </a:r>
            <a:r>
              <a:rPr sz="2200" dirty="0">
                <a:solidFill>
                  <a:srgbClr val="454C4C"/>
                </a:solidFill>
                <a:latin typeface="Arial MT"/>
                <a:cs typeface="Arial MT"/>
              </a:rPr>
              <a:t>management</a:t>
            </a:r>
            <a:r>
              <a:rPr sz="2200" spc="-35" dirty="0">
                <a:solidFill>
                  <a:srgbClr val="454C4C"/>
                </a:solidFill>
                <a:latin typeface="Arial MT"/>
                <a:cs typeface="Arial MT"/>
              </a:rPr>
              <a:t> </a:t>
            </a:r>
            <a:r>
              <a:rPr sz="2200" spc="55" dirty="0">
                <a:solidFill>
                  <a:srgbClr val="454C4C"/>
                </a:solidFill>
                <a:latin typeface="Arial MT"/>
                <a:cs typeface="Arial MT"/>
              </a:rPr>
              <a:t>tool</a:t>
            </a:r>
            <a:r>
              <a:rPr sz="2200" spc="-30" dirty="0">
                <a:solidFill>
                  <a:srgbClr val="454C4C"/>
                </a:solidFill>
                <a:latin typeface="Arial MT"/>
                <a:cs typeface="Arial MT"/>
              </a:rPr>
              <a:t> </a:t>
            </a:r>
            <a:r>
              <a:rPr sz="2200" spc="-45" dirty="0">
                <a:solidFill>
                  <a:srgbClr val="454C4C"/>
                </a:solidFill>
                <a:latin typeface="Arial MT"/>
                <a:cs typeface="Arial MT"/>
              </a:rPr>
              <a:t>as</a:t>
            </a:r>
            <a:r>
              <a:rPr sz="2200" spc="-30" dirty="0">
                <a:solidFill>
                  <a:srgbClr val="454C4C"/>
                </a:solidFill>
                <a:latin typeface="Arial MT"/>
                <a:cs typeface="Arial MT"/>
              </a:rPr>
              <a:t> </a:t>
            </a:r>
            <a:r>
              <a:rPr sz="2200" dirty="0">
                <a:solidFill>
                  <a:srgbClr val="454C4C"/>
                </a:solidFill>
                <a:latin typeface="Arial MT"/>
                <a:cs typeface="Arial MT"/>
              </a:rPr>
              <a:t>well</a:t>
            </a:r>
            <a:r>
              <a:rPr sz="2200" spc="-35" dirty="0">
                <a:solidFill>
                  <a:srgbClr val="454C4C"/>
                </a:solidFill>
                <a:latin typeface="Arial MT"/>
                <a:cs typeface="Arial MT"/>
              </a:rPr>
              <a:t> </a:t>
            </a:r>
            <a:r>
              <a:rPr sz="2200" spc="-50" dirty="0">
                <a:solidFill>
                  <a:srgbClr val="454C4C"/>
                </a:solidFill>
                <a:latin typeface="Arial MT"/>
                <a:cs typeface="Arial MT"/>
              </a:rPr>
              <a:t>as</a:t>
            </a:r>
            <a:r>
              <a:rPr sz="2200" spc="-35" dirty="0">
                <a:solidFill>
                  <a:srgbClr val="454C4C"/>
                </a:solidFill>
                <a:latin typeface="Arial MT"/>
                <a:cs typeface="Arial MT"/>
              </a:rPr>
              <a:t> </a:t>
            </a:r>
            <a:r>
              <a:rPr sz="2200" spc="-25" dirty="0">
                <a:solidFill>
                  <a:srgbClr val="454C4C"/>
                </a:solidFill>
                <a:latin typeface="Arial MT"/>
                <a:cs typeface="Arial MT"/>
              </a:rPr>
              <a:t>the </a:t>
            </a:r>
            <a:r>
              <a:rPr sz="2200" dirty="0">
                <a:solidFill>
                  <a:srgbClr val="454C4C"/>
                </a:solidFill>
                <a:latin typeface="Arial MT"/>
                <a:cs typeface="Arial MT"/>
              </a:rPr>
              <a:t>following</a:t>
            </a:r>
            <a:r>
              <a:rPr sz="2200" spc="140" dirty="0">
                <a:solidFill>
                  <a:srgbClr val="454C4C"/>
                </a:solidFill>
                <a:latin typeface="Arial MT"/>
                <a:cs typeface="Arial MT"/>
              </a:rPr>
              <a:t> </a:t>
            </a:r>
            <a:r>
              <a:rPr sz="2200" dirty="0">
                <a:solidFill>
                  <a:srgbClr val="454C4C"/>
                </a:solidFill>
                <a:latin typeface="Arial MT"/>
                <a:cs typeface="Arial MT"/>
              </a:rPr>
              <a:t>three</a:t>
            </a:r>
            <a:r>
              <a:rPr sz="2200" spc="140" dirty="0">
                <a:solidFill>
                  <a:srgbClr val="454C4C"/>
                </a:solidFill>
                <a:latin typeface="Arial MT"/>
                <a:cs typeface="Arial MT"/>
              </a:rPr>
              <a:t> </a:t>
            </a:r>
            <a:r>
              <a:rPr sz="2200" spc="-10" dirty="0">
                <a:solidFill>
                  <a:srgbClr val="454C4C"/>
                </a:solidFill>
                <a:latin typeface="Arial MT"/>
                <a:cs typeface="Arial MT"/>
              </a:rPr>
              <a:t>repositories:</a:t>
            </a:r>
            <a:endParaRPr sz="2200">
              <a:latin typeface="Arial MT"/>
              <a:cs typeface="Arial MT"/>
            </a:endParaRPr>
          </a:p>
        </p:txBody>
      </p:sp>
      <p:sp>
        <p:nvSpPr>
          <p:cNvPr id="4" name="object 4"/>
          <p:cNvSpPr/>
          <p:nvPr/>
        </p:nvSpPr>
        <p:spPr>
          <a:xfrm>
            <a:off x="468718" y="2016375"/>
            <a:ext cx="2868930" cy="3141345"/>
          </a:xfrm>
          <a:custGeom>
            <a:avLst/>
            <a:gdLst/>
            <a:ahLst/>
            <a:cxnLst/>
            <a:rect l="l" t="t" r="r" b="b"/>
            <a:pathLst>
              <a:path w="2868929" h="3141345">
                <a:moveTo>
                  <a:pt x="2664358" y="0"/>
                </a:moveTo>
                <a:lnTo>
                  <a:pt x="204482" y="0"/>
                </a:lnTo>
                <a:lnTo>
                  <a:pt x="177671" y="1743"/>
                </a:lnTo>
                <a:lnTo>
                  <a:pt x="126210" y="15489"/>
                </a:lnTo>
                <a:lnTo>
                  <a:pt x="80010" y="42293"/>
                </a:lnTo>
                <a:lnTo>
                  <a:pt x="42300" y="80003"/>
                </a:lnTo>
                <a:lnTo>
                  <a:pt x="15489" y="126210"/>
                </a:lnTo>
                <a:lnTo>
                  <a:pt x="1743" y="177665"/>
                </a:lnTo>
                <a:lnTo>
                  <a:pt x="0" y="2936519"/>
                </a:lnTo>
                <a:lnTo>
                  <a:pt x="1743" y="2963323"/>
                </a:lnTo>
                <a:lnTo>
                  <a:pt x="15489" y="3014779"/>
                </a:lnTo>
                <a:lnTo>
                  <a:pt x="42300" y="3060985"/>
                </a:lnTo>
                <a:lnTo>
                  <a:pt x="80010" y="3098695"/>
                </a:lnTo>
                <a:lnTo>
                  <a:pt x="126210" y="3125499"/>
                </a:lnTo>
                <a:lnTo>
                  <a:pt x="177671" y="3139245"/>
                </a:lnTo>
                <a:lnTo>
                  <a:pt x="204482" y="3140989"/>
                </a:lnTo>
                <a:lnTo>
                  <a:pt x="2669826" y="3140633"/>
                </a:lnTo>
                <a:lnTo>
                  <a:pt x="2717372" y="3134059"/>
                </a:lnTo>
                <a:lnTo>
                  <a:pt x="2766606" y="3113633"/>
                </a:lnTo>
                <a:lnTo>
                  <a:pt x="2808898" y="3081056"/>
                </a:lnTo>
                <a:lnTo>
                  <a:pt x="2841485" y="3038754"/>
                </a:lnTo>
                <a:lnTo>
                  <a:pt x="2861911" y="2989522"/>
                </a:lnTo>
                <a:lnTo>
                  <a:pt x="2868841" y="2936519"/>
                </a:lnTo>
                <a:lnTo>
                  <a:pt x="2868841" y="204114"/>
                </a:lnTo>
                <a:lnTo>
                  <a:pt x="2861911" y="151466"/>
                </a:lnTo>
                <a:lnTo>
                  <a:pt x="2841485" y="102235"/>
                </a:lnTo>
                <a:lnTo>
                  <a:pt x="2808898" y="59932"/>
                </a:lnTo>
                <a:lnTo>
                  <a:pt x="2766606" y="27355"/>
                </a:lnTo>
                <a:lnTo>
                  <a:pt x="2717372" y="6929"/>
                </a:lnTo>
                <a:lnTo>
                  <a:pt x="2664358" y="0"/>
                </a:lnTo>
                <a:close/>
              </a:path>
              <a:path w="2868929" h="3141345">
                <a:moveTo>
                  <a:pt x="2669826" y="3140633"/>
                </a:moveTo>
                <a:lnTo>
                  <a:pt x="2664358" y="3140633"/>
                </a:lnTo>
                <a:lnTo>
                  <a:pt x="2664358" y="3140989"/>
                </a:lnTo>
                <a:lnTo>
                  <a:pt x="2669826" y="3140633"/>
                </a:lnTo>
                <a:close/>
              </a:path>
            </a:pathLst>
          </a:custGeom>
          <a:solidFill>
            <a:srgbClr val="F2EEEC"/>
          </a:solidFill>
        </p:spPr>
        <p:txBody>
          <a:bodyPr wrap="square" lIns="0" tIns="0" rIns="0" bIns="0" rtlCol="0"/>
          <a:lstStyle/>
          <a:p>
            <a:endParaRPr/>
          </a:p>
        </p:txBody>
      </p:sp>
      <p:sp>
        <p:nvSpPr>
          <p:cNvPr id="5" name="object 5"/>
          <p:cNvSpPr txBox="1"/>
          <p:nvPr/>
        </p:nvSpPr>
        <p:spPr>
          <a:xfrm>
            <a:off x="685342" y="3298592"/>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6" name="object 6"/>
          <p:cNvSpPr txBox="1"/>
          <p:nvPr/>
        </p:nvSpPr>
        <p:spPr>
          <a:xfrm>
            <a:off x="685342" y="3644553"/>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7" name="object 7"/>
          <p:cNvSpPr txBox="1"/>
          <p:nvPr/>
        </p:nvSpPr>
        <p:spPr>
          <a:xfrm>
            <a:off x="685342" y="3990513"/>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8" name="object 8"/>
          <p:cNvSpPr txBox="1"/>
          <p:nvPr/>
        </p:nvSpPr>
        <p:spPr>
          <a:xfrm>
            <a:off x="685342" y="4682435"/>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9" name="object 9"/>
          <p:cNvSpPr txBox="1"/>
          <p:nvPr/>
        </p:nvSpPr>
        <p:spPr>
          <a:xfrm>
            <a:off x="901344" y="2197144"/>
            <a:ext cx="2204085" cy="2748280"/>
          </a:xfrm>
          <a:prstGeom prst="rect">
            <a:avLst/>
          </a:prstGeom>
        </p:spPr>
        <p:txBody>
          <a:bodyPr vert="horz" wrap="square" lIns="0" tIns="12700" rIns="0" bIns="0" rtlCol="0">
            <a:spAutoFit/>
          </a:bodyPr>
          <a:lstStyle/>
          <a:p>
            <a:pPr marL="182880" marR="387350" indent="39370">
              <a:lnSpc>
                <a:spcPct val="114999"/>
              </a:lnSpc>
              <a:spcBef>
                <a:spcPts val="100"/>
              </a:spcBef>
            </a:pPr>
            <a:r>
              <a:rPr sz="2600" b="1" spc="-105" dirty="0">
                <a:solidFill>
                  <a:srgbClr val="FF9000"/>
                </a:solidFill>
                <a:latin typeface="Tahoma"/>
                <a:cs typeface="Tahoma"/>
              </a:rPr>
              <a:t>Enterprise </a:t>
            </a:r>
            <a:r>
              <a:rPr sz="2600" b="1" spc="-140" dirty="0">
                <a:solidFill>
                  <a:srgbClr val="FF9000"/>
                </a:solidFill>
                <a:latin typeface="Tahoma"/>
                <a:cs typeface="Tahoma"/>
              </a:rPr>
              <a:t>Repository</a:t>
            </a:r>
            <a:endParaRPr sz="2600">
              <a:latin typeface="Tahoma"/>
              <a:cs typeface="Tahoma"/>
            </a:endParaRPr>
          </a:p>
          <a:p>
            <a:pPr marL="12700">
              <a:lnSpc>
                <a:spcPct val="100000"/>
              </a:lnSpc>
              <a:spcBef>
                <a:spcPts val="965"/>
              </a:spcBef>
            </a:pPr>
            <a:r>
              <a:rPr sz="2000" spc="-10" dirty="0">
                <a:solidFill>
                  <a:srgbClr val="454C4C"/>
                </a:solidFill>
                <a:latin typeface="Arial MT"/>
                <a:cs typeface="Arial MT"/>
              </a:rPr>
              <a:t>Default</a:t>
            </a:r>
            <a:endParaRPr sz="2000">
              <a:latin typeface="Arial MT"/>
              <a:cs typeface="Arial MT"/>
            </a:endParaRPr>
          </a:p>
          <a:p>
            <a:pPr marL="12700" marR="103505">
              <a:lnSpc>
                <a:spcPct val="113500"/>
              </a:lnSpc>
            </a:pPr>
            <a:r>
              <a:rPr sz="2000" dirty="0">
                <a:solidFill>
                  <a:srgbClr val="454C4C"/>
                </a:solidFill>
                <a:latin typeface="Arial MT"/>
                <a:cs typeface="Arial MT"/>
              </a:rPr>
              <a:t>For</a:t>
            </a:r>
            <a:r>
              <a:rPr sz="2000" spc="-110" dirty="0">
                <a:solidFill>
                  <a:srgbClr val="454C4C"/>
                </a:solidFill>
                <a:latin typeface="Arial MT"/>
                <a:cs typeface="Arial MT"/>
              </a:rPr>
              <a:t> </a:t>
            </a:r>
            <a:r>
              <a:rPr sz="2000" dirty="0">
                <a:solidFill>
                  <a:srgbClr val="454C4C"/>
                </a:solidFill>
                <a:latin typeface="Arial MT"/>
                <a:cs typeface="Arial MT"/>
              </a:rPr>
              <a:t>all</a:t>
            </a:r>
            <a:r>
              <a:rPr sz="2000" spc="-105" dirty="0">
                <a:solidFill>
                  <a:srgbClr val="454C4C"/>
                </a:solidFill>
                <a:latin typeface="Arial MT"/>
                <a:cs typeface="Arial MT"/>
              </a:rPr>
              <a:t> </a:t>
            </a:r>
            <a:r>
              <a:rPr sz="2000" spc="-10" dirty="0">
                <a:solidFill>
                  <a:srgbClr val="454C4C"/>
                </a:solidFill>
                <a:latin typeface="Arial MT"/>
                <a:cs typeface="Arial MT"/>
              </a:rPr>
              <a:t>subscribers </a:t>
            </a:r>
            <a:r>
              <a:rPr sz="2000" spc="-25" dirty="0">
                <a:solidFill>
                  <a:srgbClr val="454C4C"/>
                </a:solidFill>
                <a:latin typeface="Arial MT"/>
                <a:cs typeface="Arial MT"/>
              </a:rPr>
              <a:t>The</a:t>
            </a:r>
            <a:r>
              <a:rPr sz="2000" spc="10" dirty="0">
                <a:solidFill>
                  <a:srgbClr val="454C4C"/>
                </a:solidFill>
                <a:latin typeface="Arial MT"/>
                <a:cs typeface="Arial MT"/>
              </a:rPr>
              <a:t> </a:t>
            </a:r>
            <a:r>
              <a:rPr sz="2000" dirty="0">
                <a:solidFill>
                  <a:srgbClr val="454C4C"/>
                </a:solidFill>
                <a:latin typeface="Arial MT"/>
                <a:cs typeface="Arial MT"/>
              </a:rPr>
              <a:t>most</a:t>
            </a:r>
            <a:r>
              <a:rPr sz="2000" spc="15" dirty="0">
                <a:solidFill>
                  <a:srgbClr val="454C4C"/>
                </a:solidFill>
                <a:latin typeface="Arial MT"/>
                <a:cs typeface="Arial MT"/>
              </a:rPr>
              <a:t> </a:t>
            </a:r>
            <a:r>
              <a:rPr sz="2000" spc="-10" dirty="0">
                <a:solidFill>
                  <a:srgbClr val="454C4C"/>
                </a:solidFill>
                <a:latin typeface="Arial MT"/>
                <a:cs typeface="Arial MT"/>
              </a:rPr>
              <a:t>stable packages</a:t>
            </a:r>
            <a:endParaRPr sz="2000">
              <a:latin typeface="Arial MT"/>
              <a:cs typeface="Arial MT"/>
            </a:endParaRPr>
          </a:p>
          <a:p>
            <a:pPr marL="12700">
              <a:lnSpc>
                <a:spcPct val="100000"/>
              </a:lnSpc>
              <a:spcBef>
                <a:spcPts val="320"/>
              </a:spcBef>
            </a:pPr>
            <a:r>
              <a:rPr sz="2000" dirty="0">
                <a:solidFill>
                  <a:srgbClr val="454C4C"/>
                </a:solidFill>
                <a:latin typeface="Arial MT"/>
                <a:cs typeface="Arial MT"/>
              </a:rPr>
              <a:t>For</a:t>
            </a:r>
            <a:r>
              <a:rPr sz="2000" spc="-70" dirty="0">
                <a:solidFill>
                  <a:srgbClr val="454C4C"/>
                </a:solidFill>
                <a:latin typeface="Arial MT"/>
                <a:cs typeface="Arial MT"/>
              </a:rPr>
              <a:t> </a:t>
            </a:r>
            <a:r>
              <a:rPr sz="2000" spc="50" dirty="0">
                <a:solidFill>
                  <a:srgbClr val="454C4C"/>
                </a:solidFill>
                <a:latin typeface="Arial MT"/>
                <a:cs typeface="Arial MT"/>
              </a:rPr>
              <a:t>production</a:t>
            </a:r>
            <a:r>
              <a:rPr sz="2000" spc="-70" dirty="0">
                <a:solidFill>
                  <a:srgbClr val="454C4C"/>
                </a:solidFill>
                <a:latin typeface="Arial MT"/>
                <a:cs typeface="Arial MT"/>
              </a:rPr>
              <a:t> </a:t>
            </a:r>
            <a:r>
              <a:rPr sz="2000" spc="-25" dirty="0">
                <a:solidFill>
                  <a:srgbClr val="454C4C"/>
                </a:solidFill>
                <a:latin typeface="Arial MT"/>
                <a:cs typeface="Arial MT"/>
              </a:rPr>
              <a:t>use</a:t>
            </a:r>
            <a:endParaRPr sz="2000">
              <a:latin typeface="Arial MT"/>
              <a:cs typeface="Arial MT"/>
            </a:endParaRPr>
          </a:p>
        </p:txBody>
      </p:sp>
      <p:sp>
        <p:nvSpPr>
          <p:cNvPr id="10" name="object 10"/>
          <p:cNvSpPr/>
          <p:nvPr/>
        </p:nvSpPr>
        <p:spPr>
          <a:xfrm>
            <a:off x="6781686" y="2016730"/>
            <a:ext cx="2932430" cy="3141345"/>
          </a:xfrm>
          <a:custGeom>
            <a:avLst/>
            <a:gdLst/>
            <a:ahLst/>
            <a:cxnLst/>
            <a:rect l="l" t="t" r="r" b="b"/>
            <a:pathLst>
              <a:path w="2932429" h="3141345">
                <a:moveTo>
                  <a:pt x="2723032" y="0"/>
                </a:moveTo>
                <a:lnTo>
                  <a:pt x="208788" y="0"/>
                </a:lnTo>
                <a:lnTo>
                  <a:pt x="181442" y="1804"/>
                </a:lnTo>
                <a:lnTo>
                  <a:pt x="128910" y="15944"/>
                </a:lnTo>
                <a:lnTo>
                  <a:pt x="81688" y="43297"/>
                </a:lnTo>
                <a:lnTo>
                  <a:pt x="43291" y="81689"/>
                </a:lnTo>
                <a:lnTo>
                  <a:pt x="15944" y="128910"/>
                </a:lnTo>
                <a:lnTo>
                  <a:pt x="1804" y="181448"/>
                </a:lnTo>
                <a:lnTo>
                  <a:pt x="0" y="208800"/>
                </a:lnTo>
                <a:lnTo>
                  <a:pt x="0" y="2932201"/>
                </a:lnTo>
                <a:lnTo>
                  <a:pt x="7153" y="2986289"/>
                </a:lnTo>
                <a:lnTo>
                  <a:pt x="28079" y="3036595"/>
                </a:lnTo>
                <a:lnTo>
                  <a:pt x="61240" y="3079754"/>
                </a:lnTo>
                <a:lnTo>
                  <a:pt x="104394" y="3112922"/>
                </a:lnTo>
                <a:lnTo>
                  <a:pt x="154705" y="3133844"/>
                </a:lnTo>
                <a:lnTo>
                  <a:pt x="208788" y="3141002"/>
                </a:lnTo>
                <a:lnTo>
                  <a:pt x="2723032" y="3141002"/>
                </a:lnTo>
                <a:lnTo>
                  <a:pt x="2777121" y="3133844"/>
                </a:lnTo>
                <a:lnTo>
                  <a:pt x="2827439" y="3112922"/>
                </a:lnTo>
                <a:lnTo>
                  <a:pt x="2870587" y="3079754"/>
                </a:lnTo>
                <a:lnTo>
                  <a:pt x="2903753" y="3036595"/>
                </a:lnTo>
                <a:lnTo>
                  <a:pt x="2924679" y="2986289"/>
                </a:lnTo>
                <a:lnTo>
                  <a:pt x="2931833" y="2932201"/>
                </a:lnTo>
                <a:lnTo>
                  <a:pt x="2931833" y="208800"/>
                </a:lnTo>
                <a:lnTo>
                  <a:pt x="2924679" y="154706"/>
                </a:lnTo>
                <a:lnTo>
                  <a:pt x="2903753" y="104393"/>
                </a:lnTo>
                <a:lnTo>
                  <a:pt x="2870587" y="61245"/>
                </a:lnTo>
                <a:lnTo>
                  <a:pt x="2827439" y="28079"/>
                </a:lnTo>
                <a:lnTo>
                  <a:pt x="2777121" y="7153"/>
                </a:lnTo>
                <a:lnTo>
                  <a:pt x="2723032" y="0"/>
                </a:lnTo>
                <a:close/>
              </a:path>
            </a:pathLst>
          </a:custGeom>
          <a:solidFill>
            <a:srgbClr val="F2EEEC"/>
          </a:solidFill>
        </p:spPr>
        <p:txBody>
          <a:bodyPr wrap="square" lIns="0" tIns="0" rIns="0" bIns="0" rtlCol="0"/>
          <a:lstStyle/>
          <a:p>
            <a:endParaRPr/>
          </a:p>
        </p:txBody>
      </p:sp>
      <p:sp>
        <p:nvSpPr>
          <p:cNvPr id="11" name="object 11"/>
          <p:cNvSpPr txBox="1"/>
          <p:nvPr/>
        </p:nvSpPr>
        <p:spPr>
          <a:xfrm>
            <a:off x="6966254" y="3311190"/>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12" name="object 12"/>
          <p:cNvSpPr txBox="1"/>
          <p:nvPr/>
        </p:nvSpPr>
        <p:spPr>
          <a:xfrm>
            <a:off x="6966254" y="4003112"/>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13" name="object 13"/>
          <p:cNvSpPr txBox="1"/>
          <p:nvPr/>
        </p:nvSpPr>
        <p:spPr>
          <a:xfrm>
            <a:off x="7182256" y="2173370"/>
            <a:ext cx="2009775" cy="2439035"/>
          </a:xfrm>
          <a:prstGeom prst="rect">
            <a:avLst/>
          </a:prstGeom>
        </p:spPr>
        <p:txBody>
          <a:bodyPr vert="horz" wrap="square" lIns="0" tIns="12700" rIns="0" bIns="0" rtlCol="0">
            <a:spAutoFit/>
          </a:bodyPr>
          <a:lstStyle/>
          <a:p>
            <a:pPr marL="236220" marR="139700" indent="476884">
              <a:lnSpc>
                <a:spcPct val="114999"/>
              </a:lnSpc>
              <a:spcBef>
                <a:spcPts val="100"/>
              </a:spcBef>
            </a:pPr>
            <a:r>
              <a:rPr sz="2600" b="1" spc="-20" dirty="0">
                <a:solidFill>
                  <a:srgbClr val="FF9000"/>
                </a:solidFill>
                <a:latin typeface="Tahoma"/>
                <a:cs typeface="Tahoma"/>
              </a:rPr>
              <a:t>Test </a:t>
            </a:r>
            <a:r>
              <a:rPr sz="2600" b="1" spc="-140" dirty="0">
                <a:solidFill>
                  <a:srgbClr val="FF9000"/>
                </a:solidFill>
                <a:latin typeface="Tahoma"/>
                <a:cs typeface="Tahoma"/>
              </a:rPr>
              <a:t>Repository</a:t>
            </a:r>
            <a:endParaRPr sz="2600">
              <a:latin typeface="Tahoma"/>
              <a:cs typeface="Tahoma"/>
            </a:endParaRPr>
          </a:p>
          <a:p>
            <a:pPr marL="12700" marR="5080">
              <a:lnSpc>
                <a:spcPct val="113500"/>
              </a:lnSpc>
              <a:spcBef>
                <a:spcPts val="925"/>
              </a:spcBef>
            </a:pPr>
            <a:r>
              <a:rPr sz="2000" dirty="0">
                <a:solidFill>
                  <a:srgbClr val="454C4C"/>
                </a:solidFill>
                <a:latin typeface="Arial MT"/>
                <a:cs typeface="Arial MT"/>
              </a:rPr>
              <a:t>Latest</a:t>
            </a:r>
            <a:r>
              <a:rPr sz="2000" spc="-55" dirty="0">
                <a:solidFill>
                  <a:srgbClr val="454C4C"/>
                </a:solidFill>
                <a:latin typeface="Arial MT"/>
                <a:cs typeface="Arial MT"/>
              </a:rPr>
              <a:t> </a:t>
            </a:r>
            <a:r>
              <a:rPr sz="2000" spc="-10" dirty="0">
                <a:solidFill>
                  <a:srgbClr val="454C4C"/>
                </a:solidFill>
                <a:latin typeface="Arial MT"/>
                <a:cs typeface="Arial MT"/>
              </a:rPr>
              <a:t>packages </a:t>
            </a:r>
            <a:r>
              <a:rPr sz="2000" dirty="0">
                <a:solidFill>
                  <a:srgbClr val="454C4C"/>
                </a:solidFill>
                <a:latin typeface="Arial MT"/>
                <a:cs typeface="Arial MT"/>
              </a:rPr>
              <a:t>and</a:t>
            </a:r>
            <a:r>
              <a:rPr sz="2000" spc="5" dirty="0">
                <a:solidFill>
                  <a:srgbClr val="454C4C"/>
                </a:solidFill>
                <a:latin typeface="Arial MT"/>
                <a:cs typeface="Arial MT"/>
              </a:rPr>
              <a:t> </a:t>
            </a:r>
            <a:r>
              <a:rPr sz="2000" dirty="0">
                <a:solidFill>
                  <a:srgbClr val="454C4C"/>
                </a:solidFill>
                <a:latin typeface="Arial MT"/>
                <a:cs typeface="Arial MT"/>
              </a:rPr>
              <a:t>new </a:t>
            </a:r>
            <a:r>
              <a:rPr sz="2000" spc="-10" dirty="0">
                <a:solidFill>
                  <a:srgbClr val="454C4C"/>
                </a:solidFill>
                <a:latin typeface="Arial MT"/>
                <a:cs typeface="Arial MT"/>
              </a:rPr>
              <a:t>features </a:t>
            </a:r>
            <a:r>
              <a:rPr sz="2000" dirty="0">
                <a:solidFill>
                  <a:srgbClr val="454C4C"/>
                </a:solidFill>
                <a:latin typeface="Arial MT"/>
                <a:cs typeface="Arial MT"/>
              </a:rPr>
              <a:t>For</a:t>
            </a:r>
            <a:r>
              <a:rPr sz="2000" spc="-110" dirty="0">
                <a:solidFill>
                  <a:srgbClr val="454C4C"/>
                </a:solidFill>
                <a:latin typeface="Arial MT"/>
                <a:cs typeface="Arial MT"/>
              </a:rPr>
              <a:t> </a:t>
            </a:r>
            <a:r>
              <a:rPr sz="2000" spc="-10" dirty="0">
                <a:solidFill>
                  <a:srgbClr val="454C4C"/>
                </a:solidFill>
                <a:latin typeface="Arial MT"/>
                <a:cs typeface="Arial MT"/>
              </a:rPr>
              <a:t>developers </a:t>
            </a:r>
            <a:r>
              <a:rPr sz="2000" dirty="0">
                <a:solidFill>
                  <a:srgbClr val="454C4C"/>
                </a:solidFill>
                <a:latin typeface="Arial MT"/>
                <a:cs typeface="Arial MT"/>
              </a:rPr>
              <a:t>and</a:t>
            </a:r>
            <a:r>
              <a:rPr sz="2000" spc="20" dirty="0">
                <a:solidFill>
                  <a:srgbClr val="454C4C"/>
                </a:solidFill>
                <a:latin typeface="Arial MT"/>
                <a:cs typeface="Arial MT"/>
              </a:rPr>
              <a:t> </a:t>
            </a:r>
            <a:r>
              <a:rPr sz="2000" spc="-10" dirty="0">
                <a:solidFill>
                  <a:srgbClr val="454C4C"/>
                </a:solidFill>
                <a:latin typeface="Arial MT"/>
                <a:cs typeface="Arial MT"/>
              </a:rPr>
              <a:t>testing</a:t>
            </a:r>
            <a:endParaRPr sz="2000">
              <a:latin typeface="Arial MT"/>
              <a:cs typeface="Arial MT"/>
            </a:endParaRPr>
          </a:p>
        </p:txBody>
      </p:sp>
      <p:sp>
        <p:nvSpPr>
          <p:cNvPr id="14" name="object 14"/>
          <p:cNvSpPr/>
          <p:nvPr/>
        </p:nvSpPr>
        <p:spPr>
          <a:xfrm>
            <a:off x="3577678" y="2016375"/>
            <a:ext cx="2932430" cy="3141345"/>
          </a:xfrm>
          <a:custGeom>
            <a:avLst/>
            <a:gdLst/>
            <a:ahLst/>
            <a:cxnLst/>
            <a:rect l="l" t="t" r="r" b="b"/>
            <a:pathLst>
              <a:path w="2932429" h="3141345">
                <a:moveTo>
                  <a:pt x="2723045" y="0"/>
                </a:moveTo>
                <a:lnTo>
                  <a:pt x="208800" y="0"/>
                </a:lnTo>
                <a:lnTo>
                  <a:pt x="181453" y="1804"/>
                </a:lnTo>
                <a:lnTo>
                  <a:pt x="128917" y="15944"/>
                </a:lnTo>
                <a:lnTo>
                  <a:pt x="81695" y="43289"/>
                </a:lnTo>
                <a:lnTo>
                  <a:pt x="43297" y="81682"/>
                </a:lnTo>
                <a:lnTo>
                  <a:pt x="15944" y="128904"/>
                </a:lnTo>
                <a:lnTo>
                  <a:pt x="1804" y="181441"/>
                </a:lnTo>
                <a:lnTo>
                  <a:pt x="0" y="208787"/>
                </a:lnTo>
                <a:lnTo>
                  <a:pt x="0" y="2932188"/>
                </a:lnTo>
                <a:lnTo>
                  <a:pt x="7153" y="2986282"/>
                </a:lnTo>
                <a:lnTo>
                  <a:pt x="28079" y="3036595"/>
                </a:lnTo>
                <a:lnTo>
                  <a:pt x="61247" y="3079748"/>
                </a:lnTo>
                <a:lnTo>
                  <a:pt x="104406" y="3112909"/>
                </a:lnTo>
                <a:lnTo>
                  <a:pt x="154712" y="3133836"/>
                </a:lnTo>
                <a:lnTo>
                  <a:pt x="208800" y="3140989"/>
                </a:lnTo>
                <a:lnTo>
                  <a:pt x="2723045" y="3140989"/>
                </a:lnTo>
                <a:lnTo>
                  <a:pt x="2777132" y="3133836"/>
                </a:lnTo>
                <a:lnTo>
                  <a:pt x="2827439" y="3112909"/>
                </a:lnTo>
                <a:lnTo>
                  <a:pt x="2870598" y="3079748"/>
                </a:lnTo>
                <a:lnTo>
                  <a:pt x="2903766" y="3036595"/>
                </a:lnTo>
                <a:lnTo>
                  <a:pt x="2924687" y="2986282"/>
                </a:lnTo>
                <a:lnTo>
                  <a:pt x="2931845" y="2932188"/>
                </a:lnTo>
                <a:lnTo>
                  <a:pt x="2931845" y="208787"/>
                </a:lnTo>
                <a:lnTo>
                  <a:pt x="2924687" y="154700"/>
                </a:lnTo>
                <a:lnTo>
                  <a:pt x="2903766" y="104394"/>
                </a:lnTo>
                <a:lnTo>
                  <a:pt x="2870598" y="61236"/>
                </a:lnTo>
                <a:lnTo>
                  <a:pt x="2827439" y="28079"/>
                </a:lnTo>
                <a:lnTo>
                  <a:pt x="2777132" y="7153"/>
                </a:lnTo>
                <a:lnTo>
                  <a:pt x="2723045" y="0"/>
                </a:lnTo>
                <a:close/>
              </a:path>
            </a:pathLst>
          </a:custGeom>
          <a:solidFill>
            <a:srgbClr val="F2EEEC"/>
          </a:solidFill>
        </p:spPr>
        <p:txBody>
          <a:bodyPr wrap="square" lIns="0" tIns="0" rIns="0" bIns="0" rtlCol="0"/>
          <a:lstStyle/>
          <a:p>
            <a:endParaRPr/>
          </a:p>
        </p:txBody>
      </p:sp>
      <p:sp>
        <p:nvSpPr>
          <p:cNvPr id="15" name="object 15"/>
          <p:cNvSpPr txBox="1"/>
          <p:nvPr/>
        </p:nvSpPr>
        <p:spPr>
          <a:xfrm>
            <a:off x="3786746" y="2197144"/>
            <a:ext cx="2437765" cy="937260"/>
          </a:xfrm>
          <a:prstGeom prst="rect">
            <a:avLst/>
          </a:prstGeom>
        </p:spPr>
        <p:txBody>
          <a:bodyPr vert="horz" wrap="square" lIns="0" tIns="12700" rIns="0" bIns="0" rtlCol="0">
            <a:spAutoFit/>
          </a:bodyPr>
          <a:lstStyle/>
          <a:p>
            <a:pPr marL="406400" marR="5080" indent="-394335">
              <a:lnSpc>
                <a:spcPct val="114999"/>
              </a:lnSpc>
              <a:spcBef>
                <a:spcPts val="100"/>
              </a:spcBef>
            </a:pPr>
            <a:r>
              <a:rPr sz="2600" b="1" spc="-170" dirty="0">
                <a:solidFill>
                  <a:srgbClr val="FF9000"/>
                </a:solidFill>
                <a:latin typeface="Tahoma"/>
                <a:cs typeface="Tahoma"/>
              </a:rPr>
              <a:t>No-</a:t>
            </a:r>
            <a:r>
              <a:rPr sz="2600" b="1" spc="-140" dirty="0">
                <a:solidFill>
                  <a:srgbClr val="FF9000"/>
                </a:solidFill>
                <a:latin typeface="Tahoma"/>
                <a:cs typeface="Tahoma"/>
              </a:rPr>
              <a:t>Subscription </a:t>
            </a:r>
            <a:r>
              <a:rPr sz="2600" b="1" spc="-45" dirty="0">
                <a:solidFill>
                  <a:srgbClr val="FF9000"/>
                </a:solidFill>
                <a:latin typeface="Tahoma"/>
                <a:cs typeface="Tahoma"/>
              </a:rPr>
              <a:t>Repository</a:t>
            </a:r>
            <a:endParaRPr sz="2600">
              <a:latin typeface="Tahoma"/>
              <a:cs typeface="Tahoma"/>
            </a:endParaRPr>
          </a:p>
        </p:txBody>
      </p:sp>
      <p:sp>
        <p:nvSpPr>
          <p:cNvPr id="18" name="object 18"/>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9" name="object 19"/>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56</a:t>
            </a:fld>
            <a:r>
              <a:rPr spc="-10" dirty="0"/>
              <a:t>/60</a:t>
            </a:r>
          </a:p>
        </p:txBody>
      </p:sp>
      <p:sp>
        <p:nvSpPr>
          <p:cNvPr id="16" name="object 16"/>
          <p:cNvSpPr txBox="1"/>
          <p:nvPr/>
        </p:nvSpPr>
        <p:spPr>
          <a:xfrm>
            <a:off x="3825976" y="3990513"/>
            <a:ext cx="116839"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a:t>
            </a:r>
            <a:endParaRPr sz="900">
              <a:latin typeface="Lucida Sans Unicode"/>
              <a:cs typeface="Lucida Sans Unicode"/>
            </a:endParaRPr>
          </a:p>
        </p:txBody>
      </p:sp>
      <p:sp>
        <p:nvSpPr>
          <p:cNvPr id="17" name="object 17"/>
          <p:cNvSpPr txBox="1"/>
          <p:nvPr/>
        </p:nvSpPr>
        <p:spPr>
          <a:xfrm>
            <a:off x="3825976" y="3189938"/>
            <a:ext cx="2289810" cy="1755775"/>
          </a:xfrm>
          <a:prstGeom prst="rect">
            <a:avLst/>
          </a:prstGeom>
        </p:spPr>
        <p:txBody>
          <a:bodyPr vert="horz" wrap="square" lIns="0" tIns="12700" rIns="0" bIns="0" rtlCol="0">
            <a:spAutoFit/>
          </a:bodyPr>
          <a:lstStyle/>
          <a:p>
            <a:pPr marL="228600" marR="5080" indent="-216535">
              <a:lnSpc>
                <a:spcPct val="113500"/>
              </a:lnSpc>
              <a:spcBef>
                <a:spcPts val="100"/>
              </a:spcBef>
              <a:buClr>
                <a:srgbClr val="000000"/>
              </a:buClr>
              <a:buSzPct val="45000"/>
              <a:buFont typeface="Lucida Sans Unicode"/>
              <a:buChar char="●"/>
              <a:tabLst>
                <a:tab pos="228600" algn="l"/>
              </a:tabLst>
            </a:pPr>
            <a:r>
              <a:rPr sz="2000" dirty="0">
                <a:solidFill>
                  <a:srgbClr val="454C4C"/>
                </a:solidFill>
                <a:latin typeface="Arial MT"/>
                <a:cs typeface="Arial MT"/>
              </a:rPr>
              <a:t>No</a:t>
            </a:r>
            <a:r>
              <a:rPr sz="2000" spc="140" dirty="0">
                <a:solidFill>
                  <a:srgbClr val="454C4C"/>
                </a:solidFill>
                <a:latin typeface="Arial MT"/>
                <a:cs typeface="Arial MT"/>
              </a:rPr>
              <a:t> </a:t>
            </a:r>
            <a:r>
              <a:rPr sz="2000" dirty="0">
                <a:solidFill>
                  <a:srgbClr val="454C4C"/>
                </a:solidFill>
                <a:latin typeface="Arial MT"/>
                <a:cs typeface="Arial MT"/>
              </a:rPr>
              <a:t>subscription</a:t>
            </a:r>
            <a:r>
              <a:rPr sz="2000" spc="130" dirty="0">
                <a:solidFill>
                  <a:srgbClr val="454C4C"/>
                </a:solidFill>
                <a:latin typeface="Arial MT"/>
                <a:cs typeface="Arial MT"/>
              </a:rPr>
              <a:t> </a:t>
            </a:r>
            <a:r>
              <a:rPr sz="2000" spc="-25" dirty="0">
                <a:solidFill>
                  <a:srgbClr val="454C4C"/>
                </a:solidFill>
                <a:latin typeface="Arial MT"/>
                <a:cs typeface="Arial MT"/>
              </a:rPr>
              <a:t>is </a:t>
            </a:r>
            <a:r>
              <a:rPr sz="2000" spc="-10" dirty="0">
                <a:solidFill>
                  <a:srgbClr val="454C4C"/>
                </a:solidFill>
                <a:latin typeface="Arial MT"/>
                <a:cs typeface="Arial MT"/>
              </a:rPr>
              <a:t>needed</a:t>
            </a:r>
            <a:endParaRPr sz="2000">
              <a:latin typeface="Arial MT"/>
              <a:cs typeface="Arial MT"/>
            </a:endParaRPr>
          </a:p>
          <a:p>
            <a:pPr marL="228600" marR="315595">
              <a:lnSpc>
                <a:spcPct val="113500"/>
              </a:lnSpc>
            </a:pPr>
            <a:r>
              <a:rPr sz="2000" dirty="0">
                <a:solidFill>
                  <a:srgbClr val="454C4C"/>
                </a:solidFill>
                <a:latin typeface="Arial MT"/>
                <a:cs typeface="Arial MT"/>
              </a:rPr>
              <a:t>For</a:t>
            </a:r>
            <a:r>
              <a:rPr sz="2000" spc="-110" dirty="0">
                <a:solidFill>
                  <a:srgbClr val="454C4C"/>
                </a:solidFill>
                <a:latin typeface="Arial MT"/>
                <a:cs typeface="Arial MT"/>
              </a:rPr>
              <a:t> </a:t>
            </a:r>
            <a:r>
              <a:rPr sz="2000" spc="-20" dirty="0">
                <a:solidFill>
                  <a:srgbClr val="454C4C"/>
                </a:solidFill>
                <a:latin typeface="Arial MT"/>
                <a:cs typeface="Arial MT"/>
              </a:rPr>
              <a:t>non- </a:t>
            </a:r>
            <a:r>
              <a:rPr sz="2000" spc="50" dirty="0">
                <a:solidFill>
                  <a:srgbClr val="454C4C"/>
                </a:solidFill>
                <a:latin typeface="Arial MT"/>
                <a:cs typeface="Arial MT"/>
              </a:rPr>
              <a:t>production</a:t>
            </a:r>
            <a:r>
              <a:rPr sz="2000" spc="-30" dirty="0">
                <a:solidFill>
                  <a:srgbClr val="454C4C"/>
                </a:solidFill>
                <a:latin typeface="Arial MT"/>
                <a:cs typeface="Arial MT"/>
              </a:rPr>
              <a:t> </a:t>
            </a:r>
            <a:r>
              <a:rPr sz="2000" spc="-25" dirty="0">
                <a:solidFill>
                  <a:srgbClr val="454C4C"/>
                </a:solidFill>
                <a:latin typeface="Arial MT"/>
                <a:cs typeface="Arial MT"/>
              </a:rPr>
              <a:t>use </a:t>
            </a:r>
            <a:r>
              <a:rPr sz="2000" dirty="0">
                <a:solidFill>
                  <a:srgbClr val="454C4C"/>
                </a:solidFill>
                <a:latin typeface="Arial MT"/>
                <a:cs typeface="Arial MT"/>
              </a:rPr>
              <a:t>and</a:t>
            </a:r>
            <a:r>
              <a:rPr sz="2000" spc="20" dirty="0">
                <a:solidFill>
                  <a:srgbClr val="454C4C"/>
                </a:solidFill>
                <a:latin typeface="Arial MT"/>
                <a:cs typeface="Arial MT"/>
              </a:rPr>
              <a:t> </a:t>
            </a:r>
            <a:r>
              <a:rPr sz="2000" spc="-10" dirty="0">
                <a:solidFill>
                  <a:srgbClr val="454C4C"/>
                </a:solidFill>
                <a:latin typeface="Arial MT"/>
                <a:cs typeface="Arial MT"/>
              </a:rPr>
              <a:t>testing</a:t>
            </a:r>
            <a:endParaRPr sz="2000">
              <a:latin typeface="Arial MT"/>
              <a:cs typeface="Arial M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“TRAINING</a:t>
            </a:r>
            <a:r>
              <a:rPr spc="-370" dirty="0"/>
              <a:t> </a:t>
            </a:r>
            <a:r>
              <a:rPr spc="50" dirty="0"/>
              <a:t>PLUS”</a:t>
            </a:r>
            <a:r>
              <a:rPr spc="-370" dirty="0"/>
              <a:t> </a:t>
            </a:r>
            <a:r>
              <a:rPr spc="50" dirty="0"/>
              <a:t>Promotion</a:t>
            </a:r>
          </a:p>
        </p:txBody>
      </p:sp>
      <p:sp>
        <p:nvSpPr>
          <p:cNvPr id="4" name="object 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object 5"/>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57</a:t>
            </a:fld>
            <a:r>
              <a:rPr spc="-10" dirty="0"/>
              <a:t>/60</a:t>
            </a:r>
          </a:p>
        </p:txBody>
      </p:sp>
      <p:sp>
        <p:nvSpPr>
          <p:cNvPr id="3" name="object 3"/>
          <p:cNvSpPr txBox="1"/>
          <p:nvPr/>
        </p:nvSpPr>
        <p:spPr>
          <a:xfrm>
            <a:off x="490943" y="1334791"/>
            <a:ext cx="8918575" cy="273621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54C4C"/>
                </a:solidFill>
                <a:latin typeface="Arial MT"/>
                <a:cs typeface="Arial MT"/>
              </a:rPr>
              <a:t>Get</a:t>
            </a:r>
            <a:r>
              <a:rPr sz="2400" spc="-5" dirty="0">
                <a:solidFill>
                  <a:srgbClr val="454C4C"/>
                </a:solidFill>
                <a:latin typeface="Arial MT"/>
                <a:cs typeface="Arial MT"/>
              </a:rPr>
              <a:t> </a:t>
            </a:r>
            <a:r>
              <a:rPr sz="2400" spc="-25" dirty="0">
                <a:solidFill>
                  <a:srgbClr val="454C4C"/>
                </a:solidFill>
                <a:latin typeface="Arial MT"/>
                <a:cs typeface="Arial MT"/>
              </a:rPr>
              <a:t>20%</a:t>
            </a:r>
            <a:r>
              <a:rPr sz="2400" spc="-5" dirty="0">
                <a:solidFill>
                  <a:srgbClr val="454C4C"/>
                </a:solidFill>
                <a:latin typeface="Arial MT"/>
                <a:cs typeface="Arial MT"/>
              </a:rPr>
              <a:t> </a:t>
            </a:r>
            <a:r>
              <a:rPr sz="2400" dirty="0">
                <a:solidFill>
                  <a:srgbClr val="454C4C"/>
                </a:solidFill>
                <a:latin typeface="Arial MT"/>
                <a:cs typeface="Arial MT"/>
              </a:rPr>
              <a:t>discount </a:t>
            </a:r>
            <a:r>
              <a:rPr sz="2400" spc="60" dirty="0">
                <a:solidFill>
                  <a:srgbClr val="454C4C"/>
                </a:solidFill>
                <a:latin typeface="Arial MT"/>
                <a:cs typeface="Arial MT"/>
              </a:rPr>
              <a:t>on</a:t>
            </a:r>
            <a:r>
              <a:rPr sz="2400" spc="-5" dirty="0">
                <a:solidFill>
                  <a:srgbClr val="454C4C"/>
                </a:solidFill>
                <a:latin typeface="Arial MT"/>
                <a:cs typeface="Arial MT"/>
              </a:rPr>
              <a:t> </a:t>
            </a:r>
            <a:r>
              <a:rPr sz="2400" dirty="0">
                <a:solidFill>
                  <a:srgbClr val="454C4C"/>
                </a:solidFill>
                <a:latin typeface="Arial MT"/>
                <a:cs typeface="Arial MT"/>
              </a:rPr>
              <a:t>your</a:t>
            </a:r>
            <a:r>
              <a:rPr sz="2400" spc="-5" dirty="0">
                <a:solidFill>
                  <a:srgbClr val="454C4C"/>
                </a:solidFill>
                <a:latin typeface="Arial MT"/>
                <a:cs typeface="Arial MT"/>
              </a:rPr>
              <a:t> </a:t>
            </a:r>
            <a:r>
              <a:rPr sz="2400" dirty="0">
                <a:solidFill>
                  <a:srgbClr val="454C4C"/>
                </a:solidFill>
                <a:latin typeface="Arial MT"/>
                <a:cs typeface="Arial MT"/>
              </a:rPr>
              <a:t>Proxmox </a:t>
            </a:r>
            <a:r>
              <a:rPr sz="2400" spc="-260" dirty="0">
                <a:solidFill>
                  <a:srgbClr val="454C4C"/>
                </a:solidFill>
                <a:latin typeface="Arial MT"/>
                <a:cs typeface="Arial MT"/>
              </a:rPr>
              <a:t>VE</a:t>
            </a:r>
            <a:r>
              <a:rPr sz="2400" spc="-5" dirty="0">
                <a:solidFill>
                  <a:srgbClr val="454C4C"/>
                </a:solidFill>
                <a:latin typeface="Arial MT"/>
                <a:cs typeface="Arial MT"/>
              </a:rPr>
              <a:t> </a:t>
            </a:r>
            <a:r>
              <a:rPr sz="2400" spc="-10" dirty="0">
                <a:solidFill>
                  <a:srgbClr val="454C4C"/>
                </a:solidFill>
                <a:latin typeface="Arial MT"/>
                <a:cs typeface="Arial MT"/>
              </a:rPr>
              <a:t>subscriptions!</a:t>
            </a:r>
            <a:endParaRPr sz="2400">
              <a:latin typeface="Arial MT"/>
              <a:cs typeface="Arial MT"/>
            </a:endParaRPr>
          </a:p>
          <a:p>
            <a:pPr marL="12700" marR="5080">
              <a:lnSpc>
                <a:spcPct val="113500"/>
              </a:lnSpc>
              <a:spcBef>
                <a:spcPts val="1100"/>
              </a:spcBef>
            </a:pPr>
            <a:r>
              <a:rPr sz="2000" spc="-55" dirty="0">
                <a:solidFill>
                  <a:srgbClr val="454C4C"/>
                </a:solidFill>
                <a:latin typeface="Arial MT"/>
                <a:cs typeface="Arial MT"/>
              </a:rPr>
              <a:t>(Valid</a:t>
            </a:r>
            <a:r>
              <a:rPr sz="2000" spc="25" dirty="0">
                <a:solidFill>
                  <a:srgbClr val="454C4C"/>
                </a:solidFill>
                <a:latin typeface="Arial MT"/>
                <a:cs typeface="Arial MT"/>
              </a:rPr>
              <a:t> </a:t>
            </a:r>
            <a:r>
              <a:rPr sz="2000" dirty="0">
                <a:solidFill>
                  <a:srgbClr val="454C4C"/>
                </a:solidFill>
                <a:latin typeface="Arial MT"/>
                <a:cs typeface="Arial MT"/>
              </a:rPr>
              <a:t>if</a:t>
            </a:r>
            <a:r>
              <a:rPr sz="2000" spc="25" dirty="0">
                <a:solidFill>
                  <a:srgbClr val="454C4C"/>
                </a:solidFill>
                <a:latin typeface="Arial MT"/>
                <a:cs typeface="Arial MT"/>
              </a:rPr>
              <a:t> </a:t>
            </a:r>
            <a:r>
              <a:rPr sz="2000" dirty="0">
                <a:solidFill>
                  <a:srgbClr val="454C4C"/>
                </a:solidFill>
                <a:latin typeface="Arial MT"/>
                <a:cs typeface="Arial MT"/>
              </a:rPr>
              <a:t>you</a:t>
            </a:r>
            <a:r>
              <a:rPr sz="2000" spc="25" dirty="0">
                <a:solidFill>
                  <a:srgbClr val="454C4C"/>
                </a:solidFill>
                <a:latin typeface="Arial MT"/>
                <a:cs typeface="Arial MT"/>
              </a:rPr>
              <a:t> </a:t>
            </a:r>
            <a:r>
              <a:rPr sz="2000" dirty="0">
                <a:solidFill>
                  <a:srgbClr val="454C4C"/>
                </a:solidFill>
                <a:latin typeface="Arial MT"/>
                <a:cs typeface="Arial MT"/>
              </a:rPr>
              <a:t>buy</a:t>
            </a:r>
            <a:r>
              <a:rPr sz="2000" spc="30" dirty="0">
                <a:solidFill>
                  <a:srgbClr val="454C4C"/>
                </a:solidFill>
                <a:latin typeface="Arial MT"/>
                <a:cs typeface="Arial MT"/>
              </a:rPr>
              <a:t> </a:t>
            </a:r>
            <a:r>
              <a:rPr sz="2000" dirty="0">
                <a:solidFill>
                  <a:srgbClr val="454C4C"/>
                </a:solidFill>
                <a:latin typeface="Arial MT"/>
                <a:cs typeface="Arial MT"/>
              </a:rPr>
              <a:t>within</a:t>
            </a:r>
            <a:r>
              <a:rPr sz="2000" spc="25" dirty="0">
                <a:solidFill>
                  <a:srgbClr val="454C4C"/>
                </a:solidFill>
                <a:latin typeface="Arial MT"/>
                <a:cs typeface="Arial MT"/>
              </a:rPr>
              <a:t> </a:t>
            </a:r>
            <a:r>
              <a:rPr sz="2000" dirty="0">
                <a:solidFill>
                  <a:srgbClr val="454C4C"/>
                </a:solidFill>
                <a:latin typeface="Arial MT"/>
                <a:cs typeface="Arial MT"/>
              </a:rPr>
              <a:t>2</a:t>
            </a:r>
            <a:r>
              <a:rPr sz="2000" spc="25" dirty="0">
                <a:solidFill>
                  <a:srgbClr val="454C4C"/>
                </a:solidFill>
                <a:latin typeface="Arial MT"/>
                <a:cs typeface="Arial MT"/>
              </a:rPr>
              <a:t> </a:t>
            </a:r>
            <a:r>
              <a:rPr sz="2000" spc="50" dirty="0">
                <a:solidFill>
                  <a:srgbClr val="454C4C"/>
                </a:solidFill>
                <a:latin typeface="Arial MT"/>
                <a:cs typeface="Arial MT"/>
              </a:rPr>
              <a:t>months</a:t>
            </a:r>
            <a:r>
              <a:rPr sz="2000" spc="35" dirty="0">
                <a:solidFill>
                  <a:srgbClr val="454C4C"/>
                </a:solidFill>
                <a:latin typeface="Arial MT"/>
                <a:cs typeface="Arial MT"/>
              </a:rPr>
              <a:t> </a:t>
            </a:r>
            <a:r>
              <a:rPr sz="2000" dirty="0">
                <a:solidFill>
                  <a:srgbClr val="454C4C"/>
                </a:solidFill>
                <a:latin typeface="Arial MT"/>
                <a:cs typeface="Arial MT"/>
              </a:rPr>
              <a:t>after</a:t>
            </a:r>
            <a:r>
              <a:rPr sz="2000" spc="25" dirty="0">
                <a:solidFill>
                  <a:srgbClr val="454C4C"/>
                </a:solidFill>
                <a:latin typeface="Arial MT"/>
                <a:cs typeface="Arial MT"/>
              </a:rPr>
              <a:t> </a:t>
            </a:r>
            <a:r>
              <a:rPr sz="2000" spc="50" dirty="0">
                <a:solidFill>
                  <a:srgbClr val="454C4C"/>
                </a:solidFill>
                <a:latin typeface="Arial MT"/>
                <a:cs typeface="Arial MT"/>
              </a:rPr>
              <a:t>the</a:t>
            </a:r>
            <a:r>
              <a:rPr sz="2000" spc="25" dirty="0">
                <a:solidFill>
                  <a:srgbClr val="454C4C"/>
                </a:solidFill>
                <a:latin typeface="Arial MT"/>
                <a:cs typeface="Arial MT"/>
              </a:rPr>
              <a:t> </a:t>
            </a:r>
            <a:r>
              <a:rPr sz="2000" dirty="0">
                <a:solidFill>
                  <a:srgbClr val="454C4C"/>
                </a:solidFill>
                <a:latin typeface="Arial MT"/>
                <a:cs typeface="Arial MT"/>
              </a:rPr>
              <a:t>training.</a:t>
            </a:r>
            <a:r>
              <a:rPr sz="2000" spc="25" dirty="0">
                <a:solidFill>
                  <a:srgbClr val="454C4C"/>
                </a:solidFill>
                <a:latin typeface="Arial MT"/>
                <a:cs typeface="Arial MT"/>
              </a:rPr>
              <a:t> </a:t>
            </a:r>
            <a:r>
              <a:rPr sz="2000" dirty="0">
                <a:solidFill>
                  <a:srgbClr val="454C4C"/>
                </a:solidFill>
                <a:latin typeface="Arial MT"/>
                <a:cs typeface="Arial MT"/>
              </a:rPr>
              <a:t>For</a:t>
            </a:r>
            <a:r>
              <a:rPr sz="2000" spc="25" dirty="0">
                <a:solidFill>
                  <a:srgbClr val="454C4C"/>
                </a:solidFill>
                <a:latin typeface="Arial MT"/>
                <a:cs typeface="Arial MT"/>
              </a:rPr>
              <a:t> </a:t>
            </a:r>
            <a:r>
              <a:rPr sz="2000" dirty="0">
                <a:solidFill>
                  <a:srgbClr val="454C4C"/>
                </a:solidFill>
                <a:latin typeface="Arial MT"/>
                <a:cs typeface="Arial MT"/>
              </a:rPr>
              <a:t>new</a:t>
            </a:r>
            <a:r>
              <a:rPr sz="2000" spc="25" dirty="0">
                <a:solidFill>
                  <a:srgbClr val="454C4C"/>
                </a:solidFill>
                <a:latin typeface="Arial MT"/>
                <a:cs typeface="Arial MT"/>
              </a:rPr>
              <a:t> </a:t>
            </a:r>
            <a:r>
              <a:rPr sz="2000" dirty="0">
                <a:solidFill>
                  <a:srgbClr val="454C4C"/>
                </a:solidFill>
                <a:latin typeface="Arial MT"/>
                <a:cs typeface="Arial MT"/>
              </a:rPr>
              <a:t>subscriptions</a:t>
            </a:r>
            <a:r>
              <a:rPr sz="2000" spc="25" dirty="0">
                <a:solidFill>
                  <a:srgbClr val="454C4C"/>
                </a:solidFill>
                <a:latin typeface="Arial MT"/>
                <a:cs typeface="Arial MT"/>
              </a:rPr>
              <a:t> </a:t>
            </a:r>
            <a:r>
              <a:rPr sz="2000" spc="-10" dirty="0">
                <a:solidFill>
                  <a:srgbClr val="454C4C"/>
                </a:solidFill>
                <a:latin typeface="Arial MT"/>
                <a:cs typeface="Arial MT"/>
              </a:rPr>
              <a:t>only. </a:t>
            </a:r>
            <a:r>
              <a:rPr sz="2000" spc="-100" dirty="0">
                <a:solidFill>
                  <a:srgbClr val="454C4C"/>
                </a:solidFill>
                <a:latin typeface="Arial MT"/>
                <a:cs typeface="Arial MT"/>
              </a:rPr>
              <a:t>See</a:t>
            </a:r>
            <a:r>
              <a:rPr sz="2000" spc="-25" dirty="0">
                <a:solidFill>
                  <a:srgbClr val="454C4C"/>
                </a:solidFill>
                <a:latin typeface="Arial MT"/>
                <a:cs typeface="Arial MT"/>
              </a:rPr>
              <a:t> </a:t>
            </a:r>
            <a:r>
              <a:rPr sz="2000" spc="-10" dirty="0">
                <a:solidFill>
                  <a:srgbClr val="287FB8"/>
                </a:solidFill>
                <a:latin typeface="Arial MT"/>
                <a:cs typeface="Arial MT"/>
                <a:hlinkClick r:id="rId2"/>
              </a:rPr>
              <a:t>Training</a:t>
            </a:r>
            <a:r>
              <a:rPr sz="2000" spc="-30" dirty="0">
                <a:solidFill>
                  <a:srgbClr val="287FB8"/>
                </a:solidFill>
                <a:latin typeface="Arial MT"/>
                <a:cs typeface="Arial MT"/>
                <a:hlinkClick r:id="rId2"/>
              </a:rPr>
              <a:t> </a:t>
            </a:r>
            <a:r>
              <a:rPr sz="2000" spc="-125" dirty="0">
                <a:solidFill>
                  <a:srgbClr val="287FB8"/>
                </a:solidFill>
                <a:latin typeface="Arial MT"/>
                <a:cs typeface="Arial MT"/>
                <a:hlinkClick r:id="rId2"/>
              </a:rPr>
              <a:t>FAQs</a:t>
            </a:r>
            <a:r>
              <a:rPr sz="2000" spc="-5" dirty="0">
                <a:solidFill>
                  <a:srgbClr val="287FB8"/>
                </a:solidFill>
                <a:latin typeface="Arial MT"/>
                <a:cs typeface="Arial MT"/>
              </a:rPr>
              <a:t> </a:t>
            </a:r>
            <a:r>
              <a:rPr sz="2000" spc="65" dirty="0">
                <a:solidFill>
                  <a:srgbClr val="454C4C"/>
                </a:solidFill>
                <a:latin typeface="Arial MT"/>
                <a:cs typeface="Arial MT"/>
              </a:rPr>
              <a:t>for</a:t>
            </a:r>
            <a:r>
              <a:rPr sz="2000" spc="-35" dirty="0">
                <a:solidFill>
                  <a:srgbClr val="454C4C"/>
                </a:solidFill>
                <a:latin typeface="Arial MT"/>
                <a:cs typeface="Arial MT"/>
              </a:rPr>
              <a:t> </a:t>
            </a:r>
            <a:r>
              <a:rPr sz="2000" spc="50" dirty="0">
                <a:solidFill>
                  <a:srgbClr val="454C4C"/>
                </a:solidFill>
                <a:latin typeface="Arial MT"/>
                <a:cs typeface="Arial MT"/>
              </a:rPr>
              <a:t>more</a:t>
            </a:r>
            <a:r>
              <a:rPr sz="2000" spc="-30" dirty="0">
                <a:solidFill>
                  <a:srgbClr val="454C4C"/>
                </a:solidFill>
                <a:latin typeface="Arial MT"/>
                <a:cs typeface="Arial MT"/>
              </a:rPr>
              <a:t> </a:t>
            </a:r>
            <a:r>
              <a:rPr sz="2000" spc="-10" dirty="0">
                <a:solidFill>
                  <a:srgbClr val="454C4C"/>
                </a:solidFill>
                <a:latin typeface="Arial MT"/>
                <a:cs typeface="Arial MT"/>
              </a:rPr>
              <a:t>details.)</a:t>
            </a:r>
            <a:endParaRPr sz="2000">
              <a:latin typeface="Arial MT"/>
              <a:cs typeface="Arial MT"/>
            </a:endParaRPr>
          </a:p>
          <a:p>
            <a:pPr>
              <a:lnSpc>
                <a:spcPct val="100000"/>
              </a:lnSpc>
            </a:pPr>
            <a:endParaRPr sz="2000">
              <a:latin typeface="Arial MT"/>
              <a:cs typeface="Arial MT"/>
            </a:endParaRPr>
          </a:p>
          <a:p>
            <a:pPr>
              <a:lnSpc>
                <a:spcPct val="100000"/>
              </a:lnSpc>
              <a:spcBef>
                <a:spcPts val="1155"/>
              </a:spcBef>
            </a:pPr>
            <a:endParaRPr sz="2000">
              <a:latin typeface="Arial MT"/>
              <a:cs typeface="Arial MT"/>
            </a:endParaRPr>
          </a:p>
          <a:p>
            <a:pPr marL="95885" algn="ctr">
              <a:lnSpc>
                <a:spcPct val="100000"/>
              </a:lnSpc>
            </a:pPr>
            <a:r>
              <a:rPr sz="2400" dirty="0">
                <a:solidFill>
                  <a:srgbClr val="454C4C"/>
                </a:solidFill>
                <a:latin typeface="Arial MT"/>
                <a:cs typeface="Arial MT"/>
              </a:rPr>
              <a:t>Contact</a:t>
            </a:r>
            <a:r>
              <a:rPr sz="2400" spc="-25" dirty="0">
                <a:solidFill>
                  <a:srgbClr val="454C4C"/>
                </a:solidFill>
                <a:latin typeface="Arial MT"/>
                <a:cs typeface="Arial MT"/>
              </a:rPr>
              <a:t> </a:t>
            </a:r>
            <a:r>
              <a:rPr sz="2400" dirty="0">
                <a:solidFill>
                  <a:srgbClr val="454C4C"/>
                </a:solidFill>
                <a:latin typeface="Arial MT"/>
                <a:cs typeface="Arial MT"/>
              </a:rPr>
              <a:t>your</a:t>
            </a:r>
            <a:r>
              <a:rPr sz="2400" spc="-20" dirty="0">
                <a:solidFill>
                  <a:srgbClr val="454C4C"/>
                </a:solidFill>
                <a:latin typeface="Arial MT"/>
                <a:cs typeface="Arial MT"/>
              </a:rPr>
              <a:t> </a:t>
            </a:r>
            <a:r>
              <a:rPr sz="2400" dirty="0">
                <a:solidFill>
                  <a:srgbClr val="454C4C"/>
                </a:solidFill>
                <a:latin typeface="Arial MT"/>
                <a:cs typeface="Arial MT"/>
              </a:rPr>
              <a:t>local</a:t>
            </a:r>
            <a:r>
              <a:rPr sz="2400" spc="-25" dirty="0">
                <a:solidFill>
                  <a:srgbClr val="454C4C"/>
                </a:solidFill>
                <a:latin typeface="Arial MT"/>
                <a:cs typeface="Arial MT"/>
              </a:rPr>
              <a:t> </a:t>
            </a:r>
            <a:r>
              <a:rPr sz="2400" dirty="0">
                <a:solidFill>
                  <a:srgbClr val="454C4C"/>
                </a:solidFill>
                <a:latin typeface="Arial MT"/>
                <a:cs typeface="Arial MT"/>
              </a:rPr>
              <a:t>reseller</a:t>
            </a:r>
            <a:r>
              <a:rPr sz="2400" spc="-20" dirty="0">
                <a:solidFill>
                  <a:srgbClr val="454C4C"/>
                </a:solidFill>
                <a:latin typeface="Arial MT"/>
                <a:cs typeface="Arial MT"/>
              </a:rPr>
              <a:t> </a:t>
            </a:r>
            <a:r>
              <a:rPr sz="2400" spc="90" dirty="0">
                <a:solidFill>
                  <a:srgbClr val="454C4C"/>
                </a:solidFill>
                <a:latin typeface="Arial MT"/>
                <a:cs typeface="Arial MT"/>
              </a:rPr>
              <a:t>or</a:t>
            </a:r>
            <a:r>
              <a:rPr sz="2400" spc="-25" dirty="0">
                <a:solidFill>
                  <a:srgbClr val="454C4C"/>
                </a:solidFill>
                <a:latin typeface="Arial MT"/>
                <a:cs typeface="Arial MT"/>
              </a:rPr>
              <a:t> </a:t>
            </a:r>
            <a:r>
              <a:rPr sz="2400" dirty="0">
                <a:solidFill>
                  <a:srgbClr val="454C4C"/>
                </a:solidFill>
                <a:latin typeface="Arial MT"/>
                <a:cs typeface="Arial MT"/>
              </a:rPr>
              <a:t>purchase</a:t>
            </a:r>
            <a:r>
              <a:rPr sz="2400" spc="-20" dirty="0">
                <a:solidFill>
                  <a:srgbClr val="454C4C"/>
                </a:solidFill>
                <a:latin typeface="Arial MT"/>
                <a:cs typeface="Arial MT"/>
              </a:rPr>
              <a:t> </a:t>
            </a:r>
            <a:r>
              <a:rPr sz="2400" spc="-25" dirty="0">
                <a:solidFill>
                  <a:srgbClr val="454C4C"/>
                </a:solidFill>
                <a:latin typeface="Arial MT"/>
                <a:cs typeface="Arial MT"/>
              </a:rPr>
              <a:t>via</a:t>
            </a:r>
            <a:endParaRPr sz="2400">
              <a:latin typeface="Arial MT"/>
              <a:cs typeface="Arial MT"/>
            </a:endParaRPr>
          </a:p>
          <a:p>
            <a:pPr marL="18415" algn="ctr">
              <a:lnSpc>
                <a:spcPct val="100000"/>
              </a:lnSpc>
              <a:spcBef>
                <a:spcPts val="395"/>
              </a:spcBef>
              <a:tabLst>
                <a:tab pos="4037329" algn="l"/>
              </a:tabLst>
            </a:pPr>
            <a:r>
              <a:rPr sz="2400" spc="60" dirty="0">
                <a:solidFill>
                  <a:srgbClr val="454C4C"/>
                </a:solidFill>
                <a:latin typeface="Arial MT"/>
                <a:cs typeface="Arial MT"/>
              </a:rPr>
              <a:t>the</a:t>
            </a:r>
            <a:r>
              <a:rPr sz="2400" spc="-40" dirty="0">
                <a:solidFill>
                  <a:srgbClr val="454C4C"/>
                </a:solidFill>
                <a:latin typeface="Arial MT"/>
                <a:cs typeface="Arial MT"/>
              </a:rPr>
              <a:t> </a:t>
            </a:r>
            <a:r>
              <a:rPr sz="2400" dirty="0">
                <a:solidFill>
                  <a:srgbClr val="454C4C"/>
                </a:solidFill>
                <a:latin typeface="Arial MT"/>
                <a:cs typeface="Arial MT"/>
              </a:rPr>
              <a:t>Proxmox</a:t>
            </a:r>
            <a:r>
              <a:rPr sz="2400" spc="-40" dirty="0">
                <a:solidFill>
                  <a:srgbClr val="454C4C"/>
                </a:solidFill>
                <a:latin typeface="Arial MT"/>
                <a:cs typeface="Arial MT"/>
              </a:rPr>
              <a:t> </a:t>
            </a:r>
            <a:r>
              <a:rPr sz="2400" dirty="0">
                <a:solidFill>
                  <a:srgbClr val="454C4C"/>
                </a:solidFill>
                <a:latin typeface="Arial MT"/>
                <a:cs typeface="Arial MT"/>
              </a:rPr>
              <a:t>Online</a:t>
            </a:r>
            <a:r>
              <a:rPr sz="2400" spc="-35" dirty="0">
                <a:solidFill>
                  <a:srgbClr val="454C4C"/>
                </a:solidFill>
                <a:latin typeface="Arial MT"/>
                <a:cs typeface="Arial MT"/>
              </a:rPr>
              <a:t> </a:t>
            </a:r>
            <a:r>
              <a:rPr sz="2400" dirty="0">
                <a:solidFill>
                  <a:srgbClr val="454C4C"/>
                </a:solidFill>
                <a:latin typeface="Arial MT"/>
                <a:cs typeface="Arial MT"/>
              </a:rPr>
              <a:t>Shop</a:t>
            </a:r>
            <a:r>
              <a:rPr sz="2400" spc="-40" dirty="0">
                <a:solidFill>
                  <a:srgbClr val="454C4C"/>
                </a:solidFill>
                <a:latin typeface="Arial MT"/>
                <a:cs typeface="Arial MT"/>
              </a:rPr>
              <a:t> </a:t>
            </a:r>
            <a:r>
              <a:rPr sz="2400" spc="-25" dirty="0">
                <a:solidFill>
                  <a:srgbClr val="454C4C"/>
                </a:solidFill>
                <a:latin typeface="Arial MT"/>
                <a:cs typeface="Arial MT"/>
              </a:rPr>
              <a:t>at</a:t>
            </a:r>
            <a:r>
              <a:rPr sz="2400" dirty="0">
                <a:solidFill>
                  <a:srgbClr val="454C4C"/>
                </a:solidFill>
                <a:latin typeface="Arial MT"/>
                <a:cs typeface="Arial MT"/>
              </a:rPr>
              <a:t>	</a:t>
            </a:r>
            <a:r>
              <a:rPr sz="2400" spc="-10" dirty="0">
                <a:solidFill>
                  <a:srgbClr val="287FB8"/>
                </a:solidFill>
                <a:latin typeface="Arial MT"/>
                <a:cs typeface="Arial MT"/>
                <a:hlinkClick r:id="rId3"/>
              </a:rPr>
              <a:t>https://shop.proxmox.com</a:t>
            </a:r>
            <a:endParaRPr sz="2400">
              <a:latin typeface="Arial MT"/>
              <a:cs typeface="Arial M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Get</a:t>
            </a:r>
            <a:r>
              <a:rPr spc="-380" dirty="0"/>
              <a:t> </a:t>
            </a:r>
            <a:r>
              <a:rPr spc="-10" dirty="0"/>
              <a:t>involved</a:t>
            </a:r>
          </a:p>
        </p:txBody>
      </p:sp>
      <p:sp>
        <p:nvSpPr>
          <p:cNvPr id="11" name="object 11"/>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12" name="object 12"/>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58</a:t>
            </a:fld>
            <a:r>
              <a:rPr spc="-10" dirty="0"/>
              <a:t>/60</a:t>
            </a:r>
          </a:p>
        </p:txBody>
      </p:sp>
      <p:sp>
        <p:nvSpPr>
          <p:cNvPr id="3" name="object 3"/>
          <p:cNvSpPr txBox="1"/>
          <p:nvPr/>
        </p:nvSpPr>
        <p:spPr>
          <a:xfrm>
            <a:off x="562940" y="1416503"/>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4" name="object 4"/>
          <p:cNvSpPr txBox="1"/>
          <p:nvPr/>
        </p:nvSpPr>
        <p:spPr>
          <a:xfrm>
            <a:off x="886942" y="1334791"/>
            <a:ext cx="1600835"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54C4C"/>
                </a:solidFill>
                <a:latin typeface="Arial MT"/>
                <a:cs typeface="Arial MT"/>
              </a:rPr>
              <a:t>Community</a:t>
            </a:r>
            <a:endParaRPr sz="2400">
              <a:latin typeface="Arial MT"/>
              <a:cs typeface="Arial MT"/>
            </a:endParaRPr>
          </a:p>
        </p:txBody>
      </p:sp>
      <p:sp>
        <p:nvSpPr>
          <p:cNvPr id="5" name="object 5"/>
          <p:cNvSpPr txBox="1"/>
          <p:nvPr/>
        </p:nvSpPr>
        <p:spPr>
          <a:xfrm>
            <a:off x="778941" y="1865067"/>
            <a:ext cx="137160" cy="266065"/>
          </a:xfrm>
          <a:prstGeom prst="rect">
            <a:avLst/>
          </a:prstGeom>
        </p:spPr>
        <p:txBody>
          <a:bodyPr vert="horz" wrap="square" lIns="0" tIns="15875" rIns="0" bIns="0" rtlCol="0">
            <a:spAutoFit/>
          </a:bodyPr>
          <a:lstStyle/>
          <a:p>
            <a:pPr marL="12700">
              <a:lnSpc>
                <a:spcPct val="100000"/>
              </a:lnSpc>
              <a:spcBef>
                <a:spcPts val="125"/>
              </a:spcBef>
            </a:pPr>
            <a:r>
              <a:rPr sz="1550" spc="50" dirty="0">
                <a:latin typeface="Lucida Sans Unicode"/>
                <a:cs typeface="Lucida Sans Unicode"/>
              </a:rPr>
              <a:t>–</a:t>
            </a:r>
            <a:endParaRPr sz="1550">
              <a:latin typeface="Lucida Sans Unicode"/>
              <a:cs typeface="Lucida Sans Unicode"/>
            </a:endParaRPr>
          </a:p>
        </p:txBody>
      </p:sp>
      <p:sp>
        <p:nvSpPr>
          <p:cNvPr id="6" name="object 6"/>
          <p:cNvSpPr txBox="1"/>
          <p:nvPr/>
        </p:nvSpPr>
        <p:spPr>
          <a:xfrm>
            <a:off x="1138936" y="1855339"/>
            <a:ext cx="7415530" cy="346075"/>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287FB8"/>
                </a:solidFill>
                <a:latin typeface="Arial MT"/>
                <a:cs typeface="Arial MT"/>
                <a:hlinkClick r:id="rId2"/>
              </a:rPr>
              <a:t>https://www.proxmox.com/en/about/open-</a:t>
            </a:r>
            <a:r>
              <a:rPr sz="2100" spc="-10" dirty="0">
                <a:solidFill>
                  <a:srgbClr val="287FB8"/>
                </a:solidFill>
                <a:latin typeface="Arial MT"/>
                <a:cs typeface="Arial MT"/>
                <a:hlinkClick r:id="rId2"/>
              </a:rPr>
              <a:t>source/community</a:t>
            </a:r>
            <a:endParaRPr sz="2100">
              <a:latin typeface="Arial MT"/>
              <a:cs typeface="Arial MT"/>
            </a:endParaRPr>
          </a:p>
        </p:txBody>
      </p:sp>
      <p:sp>
        <p:nvSpPr>
          <p:cNvPr id="7" name="object 7"/>
          <p:cNvSpPr txBox="1"/>
          <p:nvPr/>
        </p:nvSpPr>
        <p:spPr>
          <a:xfrm>
            <a:off x="562940" y="2437469"/>
            <a:ext cx="134620" cy="190500"/>
          </a:xfrm>
          <a:prstGeom prst="rect">
            <a:avLst/>
          </a:prstGeom>
        </p:spPr>
        <p:txBody>
          <a:bodyPr vert="horz" wrap="square" lIns="0" tIns="16510" rIns="0" bIns="0" rtlCol="0">
            <a:spAutoFit/>
          </a:bodyPr>
          <a:lstStyle/>
          <a:p>
            <a:pPr marL="12700">
              <a:lnSpc>
                <a:spcPct val="100000"/>
              </a:lnSpc>
              <a:spcBef>
                <a:spcPts val="130"/>
              </a:spcBef>
            </a:pPr>
            <a:r>
              <a:rPr sz="1050" spc="-50" dirty="0">
                <a:latin typeface="Lucida Sans Unicode"/>
                <a:cs typeface="Lucida Sans Unicode"/>
              </a:rPr>
              <a:t>●</a:t>
            </a:r>
            <a:endParaRPr sz="1050">
              <a:latin typeface="Lucida Sans Unicode"/>
              <a:cs typeface="Lucida Sans Unicode"/>
            </a:endParaRPr>
          </a:p>
        </p:txBody>
      </p:sp>
      <p:sp>
        <p:nvSpPr>
          <p:cNvPr id="8" name="object 8"/>
          <p:cNvSpPr txBox="1"/>
          <p:nvPr/>
        </p:nvSpPr>
        <p:spPr>
          <a:xfrm>
            <a:off x="886942" y="2355757"/>
            <a:ext cx="1862455"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54C4C"/>
                </a:solidFill>
                <a:latin typeface="Arial MT"/>
                <a:cs typeface="Arial MT"/>
              </a:rPr>
              <a:t>Development</a:t>
            </a:r>
            <a:endParaRPr sz="2400">
              <a:latin typeface="Arial MT"/>
              <a:cs typeface="Arial MT"/>
            </a:endParaRPr>
          </a:p>
        </p:txBody>
      </p:sp>
      <p:sp>
        <p:nvSpPr>
          <p:cNvPr id="9" name="object 9"/>
          <p:cNvSpPr txBox="1"/>
          <p:nvPr/>
        </p:nvSpPr>
        <p:spPr>
          <a:xfrm>
            <a:off x="778941" y="2886032"/>
            <a:ext cx="137160" cy="266065"/>
          </a:xfrm>
          <a:prstGeom prst="rect">
            <a:avLst/>
          </a:prstGeom>
        </p:spPr>
        <p:txBody>
          <a:bodyPr vert="horz" wrap="square" lIns="0" tIns="15875" rIns="0" bIns="0" rtlCol="0">
            <a:spAutoFit/>
          </a:bodyPr>
          <a:lstStyle/>
          <a:p>
            <a:pPr marL="12700">
              <a:lnSpc>
                <a:spcPct val="100000"/>
              </a:lnSpc>
              <a:spcBef>
                <a:spcPts val="125"/>
              </a:spcBef>
            </a:pPr>
            <a:r>
              <a:rPr sz="1550" spc="50" dirty="0">
                <a:latin typeface="Lucida Sans Unicode"/>
                <a:cs typeface="Lucida Sans Unicode"/>
              </a:rPr>
              <a:t>–</a:t>
            </a:r>
            <a:endParaRPr sz="1550">
              <a:latin typeface="Lucida Sans Unicode"/>
              <a:cs typeface="Lucida Sans Unicode"/>
            </a:endParaRPr>
          </a:p>
        </p:txBody>
      </p:sp>
      <p:sp>
        <p:nvSpPr>
          <p:cNvPr id="10" name="object 10"/>
          <p:cNvSpPr txBox="1"/>
          <p:nvPr/>
        </p:nvSpPr>
        <p:spPr>
          <a:xfrm>
            <a:off x="1138936" y="2876304"/>
            <a:ext cx="7395845" cy="346075"/>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287FB8"/>
                </a:solidFill>
                <a:latin typeface="Arial MT"/>
                <a:cs typeface="Arial MT"/>
                <a:hlinkClick r:id="rId3"/>
              </a:rPr>
              <a:t>https://www.proxmox.com/en/about/open-</a:t>
            </a:r>
            <a:r>
              <a:rPr sz="2100" spc="-10" dirty="0">
                <a:solidFill>
                  <a:srgbClr val="287FB8"/>
                </a:solidFill>
                <a:latin typeface="Arial MT"/>
                <a:cs typeface="Arial MT"/>
                <a:hlinkClick r:id="rId3"/>
              </a:rPr>
              <a:t>source/developers</a:t>
            </a:r>
            <a:endParaRPr sz="2100">
              <a:latin typeface="Arial MT"/>
              <a:cs typeface="Arial M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1982" y="2396422"/>
            <a:ext cx="4149090" cy="574040"/>
          </a:xfrm>
          <a:prstGeom prst="rect">
            <a:avLst/>
          </a:prstGeom>
        </p:spPr>
        <p:txBody>
          <a:bodyPr vert="horz" wrap="square" lIns="0" tIns="12700" rIns="0" bIns="0" rtlCol="0">
            <a:spAutoFit/>
          </a:bodyPr>
          <a:lstStyle/>
          <a:p>
            <a:pPr marL="12700">
              <a:lnSpc>
                <a:spcPct val="100000"/>
              </a:lnSpc>
              <a:spcBef>
                <a:spcPts val="100"/>
              </a:spcBef>
            </a:pPr>
            <a:r>
              <a:rPr sz="3600" spc="395" dirty="0"/>
              <a:t>ANY</a:t>
            </a:r>
            <a:r>
              <a:rPr sz="3600" spc="-20" dirty="0"/>
              <a:t> </a:t>
            </a:r>
            <a:r>
              <a:rPr sz="3600" spc="225" dirty="0"/>
              <a:t>QUESTIONS?</a:t>
            </a:r>
            <a:endParaRPr sz="3600"/>
          </a:p>
        </p:txBody>
      </p:sp>
      <p:sp>
        <p:nvSpPr>
          <p:cNvPr id="4" name="object 4"/>
          <p:cNvSpPr txBox="1">
            <a:spLocks noGrp="1"/>
          </p:cNvSpPr>
          <p:nvPr>
            <p:ph type="ftr" sz="quarter" idx="5"/>
          </p:nvPr>
        </p:nvSpPr>
        <p:spPr>
          <a:prstGeom prst="rect">
            <a:avLst/>
          </a:prstGeom>
        </p:spPr>
        <p:txBody>
          <a:bodyPr vert="horz" wrap="square" lIns="0" tIns="22860" rIns="0" bIns="0" rtlCol="0">
            <a:spAutoFit/>
          </a:bodyPr>
          <a:lstStyle/>
          <a:p>
            <a:pPr marL="12700">
              <a:lnSpc>
                <a:spcPct val="100000"/>
              </a:lnSpc>
              <a:spcBef>
                <a:spcPts val="180"/>
              </a:spcBef>
            </a:pPr>
            <a:r>
              <a:rPr dirty="0"/>
              <a:t>Proxmox</a:t>
            </a:r>
            <a:r>
              <a:rPr spc="15" dirty="0"/>
              <a:t> </a:t>
            </a:r>
            <a:r>
              <a:rPr spc="-140" dirty="0"/>
              <a:t>VE</a:t>
            </a:r>
            <a:r>
              <a:rPr spc="15" dirty="0"/>
              <a:t> </a:t>
            </a:r>
            <a:r>
              <a:rPr spc="-10" dirty="0"/>
              <a:t>Training</a:t>
            </a:r>
          </a:p>
        </p:txBody>
      </p:sp>
      <p:sp>
        <p:nvSpPr>
          <p:cNvPr id="5" name="object 5"/>
          <p:cNvSpPr txBox="1">
            <a:spLocks noGrp="1"/>
          </p:cNvSpPr>
          <p:nvPr>
            <p:ph type="sldNum" sz="quarter" idx="7"/>
          </p:nvPr>
        </p:nvSpPr>
        <p:spPr>
          <a:prstGeom prst="rect">
            <a:avLst/>
          </a:prstGeom>
        </p:spPr>
        <p:txBody>
          <a:bodyPr vert="horz" wrap="square" lIns="0" tIns="310781" rIns="0" bIns="0" rtlCol="0">
            <a:spAutoFit/>
          </a:bodyPr>
          <a:lstStyle/>
          <a:p>
            <a:pPr marL="962025">
              <a:lnSpc>
                <a:spcPct val="100000"/>
              </a:lnSpc>
              <a:spcBef>
                <a:spcPts val="185"/>
              </a:spcBef>
            </a:pPr>
            <a:fld id="{81D60167-4931-47E6-BA6A-407CBD079E47}" type="slidenum">
              <a:rPr spc="-10" dirty="0"/>
              <a:t>59</a:t>
            </a:fld>
            <a:r>
              <a:rPr spc="-10" dirty="0"/>
              <a:t>/60</a:t>
            </a:r>
          </a:p>
        </p:txBody>
      </p:sp>
      <p:sp>
        <p:nvSpPr>
          <p:cNvPr id="3" name="object 3"/>
          <p:cNvSpPr txBox="1"/>
          <p:nvPr/>
        </p:nvSpPr>
        <p:spPr>
          <a:xfrm>
            <a:off x="504266" y="3349504"/>
            <a:ext cx="8989695" cy="1126490"/>
          </a:xfrm>
          <a:prstGeom prst="rect">
            <a:avLst/>
          </a:prstGeom>
        </p:spPr>
        <p:txBody>
          <a:bodyPr vert="horz" wrap="square" lIns="0" tIns="196850" rIns="0" bIns="0" rtlCol="0">
            <a:spAutoFit/>
          </a:bodyPr>
          <a:lstStyle/>
          <a:p>
            <a:pPr marL="635" algn="ctr">
              <a:lnSpc>
                <a:spcPct val="100000"/>
              </a:lnSpc>
              <a:spcBef>
                <a:spcPts val="1550"/>
              </a:spcBef>
            </a:pPr>
            <a:r>
              <a:rPr sz="2400" spc="-40" dirty="0">
                <a:solidFill>
                  <a:srgbClr val="454C4C"/>
                </a:solidFill>
                <a:latin typeface="Arial MT"/>
                <a:cs typeface="Arial MT"/>
              </a:rPr>
              <a:t>We’re</a:t>
            </a:r>
            <a:r>
              <a:rPr sz="2400" spc="-50" dirty="0">
                <a:solidFill>
                  <a:srgbClr val="454C4C"/>
                </a:solidFill>
                <a:latin typeface="Arial MT"/>
                <a:cs typeface="Arial MT"/>
              </a:rPr>
              <a:t> </a:t>
            </a:r>
            <a:r>
              <a:rPr sz="2400" dirty="0">
                <a:solidFill>
                  <a:srgbClr val="454C4C"/>
                </a:solidFill>
                <a:latin typeface="Arial MT"/>
                <a:cs typeface="Arial MT"/>
              </a:rPr>
              <a:t>looking</a:t>
            </a:r>
            <a:r>
              <a:rPr sz="2400" spc="-50" dirty="0">
                <a:solidFill>
                  <a:srgbClr val="454C4C"/>
                </a:solidFill>
                <a:latin typeface="Arial MT"/>
                <a:cs typeface="Arial MT"/>
              </a:rPr>
              <a:t> </a:t>
            </a:r>
            <a:r>
              <a:rPr sz="2400" spc="50" dirty="0">
                <a:solidFill>
                  <a:srgbClr val="454C4C"/>
                </a:solidFill>
                <a:latin typeface="Arial MT"/>
                <a:cs typeface="Arial MT"/>
              </a:rPr>
              <a:t>forward</a:t>
            </a:r>
            <a:r>
              <a:rPr sz="2400" spc="-50" dirty="0">
                <a:solidFill>
                  <a:srgbClr val="454C4C"/>
                </a:solidFill>
                <a:latin typeface="Arial MT"/>
                <a:cs typeface="Arial MT"/>
              </a:rPr>
              <a:t> </a:t>
            </a:r>
            <a:r>
              <a:rPr sz="2400" spc="95" dirty="0">
                <a:solidFill>
                  <a:srgbClr val="454C4C"/>
                </a:solidFill>
                <a:latin typeface="Arial MT"/>
                <a:cs typeface="Arial MT"/>
              </a:rPr>
              <a:t>to</a:t>
            </a:r>
            <a:r>
              <a:rPr sz="2400" spc="-50" dirty="0">
                <a:solidFill>
                  <a:srgbClr val="454C4C"/>
                </a:solidFill>
                <a:latin typeface="Arial MT"/>
                <a:cs typeface="Arial MT"/>
              </a:rPr>
              <a:t> </a:t>
            </a:r>
            <a:r>
              <a:rPr sz="2400" spc="-10" dirty="0">
                <a:solidFill>
                  <a:srgbClr val="454C4C"/>
                </a:solidFill>
                <a:latin typeface="Arial MT"/>
                <a:cs typeface="Arial MT"/>
              </a:rPr>
              <a:t>help!</a:t>
            </a:r>
            <a:endParaRPr sz="2400">
              <a:latin typeface="Arial MT"/>
              <a:cs typeface="Arial MT"/>
            </a:endParaRPr>
          </a:p>
          <a:p>
            <a:pPr algn="ctr">
              <a:lnSpc>
                <a:spcPct val="100000"/>
              </a:lnSpc>
              <a:spcBef>
                <a:spcPts val="1455"/>
              </a:spcBef>
            </a:pPr>
            <a:r>
              <a:rPr sz="2400" spc="-75" dirty="0">
                <a:solidFill>
                  <a:srgbClr val="454C4C"/>
                </a:solidFill>
                <a:latin typeface="Arial MT"/>
                <a:cs typeface="Arial MT"/>
              </a:rPr>
              <a:t>Please</a:t>
            </a:r>
            <a:r>
              <a:rPr sz="2400" spc="325" dirty="0">
                <a:solidFill>
                  <a:srgbClr val="454C4C"/>
                </a:solidFill>
                <a:latin typeface="Arial MT"/>
                <a:cs typeface="Arial MT"/>
              </a:rPr>
              <a:t> </a:t>
            </a:r>
            <a:r>
              <a:rPr sz="2400" dirty="0">
                <a:solidFill>
                  <a:srgbClr val="454C4C"/>
                </a:solidFill>
                <a:latin typeface="Arial MT"/>
                <a:cs typeface="Arial MT"/>
              </a:rPr>
              <a:t>contact</a:t>
            </a:r>
            <a:r>
              <a:rPr sz="2400" spc="325" dirty="0">
                <a:solidFill>
                  <a:srgbClr val="454C4C"/>
                </a:solidFill>
                <a:latin typeface="Arial MT"/>
                <a:cs typeface="Arial MT"/>
              </a:rPr>
              <a:t> </a:t>
            </a:r>
            <a:r>
              <a:rPr sz="2400" dirty="0">
                <a:solidFill>
                  <a:srgbClr val="454C4C"/>
                </a:solidFill>
                <a:latin typeface="Arial MT"/>
                <a:cs typeface="Arial MT"/>
              </a:rPr>
              <a:t>us</a:t>
            </a:r>
            <a:r>
              <a:rPr sz="2400" spc="325" dirty="0">
                <a:solidFill>
                  <a:srgbClr val="454C4C"/>
                </a:solidFill>
                <a:latin typeface="Arial MT"/>
                <a:cs typeface="Arial MT"/>
              </a:rPr>
              <a:t> </a:t>
            </a:r>
            <a:r>
              <a:rPr sz="2400" dirty="0">
                <a:solidFill>
                  <a:srgbClr val="454C4C"/>
                </a:solidFill>
                <a:latin typeface="Arial MT"/>
                <a:cs typeface="Arial MT"/>
              </a:rPr>
              <a:t>at:</a:t>
            </a:r>
            <a:r>
              <a:rPr sz="2400" spc="355" dirty="0">
                <a:solidFill>
                  <a:srgbClr val="454C4C"/>
                </a:solidFill>
                <a:latin typeface="Arial MT"/>
                <a:cs typeface="Arial MT"/>
              </a:rPr>
              <a:t> </a:t>
            </a:r>
            <a:r>
              <a:rPr sz="2400" spc="-10" dirty="0">
                <a:solidFill>
                  <a:srgbClr val="287FB8"/>
                </a:solidFill>
                <a:latin typeface="Arial MT"/>
                <a:cs typeface="Arial MT"/>
                <a:hlinkClick r:id="rId2"/>
              </a:rPr>
              <a:t>https://www.proxmox.com/en/about/contact</a:t>
            </a:r>
            <a:endParaRPr sz="2400">
              <a:latin typeface="Arial MT"/>
              <a:cs typeface="Arial M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0080000" cy="5669644"/>
          </a:xfrm>
          <a:prstGeom prst="rect">
            <a:avLst/>
          </a:prstGeom>
        </p:spPr>
      </p:pic>
      <p:sp>
        <p:nvSpPr>
          <p:cNvPr id="3" name="object 3"/>
          <p:cNvSpPr txBox="1"/>
          <p:nvPr/>
        </p:nvSpPr>
        <p:spPr>
          <a:xfrm>
            <a:off x="524776" y="4425600"/>
            <a:ext cx="6786245" cy="1160780"/>
          </a:xfrm>
          <a:prstGeom prst="rect">
            <a:avLst/>
          </a:prstGeom>
        </p:spPr>
        <p:txBody>
          <a:bodyPr vert="horz" wrap="square" lIns="0" tIns="12700" rIns="0" bIns="0" rtlCol="0">
            <a:spAutoFit/>
          </a:bodyPr>
          <a:lstStyle/>
          <a:p>
            <a:pPr marL="69215" marR="4032885">
              <a:lnSpc>
                <a:spcPct val="149900"/>
              </a:lnSpc>
              <a:spcBef>
                <a:spcPts val="100"/>
              </a:spcBef>
            </a:pPr>
            <a:r>
              <a:rPr sz="900" spc="55" dirty="0">
                <a:solidFill>
                  <a:srgbClr val="FF9000"/>
                </a:solidFill>
                <a:latin typeface="Tahoma"/>
                <a:cs typeface="Tahoma"/>
              </a:rPr>
              <a:t>PROXMOX</a:t>
            </a:r>
            <a:r>
              <a:rPr sz="900" spc="-60" dirty="0">
                <a:solidFill>
                  <a:srgbClr val="FF9000"/>
                </a:solidFill>
                <a:latin typeface="Tahoma"/>
                <a:cs typeface="Tahoma"/>
              </a:rPr>
              <a:t> </a:t>
            </a:r>
            <a:r>
              <a:rPr sz="900" spc="10" dirty="0">
                <a:solidFill>
                  <a:srgbClr val="FF9000"/>
                </a:solidFill>
                <a:latin typeface="Tahoma"/>
                <a:cs typeface="Tahoma"/>
              </a:rPr>
              <a:t>SERVER</a:t>
            </a:r>
            <a:r>
              <a:rPr sz="900" spc="-60" dirty="0">
                <a:solidFill>
                  <a:srgbClr val="FF9000"/>
                </a:solidFill>
                <a:latin typeface="Tahoma"/>
                <a:cs typeface="Tahoma"/>
              </a:rPr>
              <a:t> </a:t>
            </a:r>
            <a:r>
              <a:rPr sz="900" spc="10" dirty="0">
                <a:solidFill>
                  <a:srgbClr val="FF9000"/>
                </a:solidFill>
                <a:latin typeface="Tahoma"/>
                <a:cs typeface="Tahoma"/>
              </a:rPr>
              <a:t>SOLUTIONS</a:t>
            </a:r>
            <a:r>
              <a:rPr sz="900" spc="-55" dirty="0">
                <a:solidFill>
                  <a:srgbClr val="FF9000"/>
                </a:solidFill>
                <a:latin typeface="Tahoma"/>
                <a:cs typeface="Tahoma"/>
              </a:rPr>
              <a:t> </a:t>
            </a:r>
            <a:r>
              <a:rPr sz="900" spc="60" dirty="0">
                <a:solidFill>
                  <a:srgbClr val="FF9000"/>
                </a:solidFill>
                <a:latin typeface="Tahoma"/>
                <a:cs typeface="Tahoma"/>
              </a:rPr>
              <a:t>GMBH </a:t>
            </a:r>
            <a:r>
              <a:rPr sz="900" dirty="0">
                <a:solidFill>
                  <a:srgbClr val="FFFFFF"/>
                </a:solidFill>
                <a:latin typeface="Tahoma"/>
                <a:cs typeface="Tahoma"/>
              </a:rPr>
              <a:t>BRÄUHAUSGASSE</a:t>
            </a:r>
            <a:r>
              <a:rPr sz="900" spc="70" dirty="0">
                <a:solidFill>
                  <a:srgbClr val="FFFFFF"/>
                </a:solidFill>
                <a:latin typeface="Tahoma"/>
                <a:cs typeface="Tahoma"/>
              </a:rPr>
              <a:t> </a:t>
            </a:r>
            <a:r>
              <a:rPr sz="900" spc="-10" dirty="0">
                <a:solidFill>
                  <a:srgbClr val="FFFFFF"/>
                </a:solidFill>
                <a:latin typeface="Tahoma"/>
                <a:cs typeface="Tahoma"/>
              </a:rPr>
              <a:t>37,</a:t>
            </a:r>
            <a:r>
              <a:rPr sz="900" spc="75" dirty="0">
                <a:solidFill>
                  <a:srgbClr val="FFFFFF"/>
                </a:solidFill>
                <a:latin typeface="Tahoma"/>
                <a:cs typeface="Tahoma"/>
              </a:rPr>
              <a:t> </a:t>
            </a:r>
            <a:r>
              <a:rPr sz="900" dirty="0">
                <a:solidFill>
                  <a:srgbClr val="FFFFFF"/>
                </a:solidFill>
                <a:latin typeface="Tahoma"/>
                <a:cs typeface="Tahoma"/>
              </a:rPr>
              <a:t>1050</a:t>
            </a:r>
            <a:r>
              <a:rPr sz="900" spc="75" dirty="0">
                <a:solidFill>
                  <a:srgbClr val="FFFFFF"/>
                </a:solidFill>
                <a:latin typeface="Tahoma"/>
                <a:cs typeface="Tahoma"/>
              </a:rPr>
              <a:t> </a:t>
            </a:r>
            <a:r>
              <a:rPr sz="900" dirty="0">
                <a:solidFill>
                  <a:srgbClr val="FFFFFF"/>
                </a:solidFill>
                <a:latin typeface="Tahoma"/>
                <a:cs typeface="Tahoma"/>
              </a:rPr>
              <a:t>VIENNA,</a:t>
            </a:r>
            <a:r>
              <a:rPr sz="900" spc="75" dirty="0">
                <a:solidFill>
                  <a:srgbClr val="FFFFFF"/>
                </a:solidFill>
                <a:latin typeface="Tahoma"/>
                <a:cs typeface="Tahoma"/>
              </a:rPr>
              <a:t> </a:t>
            </a:r>
            <a:r>
              <a:rPr sz="900" spc="-10" dirty="0">
                <a:solidFill>
                  <a:srgbClr val="FFFFFF"/>
                </a:solidFill>
                <a:latin typeface="Tahoma"/>
                <a:cs typeface="Tahoma"/>
              </a:rPr>
              <a:t>AUSTRIA </a:t>
            </a:r>
            <a:r>
              <a:rPr sz="900" dirty="0">
                <a:solidFill>
                  <a:srgbClr val="FFFFFF"/>
                </a:solidFill>
                <a:latin typeface="Tahoma"/>
                <a:cs typeface="Tahoma"/>
                <a:hlinkClick r:id="rId3"/>
              </a:rPr>
              <a:t>OFFICE@PROXMOX.COM</a:t>
            </a:r>
            <a:r>
              <a:rPr sz="900" spc="225" dirty="0">
                <a:solidFill>
                  <a:srgbClr val="FFFFFF"/>
                </a:solidFill>
                <a:latin typeface="Tahoma"/>
                <a:cs typeface="Tahoma"/>
              </a:rPr>
              <a:t> </a:t>
            </a:r>
            <a:r>
              <a:rPr sz="900" spc="-90" dirty="0">
                <a:solidFill>
                  <a:srgbClr val="FFFFFF"/>
                </a:solidFill>
                <a:latin typeface="Tahoma"/>
                <a:cs typeface="Tahoma"/>
              </a:rPr>
              <a:t>|</a:t>
            </a:r>
            <a:r>
              <a:rPr sz="900" spc="195" dirty="0">
                <a:solidFill>
                  <a:srgbClr val="FFFFFF"/>
                </a:solidFill>
                <a:latin typeface="Tahoma"/>
                <a:cs typeface="Tahoma"/>
              </a:rPr>
              <a:t> </a:t>
            </a:r>
            <a:r>
              <a:rPr sz="900" spc="35" dirty="0">
                <a:solidFill>
                  <a:srgbClr val="287FB8"/>
                </a:solidFill>
                <a:latin typeface="Tahoma"/>
                <a:cs typeface="Tahoma"/>
                <a:hlinkClick r:id="rId4"/>
              </a:rPr>
              <a:t>WWW.PROXMOX.COM</a:t>
            </a:r>
            <a:endParaRPr sz="900">
              <a:latin typeface="Tahoma"/>
              <a:cs typeface="Tahoma"/>
            </a:endParaRPr>
          </a:p>
          <a:p>
            <a:pPr>
              <a:lnSpc>
                <a:spcPct val="100000"/>
              </a:lnSpc>
              <a:spcBef>
                <a:spcPts val="545"/>
              </a:spcBef>
            </a:pPr>
            <a:endParaRPr sz="900">
              <a:latin typeface="Tahoma"/>
              <a:cs typeface="Tahoma"/>
            </a:endParaRPr>
          </a:p>
          <a:p>
            <a:pPr marL="12700" marR="5080">
              <a:lnSpc>
                <a:spcPct val="113399"/>
              </a:lnSpc>
            </a:pPr>
            <a:r>
              <a:rPr sz="900" spc="85" dirty="0">
                <a:solidFill>
                  <a:srgbClr val="FFFFFF"/>
                </a:solidFill>
                <a:latin typeface="Arial MT"/>
                <a:cs typeface="Arial MT"/>
              </a:rPr>
              <a:t>©</a:t>
            </a:r>
            <a:r>
              <a:rPr sz="900" spc="10" dirty="0">
                <a:solidFill>
                  <a:srgbClr val="FFFFFF"/>
                </a:solidFill>
                <a:latin typeface="Arial MT"/>
                <a:cs typeface="Arial MT"/>
              </a:rPr>
              <a:t> </a:t>
            </a:r>
            <a:r>
              <a:rPr sz="900" dirty="0">
                <a:solidFill>
                  <a:srgbClr val="FFFFFF"/>
                </a:solidFill>
                <a:latin typeface="Arial MT"/>
                <a:cs typeface="Arial MT"/>
              </a:rPr>
              <a:t>2025</a:t>
            </a:r>
            <a:r>
              <a:rPr sz="900" spc="10" dirty="0">
                <a:solidFill>
                  <a:srgbClr val="FFFFFF"/>
                </a:solidFill>
                <a:latin typeface="Arial MT"/>
                <a:cs typeface="Arial MT"/>
              </a:rPr>
              <a:t> </a:t>
            </a:r>
            <a:r>
              <a:rPr sz="900" dirty="0">
                <a:solidFill>
                  <a:srgbClr val="FFFFFF"/>
                </a:solidFill>
                <a:latin typeface="Arial MT"/>
                <a:cs typeface="Arial MT"/>
              </a:rPr>
              <a:t>Proxmox.</a:t>
            </a:r>
            <a:r>
              <a:rPr sz="900" spc="10" dirty="0">
                <a:solidFill>
                  <a:srgbClr val="FFFFFF"/>
                </a:solidFill>
                <a:latin typeface="Arial MT"/>
                <a:cs typeface="Arial MT"/>
              </a:rPr>
              <a:t> </a:t>
            </a:r>
            <a:r>
              <a:rPr sz="900" spc="-20" dirty="0">
                <a:solidFill>
                  <a:srgbClr val="FFFFFF"/>
                </a:solidFill>
                <a:latin typeface="Arial MT"/>
                <a:cs typeface="Arial MT"/>
              </a:rPr>
              <a:t>All</a:t>
            </a:r>
            <a:r>
              <a:rPr sz="900" spc="15" dirty="0">
                <a:solidFill>
                  <a:srgbClr val="FFFFFF"/>
                </a:solidFill>
                <a:latin typeface="Arial MT"/>
                <a:cs typeface="Arial MT"/>
              </a:rPr>
              <a:t> </a:t>
            </a:r>
            <a:r>
              <a:rPr sz="900" spc="-20" dirty="0">
                <a:solidFill>
                  <a:srgbClr val="FFFFFF"/>
                </a:solidFill>
                <a:latin typeface="Arial MT"/>
                <a:cs typeface="Arial MT"/>
              </a:rPr>
              <a:t>Rights</a:t>
            </a:r>
            <a:r>
              <a:rPr sz="900" spc="10" dirty="0">
                <a:solidFill>
                  <a:srgbClr val="FFFFFF"/>
                </a:solidFill>
                <a:latin typeface="Arial MT"/>
                <a:cs typeface="Arial MT"/>
              </a:rPr>
              <a:t> </a:t>
            </a:r>
            <a:r>
              <a:rPr sz="900" spc="-25" dirty="0">
                <a:solidFill>
                  <a:srgbClr val="FFFFFF"/>
                </a:solidFill>
                <a:latin typeface="Arial MT"/>
                <a:cs typeface="Arial MT"/>
              </a:rPr>
              <a:t>Reserved.</a:t>
            </a:r>
            <a:r>
              <a:rPr sz="900" spc="10" dirty="0">
                <a:solidFill>
                  <a:srgbClr val="FFFFFF"/>
                </a:solidFill>
                <a:latin typeface="Arial MT"/>
                <a:cs typeface="Arial MT"/>
              </a:rPr>
              <a:t> </a:t>
            </a:r>
            <a:r>
              <a:rPr sz="900" dirty="0">
                <a:solidFill>
                  <a:srgbClr val="FFFFFF"/>
                </a:solidFill>
                <a:latin typeface="Arial MT"/>
                <a:cs typeface="Arial MT"/>
              </a:rPr>
              <a:t>Proxmox</a:t>
            </a:r>
            <a:r>
              <a:rPr sz="900" spc="15" dirty="0">
                <a:solidFill>
                  <a:srgbClr val="FFFFFF"/>
                </a:solidFill>
                <a:latin typeface="Arial MT"/>
                <a:cs typeface="Arial MT"/>
              </a:rPr>
              <a:t> </a:t>
            </a:r>
            <a:r>
              <a:rPr sz="900" dirty="0">
                <a:solidFill>
                  <a:srgbClr val="FFFFFF"/>
                </a:solidFill>
                <a:latin typeface="Arial MT"/>
                <a:cs typeface="Arial MT"/>
              </a:rPr>
              <a:t>is</a:t>
            </a:r>
            <a:r>
              <a:rPr sz="900" spc="10" dirty="0">
                <a:solidFill>
                  <a:srgbClr val="FFFFFF"/>
                </a:solidFill>
                <a:latin typeface="Arial MT"/>
                <a:cs typeface="Arial MT"/>
              </a:rPr>
              <a:t> </a:t>
            </a:r>
            <a:r>
              <a:rPr sz="900" dirty="0">
                <a:solidFill>
                  <a:srgbClr val="FFFFFF"/>
                </a:solidFill>
                <a:latin typeface="Arial MT"/>
                <a:cs typeface="Arial MT"/>
              </a:rPr>
              <a:t>a</a:t>
            </a:r>
            <a:r>
              <a:rPr sz="900" spc="10" dirty="0">
                <a:solidFill>
                  <a:srgbClr val="FFFFFF"/>
                </a:solidFill>
                <a:latin typeface="Arial MT"/>
                <a:cs typeface="Arial MT"/>
              </a:rPr>
              <a:t> </a:t>
            </a:r>
            <a:r>
              <a:rPr sz="900" dirty="0">
                <a:solidFill>
                  <a:srgbClr val="FFFFFF"/>
                </a:solidFill>
                <a:latin typeface="Arial MT"/>
                <a:cs typeface="Arial MT"/>
              </a:rPr>
              <a:t>registered</a:t>
            </a:r>
            <a:r>
              <a:rPr sz="900" spc="10" dirty="0">
                <a:solidFill>
                  <a:srgbClr val="FFFFFF"/>
                </a:solidFill>
                <a:latin typeface="Arial MT"/>
                <a:cs typeface="Arial MT"/>
              </a:rPr>
              <a:t> </a:t>
            </a:r>
            <a:r>
              <a:rPr sz="900" dirty="0">
                <a:solidFill>
                  <a:srgbClr val="FFFFFF"/>
                </a:solidFill>
                <a:latin typeface="Arial MT"/>
                <a:cs typeface="Arial MT"/>
              </a:rPr>
              <a:t>trademark.</a:t>
            </a:r>
            <a:r>
              <a:rPr sz="900" spc="15" dirty="0">
                <a:solidFill>
                  <a:srgbClr val="FFFFFF"/>
                </a:solidFill>
                <a:latin typeface="Arial MT"/>
                <a:cs typeface="Arial MT"/>
              </a:rPr>
              <a:t> </a:t>
            </a:r>
            <a:r>
              <a:rPr sz="900" spc="-20" dirty="0">
                <a:solidFill>
                  <a:srgbClr val="FFFFFF"/>
                </a:solidFill>
                <a:latin typeface="Arial MT"/>
                <a:cs typeface="Arial MT"/>
              </a:rPr>
              <a:t>All</a:t>
            </a:r>
            <a:r>
              <a:rPr sz="900" spc="10" dirty="0">
                <a:solidFill>
                  <a:srgbClr val="FFFFFF"/>
                </a:solidFill>
                <a:latin typeface="Arial MT"/>
                <a:cs typeface="Arial MT"/>
              </a:rPr>
              <a:t> </a:t>
            </a:r>
            <a:r>
              <a:rPr sz="900" dirty="0">
                <a:solidFill>
                  <a:srgbClr val="FFFFFF"/>
                </a:solidFill>
                <a:latin typeface="Arial MT"/>
                <a:cs typeface="Arial MT"/>
              </a:rPr>
              <a:t>brand</a:t>
            </a:r>
            <a:r>
              <a:rPr sz="900" spc="10" dirty="0">
                <a:solidFill>
                  <a:srgbClr val="FFFFFF"/>
                </a:solidFill>
                <a:latin typeface="Arial MT"/>
                <a:cs typeface="Arial MT"/>
              </a:rPr>
              <a:t> </a:t>
            </a:r>
            <a:r>
              <a:rPr sz="900" spc="-10" dirty="0">
                <a:solidFill>
                  <a:srgbClr val="FFFFFF"/>
                </a:solidFill>
                <a:latin typeface="Arial MT"/>
                <a:cs typeface="Arial MT"/>
              </a:rPr>
              <a:t>names,</a:t>
            </a:r>
            <a:r>
              <a:rPr sz="900" spc="15" dirty="0">
                <a:solidFill>
                  <a:srgbClr val="FFFFFF"/>
                </a:solidFill>
                <a:latin typeface="Arial MT"/>
                <a:cs typeface="Arial MT"/>
              </a:rPr>
              <a:t> </a:t>
            </a:r>
            <a:r>
              <a:rPr sz="900" dirty="0">
                <a:solidFill>
                  <a:srgbClr val="FFFFFF"/>
                </a:solidFill>
                <a:latin typeface="Arial MT"/>
                <a:cs typeface="Arial MT"/>
              </a:rPr>
              <a:t>product</a:t>
            </a:r>
            <a:r>
              <a:rPr sz="900" spc="10" dirty="0">
                <a:solidFill>
                  <a:srgbClr val="FFFFFF"/>
                </a:solidFill>
                <a:latin typeface="Arial MT"/>
                <a:cs typeface="Arial MT"/>
              </a:rPr>
              <a:t> </a:t>
            </a:r>
            <a:r>
              <a:rPr sz="900" spc="-10" dirty="0">
                <a:solidFill>
                  <a:srgbClr val="FFFFFF"/>
                </a:solidFill>
                <a:latin typeface="Arial MT"/>
                <a:cs typeface="Arial MT"/>
              </a:rPr>
              <a:t>names,</a:t>
            </a:r>
            <a:r>
              <a:rPr sz="900" spc="10" dirty="0">
                <a:solidFill>
                  <a:srgbClr val="FFFFFF"/>
                </a:solidFill>
                <a:latin typeface="Arial MT"/>
                <a:cs typeface="Arial MT"/>
              </a:rPr>
              <a:t> </a:t>
            </a:r>
            <a:r>
              <a:rPr sz="900" dirty="0">
                <a:solidFill>
                  <a:srgbClr val="FFFFFF"/>
                </a:solidFill>
                <a:latin typeface="Arial MT"/>
                <a:cs typeface="Arial MT"/>
              </a:rPr>
              <a:t>or</a:t>
            </a:r>
            <a:r>
              <a:rPr sz="900" spc="10" dirty="0">
                <a:solidFill>
                  <a:srgbClr val="FFFFFF"/>
                </a:solidFill>
                <a:latin typeface="Arial MT"/>
                <a:cs typeface="Arial MT"/>
              </a:rPr>
              <a:t> </a:t>
            </a:r>
            <a:r>
              <a:rPr sz="900" dirty="0">
                <a:solidFill>
                  <a:srgbClr val="FFFFFF"/>
                </a:solidFill>
                <a:latin typeface="Arial MT"/>
                <a:cs typeface="Arial MT"/>
              </a:rPr>
              <a:t>trademarks</a:t>
            </a:r>
            <a:r>
              <a:rPr sz="900" spc="15" dirty="0">
                <a:solidFill>
                  <a:srgbClr val="FFFFFF"/>
                </a:solidFill>
                <a:latin typeface="Arial MT"/>
                <a:cs typeface="Arial MT"/>
              </a:rPr>
              <a:t> </a:t>
            </a:r>
            <a:r>
              <a:rPr sz="900" dirty="0">
                <a:solidFill>
                  <a:srgbClr val="FFFFFF"/>
                </a:solidFill>
                <a:latin typeface="Arial MT"/>
                <a:cs typeface="Arial MT"/>
              </a:rPr>
              <a:t>belong</a:t>
            </a:r>
            <a:r>
              <a:rPr sz="900" spc="10" dirty="0">
                <a:solidFill>
                  <a:srgbClr val="FFFFFF"/>
                </a:solidFill>
                <a:latin typeface="Arial MT"/>
                <a:cs typeface="Arial MT"/>
              </a:rPr>
              <a:t> </a:t>
            </a:r>
            <a:r>
              <a:rPr sz="900" spc="-25" dirty="0">
                <a:solidFill>
                  <a:srgbClr val="FFFFFF"/>
                </a:solidFill>
                <a:latin typeface="Arial MT"/>
                <a:cs typeface="Arial MT"/>
              </a:rPr>
              <a:t>to </a:t>
            </a:r>
            <a:r>
              <a:rPr sz="900" dirty="0">
                <a:solidFill>
                  <a:srgbClr val="FFFFFF"/>
                </a:solidFill>
                <a:latin typeface="Arial MT"/>
                <a:cs typeface="Arial MT"/>
              </a:rPr>
              <a:t>their</a:t>
            </a:r>
            <a:r>
              <a:rPr sz="900" spc="30" dirty="0">
                <a:solidFill>
                  <a:srgbClr val="FFFFFF"/>
                </a:solidFill>
                <a:latin typeface="Arial MT"/>
                <a:cs typeface="Arial MT"/>
              </a:rPr>
              <a:t> </a:t>
            </a:r>
            <a:r>
              <a:rPr sz="900" dirty="0">
                <a:solidFill>
                  <a:srgbClr val="FFFFFF"/>
                </a:solidFill>
                <a:latin typeface="Arial MT"/>
                <a:cs typeface="Arial MT"/>
              </a:rPr>
              <a:t>respective</a:t>
            </a:r>
            <a:r>
              <a:rPr sz="900" spc="35" dirty="0">
                <a:solidFill>
                  <a:srgbClr val="FFFFFF"/>
                </a:solidFill>
                <a:latin typeface="Arial MT"/>
                <a:cs typeface="Arial MT"/>
              </a:rPr>
              <a:t> </a:t>
            </a:r>
            <a:r>
              <a:rPr sz="900" spc="-10" dirty="0">
                <a:solidFill>
                  <a:srgbClr val="FFFFFF"/>
                </a:solidFill>
                <a:latin typeface="Arial MT"/>
                <a:cs typeface="Arial MT"/>
              </a:rPr>
              <a:t>holders.</a:t>
            </a:r>
            <a:endParaRPr sz="9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76</TotalTime>
  <Words>2450</Words>
  <Application>Microsoft Office PowerPoint</Application>
  <PresentationFormat>Custom</PresentationFormat>
  <Paragraphs>618</Paragraphs>
  <Slides>60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Aptos</vt:lpstr>
      <vt:lpstr>Arial</vt:lpstr>
      <vt:lpstr>Arial Black</vt:lpstr>
      <vt:lpstr>Arial MT</vt:lpstr>
      <vt:lpstr>Lucida Sans Unicode</vt:lpstr>
      <vt:lpstr>Microsoft Sans Serif</vt:lpstr>
      <vt:lpstr>Segoe UI Symbol</vt:lpstr>
      <vt:lpstr>Tahoma</vt:lpstr>
      <vt:lpstr>Times New Roman</vt:lpstr>
      <vt:lpstr>Office Theme</vt:lpstr>
      <vt:lpstr>TRAINING PROXMOX VIRTUAL ENVIRONMENT</vt:lpstr>
      <vt:lpstr>WELCOME</vt:lpstr>
      <vt:lpstr>Training Schedule 5-days</vt:lpstr>
      <vt:lpstr>Agenda — Deployment and Management</vt:lpstr>
      <vt:lpstr>Agenda — Deployment and Management</vt:lpstr>
      <vt:lpstr>Agenda — Clustering and Shared Storage</vt:lpstr>
      <vt:lpstr>Agenda — Clustering and Shared Storage</vt:lpstr>
      <vt:lpstr>INTRODUCTION</vt:lpstr>
      <vt:lpstr>About Proxmox</vt:lpstr>
      <vt:lpstr>About Proxmox — Business Model</vt:lpstr>
      <vt:lpstr>About Proxmox — History</vt:lpstr>
      <vt:lpstr>About Proxmox — Some Facts</vt:lpstr>
      <vt:lpstr>TRAINING COURSE</vt:lpstr>
      <vt:lpstr>Proxmox VE Management Tools</vt:lpstr>
      <vt:lpstr>Training Scenario</vt:lpstr>
      <vt:lpstr>Training Scenario</vt:lpstr>
      <vt:lpstr>Guests in Virtual Network behind Router</vt:lpstr>
      <vt:lpstr>Available Storage in Proxmox VE</vt:lpstr>
      <vt:lpstr>Firewall Datacenter Level</vt:lpstr>
      <vt:lpstr>Cache Modes</vt:lpstr>
      <vt:lpstr>Cache Modes</vt:lpstr>
      <vt:lpstr>Cache Modes</vt:lpstr>
      <vt:lpstr>Cache Modes</vt:lpstr>
      <vt:lpstr>Backups</vt:lpstr>
      <vt:lpstr>Proxmox VE</vt:lpstr>
      <vt:lpstr>Proxmox VE</vt:lpstr>
      <vt:lpstr>Proxmox VE</vt:lpstr>
      <vt:lpstr>Proxmox VE</vt:lpstr>
      <vt:lpstr>Proxmox VE</vt:lpstr>
      <vt:lpstr>Proxmox VE</vt:lpstr>
      <vt:lpstr>Network — Star Topology</vt:lpstr>
      <vt:lpstr>Network — Full Mesh</vt:lpstr>
      <vt:lpstr>PowerPoint Presentation</vt:lpstr>
      <vt:lpstr>PowerPoint Presentation</vt:lpstr>
      <vt:lpstr>Multipath</vt:lpstr>
      <vt:lpstr>Ceph Stack</vt:lpstr>
      <vt:lpstr>Ceph Services</vt:lpstr>
      <vt:lpstr>Ceph Data Organization</vt:lpstr>
      <vt:lpstr>PowerPoint Presentation</vt:lpstr>
      <vt:lpstr>Ceph Pool Types</vt:lpstr>
      <vt:lpstr>Ceph Write</vt:lpstr>
      <vt:lpstr>Ceph Networks</vt:lpstr>
      <vt:lpstr>Ceph WAL/DB/Block on SSD</vt:lpstr>
      <vt:lpstr>OSDs in a Three–Node Ceph Cluster</vt:lpstr>
      <vt:lpstr>OSDs in a Three–Node Ceph Cluster</vt:lpstr>
      <vt:lpstr>OSDs in a Three–Node Ceph Cluster</vt:lpstr>
      <vt:lpstr>OSDs in a Three–Node Ceph Cluster</vt:lpstr>
      <vt:lpstr>HA Node Affinity Rules</vt:lpstr>
      <vt:lpstr>HA Resource Affinity Rules</vt:lpstr>
      <vt:lpstr>HA – Shared vs. Replicated Storage</vt:lpstr>
      <vt:lpstr>Proxmox Backup Server Chunks Deduplication</vt:lpstr>
      <vt:lpstr>ROADMAP</vt:lpstr>
      <vt:lpstr>Roadmap</vt:lpstr>
      <vt:lpstr>PROXMOX SUPPORT &amp; SERVICE</vt:lpstr>
      <vt:lpstr>Enterprise Support</vt:lpstr>
      <vt:lpstr>Package Repositories</vt:lpstr>
      <vt:lpstr>“TRAINING PLUS” Promotion</vt:lpstr>
      <vt:lpstr>Get involved</vt:lpstr>
      <vt:lpstr>ANY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course Proxmox Virtual Environment</dc:title>
  <cp:lastModifiedBy>Phùng Mạnh Dũng</cp:lastModifiedBy>
  <cp:revision>2</cp:revision>
  <dcterms:created xsi:type="dcterms:W3CDTF">2026-04-09T08:16:16Z</dcterms:created>
  <dcterms:modified xsi:type="dcterms:W3CDTF">2026-07-29T08:34:17Z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2026-04-09T00:00:00Z</vt:filetime>
  </property>
  <property fmtid="{D5CDD505-2E9C-101B-9397-08002B2CF9AE}" pid="3" name="Creator">
    <vt:lpwstr>Impress</vt:lpwstr>
  </property>
  <property fmtid="{D5CDD505-2E9C-101B-9397-08002B2CF9AE}" pid="4" name="Producer">
    <vt:lpwstr>LibreOffice 25.2.3.2 (X86_64) / LibreOffice Community</vt:lpwstr>
  </property>
  <property fmtid="{D5CDD505-2E9C-101B-9397-08002B2CF9AE}" pid="5" name="LastSaved">
    <vt:filetime>2026-04-09T00:00:00Z</vt:filetime>
  </property>
</Properties>
</file>